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4"/>
  </p:notesMasterIdLst>
  <p:sldIdLst>
    <p:sldId id="256" r:id="rId5"/>
    <p:sldId id="257" r:id="rId6"/>
    <p:sldId id="258" r:id="rId7"/>
    <p:sldId id="259" r:id="rId8"/>
    <p:sldId id="260" r:id="rId9"/>
    <p:sldId id="261" r:id="rId10"/>
    <p:sldId id="262" r:id="rId11"/>
    <p:sldId id="263"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7315200" cy="9601200"/>
  <p:embeddedFontLst>
    <p:embeddedFont>
      <p:font typeface="Calibri" panose="020F0502020204030204" pitchFamily="34" charset="0"/>
      <p:regular r:id="rId35"/>
      <p:bold r:id="rId36"/>
      <p:italic r:id="rId37"/>
      <p:boldItalic r:id="rId38"/>
    </p:embeddedFont>
    <p:embeddedFont>
      <p:font typeface="Montserrat" panose="00000500000000000000" pitchFamily="50"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ol8yGAJ/KTqPQQ3C5yujpYF9+x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nny Kang" initials="" lastIdx="5" clrIdx="0"/>
  <p:cmAuthor id="1" name="Thomas Walters" initials="" lastIdx="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D948EC-1313-4189-9F6D-DD71D48867AA}">
  <a:tblStyle styleId="{7CD948EC-1313-4189-9F6D-DD71D48867A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7E9"/>
          </a:solidFill>
        </a:fill>
      </a:tcStyle>
    </a:wholeTbl>
    <a:band1H>
      <a:tcTxStyle/>
      <a:tcStyle>
        <a:tcBdr/>
        <a:fill>
          <a:solidFill>
            <a:srgbClr val="CACBD0"/>
          </a:solidFill>
        </a:fill>
      </a:tcStyle>
    </a:band1H>
    <a:band2H>
      <a:tcTxStyle/>
      <a:tcStyle>
        <a:tcBdr/>
      </a:tcStyle>
    </a:band2H>
    <a:band1V>
      <a:tcTxStyle/>
      <a:tcStyle>
        <a:tcBdr/>
        <a:fill>
          <a:solidFill>
            <a:srgbClr val="CACBD0"/>
          </a:solidFill>
        </a:fill>
      </a:tcStyle>
    </a:band1V>
    <a:band2V>
      <a:tcTxStyle/>
      <a:tcStyle>
        <a:tcBdr/>
      </a:tcStyle>
    </a:band2V>
    <a:lastCol>
      <a:tcTxStyle b="on" i="off">
        <a:font>
          <a:latin typeface="Arial"/>
          <a:ea typeface="Arial"/>
          <a:cs typeface="Arial"/>
        </a:font>
        <a:schemeClr val="lt1"/>
      </a:tcTxStyle>
      <a:tcStyle>
        <a:tcBdr/>
        <a:fill>
          <a:solidFill>
            <a:schemeClr val="dk1"/>
          </a:solidFill>
        </a:fill>
      </a:tcStyle>
    </a:lastCol>
    <a:firstCol>
      <a:tcTxStyle b="on" i="off">
        <a:font>
          <a:latin typeface="Arial"/>
          <a:ea typeface="Arial"/>
          <a:cs typeface="Arial"/>
        </a:font>
        <a:schemeClr val="lt1"/>
      </a:tcTxStyle>
      <a:tcStyle>
        <a:tcBdr/>
        <a:fill>
          <a:solidFill>
            <a:schemeClr val="dk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E0C5D5EE-C173-4E4C-9E15-1F14E10D6BB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758" autoAdjust="0"/>
  </p:normalViewPr>
  <p:slideViewPr>
    <p:cSldViewPr snapToGrid="0">
      <p:cViewPr varScale="1">
        <p:scale>
          <a:sx n="66" d="100"/>
          <a:sy n="66" d="100"/>
        </p:scale>
        <p:origin x="1301" y="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8.fntdata"/><Relationship Id="rId47" Type="http://customschemas.google.com/relationships/presentationmetadata" Target="meta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tty Whitaker" userId="4de9bd58-e6ca-4266-9a10-dd2016028554" providerId="ADAL" clId="{92B1B5F8-2B9C-4A20-9483-810C529749ED}"/>
    <pc:docChg chg="undo custSel modSld">
      <pc:chgData name="Betty Whitaker" userId="4de9bd58-e6ca-4266-9a10-dd2016028554" providerId="ADAL" clId="{92B1B5F8-2B9C-4A20-9483-810C529749ED}" dt="2022-08-29T15:05:36.112" v="39" actId="14100"/>
      <pc:docMkLst>
        <pc:docMk/>
      </pc:docMkLst>
      <pc:sldChg chg="modSp mod">
        <pc:chgData name="Betty Whitaker" userId="4de9bd58-e6ca-4266-9a10-dd2016028554" providerId="ADAL" clId="{92B1B5F8-2B9C-4A20-9483-810C529749ED}" dt="2022-08-18T22:02:05.320" v="1" actId="1076"/>
        <pc:sldMkLst>
          <pc:docMk/>
          <pc:sldMk cId="0" sldId="258"/>
        </pc:sldMkLst>
        <pc:spChg chg="mod">
          <ac:chgData name="Betty Whitaker" userId="4de9bd58-e6ca-4266-9a10-dd2016028554" providerId="ADAL" clId="{92B1B5F8-2B9C-4A20-9483-810C529749ED}" dt="2022-08-18T22:02:05.320" v="1" actId="1076"/>
          <ac:spMkLst>
            <pc:docMk/>
            <pc:sldMk cId="0" sldId="258"/>
            <ac:spMk id="49" creationId="{00000000-0000-0000-0000-000000000000}"/>
          </ac:spMkLst>
        </pc:spChg>
      </pc:sldChg>
      <pc:sldChg chg="delSp modSp mod">
        <pc:chgData name="Betty Whitaker" userId="4de9bd58-e6ca-4266-9a10-dd2016028554" providerId="ADAL" clId="{92B1B5F8-2B9C-4A20-9483-810C529749ED}" dt="2022-08-18T22:02:26.367" v="3" actId="1076"/>
        <pc:sldMkLst>
          <pc:docMk/>
          <pc:sldMk cId="0" sldId="263"/>
        </pc:sldMkLst>
        <pc:spChg chg="mod">
          <ac:chgData name="Betty Whitaker" userId="4de9bd58-e6ca-4266-9a10-dd2016028554" providerId="ADAL" clId="{92B1B5F8-2B9C-4A20-9483-810C529749ED}" dt="2022-08-18T22:02:26.367" v="3" actId="1076"/>
          <ac:spMkLst>
            <pc:docMk/>
            <pc:sldMk cId="0" sldId="263"/>
            <ac:spMk id="83" creationId="{00000000-0000-0000-0000-000000000000}"/>
          </ac:spMkLst>
        </pc:spChg>
        <pc:spChg chg="del">
          <ac:chgData name="Betty Whitaker" userId="4de9bd58-e6ca-4266-9a10-dd2016028554" providerId="ADAL" clId="{92B1B5F8-2B9C-4A20-9483-810C529749ED}" dt="2022-08-18T22:02:21.198" v="2" actId="478"/>
          <ac:spMkLst>
            <pc:docMk/>
            <pc:sldMk cId="0" sldId="263"/>
            <ac:spMk id="84" creationId="{00000000-0000-0000-0000-000000000000}"/>
          </ac:spMkLst>
        </pc:spChg>
      </pc:sldChg>
      <pc:sldChg chg="modSp mod">
        <pc:chgData name="Betty Whitaker" userId="4de9bd58-e6ca-4266-9a10-dd2016028554" providerId="ADAL" clId="{92B1B5F8-2B9C-4A20-9483-810C529749ED}" dt="2022-08-29T15:05:24.105" v="38" actId="27636"/>
        <pc:sldMkLst>
          <pc:docMk/>
          <pc:sldMk cId="0" sldId="269"/>
        </pc:sldMkLst>
        <pc:spChg chg="mod">
          <ac:chgData name="Betty Whitaker" userId="4de9bd58-e6ca-4266-9a10-dd2016028554" providerId="ADAL" clId="{92B1B5F8-2B9C-4A20-9483-810C529749ED}" dt="2022-08-29T15:05:24.105" v="38" actId="27636"/>
          <ac:spMkLst>
            <pc:docMk/>
            <pc:sldMk cId="0" sldId="269"/>
            <ac:spMk id="127" creationId="{00000000-0000-0000-0000-000000000000}"/>
          </ac:spMkLst>
        </pc:spChg>
      </pc:sldChg>
      <pc:sldChg chg="modSp mod">
        <pc:chgData name="Betty Whitaker" userId="4de9bd58-e6ca-4266-9a10-dd2016028554" providerId="ADAL" clId="{92B1B5F8-2B9C-4A20-9483-810C529749ED}" dt="2022-08-29T15:05:36.112" v="39" actId="14100"/>
        <pc:sldMkLst>
          <pc:docMk/>
          <pc:sldMk cId="0" sldId="270"/>
        </pc:sldMkLst>
        <pc:spChg chg="mod">
          <ac:chgData name="Betty Whitaker" userId="4de9bd58-e6ca-4266-9a10-dd2016028554" providerId="ADAL" clId="{92B1B5F8-2B9C-4A20-9483-810C529749ED}" dt="2022-08-29T15:05:36.112" v="39" actId="14100"/>
          <ac:spMkLst>
            <pc:docMk/>
            <pc:sldMk cId="0" sldId="270"/>
            <ac:spMk id="134" creationId="{00000000-0000-0000-0000-000000000000}"/>
          </ac:spMkLst>
        </pc:spChg>
      </pc:sldChg>
      <pc:sldChg chg="modSp mod">
        <pc:chgData name="Betty Whitaker" userId="4de9bd58-e6ca-4266-9a10-dd2016028554" providerId="ADAL" clId="{92B1B5F8-2B9C-4A20-9483-810C529749ED}" dt="2022-08-18T22:04:48.336" v="27" actId="1076"/>
        <pc:sldMkLst>
          <pc:docMk/>
          <pc:sldMk cId="0" sldId="271"/>
        </pc:sldMkLst>
        <pc:spChg chg="mod">
          <ac:chgData name="Betty Whitaker" userId="4de9bd58-e6ca-4266-9a10-dd2016028554" providerId="ADAL" clId="{92B1B5F8-2B9C-4A20-9483-810C529749ED}" dt="2022-08-18T22:04:48.336" v="27" actId="1076"/>
          <ac:spMkLst>
            <pc:docMk/>
            <pc:sldMk cId="0" sldId="271"/>
            <ac:spMk id="140" creationId="{00000000-0000-0000-0000-000000000000}"/>
          </ac:spMkLst>
        </pc:spChg>
      </pc:sldChg>
      <pc:sldChg chg="modSp mod">
        <pc:chgData name="Betty Whitaker" userId="4de9bd58-e6ca-4266-9a10-dd2016028554" providerId="ADAL" clId="{92B1B5F8-2B9C-4A20-9483-810C529749ED}" dt="2022-08-18T22:05:01.773" v="28" actId="1076"/>
        <pc:sldMkLst>
          <pc:docMk/>
          <pc:sldMk cId="0" sldId="275"/>
        </pc:sldMkLst>
        <pc:spChg chg="mod">
          <ac:chgData name="Betty Whitaker" userId="4de9bd58-e6ca-4266-9a10-dd2016028554" providerId="ADAL" clId="{92B1B5F8-2B9C-4A20-9483-810C529749ED}" dt="2022-08-18T22:05:01.773" v="28" actId="1076"/>
          <ac:spMkLst>
            <pc:docMk/>
            <pc:sldMk cId="0" sldId="275"/>
            <ac:spMk id="168" creationId="{00000000-0000-0000-0000-000000000000}"/>
          </ac:spMkLst>
        </pc:spChg>
      </pc:sldChg>
      <pc:sldChg chg="delSp mod">
        <pc:chgData name="Betty Whitaker" userId="4de9bd58-e6ca-4266-9a10-dd2016028554" providerId="ADAL" clId="{92B1B5F8-2B9C-4A20-9483-810C529749ED}" dt="2022-08-18T22:05:16.816" v="29" actId="478"/>
        <pc:sldMkLst>
          <pc:docMk/>
          <pc:sldMk cId="0" sldId="279"/>
        </pc:sldMkLst>
        <pc:spChg chg="del">
          <ac:chgData name="Betty Whitaker" userId="4de9bd58-e6ca-4266-9a10-dd2016028554" providerId="ADAL" clId="{92B1B5F8-2B9C-4A20-9483-810C529749ED}" dt="2022-08-18T22:05:16.816" v="29" actId="478"/>
          <ac:spMkLst>
            <pc:docMk/>
            <pc:sldMk cId="0" sldId="279"/>
            <ac:spMk id="197" creationId="{00000000-0000-0000-0000-000000000000}"/>
          </ac:spMkLst>
        </pc:spChg>
      </pc:sldChg>
      <pc:sldChg chg="modSp mod">
        <pc:chgData name="Betty Whitaker" userId="4de9bd58-e6ca-4266-9a10-dd2016028554" providerId="ADAL" clId="{92B1B5F8-2B9C-4A20-9483-810C529749ED}" dt="2022-08-18T22:05:25.918" v="30" actId="1076"/>
        <pc:sldMkLst>
          <pc:docMk/>
          <pc:sldMk cId="0" sldId="282"/>
        </pc:sldMkLst>
        <pc:spChg chg="mod">
          <ac:chgData name="Betty Whitaker" userId="4de9bd58-e6ca-4266-9a10-dd2016028554" providerId="ADAL" clId="{92B1B5F8-2B9C-4A20-9483-810C529749ED}" dt="2022-08-18T22:05:25.918" v="30" actId="1076"/>
          <ac:spMkLst>
            <pc:docMk/>
            <pc:sldMk cId="0" sldId="282"/>
            <ac:spMk id="2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ispor.org/heor-resources/good-practices/article/principles-of-good-practice-for-budget-impact-analysis-ii"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bandolier.org.uk/painres/download/What%20is%202009/What_is_sens_analy.pdf"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1: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41" name="Google Shape;41;p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4: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a:t>https://www.herc.research.va.gov/include/page.asp?id=budget-impact-analysis</a:t>
            </a:r>
            <a:endParaRPr/>
          </a:p>
        </p:txBody>
      </p:sp>
      <p:sp>
        <p:nvSpPr>
          <p:cNvPr id="53" name="Google Shape;53;p4: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5: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a:t>Include different perspective (societal, payers [medicare, PBM, etc)</a:t>
            </a:r>
            <a:endParaRPr/>
          </a:p>
        </p:txBody>
      </p:sp>
      <p:sp>
        <p:nvSpPr>
          <p:cNvPr id="61" name="Google Shape;61;p5: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6: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a:t>Cost-effective analysis is typically accompanied budget impact analysis and they are often used in regional or national health system decision making. </a:t>
            </a:r>
            <a:endParaRPr/>
          </a:p>
        </p:txBody>
      </p:sp>
      <p:sp>
        <p:nvSpPr>
          <p:cNvPr id="68" name="Google Shape;68;p6: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7: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5" name="Google Shape;75;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010568708e_0_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010568708e_0_5: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a:latin typeface="Arial"/>
                <a:ea typeface="Arial"/>
                <a:cs typeface="Arial"/>
                <a:sym typeface="Arial"/>
              </a:rPr>
              <a:t>Sullivan SD, </a:t>
            </a:r>
            <a:r>
              <a:rPr lang="en-US" dirty="0" err="1">
                <a:latin typeface="Arial"/>
                <a:ea typeface="Arial"/>
                <a:cs typeface="Arial"/>
                <a:sym typeface="Arial"/>
              </a:rPr>
              <a:t>Mauskopf</a:t>
            </a:r>
            <a:r>
              <a:rPr lang="en-US" dirty="0">
                <a:latin typeface="Arial"/>
                <a:ea typeface="Arial"/>
                <a:cs typeface="Arial"/>
                <a:sym typeface="Arial"/>
              </a:rPr>
              <a:t> JA, </a:t>
            </a:r>
            <a:r>
              <a:rPr lang="en-US" dirty="0" err="1">
                <a:latin typeface="Arial"/>
                <a:ea typeface="Arial"/>
                <a:cs typeface="Arial"/>
                <a:sym typeface="Arial"/>
              </a:rPr>
              <a:t>Augustovski</a:t>
            </a:r>
            <a:r>
              <a:rPr lang="en-US" dirty="0">
                <a:latin typeface="Arial"/>
                <a:ea typeface="Arial"/>
                <a:cs typeface="Arial"/>
                <a:sym typeface="Arial"/>
              </a:rPr>
              <a:t> F, Caro JJ, Lee KM, Minchin M, </a:t>
            </a:r>
            <a:r>
              <a:rPr lang="en-US" dirty="0" err="1">
                <a:latin typeface="Arial"/>
                <a:ea typeface="Arial"/>
                <a:cs typeface="Arial"/>
                <a:sym typeface="Arial"/>
              </a:rPr>
              <a:t>Orlewska</a:t>
            </a:r>
            <a:r>
              <a:rPr lang="en-US" dirty="0">
                <a:latin typeface="Arial"/>
                <a:ea typeface="Arial"/>
                <a:cs typeface="Arial"/>
                <a:sym typeface="Arial"/>
              </a:rPr>
              <a:t> E, Penna P, Barrios JM, </a:t>
            </a:r>
            <a:r>
              <a:rPr lang="en-US" dirty="0" err="1">
                <a:latin typeface="Arial"/>
                <a:ea typeface="Arial"/>
                <a:cs typeface="Arial"/>
                <a:sym typeface="Arial"/>
              </a:rPr>
              <a:t>Shau</a:t>
            </a:r>
            <a:r>
              <a:rPr lang="en-US" dirty="0">
                <a:latin typeface="Arial"/>
                <a:ea typeface="Arial"/>
                <a:cs typeface="Arial"/>
                <a:sym typeface="Arial"/>
              </a:rPr>
              <a:t> WY. Budget impact analysis—principles of good practice: report of the ISPOR 2012 Budget Impact Analysis Good Practice II Task Force. Value in health. 2014 Jan 1;17(1):5-14. Available at</a:t>
            </a:r>
            <a:r>
              <a:rPr lang="en-US" dirty="0"/>
              <a:t>:</a:t>
            </a:r>
            <a:r>
              <a:rPr lang="en-US" dirty="0">
                <a:uFill>
                  <a:noFill/>
                </a:uFill>
                <a:hlinkClick r:id="rId3"/>
              </a:rPr>
              <a:t> </a:t>
            </a:r>
            <a:r>
              <a:rPr lang="en-US" u="sng" dirty="0">
                <a:solidFill>
                  <a:schemeClr val="hlink"/>
                </a:solidFill>
                <a:hlinkClick r:id="rId3"/>
              </a:rPr>
              <a:t>https://www.ispor.org/heor-resources/good-practices/article/principles-of-good-practice-for-budget-impact-analysis-ii</a:t>
            </a:r>
            <a:endParaRPr u="sng" dirty="0">
              <a:solidFill>
                <a:schemeClr val="hlink"/>
              </a:solidFill>
            </a:endParaRPr>
          </a:p>
          <a:p>
            <a:pPr marL="0" lvl="0" indent="0" algn="l" rtl="0">
              <a:spcBef>
                <a:spcPts val="0"/>
              </a:spcBef>
              <a:spcAft>
                <a:spcPts val="0"/>
              </a:spcAft>
              <a:buNone/>
            </a:pPr>
            <a:endParaRPr dirty="0"/>
          </a:p>
        </p:txBody>
      </p:sp>
      <p:sp>
        <p:nvSpPr>
          <p:cNvPr id="81" name="Google Shape;81;g1010568708e_0_5:notes"/>
          <p:cNvSpPr txBox="1">
            <a:spLocks noGrp="1"/>
          </p:cNvSpPr>
          <p:nvPr>
            <p:ph type="sldNum" idx="12"/>
          </p:nvPr>
        </p:nvSpPr>
        <p:spPr>
          <a:xfrm>
            <a:off x="4143587" y="9119474"/>
            <a:ext cx="3169800" cy="4818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9: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03" name="Google Shape;103;p9: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10: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0" name="Google Shape;110;p10: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11: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Possible roles of the new intervention in the current market:</a:t>
            </a:r>
            <a:endParaRPr/>
          </a:p>
          <a:p>
            <a:pPr marL="171450" lvl="0" indent="-171450" algn="l" rtl="0">
              <a:spcBef>
                <a:spcPts val="0"/>
              </a:spcBef>
              <a:spcAft>
                <a:spcPts val="0"/>
              </a:spcAft>
              <a:buClr>
                <a:schemeClr val="dk1"/>
              </a:buClr>
              <a:buSzPts val="1200"/>
              <a:buFont typeface="Calibri"/>
              <a:buChar char="-"/>
            </a:pPr>
            <a:r>
              <a:rPr lang="en-US"/>
              <a:t>Substitution: the new intervention replaces the current intervention(s).</a:t>
            </a:r>
            <a:endParaRPr/>
          </a:p>
          <a:p>
            <a:pPr marL="171450" lvl="0" indent="-171450" algn="l" rtl="0">
              <a:spcBef>
                <a:spcPts val="0"/>
              </a:spcBef>
              <a:spcAft>
                <a:spcPts val="0"/>
              </a:spcAft>
              <a:buClr>
                <a:schemeClr val="dk1"/>
              </a:buClr>
              <a:buSzPts val="1200"/>
              <a:buFont typeface="Calibri"/>
              <a:buChar char="-"/>
            </a:pPr>
            <a:r>
              <a:rPr lang="en-US"/>
              <a:t>Combination: the new intervention is combined with the current intervention(s).</a:t>
            </a:r>
            <a:endParaRPr/>
          </a:p>
          <a:p>
            <a:pPr marL="171450" lvl="0" indent="-171450" algn="l" rtl="0">
              <a:spcBef>
                <a:spcPts val="0"/>
              </a:spcBef>
              <a:spcAft>
                <a:spcPts val="0"/>
              </a:spcAft>
              <a:buClr>
                <a:schemeClr val="dk1"/>
              </a:buClr>
              <a:buSzPts val="1200"/>
              <a:buFont typeface="Calibri"/>
              <a:buChar char="-"/>
            </a:pPr>
            <a:r>
              <a:rPr lang="en-US"/>
              <a:t>Supportive care: the new intervention is used in a market with no active intervention currently.</a:t>
            </a:r>
            <a:endParaRPr/>
          </a:p>
          <a:p>
            <a:pPr marL="171450" lvl="0" indent="-171450" algn="l" rtl="0">
              <a:spcBef>
                <a:spcPts val="0"/>
              </a:spcBef>
              <a:spcAft>
                <a:spcPts val="0"/>
              </a:spcAft>
              <a:buClr>
                <a:schemeClr val="dk1"/>
              </a:buClr>
              <a:buSzPts val="1200"/>
              <a:buFont typeface="Calibri"/>
              <a:buChar char="-"/>
            </a:pPr>
            <a:r>
              <a:rPr lang="en-US"/>
              <a:t>Expansion: the new intervention is an alternative option for patients who have stopped or refused available interventions due to intolerance, adverse effects, etc. </a:t>
            </a:r>
            <a:endParaRPr/>
          </a:p>
        </p:txBody>
      </p:sp>
      <p:sp>
        <p:nvSpPr>
          <p:cNvPr id="117" name="Google Shape;117;p11: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2: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chemeClr val="dk1"/>
              </a:buClr>
              <a:buSzPts val="1200"/>
              <a:buFont typeface="Calibri"/>
              <a:buNone/>
            </a:pPr>
            <a:r>
              <a:rPr lang="en-US"/>
              <a:t>Diagnostic costs may not be included in the analysis if the costs are assumed to be same between the current and new scenario. Diagnostic costs may be considered if there are specific diagnostic costs related to the new intervention (eg, need for biomarker testing to identify patients eligible for a new drug).</a:t>
            </a:r>
            <a:endParaRPr/>
          </a:p>
        </p:txBody>
      </p:sp>
      <p:sp>
        <p:nvSpPr>
          <p:cNvPr id="124" name="Google Shape;124;p12: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3: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rgbClr val="00205B"/>
              </a:buClr>
              <a:buSzPts val="1200"/>
              <a:buFont typeface="Calibri"/>
              <a:buNone/>
            </a:pPr>
            <a:r>
              <a:rPr lang="en-US">
                <a:solidFill>
                  <a:srgbClr val="00205B"/>
                </a:solidFill>
              </a:rPr>
              <a:t>Diagnostic costs may not be included in the analysis if the costs are assumed to be same between the current and new scenario. Diagnostic costs may be considered if there is a change in diagnostic tests for the new scenario.</a:t>
            </a:r>
            <a:endParaRPr/>
          </a:p>
        </p:txBody>
      </p:sp>
      <p:sp>
        <p:nvSpPr>
          <p:cNvPr id="131" name="Google Shape;131;p13: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f381fbfae6_0_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f381fbfae6_0_1: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222222"/>
                </a:solidFill>
                <a:latin typeface="Arial"/>
                <a:ea typeface="Arial"/>
                <a:cs typeface="Arial"/>
                <a:sym typeface="Arial"/>
              </a:rPr>
              <a:t>Rascati K. Essentials of pharmacoeconomics. Lippincott Williams &amp; Wilkins; 2013 Nov 14.</a:t>
            </a:r>
            <a:endParaRPr>
              <a:solidFill>
                <a:srgbClr val="222222"/>
              </a:solidFill>
              <a:latin typeface="Arial"/>
              <a:ea typeface="Arial"/>
              <a:cs typeface="Arial"/>
              <a:sym typeface="Arial"/>
            </a:endParaRPr>
          </a:p>
          <a:p>
            <a:pPr marL="0" lvl="0" indent="0" algn="l" rtl="0">
              <a:spcBef>
                <a:spcPts val="0"/>
              </a:spcBef>
              <a:spcAft>
                <a:spcPts val="0"/>
              </a:spcAft>
              <a:buNone/>
            </a:pPr>
            <a:endParaRPr/>
          </a:p>
        </p:txBody>
      </p:sp>
      <p:sp>
        <p:nvSpPr>
          <p:cNvPr id="138" name="Google Shape;138;gf381fbfae6_0_1:notes"/>
          <p:cNvSpPr txBox="1">
            <a:spLocks noGrp="1"/>
          </p:cNvSpPr>
          <p:nvPr>
            <p:ph type="sldNum" idx="12"/>
          </p:nvPr>
        </p:nvSpPr>
        <p:spPr>
          <a:xfrm>
            <a:off x="4143587" y="9119474"/>
            <a:ext cx="3169800" cy="4818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14: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45" name="Google Shape;145;p14: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5: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52" name="Google Shape;152;p15: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f52c8cb045_0_4: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f52c8cb045_0_4: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59" name="Google Shape;159;gf52c8cb045_0_4:notes"/>
          <p:cNvSpPr txBox="1">
            <a:spLocks noGrp="1"/>
          </p:cNvSpPr>
          <p:nvPr>
            <p:ph type="sldNum" idx="12"/>
          </p:nvPr>
        </p:nvSpPr>
        <p:spPr>
          <a:xfrm>
            <a:off x="4143587" y="9119474"/>
            <a:ext cx="3169800" cy="4818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7: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65" name="Google Shape;165;p17: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20: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r>
              <a:rPr lang="en-US"/>
              <a:t>Example of a budget impact curve found at: https://noahe.ca/download/budget_impact_models.pdf</a:t>
            </a:r>
            <a:endParaRPr/>
          </a:p>
          <a:p>
            <a:pPr marL="0" lvl="0" indent="0" algn="l" rtl="0">
              <a:spcBef>
                <a:spcPts val="0"/>
              </a:spcBef>
              <a:spcAft>
                <a:spcPts val="0"/>
              </a:spcAft>
              <a:buNone/>
            </a:pPr>
            <a:endParaRPr/>
          </a:p>
        </p:txBody>
      </p:sp>
      <p:sp>
        <p:nvSpPr>
          <p:cNvPr id="172" name="Google Shape;172;p20: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6: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Clr>
                <a:schemeClr val="dk1"/>
              </a:buClr>
              <a:buSzPts val="1200"/>
              <a:buFont typeface="Calibri"/>
              <a:buNone/>
            </a:pPr>
            <a:r>
              <a:rPr lang="en-US"/>
              <a:t>May not need to include (summarize)</a:t>
            </a:r>
            <a:endParaRPr/>
          </a:p>
          <a:p>
            <a:pPr marL="0" lvl="0" indent="0" algn="l" rtl="0">
              <a:spcBef>
                <a:spcPts val="0"/>
              </a:spcBef>
              <a:spcAft>
                <a:spcPts val="0"/>
              </a:spcAft>
              <a:buClr>
                <a:schemeClr val="dk1"/>
              </a:buClr>
              <a:buSzPts val="1200"/>
              <a:buFont typeface="Calibri"/>
              <a:buNone/>
            </a:pPr>
            <a:r>
              <a:rPr lang="en-US"/>
              <a:t>Frame different</a:t>
            </a:r>
            <a:endParaRPr/>
          </a:p>
        </p:txBody>
      </p:sp>
      <p:sp>
        <p:nvSpPr>
          <p:cNvPr id="180" name="Google Shape;180;p16: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f52c8cb045_0_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f52c8cb045_0_11: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87" name="Google Shape;187;gf52c8cb045_0_11:notes"/>
          <p:cNvSpPr txBox="1">
            <a:spLocks noGrp="1"/>
          </p:cNvSpPr>
          <p:nvPr>
            <p:ph type="sldNum" idx="12"/>
          </p:nvPr>
        </p:nvSpPr>
        <p:spPr>
          <a:xfrm>
            <a:off x="4143587" y="9119474"/>
            <a:ext cx="3169800" cy="4818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f7523f7958_0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f7523f7958_0_0:notes"/>
          <p:cNvSpPr txBox="1">
            <a:spLocks noGrp="1"/>
          </p:cNvSpPr>
          <p:nvPr>
            <p:ph type="body" idx="1"/>
          </p:nvPr>
        </p:nvSpPr>
        <p:spPr>
          <a:xfrm>
            <a:off x="731520" y="4620577"/>
            <a:ext cx="5852100" cy="378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r>
              <a:rPr lang="en-US"/>
              <a:t>Typically in budget impact analyses, the X axis would be in dollars to show the variation in total budget impacted by the increase or decrease of each variable</a:t>
            </a:r>
            <a:endParaRPr/>
          </a:p>
          <a:p>
            <a:pPr marL="0" lvl="0" indent="0" algn="l" rtl="0">
              <a:spcBef>
                <a:spcPts val="0"/>
              </a:spcBef>
              <a:spcAft>
                <a:spcPts val="0"/>
              </a:spcAft>
              <a:buNone/>
            </a:pPr>
            <a:endParaRPr/>
          </a:p>
          <a:p>
            <a:pPr marL="0" lvl="0" indent="0" algn="l" rtl="0">
              <a:spcBef>
                <a:spcPts val="0"/>
              </a:spcBef>
              <a:spcAft>
                <a:spcPts val="0"/>
              </a:spcAft>
              <a:buNone/>
            </a:pPr>
            <a:r>
              <a:rPr lang="en-US" u="sng">
                <a:solidFill>
                  <a:schemeClr val="hlink"/>
                </a:solidFill>
                <a:hlinkClick r:id="rId3"/>
              </a:rPr>
              <a:t>http://www.bandolier.org.uk/painres/download/What%20is%202009/What_is_sens_analy.pdf</a:t>
            </a:r>
            <a:r>
              <a:rPr lang="en-US"/>
              <a:t> </a:t>
            </a:r>
            <a:endParaRPr/>
          </a:p>
          <a:p>
            <a:pPr marL="0" lvl="0" indent="0" algn="l" rtl="0">
              <a:spcBef>
                <a:spcPts val="0"/>
              </a:spcBef>
              <a:spcAft>
                <a:spcPts val="0"/>
              </a:spcAft>
              <a:buNone/>
            </a:pPr>
            <a:r>
              <a:rPr lang="en-US"/>
              <a:t>Taylor M. What is Sensitivity Analysis? York Health Economics Consortium. April 2009</a:t>
            </a:r>
            <a:endParaRPr/>
          </a:p>
        </p:txBody>
      </p:sp>
      <p:sp>
        <p:nvSpPr>
          <p:cNvPr id="194" name="Google Shape;194;gf7523f7958_0_0:notes"/>
          <p:cNvSpPr txBox="1">
            <a:spLocks noGrp="1"/>
          </p:cNvSpPr>
          <p:nvPr>
            <p:ph type="sldNum" idx="12"/>
          </p:nvPr>
        </p:nvSpPr>
        <p:spPr>
          <a:xfrm>
            <a:off x="4143587" y="9119474"/>
            <a:ext cx="3169800" cy="4818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8: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02" name="Google Shape;202;p18: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9: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09" name="Google Shape;209;p19: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22: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21" name="Google Shape;221;p22: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23: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28" name="Google Shape;228;p23: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24: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25:notes"/>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40" name="Google Shape;240;p25:notes"/>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0"/>
        <p:cNvGrpSpPr/>
        <p:nvPr/>
      </p:nvGrpSpPr>
      <p:grpSpPr>
        <a:xfrm>
          <a:off x="0" y="0"/>
          <a:ext cx="0" cy="0"/>
          <a:chOff x="0" y="0"/>
          <a:chExt cx="0" cy="0"/>
        </a:xfrm>
      </p:grpSpPr>
      <p:sp>
        <p:nvSpPr>
          <p:cNvPr id="11" name="Google Shape;11;p27"/>
          <p:cNvSpPr/>
          <p:nvPr/>
        </p:nvSpPr>
        <p:spPr>
          <a:xfrm>
            <a:off x="-101600" y="-57150"/>
            <a:ext cx="12725399" cy="69723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 name="Google Shape;12;p27"/>
          <p:cNvSpPr txBox="1">
            <a:spLocks noGrp="1"/>
          </p:cNvSpPr>
          <p:nvPr>
            <p:ph type="title"/>
          </p:nvPr>
        </p:nvSpPr>
        <p:spPr>
          <a:xfrm>
            <a:off x="822960" y="685800"/>
            <a:ext cx="8840949" cy="2169367"/>
          </a:xfrm>
          <a:prstGeom prst="rect">
            <a:avLst/>
          </a:prstGeom>
          <a:noFill/>
          <a:ln>
            <a:noFill/>
          </a:ln>
        </p:spPr>
        <p:txBody>
          <a:bodyPr spcFirstLastPara="1" wrap="square" lIns="0" tIns="0" rIns="0" bIns="0" anchor="t" anchorCtr="0">
            <a:noAutofit/>
          </a:bodyPr>
          <a:lstStyle>
            <a:lvl1pPr marR="0" lvl="0" algn="ctr">
              <a:lnSpc>
                <a:spcPct val="90000"/>
              </a:lnSpc>
              <a:spcBef>
                <a:spcPts val="0"/>
              </a:spcBef>
              <a:spcAft>
                <a:spcPts val="0"/>
              </a:spcAft>
              <a:buClr>
                <a:srgbClr val="00205B"/>
              </a:buClr>
              <a:buSzPts val="7200"/>
              <a:buFont typeface="Arial"/>
              <a:buNone/>
              <a:defRPr sz="7200" b="1" i="0" u="none" strike="noStrike" cap="none">
                <a:solidFill>
                  <a:srgbClr val="00205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7"/>
          <p:cNvSpPr/>
          <p:nvPr/>
        </p:nvSpPr>
        <p:spPr>
          <a:xfrm>
            <a:off x="5679741" y="3149322"/>
            <a:ext cx="6288066" cy="174477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3200" b="0" i="0" u="none" strike="noStrike" cap="none">
              <a:solidFill>
                <a:schemeClr val="lt1"/>
              </a:solidFill>
              <a:latin typeface="Arial"/>
              <a:ea typeface="Arial"/>
              <a:cs typeface="Arial"/>
              <a:sym typeface="Arial"/>
            </a:endParaRPr>
          </a:p>
        </p:txBody>
      </p:sp>
      <p:pic>
        <p:nvPicPr>
          <p:cNvPr id="14" name="Google Shape;14;p27"/>
          <p:cNvPicPr preferRelativeResize="0"/>
          <p:nvPr/>
        </p:nvPicPr>
        <p:blipFill rotWithShape="1">
          <a:blip r:embed="rId2">
            <a:alphaModFix/>
          </a:blip>
          <a:srcRect/>
          <a:stretch/>
        </p:blipFill>
        <p:spPr>
          <a:xfrm>
            <a:off x="-1780033" y="1931772"/>
            <a:ext cx="6858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Content Slide">
  <p:cSld name="5_Content Slide">
    <p:spTree>
      <p:nvGrpSpPr>
        <p:cNvPr id="1" name="Shape 15"/>
        <p:cNvGrpSpPr/>
        <p:nvPr/>
      </p:nvGrpSpPr>
      <p:grpSpPr>
        <a:xfrm>
          <a:off x="0" y="0"/>
          <a:ext cx="0" cy="0"/>
          <a:chOff x="0" y="0"/>
          <a:chExt cx="0" cy="0"/>
        </a:xfrm>
      </p:grpSpPr>
      <p:sp>
        <p:nvSpPr>
          <p:cNvPr id="16" name="Google Shape;16;p28"/>
          <p:cNvSpPr/>
          <p:nvPr/>
        </p:nvSpPr>
        <p:spPr>
          <a:xfrm>
            <a:off x="-101600" y="5878512"/>
            <a:ext cx="12725399" cy="1093788"/>
          </a:xfrm>
          <a:prstGeom prst="rect">
            <a:avLst/>
          </a:prstGeom>
          <a:solidFill>
            <a:srgbClr val="F8F8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 name="Google Shape;1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rgbClr val="00205B"/>
              </a:buClr>
              <a:buSzPts val="4400"/>
              <a:buFont typeface="Arial"/>
              <a:buNone/>
              <a:defRPr sz="4400" b="1" i="0" u="none" strike="noStrike" cap="none">
                <a:solidFill>
                  <a:srgbClr val="00205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28"/>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rgbClr val="00205B"/>
              </a:buClr>
              <a:buSzPts val="2800"/>
              <a:buFont typeface="Arial"/>
              <a:buChar char="•"/>
              <a:defRPr sz="2800" b="0" i="0" u="none" strike="noStrike" cap="none">
                <a:solidFill>
                  <a:srgbClr val="00205B"/>
                </a:solidFill>
                <a:latin typeface="Arial"/>
                <a:ea typeface="Arial"/>
                <a:cs typeface="Arial"/>
                <a:sym typeface="Arial"/>
              </a:defRPr>
            </a:lvl1pPr>
            <a:lvl2pPr marL="914400" marR="0" lvl="1" indent="-381000" algn="l">
              <a:lnSpc>
                <a:spcPct val="90000"/>
              </a:lnSpc>
              <a:spcBef>
                <a:spcPts val="500"/>
              </a:spcBef>
              <a:spcAft>
                <a:spcPts val="0"/>
              </a:spcAft>
              <a:buClr>
                <a:schemeClr val="accent1"/>
              </a:buClr>
              <a:buSzPts val="2400"/>
              <a:buFont typeface="Noto Sans Symbols"/>
              <a:buChar char="▪"/>
              <a:defRPr sz="2400" b="0" i="0" u="none" strike="noStrike" cap="none">
                <a:solidFill>
                  <a:srgbClr val="00205B"/>
                </a:solidFill>
                <a:latin typeface="Arial"/>
                <a:ea typeface="Arial"/>
                <a:cs typeface="Arial"/>
                <a:sym typeface="Arial"/>
              </a:defRPr>
            </a:lvl2pPr>
            <a:lvl3pPr marL="1371600" marR="0" lvl="2" indent="-355600" algn="l">
              <a:lnSpc>
                <a:spcPct val="90000"/>
              </a:lnSpc>
              <a:spcBef>
                <a:spcPts val="500"/>
              </a:spcBef>
              <a:spcAft>
                <a:spcPts val="0"/>
              </a:spcAft>
              <a:buClr>
                <a:schemeClr val="lt2"/>
              </a:buClr>
              <a:buSzPts val="2000"/>
              <a:buFont typeface="Courier New"/>
              <a:buChar char="o"/>
              <a:defRPr sz="2000" b="0" i="0" u="none" strike="noStrike" cap="none">
                <a:solidFill>
                  <a:srgbClr val="00205B"/>
                </a:solidFill>
                <a:latin typeface="Arial"/>
                <a:ea typeface="Arial"/>
                <a:cs typeface="Arial"/>
                <a:sym typeface="Arial"/>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 name="Google Shape;19;p28"/>
          <p:cNvSpPr/>
          <p:nvPr/>
        </p:nvSpPr>
        <p:spPr>
          <a:xfrm>
            <a:off x="0" y="5891349"/>
            <a:ext cx="12192000" cy="1084217"/>
          </a:xfrm>
          <a:prstGeom prst="rect">
            <a:avLst/>
          </a:prstGeom>
          <a:solidFill>
            <a:srgbClr val="002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0" name="Google Shape;20;p28" descr="A close up of a logo&#10;&#10;Description automatically generated"/>
          <p:cNvPicPr preferRelativeResize="0"/>
          <p:nvPr/>
        </p:nvPicPr>
        <p:blipFill rotWithShape="1">
          <a:blip r:embed="rId2">
            <a:alphaModFix/>
          </a:blip>
          <a:srcRect/>
          <a:stretch/>
        </p:blipFill>
        <p:spPr>
          <a:xfrm>
            <a:off x="-1461633" y="4065786"/>
            <a:ext cx="6414633" cy="495676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21"/>
        <p:cNvGrpSpPr/>
        <p:nvPr/>
      </p:nvGrpSpPr>
      <p:grpSpPr>
        <a:xfrm>
          <a:off x="0" y="0"/>
          <a:ext cx="0" cy="0"/>
          <a:chOff x="0" y="0"/>
          <a:chExt cx="0" cy="0"/>
        </a:xfrm>
      </p:grpSpPr>
      <p:sp>
        <p:nvSpPr>
          <p:cNvPr id="22" name="Google Shape;22;p29"/>
          <p:cNvSpPr/>
          <p:nvPr/>
        </p:nvSpPr>
        <p:spPr>
          <a:xfrm>
            <a:off x="0" y="0"/>
            <a:ext cx="12725399" cy="69723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23"/>
        <p:cNvGrpSpPr/>
        <p:nvPr/>
      </p:nvGrpSpPr>
      <p:grpSpPr>
        <a:xfrm>
          <a:off x="0" y="0"/>
          <a:ext cx="0" cy="0"/>
          <a:chOff x="0" y="0"/>
          <a:chExt cx="0" cy="0"/>
        </a:xfrm>
      </p:grpSpPr>
      <p:sp>
        <p:nvSpPr>
          <p:cNvPr id="24" name="Google Shape;24;p30"/>
          <p:cNvSpPr/>
          <p:nvPr/>
        </p:nvSpPr>
        <p:spPr>
          <a:xfrm>
            <a:off x="-101600" y="0"/>
            <a:ext cx="12725399" cy="69723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5" name="Google Shape;25;p30"/>
          <p:cNvPicPr preferRelativeResize="0"/>
          <p:nvPr/>
        </p:nvPicPr>
        <p:blipFill rotWithShape="1">
          <a:blip r:embed="rId2">
            <a:alphaModFix/>
          </a:blip>
          <a:srcRect/>
          <a:stretch/>
        </p:blipFill>
        <p:spPr>
          <a:xfrm>
            <a:off x="-1793488" y="2007219"/>
            <a:ext cx="6858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8_Custom Layout">
  <p:cSld name="8_Custom Layout">
    <p:spTree>
      <p:nvGrpSpPr>
        <p:cNvPr id="1" name="Shape 26"/>
        <p:cNvGrpSpPr/>
        <p:nvPr/>
      </p:nvGrpSpPr>
      <p:grpSpPr>
        <a:xfrm>
          <a:off x="0" y="0"/>
          <a:ext cx="0" cy="0"/>
          <a:chOff x="0" y="0"/>
          <a:chExt cx="0" cy="0"/>
        </a:xfrm>
      </p:grpSpPr>
      <p:sp>
        <p:nvSpPr>
          <p:cNvPr id="27" name="Google Shape;27;p31"/>
          <p:cNvSpPr/>
          <p:nvPr/>
        </p:nvSpPr>
        <p:spPr>
          <a:xfrm>
            <a:off x="-101600" y="0"/>
            <a:ext cx="12725399" cy="69723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 name="Google Shape;28;p31"/>
          <p:cNvPicPr preferRelativeResize="0"/>
          <p:nvPr/>
        </p:nvPicPr>
        <p:blipFill rotWithShape="1">
          <a:blip r:embed="rId2">
            <a:alphaModFix/>
          </a:blip>
          <a:srcRect r="16356" b="42778"/>
          <a:stretch/>
        </p:blipFill>
        <p:spPr>
          <a:xfrm>
            <a:off x="5983664" y="-1422399"/>
            <a:ext cx="7427536" cy="618423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_Quote Slide">
  <p:cSld name="3_Quote Slide">
    <p:spTree>
      <p:nvGrpSpPr>
        <p:cNvPr id="1" name="Shape 29"/>
        <p:cNvGrpSpPr/>
        <p:nvPr/>
      </p:nvGrpSpPr>
      <p:grpSpPr>
        <a:xfrm>
          <a:off x="0" y="0"/>
          <a:ext cx="0" cy="0"/>
          <a:chOff x="0" y="0"/>
          <a:chExt cx="0" cy="0"/>
        </a:xfrm>
      </p:grpSpPr>
      <p:sp>
        <p:nvSpPr>
          <p:cNvPr id="30" name="Google Shape;30;p32"/>
          <p:cNvSpPr/>
          <p:nvPr/>
        </p:nvSpPr>
        <p:spPr>
          <a:xfrm>
            <a:off x="0" y="0"/>
            <a:ext cx="12188952" cy="68580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1" name="Google Shape;31;p32"/>
          <p:cNvPicPr preferRelativeResize="0"/>
          <p:nvPr/>
        </p:nvPicPr>
        <p:blipFill rotWithShape="1">
          <a:blip r:embed="rId2">
            <a:alphaModFix/>
          </a:blip>
          <a:srcRect r="16356" b="42778"/>
          <a:stretch/>
        </p:blipFill>
        <p:spPr>
          <a:xfrm>
            <a:off x="5831633" y="-1540568"/>
            <a:ext cx="7427536" cy="6184232"/>
          </a:xfrm>
          <a:prstGeom prst="rect">
            <a:avLst/>
          </a:prstGeom>
          <a:noFill/>
          <a:ln>
            <a:noFill/>
          </a:ln>
        </p:spPr>
      </p:pic>
      <p:sp>
        <p:nvSpPr>
          <p:cNvPr id="32" name="Google Shape;32;p32"/>
          <p:cNvSpPr txBox="1">
            <a:spLocks noGrp="1"/>
          </p:cNvSpPr>
          <p:nvPr>
            <p:ph type="title"/>
          </p:nvPr>
        </p:nvSpPr>
        <p:spPr>
          <a:xfrm>
            <a:off x="167951" y="4257443"/>
            <a:ext cx="10515600" cy="2245994"/>
          </a:xfrm>
          <a:prstGeom prst="rect">
            <a:avLst/>
          </a:prstGeom>
          <a:noFill/>
          <a:ln>
            <a:noFill/>
          </a:ln>
        </p:spPr>
        <p:txBody>
          <a:bodyPr spcFirstLastPara="1" wrap="square" lIns="91425" tIns="45700" rIns="91425" bIns="45700" anchor="t" anchorCtr="0">
            <a:noAutofit/>
          </a:bodyPr>
          <a:lstStyle>
            <a:lvl1pPr marR="0" lvl="0" algn="l">
              <a:lnSpc>
                <a:spcPct val="90000"/>
              </a:lnSpc>
              <a:spcBef>
                <a:spcPts val="0"/>
              </a:spcBef>
              <a:spcAft>
                <a:spcPts val="0"/>
              </a:spcAft>
              <a:buClr>
                <a:schemeClr val="lt1"/>
              </a:buClr>
              <a:buSzPts val="7200"/>
              <a:buFont typeface="Arial"/>
              <a:buNone/>
              <a:defRPr sz="72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ispor.org/conferences-education/education-training/virtual/distance-learning/introduction-to-budget-impact-analysis-bia-part-ii" TargetMode="External"/><Relationship Id="rId7" Type="http://schemas.openxmlformats.org/officeDocument/2006/relationships/hyperlink" Target="https://www.herc.research.va.gov/include/page.asp?ID=hom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www.nice.org.uk/Media/Default/About/what-we-do/NICE-guidance/NICE-technology-appraisals/Company-budget-impact-analysis-submission.docx" TargetMode="External"/><Relationship Id="rId5" Type="http://schemas.openxmlformats.org/officeDocument/2006/relationships/hyperlink" Target="https://www.nice.org.uk/Media/Default/About/what-we-do/our-programmes/evidence-standards-framework/budget-impact-template.xlsx" TargetMode="External"/><Relationship Id="rId4" Type="http://schemas.openxmlformats.org/officeDocument/2006/relationships/hyperlink" Target="https://www.ispor.org/heor-resources/good-practices/article/principles-of-good-practice-for-budget-impact-analysis-ii"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nice.org.uk/"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noahe.ca/download/budget_impact_models.pdf" TargetMode="External"/><Relationship Id="rId5" Type="http://schemas.openxmlformats.org/officeDocument/2006/relationships/hyperlink" Target="https://www.herc.research.va.gov/include/page.asp?ID=home" TargetMode="External"/><Relationship Id="rId4" Type="http://schemas.openxmlformats.org/officeDocument/2006/relationships/hyperlink" Target="https://www.nice.org.uk/about/what-we-do/into-practice/audit-and-service-improvement/costing-tools"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1"/>
          <p:cNvSpPr txBox="1">
            <a:spLocks noGrp="1"/>
          </p:cNvSpPr>
          <p:nvPr>
            <p:ph type="title"/>
          </p:nvPr>
        </p:nvSpPr>
        <p:spPr>
          <a:xfrm>
            <a:off x="2178770" y="1869233"/>
            <a:ext cx="10013230" cy="2169367"/>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Clr>
                <a:schemeClr val="lt1"/>
              </a:buClr>
              <a:buSzPts val="6000"/>
              <a:buFont typeface="Arial"/>
              <a:buNone/>
            </a:pPr>
            <a:r>
              <a:rPr lang="en-US" sz="6000">
                <a:solidFill>
                  <a:schemeClr val="lt1"/>
                </a:solidFill>
              </a:rPr>
              <a:t>Budget Impact Analysis</a:t>
            </a:r>
            <a:endParaRPr sz="6000" b="1">
              <a:solidFill>
                <a:schemeClr val="lt1"/>
              </a:solidFill>
            </a:endParaRPr>
          </a:p>
        </p:txBody>
      </p:sp>
      <p:sp>
        <p:nvSpPr>
          <p:cNvPr id="38" name="Google Shape;38;p1"/>
          <p:cNvSpPr txBox="1">
            <a:spLocks noGrp="1"/>
          </p:cNvSpPr>
          <p:nvPr>
            <p:ph type="subTitle" idx="1"/>
          </p:nvPr>
        </p:nvSpPr>
        <p:spPr>
          <a:xfrm>
            <a:off x="5791200" y="4305300"/>
            <a:ext cx="6400800" cy="17526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Created by the School of Pharmacy Relations Committee for AMCP</a:t>
            </a:r>
            <a:endParaRPr/>
          </a:p>
          <a:p>
            <a:pPr marL="0" marR="0" lvl="0" indent="0" algn="r" rtl="0">
              <a:lnSpc>
                <a:spcPct val="90000"/>
              </a:lnSpc>
              <a:spcBef>
                <a:spcPts val="100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Updated: October 2021</a:t>
            </a:r>
            <a:endParaRPr/>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Overview</a:t>
            </a:r>
            <a:endParaRPr/>
          </a:p>
        </p:txBody>
      </p:sp>
      <p:sp>
        <p:nvSpPr>
          <p:cNvPr id="44" name="Google Shape;44;p2"/>
          <p:cNvSpPr txBox="1">
            <a:spLocks noGrp="1"/>
          </p:cNvSpPr>
          <p:nvPr>
            <p:ph type="body" idx="1"/>
          </p:nvPr>
        </p:nvSpPr>
        <p:spPr>
          <a:xfrm>
            <a:off x="838200" y="1825625"/>
            <a:ext cx="10515600" cy="269557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10000"/>
              </a:lnSpc>
              <a:spcBef>
                <a:spcPts val="0"/>
              </a:spcBef>
              <a:spcAft>
                <a:spcPts val="0"/>
              </a:spcAft>
              <a:buClr>
                <a:srgbClr val="00205B"/>
              </a:buClr>
              <a:buSzPct val="100000"/>
              <a:buChar char="•"/>
            </a:pPr>
            <a:r>
              <a:rPr lang="en-US"/>
              <a:t>Introduction to budget impact analysis (BIA)</a:t>
            </a:r>
            <a:endParaRPr/>
          </a:p>
          <a:p>
            <a:pPr marL="228600" lvl="0" indent="-228600" algn="l" rtl="0">
              <a:lnSpc>
                <a:spcPct val="110000"/>
              </a:lnSpc>
              <a:spcBef>
                <a:spcPts val="1000"/>
              </a:spcBef>
              <a:spcAft>
                <a:spcPts val="0"/>
              </a:spcAft>
              <a:buClr>
                <a:srgbClr val="00205B"/>
              </a:buClr>
              <a:buSzPct val="100000"/>
              <a:buChar char="•"/>
            </a:pPr>
            <a:r>
              <a:rPr lang="en-US"/>
              <a:t>Differentiation between BIA vs. cost-effectiveness analysis (CEA)</a:t>
            </a:r>
            <a:endParaRPr/>
          </a:p>
          <a:p>
            <a:pPr marL="228600" lvl="0" indent="-228600" algn="l" rtl="0">
              <a:lnSpc>
                <a:spcPct val="110000"/>
              </a:lnSpc>
              <a:spcBef>
                <a:spcPts val="1000"/>
              </a:spcBef>
              <a:spcAft>
                <a:spcPts val="0"/>
              </a:spcAft>
              <a:buClr>
                <a:srgbClr val="00205B"/>
              </a:buClr>
              <a:buSzPct val="100000"/>
              <a:buChar char="•"/>
            </a:pPr>
            <a:r>
              <a:rPr lang="en-US"/>
              <a:t>Designing BIA</a:t>
            </a:r>
            <a:endParaRPr/>
          </a:p>
          <a:p>
            <a:pPr marL="228600" lvl="0" indent="-228600" algn="l" rtl="0">
              <a:lnSpc>
                <a:spcPct val="110000"/>
              </a:lnSpc>
              <a:spcBef>
                <a:spcPts val="1000"/>
              </a:spcBef>
              <a:spcAft>
                <a:spcPts val="0"/>
              </a:spcAft>
              <a:buClr>
                <a:srgbClr val="00205B"/>
              </a:buClr>
              <a:buSzPct val="100000"/>
              <a:buChar char="•"/>
            </a:pPr>
            <a:r>
              <a:rPr lang="en-US"/>
              <a:t>Considerations and models for conducting BIA</a:t>
            </a:r>
            <a:endParaRPr/>
          </a:p>
          <a:p>
            <a:pPr marL="228600" lvl="0" indent="-228600" algn="l" rtl="0">
              <a:lnSpc>
                <a:spcPct val="110000"/>
              </a:lnSpc>
              <a:spcBef>
                <a:spcPts val="1000"/>
              </a:spcBef>
              <a:spcAft>
                <a:spcPts val="0"/>
              </a:spcAft>
              <a:buClr>
                <a:srgbClr val="00205B"/>
              </a:buClr>
              <a:buSzPct val="100000"/>
              <a:buChar char="•"/>
            </a:pPr>
            <a:r>
              <a:rPr lang="en-US"/>
              <a:t>Helpful resources</a:t>
            </a:r>
            <a:endParaRPr/>
          </a:p>
          <a:p>
            <a:pPr marL="228600" lvl="0" indent="-228600" algn="l" rtl="0">
              <a:lnSpc>
                <a:spcPct val="110000"/>
              </a:lnSpc>
              <a:spcBef>
                <a:spcPts val="1000"/>
              </a:spcBef>
              <a:spcAft>
                <a:spcPts val="0"/>
              </a:spcAft>
              <a:buClr>
                <a:srgbClr val="00205B"/>
              </a:buClr>
              <a:buSzPct val="100000"/>
              <a:buFont typeface="Arial"/>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3"/>
          <p:cNvSpPr txBox="1">
            <a:spLocks noGrp="1"/>
          </p:cNvSpPr>
          <p:nvPr>
            <p:ph type="title"/>
          </p:nvPr>
        </p:nvSpPr>
        <p:spPr>
          <a:xfrm>
            <a:off x="4328932" y="1755572"/>
            <a:ext cx="8121935" cy="2169367"/>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Clr>
                <a:schemeClr val="lt1"/>
              </a:buClr>
              <a:buSzPts val="7200"/>
              <a:buFont typeface="Arial"/>
              <a:buNone/>
            </a:pPr>
            <a:r>
              <a:rPr lang="en-US" dirty="0">
                <a:solidFill>
                  <a:schemeClr val="lt1"/>
                </a:solidFill>
              </a:rPr>
              <a:t>Introduction of BIA</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Definition of BIA</a:t>
            </a:r>
            <a:endParaRPr/>
          </a:p>
        </p:txBody>
      </p:sp>
      <p:sp>
        <p:nvSpPr>
          <p:cNvPr id="56" name="Google Shape;56;p4"/>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205B"/>
              </a:buClr>
              <a:buSzPts val="2600"/>
              <a:buNone/>
            </a:pPr>
            <a:r>
              <a:rPr lang="en-US" sz="2600"/>
              <a:t>A budget impact analysis (BIA) is:</a:t>
            </a:r>
            <a:endParaRPr/>
          </a:p>
        </p:txBody>
      </p:sp>
      <p:sp>
        <p:nvSpPr>
          <p:cNvPr id="57" name="Google Shape;57;p4"/>
          <p:cNvSpPr txBox="1"/>
          <p:nvPr/>
        </p:nvSpPr>
        <p:spPr>
          <a:xfrm>
            <a:off x="1406768" y="2736502"/>
            <a:ext cx="9108831" cy="12926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0" i="0" u="none" strike="noStrike" cap="none">
                <a:solidFill>
                  <a:srgbClr val="000000"/>
                </a:solidFill>
                <a:latin typeface="Arial"/>
                <a:ea typeface="Arial"/>
                <a:cs typeface="Arial"/>
                <a:sym typeface="Arial"/>
              </a:rPr>
              <a:t>an evidence-based analysis used to assess the </a:t>
            </a:r>
            <a:r>
              <a:rPr lang="en-US" sz="2600" b="0" i="1" u="none" strike="noStrike" cap="none">
                <a:solidFill>
                  <a:srgbClr val="000000"/>
                </a:solidFill>
                <a:latin typeface="Arial"/>
                <a:ea typeface="Arial"/>
                <a:cs typeface="Arial"/>
                <a:sym typeface="Arial"/>
              </a:rPr>
              <a:t>financial consequences</a:t>
            </a:r>
            <a:r>
              <a:rPr lang="en-US" sz="2600" b="0" i="0" u="none" strike="noStrike" cap="none">
                <a:solidFill>
                  <a:srgbClr val="000000"/>
                </a:solidFill>
                <a:latin typeface="Arial"/>
                <a:ea typeface="Arial"/>
                <a:cs typeface="Arial"/>
                <a:sym typeface="Arial"/>
              </a:rPr>
              <a:t> of the adoption of a new intervention, given the available budget and resources.</a:t>
            </a:r>
            <a:endParaRPr sz="2600" b="1" i="0" u="sng" strike="noStrike" cap="none" baseline="300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Purpose of BIA</a:t>
            </a:r>
            <a:endParaRPr/>
          </a:p>
        </p:txBody>
      </p:sp>
      <p:sp>
        <p:nvSpPr>
          <p:cNvPr id="64" name="Google Shape;64;p5"/>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000000"/>
              </a:buClr>
              <a:buSzPts val="2600"/>
              <a:buChar char="•"/>
            </a:pPr>
            <a:r>
              <a:rPr lang="en-US" sz="2600">
                <a:solidFill>
                  <a:srgbClr val="000000"/>
                </a:solidFill>
              </a:rPr>
              <a:t>BIA is essential for budget and resource planning as it aids decision-making for reimbursement authorities/budget holders/payers.</a:t>
            </a:r>
            <a:endParaRPr sz="2600"/>
          </a:p>
          <a:p>
            <a:pPr marL="742950" lvl="1" indent="-285750" algn="l" rtl="0">
              <a:lnSpc>
                <a:spcPct val="100000"/>
              </a:lnSpc>
              <a:spcBef>
                <a:spcPts val="500"/>
              </a:spcBef>
              <a:spcAft>
                <a:spcPts val="0"/>
              </a:spcAft>
              <a:buSzPts val="2200"/>
              <a:buChar char="▪"/>
            </a:pPr>
            <a:r>
              <a:rPr lang="en-US" sz="2200">
                <a:solidFill>
                  <a:srgbClr val="000000"/>
                </a:solidFill>
              </a:rPr>
              <a:t>Formulate a short term (typically 1 to 5 years) estimate of the changes in expenditure, cost, and healthcare utilization after the adoption of a new intervention. </a:t>
            </a:r>
            <a:endParaRPr/>
          </a:p>
          <a:p>
            <a:pPr marL="742950" lvl="1" indent="-285750" algn="l" rtl="0">
              <a:lnSpc>
                <a:spcPct val="100000"/>
              </a:lnSpc>
              <a:spcBef>
                <a:spcPts val="500"/>
              </a:spcBef>
              <a:spcAft>
                <a:spcPts val="0"/>
              </a:spcAft>
              <a:buSzPts val="2200"/>
              <a:buChar char="▪"/>
            </a:pPr>
            <a:r>
              <a:rPr lang="en-US" sz="2200">
                <a:solidFill>
                  <a:srgbClr val="000000"/>
                </a:solidFill>
              </a:rPr>
              <a:t>Predict the budget impact of a new intervention in the population.</a:t>
            </a:r>
            <a:endParaRPr/>
          </a:p>
          <a:p>
            <a:pPr marL="742950" lvl="1" indent="-285750" algn="l" rtl="0">
              <a:lnSpc>
                <a:spcPct val="100000"/>
              </a:lnSpc>
              <a:spcBef>
                <a:spcPts val="500"/>
              </a:spcBef>
              <a:spcAft>
                <a:spcPts val="0"/>
              </a:spcAft>
              <a:buSzPts val="2200"/>
              <a:buChar char="▪"/>
            </a:pPr>
            <a:r>
              <a:rPr lang="en-US" sz="2200">
                <a:solidFill>
                  <a:srgbClr val="000000"/>
                </a:solidFill>
              </a:rPr>
              <a:t>Predict the characteristics of the population and the healthcare system after adoption of the new intervention.</a:t>
            </a:r>
            <a:endParaRPr/>
          </a:p>
          <a:p>
            <a:pPr marL="228600" lvl="0" indent="-63500" algn="l" rtl="0">
              <a:lnSpc>
                <a:spcPct val="100000"/>
              </a:lnSpc>
              <a:spcBef>
                <a:spcPts val="1000"/>
              </a:spcBef>
              <a:spcAft>
                <a:spcPts val="0"/>
              </a:spcAft>
              <a:buClr>
                <a:srgbClr val="00205B"/>
              </a:buClr>
              <a:buSzPts val="2600"/>
              <a:buNone/>
            </a:pPr>
            <a:endParaRPr sz="26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5B"/>
              </a:buClr>
              <a:buSzPts val="4400"/>
              <a:buFont typeface="Arial"/>
              <a:buNone/>
            </a:pPr>
            <a:r>
              <a:rPr lang="en-US"/>
              <a:t>Differentiation between BIA vs. CEA</a:t>
            </a:r>
            <a:endParaRPr/>
          </a:p>
        </p:txBody>
      </p:sp>
      <p:sp>
        <p:nvSpPr>
          <p:cNvPr id="71" name="Google Shape;71;p6"/>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205B"/>
              </a:buClr>
              <a:buSzPts val="2800"/>
              <a:buNone/>
            </a:pPr>
            <a:endParaRPr/>
          </a:p>
          <a:p>
            <a:pPr marL="0" lvl="0" indent="0" algn="l" rtl="0">
              <a:lnSpc>
                <a:spcPct val="90000"/>
              </a:lnSpc>
              <a:spcBef>
                <a:spcPts val="1000"/>
              </a:spcBef>
              <a:spcAft>
                <a:spcPts val="0"/>
              </a:spcAft>
              <a:buClr>
                <a:srgbClr val="00205B"/>
              </a:buClr>
              <a:buSzPts val="2800"/>
              <a:buNone/>
            </a:pPr>
            <a:endParaRPr/>
          </a:p>
          <a:p>
            <a:pPr marL="0" lvl="0" indent="0" algn="ctr" rtl="0">
              <a:lnSpc>
                <a:spcPct val="90000"/>
              </a:lnSpc>
              <a:spcBef>
                <a:spcPts val="1000"/>
              </a:spcBef>
              <a:spcAft>
                <a:spcPts val="0"/>
              </a:spcAft>
              <a:buClr>
                <a:srgbClr val="00205B"/>
              </a:buClr>
              <a:buSzPts val="2800"/>
              <a:buNone/>
            </a:pPr>
            <a:endParaRPr/>
          </a:p>
          <a:p>
            <a:pPr marL="0" lvl="0" indent="0" algn="ctr" rtl="0">
              <a:lnSpc>
                <a:spcPct val="90000"/>
              </a:lnSpc>
              <a:spcBef>
                <a:spcPts val="1000"/>
              </a:spcBef>
              <a:spcAft>
                <a:spcPts val="0"/>
              </a:spcAft>
              <a:buClr>
                <a:srgbClr val="00205B"/>
              </a:buClr>
              <a:buSzPts val="2800"/>
              <a:buNone/>
            </a:pPr>
            <a:r>
              <a:rPr lang="en-US"/>
              <a:t> </a:t>
            </a:r>
            <a:endParaRPr/>
          </a:p>
        </p:txBody>
      </p:sp>
      <p:graphicFrame>
        <p:nvGraphicFramePr>
          <p:cNvPr id="72" name="Google Shape;72;p6"/>
          <p:cNvGraphicFramePr/>
          <p:nvPr/>
        </p:nvGraphicFramePr>
        <p:xfrm>
          <a:off x="1185061" y="1480967"/>
          <a:ext cx="9963300" cy="4028490"/>
        </p:xfrm>
        <a:graphic>
          <a:graphicData uri="http://schemas.openxmlformats.org/drawingml/2006/table">
            <a:tbl>
              <a:tblPr firstRow="1" bandRow="1">
                <a:noFill/>
                <a:tableStyleId>{7CD948EC-1313-4189-9F6D-DD71D48867AA}</a:tableStyleId>
              </a:tblPr>
              <a:tblGrid>
                <a:gridCol w="4981650">
                  <a:extLst>
                    <a:ext uri="{9D8B030D-6E8A-4147-A177-3AD203B41FA5}">
                      <a16:colId xmlns:a16="http://schemas.microsoft.com/office/drawing/2014/main" val="20000"/>
                    </a:ext>
                  </a:extLst>
                </a:gridCol>
                <a:gridCol w="498165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Budget impact analysis (BIA)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Cost-effective analysis (CEA)</a:t>
                      </a:r>
                      <a:endParaRPr/>
                    </a:p>
                  </a:txBody>
                  <a:tcPr marL="91450" marR="91450" marT="45725" marB="45725"/>
                </a:tc>
                <a:extLst>
                  <a:ext uri="{0D108BD9-81ED-4DB2-BD59-A6C34878D82A}">
                    <a16:rowId xmlns:a16="http://schemas.microsoft.com/office/drawing/2014/main" val="10000"/>
                  </a:ext>
                </a:extLst>
              </a:tr>
              <a:tr h="370850">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BIA assesses the </a:t>
                      </a:r>
                      <a:r>
                        <a:rPr lang="en-US" sz="1800" b="1" i="0" u="none" strike="noStrike" cap="none">
                          <a:solidFill>
                            <a:srgbClr val="000000"/>
                          </a:solidFill>
                        </a:rPr>
                        <a:t>financial consequences </a:t>
                      </a:r>
                      <a:r>
                        <a:rPr lang="en-US" sz="1800" i="0" u="none" strike="noStrike" cap="none">
                          <a:solidFill>
                            <a:srgbClr val="000000"/>
                          </a:solidFill>
                        </a:rPr>
                        <a:t>of a new intervention given the available resources and budget. </a:t>
                      </a:r>
                      <a:endParaRPr/>
                    </a:p>
                    <a:p>
                      <a:pPr marL="285750" marR="0" lvl="0" indent="-171450" algn="l" rtl="0">
                        <a:spcBef>
                          <a:spcPts val="0"/>
                        </a:spcBef>
                        <a:spcAft>
                          <a:spcPts val="0"/>
                        </a:spcAft>
                        <a:buClr>
                          <a:schemeClr val="dk1"/>
                        </a:buClr>
                        <a:buSzPts val="1800"/>
                        <a:buFont typeface="Arial"/>
                        <a:buNone/>
                      </a:pPr>
                      <a:endParaRPr sz="1800" i="0" u="none" strike="noStrike" cap="none">
                        <a:solidFill>
                          <a:srgbClr val="000000"/>
                        </a:solidFill>
                      </a:endParaRPr>
                    </a:p>
                  </a:txBody>
                  <a:tcPr marL="91450" marR="91450" marT="45725" marB="45725">
                    <a:solidFill>
                      <a:srgbClr val="F7F9FF"/>
                    </a:solidFill>
                  </a:tcPr>
                </a:tc>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CEA evaluates the </a:t>
                      </a:r>
                      <a:r>
                        <a:rPr lang="en-US" sz="1800" b="1" i="0" u="none" strike="noStrike" cap="none">
                          <a:solidFill>
                            <a:srgbClr val="000000"/>
                          </a:solidFill>
                        </a:rPr>
                        <a:t>value</a:t>
                      </a:r>
                      <a:r>
                        <a:rPr lang="en-US" sz="1800" i="0" u="none" strike="noStrike" cap="none">
                          <a:solidFill>
                            <a:srgbClr val="000000"/>
                          </a:solidFill>
                        </a:rPr>
                        <a:t> of a new intervention relative to current ones.</a:t>
                      </a:r>
                      <a:endParaRPr/>
                    </a:p>
                  </a:txBody>
                  <a:tcPr marL="91450" marR="91450" marT="45725" marB="45725">
                    <a:solidFill>
                      <a:srgbClr val="F7F9FF"/>
                    </a:solidFill>
                  </a:tcPr>
                </a:tc>
                <a:extLst>
                  <a:ext uri="{0D108BD9-81ED-4DB2-BD59-A6C34878D82A}">
                    <a16:rowId xmlns:a16="http://schemas.microsoft.com/office/drawing/2014/main" val="10001"/>
                  </a:ext>
                </a:extLst>
              </a:tr>
              <a:tr h="370850">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The time horizon is usually </a:t>
                      </a:r>
                      <a:r>
                        <a:rPr lang="en-US" sz="1800" b="1" i="0" u="none" strike="noStrike" cap="none">
                          <a:solidFill>
                            <a:srgbClr val="000000"/>
                          </a:solidFill>
                        </a:rPr>
                        <a:t>short</a:t>
                      </a:r>
                      <a:r>
                        <a:rPr lang="en-US" sz="1800" i="0" u="none" strike="noStrike" cap="none">
                          <a:solidFill>
                            <a:srgbClr val="000000"/>
                          </a:solidFill>
                        </a:rPr>
                        <a:t> (1 to 5 years).</a:t>
                      </a:r>
                      <a:endParaRPr/>
                    </a:p>
                    <a:p>
                      <a:pPr marL="285750" marR="0" lvl="0" indent="-171450" algn="l" rtl="0">
                        <a:spcBef>
                          <a:spcPts val="0"/>
                        </a:spcBef>
                        <a:spcAft>
                          <a:spcPts val="0"/>
                        </a:spcAft>
                        <a:buClr>
                          <a:schemeClr val="dk1"/>
                        </a:buClr>
                        <a:buSzPts val="1800"/>
                        <a:buFont typeface="Arial"/>
                        <a:buNone/>
                      </a:pPr>
                      <a:endParaRPr sz="1800" i="0" u="none" strike="noStrike" cap="none">
                        <a:solidFill>
                          <a:srgbClr val="000000"/>
                        </a:solidFill>
                      </a:endParaRPr>
                    </a:p>
                  </a:txBody>
                  <a:tcPr marL="91450" marR="91450" marT="45725" marB="45725">
                    <a:solidFill>
                      <a:srgbClr val="F7F9FF"/>
                    </a:solidFill>
                  </a:tcPr>
                </a:tc>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The time horizon is </a:t>
                      </a:r>
                      <a:r>
                        <a:rPr lang="en-US" sz="1800" b="1" i="0" u="none" strike="noStrike" cap="none">
                          <a:solidFill>
                            <a:srgbClr val="000000"/>
                          </a:solidFill>
                        </a:rPr>
                        <a:t>long</a:t>
                      </a:r>
                      <a:r>
                        <a:rPr lang="en-US" sz="1800" i="0" u="none" strike="noStrike" cap="none">
                          <a:solidFill>
                            <a:srgbClr val="000000"/>
                          </a:solidFill>
                        </a:rPr>
                        <a:t> (can be a life-time horizon).</a:t>
                      </a:r>
                      <a:endParaRPr/>
                    </a:p>
                  </a:txBody>
                  <a:tcPr marL="91450" marR="91450" marT="45725" marB="45725">
                    <a:solidFill>
                      <a:srgbClr val="F7F9FF"/>
                    </a:solidFill>
                  </a:tcPr>
                </a:tc>
                <a:extLst>
                  <a:ext uri="{0D108BD9-81ED-4DB2-BD59-A6C34878D82A}">
                    <a16:rowId xmlns:a16="http://schemas.microsoft.com/office/drawing/2014/main" val="10002"/>
                  </a:ext>
                </a:extLst>
              </a:tr>
              <a:tr h="370850">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BIA estimates </a:t>
                      </a:r>
                      <a:r>
                        <a:rPr lang="en-US" sz="1800" b="1" i="0" u="none" strike="noStrike" cap="none">
                          <a:solidFill>
                            <a:srgbClr val="000000"/>
                          </a:solidFill>
                        </a:rPr>
                        <a:t>costs</a:t>
                      </a:r>
                      <a:r>
                        <a:rPr lang="en-US" sz="1800" i="0" u="none" strike="noStrike" cap="none">
                          <a:solidFill>
                            <a:srgbClr val="000000"/>
                          </a:solidFill>
                        </a:rPr>
                        <a:t> and </a:t>
                      </a:r>
                      <a:r>
                        <a:rPr lang="en-US" sz="1800" b="0" i="0" u="none" strike="noStrike" cap="none">
                          <a:solidFill>
                            <a:srgbClr val="000000"/>
                          </a:solidFill>
                        </a:rPr>
                        <a:t>changes in costs. </a:t>
                      </a:r>
                      <a:endParaRPr/>
                    </a:p>
                    <a:p>
                      <a:pPr marL="285750" marR="0" lvl="0" indent="-171450" algn="l" rtl="0">
                        <a:spcBef>
                          <a:spcPts val="0"/>
                        </a:spcBef>
                        <a:spcAft>
                          <a:spcPts val="0"/>
                        </a:spcAft>
                        <a:buClr>
                          <a:schemeClr val="dk1"/>
                        </a:buClr>
                        <a:buSzPts val="1800"/>
                        <a:buFont typeface="Arial"/>
                        <a:buNone/>
                      </a:pPr>
                      <a:endParaRPr sz="1800" i="0" u="none" strike="noStrike" cap="none">
                        <a:solidFill>
                          <a:srgbClr val="000000"/>
                        </a:solidFill>
                      </a:endParaRPr>
                    </a:p>
                  </a:txBody>
                  <a:tcPr marL="91450" marR="91450" marT="45725" marB="45725">
                    <a:solidFill>
                      <a:srgbClr val="F7F9FF"/>
                    </a:solidFill>
                  </a:tcPr>
                </a:tc>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CEA estimates the cost per clinical outcome, such as life years (</a:t>
                      </a:r>
                      <a:r>
                        <a:rPr lang="en-US" sz="1800" b="1" i="0" u="none" strike="noStrike" cap="none">
                          <a:solidFill>
                            <a:srgbClr val="000000"/>
                          </a:solidFill>
                        </a:rPr>
                        <a:t>LY</a:t>
                      </a:r>
                      <a:r>
                        <a:rPr lang="en-US" sz="1800" i="0" u="none" strike="noStrike" cap="none">
                          <a:solidFill>
                            <a:srgbClr val="000000"/>
                          </a:solidFill>
                        </a:rPr>
                        <a:t>) and quality-adjusted life years (</a:t>
                      </a:r>
                      <a:r>
                        <a:rPr lang="en-US" sz="1800" b="1" i="0" u="none" strike="noStrike" cap="none">
                          <a:solidFill>
                            <a:srgbClr val="000000"/>
                          </a:solidFill>
                        </a:rPr>
                        <a:t>QALY</a:t>
                      </a:r>
                      <a:r>
                        <a:rPr lang="en-US" sz="1800" i="0" u="none" strike="noStrike" cap="none">
                          <a:solidFill>
                            <a:srgbClr val="000000"/>
                          </a:solidFill>
                        </a:rPr>
                        <a:t>) gained.</a:t>
                      </a:r>
                      <a:endParaRPr/>
                    </a:p>
                  </a:txBody>
                  <a:tcPr marL="91450" marR="91450" marT="45725" marB="45725">
                    <a:solidFill>
                      <a:srgbClr val="F7F9FF"/>
                    </a:solidFill>
                  </a:tcPr>
                </a:tc>
                <a:extLst>
                  <a:ext uri="{0D108BD9-81ED-4DB2-BD59-A6C34878D82A}">
                    <a16:rowId xmlns:a16="http://schemas.microsoft.com/office/drawing/2014/main" val="10003"/>
                  </a:ext>
                </a:extLst>
              </a:tr>
              <a:tr h="370850">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The results are reported in cost per member per month (</a:t>
                      </a:r>
                      <a:r>
                        <a:rPr lang="en-US" sz="1800" b="1" i="0" u="none" strike="noStrike" cap="none">
                          <a:solidFill>
                            <a:srgbClr val="000000"/>
                          </a:solidFill>
                        </a:rPr>
                        <a:t>PMPM</a:t>
                      </a:r>
                      <a:r>
                        <a:rPr lang="en-US" sz="1800" i="0" u="none" strike="noStrike" cap="none">
                          <a:solidFill>
                            <a:srgbClr val="000000"/>
                          </a:solidFill>
                        </a:rPr>
                        <a:t>).</a:t>
                      </a:r>
                      <a:endParaRPr/>
                    </a:p>
                  </a:txBody>
                  <a:tcPr marL="91450" marR="91450" marT="45725" marB="45725">
                    <a:solidFill>
                      <a:srgbClr val="F7F9FF"/>
                    </a:solidFill>
                  </a:tcPr>
                </a:tc>
                <a:tc>
                  <a:txBody>
                    <a:bodyPr/>
                    <a:lstStyle/>
                    <a:p>
                      <a:pPr marL="285750" marR="0" lvl="0" indent="-285750" algn="l" rtl="0">
                        <a:spcBef>
                          <a:spcPts val="0"/>
                        </a:spcBef>
                        <a:spcAft>
                          <a:spcPts val="0"/>
                        </a:spcAft>
                        <a:buClr>
                          <a:srgbClr val="000000"/>
                        </a:buClr>
                        <a:buSzPts val="1800"/>
                        <a:buFont typeface="Arial"/>
                        <a:buChar char="•"/>
                      </a:pPr>
                      <a:r>
                        <a:rPr lang="en-US" sz="1800" i="0" u="none" strike="noStrike" cap="none">
                          <a:solidFill>
                            <a:srgbClr val="000000"/>
                          </a:solidFill>
                        </a:rPr>
                        <a:t>The results are reported in incremental cost-effectiveness ratio (</a:t>
                      </a:r>
                      <a:r>
                        <a:rPr lang="en-US" sz="1800" b="1" i="0" u="none" strike="noStrike" cap="none">
                          <a:solidFill>
                            <a:srgbClr val="000000"/>
                          </a:solidFill>
                        </a:rPr>
                        <a:t>ICER</a:t>
                      </a:r>
                      <a:r>
                        <a:rPr lang="en-US" sz="1800" i="0" u="none" strike="noStrike" cap="none">
                          <a:solidFill>
                            <a:srgbClr val="000000"/>
                          </a:solidFill>
                        </a:rPr>
                        <a:t>).</a:t>
                      </a:r>
                      <a:endParaRPr/>
                    </a:p>
                  </a:txBody>
                  <a:tcPr marL="91450" marR="91450" marT="45725" marB="45725">
                    <a:solidFill>
                      <a:srgbClr val="F7F9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7"/>
          <p:cNvSpPr txBox="1">
            <a:spLocks noGrp="1"/>
          </p:cNvSpPr>
          <p:nvPr>
            <p:ph type="title"/>
          </p:nvPr>
        </p:nvSpPr>
        <p:spPr>
          <a:xfrm>
            <a:off x="3633067" y="2855167"/>
            <a:ext cx="8840949" cy="2169367"/>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Clr>
                <a:schemeClr val="lt1"/>
              </a:buClr>
              <a:buSzPts val="7200"/>
              <a:buFont typeface="Arial"/>
              <a:buNone/>
            </a:pPr>
            <a:r>
              <a:rPr lang="en-US">
                <a:solidFill>
                  <a:schemeClr val="lt1"/>
                </a:solidFill>
              </a:rPr>
              <a:t>Designing BIA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1010568708e_0_5"/>
          <p:cNvSpPr txBox="1">
            <a:spLocks noGrp="1"/>
          </p:cNvSpPr>
          <p:nvPr>
            <p:ph type="title"/>
          </p:nvPr>
        </p:nvSpPr>
        <p:spPr>
          <a:xfrm>
            <a:off x="838200" y="52723"/>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BIA Overview</a:t>
            </a:r>
            <a:endParaRPr dirty="0"/>
          </a:p>
        </p:txBody>
      </p:sp>
      <p:pic>
        <p:nvPicPr>
          <p:cNvPr id="4" name="Picture 3">
            <a:extLst>
              <a:ext uri="{FF2B5EF4-FFF2-40B4-BE49-F238E27FC236}">
                <a16:creationId xmlns:a16="http://schemas.microsoft.com/office/drawing/2014/main" id="{8E8F90F1-194D-4FA5-9A80-81A8B3E2B8B6}"/>
              </a:ext>
            </a:extLst>
          </p:cNvPr>
          <p:cNvPicPr>
            <a:picLocks noChangeAspect="1"/>
          </p:cNvPicPr>
          <p:nvPr/>
        </p:nvPicPr>
        <p:blipFill rotWithShape="1">
          <a:blip r:embed="rId3"/>
          <a:srcRect l="9101" t="5772" r="13714" b="5717"/>
          <a:stretch/>
        </p:blipFill>
        <p:spPr>
          <a:xfrm>
            <a:off x="2831989" y="1378423"/>
            <a:ext cx="6939808" cy="44764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Identify budget holder/ perspective</a:t>
            </a:r>
            <a:endParaRPr/>
          </a:p>
        </p:txBody>
      </p:sp>
      <p:sp>
        <p:nvSpPr>
          <p:cNvPr id="106" name="Google Shape;106;p9"/>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20000"/>
              </a:lnSpc>
              <a:spcBef>
                <a:spcPts val="0"/>
              </a:spcBef>
              <a:spcAft>
                <a:spcPts val="0"/>
              </a:spcAft>
              <a:buClr>
                <a:srgbClr val="000000"/>
              </a:buClr>
              <a:buSzPct val="100000"/>
              <a:buChar char="•"/>
            </a:pPr>
            <a:r>
              <a:rPr lang="en-US" sz="2600">
                <a:solidFill>
                  <a:srgbClr val="000000"/>
                </a:solidFill>
              </a:rPr>
              <a:t>Identify the budget holder for whom the BIA is conducted</a:t>
            </a:r>
            <a:endParaRPr/>
          </a:p>
          <a:p>
            <a:pPr marL="742950" lvl="1" indent="-285750" algn="l" rtl="0">
              <a:lnSpc>
                <a:spcPct val="120000"/>
              </a:lnSpc>
              <a:spcBef>
                <a:spcPts val="500"/>
              </a:spcBef>
              <a:spcAft>
                <a:spcPts val="0"/>
              </a:spcAft>
              <a:buSzPct val="100000"/>
              <a:buChar char="▪"/>
            </a:pPr>
            <a:r>
              <a:rPr lang="en-US" sz="2200">
                <a:solidFill>
                  <a:srgbClr val="000000"/>
                </a:solidFill>
              </a:rPr>
              <a:t>- Is the budget holder a private payer or a regional/national healthcare system?</a:t>
            </a:r>
            <a:endParaRPr/>
          </a:p>
          <a:p>
            <a:pPr marL="228600" lvl="0" indent="-228600" algn="l" rtl="0">
              <a:lnSpc>
                <a:spcPct val="120000"/>
              </a:lnSpc>
              <a:spcBef>
                <a:spcPts val="1000"/>
              </a:spcBef>
              <a:spcAft>
                <a:spcPts val="0"/>
              </a:spcAft>
              <a:buClr>
                <a:srgbClr val="000000"/>
              </a:buClr>
              <a:buSzPct val="100000"/>
              <a:buChar char="•"/>
            </a:pPr>
            <a:r>
              <a:rPr lang="en-US" sz="2600">
                <a:solidFill>
                  <a:srgbClr val="000000"/>
                </a:solidFill>
              </a:rPr>
              <a:t>Consider the features that influence the budget and the coverage decision</a:t>
            </a:r>
            <a:endParaRPr/>
          </a:p>
          <a:p>
            <a:pPr marL="742950" lvl="1" indent="-285750" algn="l" rtl="0">
              <a:lnSpc>
                <a:spcPct val="120000"/>
              </a:lnSpc>
              <a:spcBef>
                <a:spcPts val="500"/>
              </a:spcBef>
              <a:spcAft>
                <a:spcPts val="0"/>
              </a:spcAft>
              <a:buSzPct val="100000"/>
              <a:buChar char="▪"/>
            </a:pPr>
            <a:r>
              <a:rPr lang="en-US" sz="2200">
                <a:solidFill>
                  <a:srgbClr val="000000"/>
                </a:solidFill>
              </a:rPr>
              <a:t>- Who and what are being covered under the health system?</a:t>
            </a:r>
            <a:endParaRPr/>
          </a:p>
          <a:p>
            <a:pPr marL="742950" lvl="1" indent="-285750" algn="l" rtl="0">
              <a:lnSpc>
                <a:spcPct val="120000"/>
              </a:lnSpc>
              <a:spcBef>
                <a:spcPts val="500"/>
              </a:spcBef>
              <a:spcAft>
                <a:spcPts val="0"/>
              </a:spcAft>
              <a:buSzPct val="100000"/>
              <a:buChar char="▪"/>
            </a:pPr>
            <a:r>
              <a:rPr lang="en-US" sz="2200">
                <a:solidFill>
                  <a:srgbClr val="000000"/>
                </a:solidFill>
              </a:rPr>
              <a:t>- What are the access restrictions to reimbursement?</a:t>
            </a:r>
            <a:endParaRPr/>
          </a:p>
          <a:p>
            <a:pPr marL="228600" lvl="0" indent="-228600" algn="l" rtl="0">
              <a:lnSpc>
                <a:spcPct val="120000"/>
              </a:lnSpc>
              <a:spcBef>
                <a:spcPts val="1000"/>
              </a:spcBef>
              <a:spcAft>
                <a:spcPts val="0"/>
              </a:spcAft>
              <a:buClr>
                <a:srgbClr val="000000"/>
              </a:buClr>
              <a:buSzPct val="100000"/>
              <a:buChar char="•"/>
            </a:pPr>
            <a:r>
              <a:rPr lang="en-US" sz="2600">
                <a:solidFill>
                  <a:srgbClr val="000000"/>
                </a:solidFill>
              </a:rPr>
              <a:t>Consider the perspective of the budget holder </a:t>
            </a:r>
            <a:endParaRPr/>
          </a:p>
          <a:p>
            <a:pPr marL="742950" lvl="1" indent="-285750" algn="l" rtl="0">
              <a:lnSpc>
                <a:spcPct val="120000"/>
              </a:lnSpc>
              <a:spcBef>
                <a:spcPts val="500"/>
              </a:spcBef>
              <a:spcAft>
                <a:spcPts val="0"/>
              </a:spcAft>
              <a:buSzPct val="100000"/>
              <a:buChar char="▪"/>
            </a:pPr>
            <a:r>
              <a:rPr lang="en-US" sz="2200">
                <a:solidFill>
                  <a:srgbClr val="000000"/>
                </a:solidFill>
              </a:rPr>
              <a:t>- Should the BIA include healthcare costs only or other societal costs (travel expenses, lost productivity, unemployment benefits, etc.)?</a:t>
            </a:r>
            <a:endParaRPr sz="2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What is the current intervention mix?</a:t>
            </a:r>
            <a:endParaRPr/>
          </a:p>
        </p:txBody>
      </p:sp>
      <p:sp>
        <p:nvSpPr>
          <p:cNvPr id="113" name="Google Shape;113;p10"/>
          <p:cNvSpPr txBox="1">
            <a:spLocks noGrp="1"/>
          </p:cNvSpPr>
          <p:nvPr>
            <p:ph type="body" idx="1"/>
          </p:nvPr>
        </p:nvSpPr>
        <p:spPr>
          <a:xfrm>
            <a:off x="838200" y="1701581"/>
            <a:ext cx="10515600" cy="390366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0000"/>
              </a:lnSpc>
              <a:spcBef>
                <a:spcPts val="0"/>
              </a:spcBef>
              <a:spcAft>
                <a:spcPts val="0"/>
              </a:spcAft>
              <a:buClr>
                <a:srgbClr val="000000"/>
              </a:buClr>
              <a:buSzPts val="2400"/>
              <a:buChar char="•"/>
            </a:pPr>
            <a:r>
              <a:rPr lang="en-US" sz="2400">
                <a:solidFill>
                  <a:srgbClr val="000000"/>
                </a:solidFill>
              </a:rPr>
              <a:t>Identify the size of the total population (eg, plan size)</a:t>
            </a:r>
            <a:endParaRPr sz="2400">
              <a:solidFill>
                <a:srgbClr val="000000"/>
              </a:solidFill>
            </a:endParaRPr>
          </a:p>
          <a:p>
            <a:pPr marL="228600" lvl="0" indent="-228600" algn="l" rtl="0">
              <a:lnSpc>
                <a:spcPct val="120000"/>
              </a:lnSpc>
              <a:spcBef>
                <a:spcPts val="0"/>
              </a:spcBef>
              <a:spcAft>
                <a:spcPts val="0"/>
              </a:spcAft>
              <a:buClr>
                <a:srgbClr val="000000"/>
              </a:buClr>
              <a:buSzPts val="2400"/>
              <a:buChar char="•"/>
            </a:pPr>
            <a:r>
              <a:rPr lang="en-US" sz="2400">
                <a:solidFill>
                  <a:srgbClr val="000000"/>
                </a:solidFill>
              </a:rPr>
              <a:t>Identify the size of the target population (all patients eligible for the new intervention) </a:t>
            </a:r>
            <a:endParaRPr sz="2400">
              <a:solidFill>
                <a:srgbClr val="000000"/>
              </a:solidFill>
            </a:endParaRPr>
          </a:p>
          <a:p>
            <a:pPr marL="228600" lvl="0" indent="-228600" algn="l" rtl="0">
              <a:lnSpc>
                <a:spcPct val="120000"/>
              </a:lnSpc>
              <a:spcBef>
                <a:spcPts val="1000"/>
              </a:spcBef>
              <a:spcAft>
                <a:spcPts val="0"/>
              </a:spcAft>
              <a:buClr>
                <a:srgbClr val="000000"/>
              </a:buClr>
              <a:buSzPts val="2400"/>
              <a:buChar char="•"/>
            </a:pPr>
            <a:r>
              <a:rPr lang="en-US" sz="2400">
                <a:solidFill>
                  <a:srgbClr val="000000"/>
                </a:solidFill>
              </a:rPr>
              <a:t>Identify the current interventions (comparators) being used and the market share of those interventions in the target population</a:t>
            </a:r>
            <a:endParaRPr/>
          </a:p>
          <a:p>
            <a:pPr marL="742950" lvl="1" indent="-285750" algn="l" rtl="0">
              <a:lnSpc>
                <a:spcPct val="120000"/>
              </a:lnSpc>
              <a:spcBef>
                <a:spcPts val="500"/>
              </a:spcBef>
              <a:spcAft>
                <a:spcPts val="0"/>
              </a:spcAft>
              <a:buSzPts val="2000"/>
              <a:buChar char="▪"/>
            </a:pPr>
            <a:r>
              <a:rPr lang="en-US" sz="2000">
                <a:solidFill>
                  <a:srgbClr val="000000"/>
                </a:solidFill>
              </a:rPr>
              <a:t>- May include no intervention, alternatives, combination therapies, and off-label drugs.</a:t>
            </a:r>
            <a:endParaRPr sz="2000">
              <a:solidFill>
                <a:srgbClr val="000000"/>
              </a:solidFill>
            </a:endParaRPr>
          </a:p>
          <a:p>
            <a:pPr marL="742950" lvl="0" indent="0" algn="l" rtl="0">
              <a:lnSpc>
                <a:spcPct val="120000"/>
              </a:lnSpc>
              <a:spcBef>
                <a:spcPts val="500"/>
              </a:spcBef>
              <a:spcAft>
                <a:spcPts val="0"/>
              </a:spcAft>
              <a:buNone/>
            </a:pPr>
            <a:r>
              <a:rPr lang="en-US" sz="2000">
                <a:solidFill>
                  <a:srgbClr val="000000"/>
                </a:solidFill>
              </a:rPr>
              <a:t>- Often times nationally recognized treatment guidelines are a good source for identification of all potential comparators in a target population</a:t>
            </a:r>
            <a:endParaRPr sz="20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title"/>
          </p:nvPr>
        </p:nvSpPr>
        <p:spPr>
          <a:xfrm>
            <a:off x="735980" y="365125"/>
            <a:ext cx="1061782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solidFill>
                  <a:schemeClr val="dk1"/>
                </a:solidFill>
              </a:rPr>
              <a:t>Know the effect of the new intervention</a:t>
            </a:r>
            <a:endParaRPr dirty="0"/>
          </a:p>
        </p:txBody>
      </p:sp>
      <p:sp>
        <p:nvSpPr>
          <p:cNvPr id="120" name="Google Shape;120;p11"/>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20000"/>
              </a:lnSpc>
              <a:spcBef>
                <a:spcPts val="0"/>
              </a:spcBef>
              <a:spcAft>
                <a:spcPts val="0"/>
              </a:spcAft>
              <a:buClr>
                <a:srgbClr val="000000"/>
              </a:buClr>
              <a:buSzPts val="2600"/>
              <a:buChar char="•"/>
            </a:pPr>
            <a:r>
              <a:rPr lang="en-US" sz="2600" dirty="0">
                <a:solidFill>
                  <a:srgbClr val="000000"/>
                </a:solidFill>
              </a:rPr>
              <a:t>Identify the role of the new intervention and its effect on the current market</a:t>
            </a:r>
            <a:endParaRPr dirty="0"/>
          </a:p>
          <a:p>
            <a:pPr marL="1200150" lvl="2" indent="-285750" algn="l" rtl="0">
              <a:lnSpc>
                <a:spcPct val="120000"/>
              </a:lnSpc>
              <a:spcBef>
                <a:spcPts val="500"/>
              </a:spcBef>
              <a:spcAft>
                <a:spcPts val="0"/>
              </a:spcAft>
              <a:buSzPts val="2200"/>
              <a:buChar char="o"/>
            </a:pPr>
            <a:r>
              <a:rPr lang="en-US" sz="2200" b="1" dirty="0">
                <a:solidFill>
                  <a:srgbClr val="000000"/>
                </a:solidFill>
              </a:rPr>
              <a:t>Substitution</a:t>
            </a:r>
            <a:r>
              <a:rPr lang="en-US" sz="2200" dirty="0">
                <a:solidFill>
                  <a:srgbClr val="000000"/>
                </a:solidFill>
              </a:rPr>
              <a:t>: the new intervention replaces the current interventions.</a:t>
            </a:r>
            <a:endParaRPr dirty="0"/>
          </a:p>
          <a:p>
            <a:pPr marL="1200150" lvl="2" indent="-285750" algn="l" rtl="0">
              <a:lnSpc>
                <a:spcPct val="120000"/>
              </a:lnSpc>
              <a:spcBef>
                <a:spcPts val="500"/>
              </a:spcBef>
              <a:spcAft>
                <a:spcPts val="0"/>
              </a:spcAft>
              <a:buSzPts val="2200"/>
              <a:buChar char="o"/>
            </a:pPr>
            <a:r>
              <a:rPr lang="en-US" sz="2200" b="1" dirty="0">
                <a:solidFill>
                  <a:srgbClr val="000000"/>
                </a:solidFill>
              </a:rPr>
              <a:t>Combination</a:t>
            </a:r>
            <a:r>
              <a:rPr lang="en-US" sz="2200" dirty="0">
                <a:solidFill>
                  <a:srgbClr val="000000"/>
                </a:solidFill>
              </a:rPr>
              <a:t>: the new intervention is used in combination with the current interventions.</a:t>
            </a:r>
            <a:endParaRPr dirty="0"/>
          </a:p>
          <a:p>
            <a:pPr marL="1200150" lvl="2" indent="-285750" algn="l" rtl="0">
              <a:lnSpc>
                <a:spcPct val="120000"/>
              </a:lnSpc>
              <a:spcBef>
                <a:spcPts val="500"/>
              </a:spcBef>
              <a:spcAft>
                <a:spcPts val="0"/>
              </a:spcAft>
              <a:buSzPts val="2200"/>
              <a:buChar char="o"/>
            </a:pPr>
            <a:r>
              <a:rPr lang="en-US" sz="2200" b="1" dirty="0">
                <a:solidFill>
                  <a:srgbClr val="000000"/>
                </a:solidFill>
              </a:rPr>
              <a:t>Expansion</a:t>
            </a:r>
            <a:r>
              <a:rPr lang="en-US" sz="2200" dirty="0">
                <a:solidFill>
                  <a:srgbClr val="000000"/>
                </a:solidFill>
              </a:rPr>
              <a:t>: the new intervention is an alternative option for patients who have stopped or refused available interventions for any reasons.</a:t>
            </a:r>
            <a:endParaRPr dirty="0"/>
          </a:p>
          <a:p>
            <a:pPr marL="1200150" lvl="2" indent="-285750" algn="l" rtl="0">
              <a:lnSpc>
                <a:spcPct val="120000"/>
              </a:lnSpc>
              <a:spcBef>
                <a:spcPts val="500"/>
              </a:spcBef>
              <a:spcAft>
                <a:spcPts val="0"/>
              </a:spcAft>
              <a:buSzPts val="2200"/>
              <a:buChar char="o"/>
            </a:pPr>
            <a:r>
              <a:rPr lang="en-US" sz="2200" b="1" dirty="0">
                <a:solidFill>
                  <a:srgbClr val="000000"/>
                </a:solidFill>
              </a:rPr>
              <a:t>Supportive care</a:t>
            </a:r>
            <a:r>
              <a:rPr lang="en-US" sz="2200" dirty="0">
                <a:solidFill>
                  <a:srgbClr val="000000"/>
                </a:solidFill>
              </a:rPr>
              <a:t>: the new intervention is used in a market where no active intervention is available.</a:t>
            </a:r>
            <a:endParaRPr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solidFill>
                  <a:schemeClr val="dk1"/>
                </a:solidFill>
              </a:rPr>
              <a:t>Assumptions</a:t>
            </a:r>
            <a:endParaRPr dirty="0"/>
          </a:p>
        </p:txBody>
      </p:sp>
      <p:sp>
        <p:nvSpPr>
          <p:cNvPr id="127" name="Google Shape;127;p12"/>
          <p:cNvSpPr txBox="1">
            <a:spLocks noGrp="1"/>
          </p:cNvSpPr>
          <p:nvPr>
            <p:ph type="body" idx="1"/>
          </p:nvPr>
        </p:nvSpPr>
        <p:spPr>
          <a:xfrm>
            <a:off x="838200" y="1605706"/>
            <a:ext cx="10515600" cy="4285808"/>
          </a:xfrm>
          <a:prstGeom prst="rect">
            <a:avLst/>
          </a:prstGeom>
          <a:noFill/>
          <a:ln>
            <a:noFill/>
          </a:ln>
        </p:spPr>
        <p:txBody>
          <a:bodyPr spcFirstLastPara="1" wrap="square" lIns="91425" tIns="45700" rIns="91425" bIns="45700" anchor="t" anchorCtr="0">
            <a:normAutofit fontScale="92500" lnSpcReduction="20000"/>
          </a:bodyPr>
          <a:lstStyle/>
          <a:p>
            <a:pPr marL="377190" lvl="0" indent="-342900" algn="l" rtl="0">
              <a:lnSpc>
                <a:spcPct val="120000"/>
              </a:lnSpc>
              <a:spcBef>
                <a:spcPts val="0"/>
              </a:spcBef>
              <a:spcAft>
                <a:spcPts val="0"/>
              </a:spcAft>
              <a:buClr>
                <a:srgbClr val="000000"/>
              </a:buClr>
              <a:buSzPct val="100000"/>
              <a:buFont typeface="Wingdings" panose="05000000000000000000" pitchFamily="2" charset="2"/>
              <a:buChar char="§"/>
            </a:pPr>
            <a:r>
              <a:rPr lang="en-US" sz="2600" dirty="0">
                <a:solidFill>
                  <a:srgbClr val="000000"/>
                </a:solidFill>
              </a:rPr>
              <a:t>Assumptions are often introduced when little or no data exist regarding various inputs in the model.</a:t>
            </a:r>
          </a:p>
          <a:p>
            <a:pPr marL="834390" lvl="1" indent="-342900">
              <a:lnSpc>
                <a:spcPct val="120000"/>
              </a:lnSpc>
              <a:spcBef>
                <a:spcPts val="0"/>
              </a:spcBef>
              <a:buClr>
                <a:srgbClr val="000000"/>
              </a:buClr>
              <a:buSzPct val="100000"/>
              <a:buFont typeface="Wingdings" panose="05000000000000000000" pitchFamily="2" charset="2"/>
              <a:buChar char="§"/>
            </a:pPr>
            <a:r>
              <a:rPr lang="en-US" sz="2000" dirty="0">
                <a:solidFill>
                  <a:srgbClr val="000000"/>
                </a:solidFill>
              </a:rPr>
              <a:t>Assumptions must be stated clearly to ensure transparency.</a:t>
            </a:r>
            <a:endParaRPr sz="2000" dirty="0"/>
          </a:p>
          <a:p>
            <a:pPr marL="377190" lvl="0"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dirty="0">
                <a:solidFill>
                  <a:srgbClr val="000000"/>
                </a:solidFill>
              </a:rPr>
              <a:t>Typical assumptions in a pharmacoeconomic study:</a:t>
            </a:r>
            <a:endParaRPr dirty="0">
              <a:solidFill>
                <a:srgbClr val="000000"/>
              </a:solidFill>
            </a:endParaRPr>
          </a:p>
          <a:p>
            <a:pPr marL="834391" lvl="1"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sz="2000" dirty="0">
                <a:solidFill>
                  <a:srgbClr val="000000"/>
                </a:solidFill>
              </a:rPr>
              <a:t>Cost considerations</a:t>
            </a:r>
            <a:endParaRPr sz="2000" dirty="0">
              <a:solidFill>
                <a:srgbClr val="000000"/>
              </a:solidFill>
            </a:endParaRPr>
          </a:p>
          <a:p>
            <a:pPr marL="834391" lvl="1"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sz="2000" dirty="0">
                <a:solidFill>
                  <a:srgbClr val="000000"/>
                </a:solidFill>
              </a:rPr>
              <a:t>Treatment mix (</a:t>
            </a:r>
            <a:r>
              <a:rPr lang="en-US" sz="2000" dirty="0" err="1">
                <a:solidFill>
                  <a:srgbClr val="000000"/>
                </a:solidFill>
              </a:rPr>
              <a:t>eg</a:t>
            </a:r>
            <a:r>
              <a:rPr lang="en-US" sz="2000" dirty="0">
                <a:solidFill>
                  <a:srgbClr val="000000"/>
                </a:solidFill>
              </a:rPr>
              <a:t>, market share)</a:t>
            </a:r>
            <a:endParaRPr sz="2000" dirty="0">
              <a:solidFill>
                <a:srgbClr val="000000"/>
              </a:solidFill>
            </a:endParaRPr>
          </a:p>
          <a:p>
            <a:pPr marL="834391" lvl="1"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sz="2000" dirty="0">
                <a:solidFill>
                  <a:srgbClr val="000000"/>
                </a:solidFill>
              </a:rPr>
              <a:t>Time horizon</a:t>
            </a:r>
            <a:endParaRPr sz="2000" dirty="0">
              <a:solidFill>
                <a:srgbClr val="000000"/>
              </a:solidFill>
            </a:endParaRPr>
          </a:p>
          <a:p>
            <a:pPr marL="834391" lvl="1"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sz="2000" dirty="0">
                <a:solidFill>
                  <a:srgbClr val="000000"/>
                </a:solidFill>
              </a:rPr>
              <a:t>Cycle length</a:t>
            </a:r>
            <a:endParaRPr sz="2000" dirty="0">
              <a:solidFill>
                <a:srgbClr val="000000"/>
              </a:solidFill>
            </a:endParaRPr>
          </a:p>
          <a:p>
            <a:pPr marL="834391" lvl="1"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sz="2000" dirty="0">
                <a:solidFill>
                  <a:srgbClr val="000000"/>
                </a:solidFill>
              </a:rPr>
              <a:t>Time dependency variables</a:t>
            </a:r>
            <a:endParaRPr sz="2000" dirty="0">
              <a:solidFill>
                <a:srgbClr val="000000"/>
              </a:solidFill>
            </a:endParaRPr>
          </a:p>
          <a:p>
            <a:pPr marL="834391" lvl="1" indent="-342900" algn="l" rtl="0">
              <a:lnSpc>
                <a:spcPct val="120000"/>
              </a:lnSpc>
              <a:spcBef>
                <a:spcPts val="1000"/>
              </a:spcBef>
              <a:spcAft>
                <a:spcPts val="0"/>
              </a:spcAft>
              <a:buClr>
                <a:srgbClr val="000000"/>
              </a:buClr>
              <a:buSzPct val="100000"/>
              <a:buFont typeface="Wingdings" panose="05000000000000000000" pitchFamily="2" charset="2"/>
              <a:buChar char="§"/>
            </a:pPr>
            <a:r>
              <a:rPr lang="en-US" sz="2000" dirty="0">
                <a:solidFill>
                  <a:srgbClr val="000000"/>
                </a:solidFill>
              </a:rPr>
              <a:t>Discount rate</a:t>
            </a:r>
            <a:endParaRPr sz="2000"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Cost Considerations</a:t>
            </a:r>
            <a:endParaRPr/>
          </a:p>
        </p:txBody>
      </p:sp>
      <p:sp>
        <p:nvSpPr>
          <p:cNvPr id="134" name="Google Shape;134;p13"/>
          <p:cNvSpPr txBox="1">
            <a:spLocks noGrp="1"/>
          </p:cNvSpPr>
          <p:nvPr>
            <p:ph type="body" idx="1"/>
          </p:nvPr>
        </p:nvSpPr>
        <p:spPr>
          <a:xfrm>
            <a:off x="838200" y="1585733"/>
            <a:ext cx="10515600" cy="4143556"/>
          </a:xfrm>
          <a:prstGeom prst="rect">
            <a:avLst/>
          </a:prstGeom>
          <a:noFill/>
          <a:ln>
            <a:noFill/>
          </a:ln>
        </p:spPr>
        <p:txBody>
          <a:bodyPr spcFirstLastPara="1" wrap="square" lIns="91425" tIns="45700" rIns="91425" bIns="45700" anchor="t" anchorCtr="0">
            <a:normAutofit fontScale="92500" lnSpcReduction="20000"/>
          </a:bodyPr>
          <a:lstStyle/>
          <a:p>
            <a:pPr marL="228600" lvl="0" indent="-127000" algn="l" rtl="0">
              <a:lnSpc>
                <a:spcPct val="120000"/>
              </a:lnSpc>
              <a:spcBef>
                <a:spcPts val="0"/>
              </a:spcBef>
              <a:spcAft>
                <a:spcPts val="0"/>
              </a:spcAft>
              <a:buClr>
                <a:srgbClr val="00205B"/>
              </a:buClr>
              <a:buSzPct val="66666"/>
              <a:buNone/>
            </a:pPr>
            <a:r>
              <a:rPr lang="en-US" sz="2400" dirty="0">
                <a:solidFill>
                  <a:srgbClr val="000000"/>
                </a:solidFill>
              </a:rPr>
              <a:t>Direct costs:</a:t>
            </a:r>
            <a:endParaRPr sz="2000" dirty="0">
              <a:solidFill>
                <a:srgbClr val="000000"/>
              </a:solidFill>
            </a:endParaRPr>
          </a:p>
          <a:p>
            <a:pPr marL="457200" lvl="0" indent="-346075" algn="l" rtl="0">
              <a:lnSpc>
                <a:spcPct val="120000"/>
              </a:lnSpc>
              <a:spcBef>
                <a:spcPts val="0"/>
              </a:spcBef>
              <a:spcAft>
                <a:spcPts val="0"/>
              </a:spcAft>
              <a:buClr>
                <a:srgbClr val="000000"/>
              </a:buClr>
              <a:buSzPct val="100000"/>
              <a:buChar char="•"/>
            </a:pPr>
            <a:r>
              <a:rPr lang="en-US" sz="2000" dirty="0">
                <a:solidFill>
                  <a:srgbClr val="000000"/>
                </a:solidFill>
              </a:rPr>
              <a:t>Cost in condition-related health care services; and any related diagnostic costs to identify these patients</a:t>
            </a:r>
            <a:endParaRPr sz="2000" dirty="0">
              <a:solidFill>
                <a:srgbClr val="000000"/>
              </a:solidFill>
            </a:endParaRPr>
          </a:p>
          <a:p>
            <a:pPr marL="457200" lvl="0" indent="-346075" algn="l" rtl="0">
              <a:lnSpc>
                <a:spcPct val="120000"/>
              </a:lnSpc>
              <a:spcBef>
                <a:spcPts val="0"/>
              </a:spcBef>
              <a:spcAft>
                <a:spcPts val="0"/>
              </a:spcAft>
              <a:buClr>
                <a:srgbClr val="000000"/>
              </a:buClr>
              <a:buSzPct val="100000"/>
              <a:buChar char="•"/>
            </a:pPr>
            <a:r>
              <a:rPr lang="en-US" sz="2000" dirty="0">
                <a:solidFill>
                  <a:srgbClr val="000000"/>
                </a:solidFill>
              </a:rPr>
              <a:t>This may include costs associated with the drug and each comparator (drug costs, costs of managing side effects, administration costs, monitoring costs) </a:t>
            </a:r>
            <a:endParaRPr sz="2000" dirty="0">
              <a:solidFill>
                <a:srgbClr val="000000"/>
              </a:solidFill>
            </a:endParaRPr>
          </a:p>
          <a:p>
            <a:pPr marL="457200" lvl="0" indent="-346075" algn="l" rtl="0">
              <a:lnSpc>
                <a:spcPct val="120000"/>
              </a:lnSpc>
              <a:spcBef>
                <a:spcPts val="0"/>
              </a:spcBef>
              <a:spcAft>
                <a:spcPts val="0"/>
              </a:spcAft>
              <a:buClr>
                <a:srgbClr val="000000"/>
              </a:buClr>
              <a:buSzPct val="100000"/>
              <a:buChar char="•"/>
            </a:pPr>
            <a:r>
              <a:rPr lang="en-US" sz="2000" dirty="0">
                <a:solidFill>
                  <a:srgbClr val="000000"/>
                </a:solidFill>
              </a:rPr>
              <a:t>Healthcare resource utilization/cost (any cost changes due to greater/fewer hospitalizations, ER visits, or outpatient visits)</a:t>
            </a:r>
            <a:endParaRPr sz="2000" dirty="0">
              <a:solidFill>
                <a:srgbClr val="000000"/>
              </a:solidFill>
            </a:endParaRPr>
          </a:p>
          <a:p>
            <a:pPr marL="0" lvl="0" indent="0" algn="l" rtl="0">
              <a:lnSpc>
                <a:spcPct val="120000"/>
              </a:lnSpc>
              <a:spcBef>
                <a:spcPts val="0"/>
              </a:spcBef>
              <a:spcAft>
                <a:spcPts val="0"/>
              </a:spcAft>
              <a:buNone/>
            </a:pPr>
            <a:endParaRPr sz="1600" dirty="0">
              <a:solidFill>
                <a:srgbClr val="000000"/>
              </a:solidFill>
            </a:endParaRPr>
          </a:p>
          <a:p>
            <a:pPr marL="0" lvl="0" indent="0" algn="l" rtl="0">
              <a:lnSpc>
                <a:spcPct val="120000"/>
              </a:lnSpc>
              <a:spcBef>
                <a:spcPts val="0"/>
              </a:spcBef>
              <a:spcAft>
                <a:spcPts val="0"/>
              </a:spcAft>
              <a:buNone/>
            </a:pPr>
            <a:r>
              <a:rPr lang="en-US" sz="2400" dirty="0">
                <a:solidFill>
                  <a:srgbClr val="000000"/>
                </a:solidFill>
              </a:rPr>
              <a:t>Indirect costs: </a:t>
            </a:r>
            <a:endParaRPr sz="2000" dirty="0">
              <a:solidFill>
                <a:srgbClr val="000000"/>
              </a:solidFill>
            </a:endParaRPr>
          </a:p>
          <a:p>
            <a:pPr marL="457200" lvl="0" indent="-346075" algn="l" rtl="0">
              <a:lnSpc>
                <a:spcPct val="120000"/>
              </a:lnSpc>
              <a:spcBef>
                <a:spcPts val="0"/>
              </a:spcBef>
              <a:spcAft>
                <a:spcPts val="0"/>
              </a:spcAft>
              <a:buClr>
                <a:srgbClr val="000000"/>
              </a:buClr>
              <a:buSzPct val="100000"/>
              <a:buChar char="•"/>
            </a:pPr>
            <a:r>
              <a:rPr lang="en-US" sz="2000" dirty="0">
                <a:solidFill>
                  <a:srgbClr val="000000"/>
                </a:solidFill>
              </a:rPr>
              <a:t>Medical-related and non-medical related indirect costs (cost of social service, work productivity costs, and other costs) </a:t>
            </a:r>
            <a:endParaRPr sz="2000" dirty="0">
              <a:solidFill>
                <a:srgbClr val="000000"/>
              </a:solidFill>
            </a:endParaRPr>
          </a:p>
          <a:p>
            <a:pPr marL="457200" lvl="0" indent="-346075" algn="l" rtl="0">
              <a:lnSpc>
                <a:spcPct val="120000"/>
              </a:lnSpc>
              <a:spcBef>
                <a:spcPts val="0"/>
              </a:spcBef>
              <a:spcAft>
                <a:spcPts val="0"/>
              </a:spcAft>
              <a:buClr>
                <a:srgbClr val="000000"/>
              </a:buClr>
              <a:buSzPct val="100000"/>
              <a:buChar char="•"/>
            </a:pPr>
            <a:r>
              <a:rPr lang="en-US" sz="2000" dirty="0">
                <a:solidFill>
                  <a:srgbClr val="000000"/>
                </a:solidFill>
              </a:rPr>
              <a:t>Note that indirect cost is only considered if perspective of the BIA is from society or national healthcare system.</a:t>
            </a:r>
            <a:endParaRPr sz="2000"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f381fbfae6_0_1"/>
          <p:cNvSpPr txBox="1">
            <a:spLocks noGrp="1"/>
          </p:cNvSpPr>
          <p:nvPr>
            <p:ph type="title"/>
          </p:nvPr>
        </p:nvSpPr>
        <p:spPr>
          <a:xfrm>
            <a:off x="761988"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Cost </a:t>
            </a:r>
            <a:r>
              <a:rPr lang="en-US"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Examples</a:t>
            </a:r>
            <a:endParaRPr dirty="0"/>
          </a:p>
        </p:txBody>
      </p:sp>
      <p:graphicFrame>
        <p:nvGraphicFramePr>
          <p:cNvPr id="141" name="Google Shape;141;gf381fbfae6_0_1"/>
          <p:cNvGraphicFramePr/>
          <p:nvPr/>
        </p:nvGraphicFramePr>
        <p:xfrm>
          <a:off x="1014563" y="1216013"/>
          <a:ext cx="10263025" cy="4632827"/>
        </p:xfrm>
        <a:graphic>
          <a:graphicData uri="http://schemas.openxmlformats.org/drawingml/2006/table">
            <a:tbl>
              <a:tblPr>
                <a:noFill/>
                <a:tableStyleId>{E0C5D5EE-C173-4E4C-9E15-1F14E10D6BBF}</a:tableStyleId>
              </a:tblPr>
              <a:tblGrid>
                <a:gridCol w="1356775">
                  <a:extLst>
                    <a:ext uri="{9D8B030D-6E8A-4147-A177-3AD203B41FA5}">
                      <a16:colId xmlns:a16="http://schemas.microsoft.com/office/drawing/2014/main" val="20000"/>
                    </a:ext>
                  </a:extLst>
                </a:gridCol>
                <a:gridCol w="4355300">
                  <a:extLst>
                    <a:ext uri="{9D8B030D-6E8A-4147-A177-3AD203B41FA5}">
                      <a16:colId xmlns:a16="http://schemas.microsoft.com/office/drawing/2014/main" val="20001"/>
                    </a:ext>
                  </a:extLst>
                </a:gridCol>
                <a:gridCol w="4550950">
                  <a:extLst>
                    <a:ext uri="{9D8B030D-6E8A-4147-A177-3AD203B41FA5}">
                      <a16:colId xmlns:a16="http://schemas.microsoft.com/office/drawing/2014/main" val="20002"/>
                    </a:ext>
                  </a:extLst>
                </a:gridCol>
              </a:tblGrid>
              <a:tr h="2885725">
                <a:tc>
                  <a:txBody>
                    <a:bodyPr/>
                    <a:lstStyle/>
                    <a:p>
                      <a:pPr marL="0" lvl="0" indent="0" algn="ctr" rtl="0">
                        <a:lnSpc>
                          <a:spcPct val="115000"/>
                        </a:lnSpc>
                        <a:spcBef>
                          <a:spcPts val="0"/>
                        </a:spcBef>
                        <a:spcAft>
                          <a:spcPts val="0"/>
                        </a:spcAft>
                        <a:buNone/>
                      </a:pPr>
                      <a:r>
                        <a:rPr lang="en-US" b="1">
                          <a:solidFill>
                            <a:schemeClr val="lt1"/>
                          </a:solidFill>
                        </a:rPr>
                        <a:t>Direct Cost</a:t>
                      </a:r>
                      <a:endParaRPr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a:txBody>
                    <a:bodyPr/>
                    <a:lstStyle/>
                    <a:p>
                      <a:pPr marL="0" lvl="0" indent="0" algn="l" rtl="0">
                        <a:lnSpc>
                          <a:spcPct val="115000"/>
                        </a:lnSpc>
                        <a:spcBef>
                          <a:spcPts val="0"/>
                        </a:spcBef>
                        <a:spcAft>
                          <a:spcPts val="0"/>
                        </a:spcAft>
                        <a:buNone/>
                      </a:pPr>
                      <a:r>
                        <a:rPr lang="en-US" b="1">
                          <a:solidFill>
                            <a:srgbClr val="00205B"/>
                          </a:solidFill>
                        </a:rPr>
                        <a:t>Medical costs:</a:t>
                      </a:r>
                      <a:endParaRPr b="1">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Medications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Medication monitoring</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Medication administration</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Patient counseling and consultations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Diagnostic tests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Hospitalizations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Clinic visits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Emergency department visits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Home medical visits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Ambulance services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Nursing services</a:t>
                      </a:r>
                      <a:endParaRPr>
                        <a:solidFill>
                          <a:srgbClr val="00205B"/>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b="1">
                          <a:solidFill>
                            <a:srgbClr val="00205B"/>
                          </a:solidFill>
                        </a:rPr>
                        <a:t>Nonmedical costs:</a:t>
                      </a:r>
                      <a:endParaRPr b="1">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Travel costs to receive health care</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Nonmedical assistance related to the illness</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Accommodations for patient or caregiver for out-of-town care</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Childcare services</a:t>
                      </a:r>
                      <a:endParaRPr>
                        <a:solidFill>
                          <a:srgbClr val="00205B"/>
                        </a:solidFill>
                      </a:endParaRPr>
                    </a:p>
                    <a:p>
                      <a:pPr marL="0" lvl="0" indent="0" algn="l" rtl="0">
                        <a:lnSpc>
                          <a:spcPct val="115000"/>
                        </a:lnSpc>
                        <a:spcBef>
                          <a:spcPts val="0"/>
                        </a:spcBef>
                        <a:spcAft>
                          <a:spcPts val="0"/>
                        </a:spcAft>
                        <a:buNone/>
                      </a:pPr>
                      <a:endParaRPr b="1">
                        <a:solidFill>
                          <a:srgbClr val="00205B"/>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526500">
                <a:tc>
                  <a:txBody>
                    <a:bodyPr/>
                    <a:lstStyle/>
                    <a:p>
                      <a:pPr marL="0" lvl="0" indent="0" algn="ctr" rtl="0">
                        <a:lnSpc>
                          <a:spcPct val="115000"/>
                        </a:lnSpc>
                        <a:spcBef>
                          <a:spcPts val="0"/>
                        </a:spcBef>
                        <a:spcAft>
                          <a:spcPts val="0"/>
                        </a:spcAft>
                        <a:buNone/>
                      </a:pPr>
                      <a:r>
                        <a:rPr lang="en-US" b="1">
                          <a:solidFill>
                            <a:schemeClr val="lt1"/>
                          </a:solidFill>
                        </a:rPr>
                        <a:t>Indirect Cost</a:t>
                      </a:r>
                      <a:endParaRPr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a:txBody>
                    <a:bodyPr/>
                    <a:lstStyle/>
                    <a:p>
                      <a:pPr marL="0" lvl="0" indent="0" algn="l" rtl="0">
                        <a:lnSpc>
                          <a:spcPct val="115000"/>
                        </a:lnSpc>
                        <a:spcBef>
                          <a:spcPts val="0"/>
                        </a:spcBef>
                        <a:spcAft>
                          <a:spcPts val="0"/>
                        </a:spcAft>
                        <a:buNone/>
                      </a:pPr>
                      <a:r>
                        <a:rPr lang="en-US"/>
                        <a:t>•</a:t>
                      </a:r>
                      <a:r>
                        <a:rPr lang="en-US">
                          <a:solidFill>
                            <a:srgbClr val="00205B"/>
                          </a:solidFill>
                        </a:rPr>
                        <a:t>Lost of productivity for patient</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Lost of productivity for unpaid caregiver</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Lost of productivity because of premature mortality</a:t>
                      </a:r>
                      <a:endParaRPr>
                        <a:solidFill>
                          <a:srgbClr val="00205B"/>
                        </a:solidFill>
                      </a:endParaRPr>
                    </a:p>
                    <a:p>
                      <a:pPr marL="0" lvl="0" indent="0" algn="l" rtl="0">
                        <a:lnSpc>
                          <a:spcPct val="115000"/>
                        </a:lnSpc>
                        <a:spcBef>
                          <a:spcPts val="0"/>
                        </a:spcBef>
                        <a:spcAft>
                          <a:spcPts val="0"/>
                        </a:spcAft>
                        <a:buNone/>
                      </a:pPr>
                      <a:r>
                        <a:rPr lang="en-US"/>
                        <a:t>•</a:t>
                      </a:r>
                      <a:r>
                        <a:rPr lang="en-US">
                          <a:solidFill>
                            <a:srgbClr val="00205B"/>
                          </a:solidFill>
                        </a:rPr>
                        <a:t>Intangible costs from pain, suffering, fatigue, and anxiety</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Time horizon and Cycle Length</a:t>
            </a:r>
            <a:endParaRPr/>
          </a:p>
        </p:txBody>
      </p:sp>
      <p:sp>
        <p:nvSpPr>
          <p:cNvPr id="148" name="Google Shape;148;p14"/>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rgbClr val="00205B"/>
              </a:buClr>
              <a:buSzPts val="2600"/>
              <a:buNone/>
            </a:pPr>
            <a:r>
              <a:rPr lang="en-US" sz="2600" b="1"/>
              <a:t>Time horizon</a:t>
            </a:r>
            <a:endParaRPr/>
          </a:p>
          <a:p>
            <a:pPr marL="228600" lvl="0" indent="-228600" algn="l" rtl="0">
              <a:lnSpc>
                <a:spcPct val="120000"/>
              </a:lnSpc>
              <a:spcBef>
                <a:spcPts val="1000"/>
              </a:spcBef>
              <a:spcAft>
                <a:spcPts val="0"/>
              </a:spcAft>
              <a:buClr>
                <a:srgbClr val="000000"/>
              </a:buClr>
              <a:buSzPts val="2400"/>
              <a:buChar char="•"/>
            </a:pPr>
            <a:r>
              <a:rPr lang="en-US" sz="2400">
                <a:solidFill>
                  <a:srgbClr val="000000"/>
                </a:solidFill>
              </a:rPr>
              <a:t>The time horizon for a BIA is directly relevant to the budget holder and is typically a short period of time (1 to 5 years).</a:t>
            </a:r>
            <a:endParaRPr/>
          </a:p>
          <a:p>
            <a:pPr marL="0" lvl="0" indent="0" algn="l" rtl="0">
              <a:lnSpc>
                <a:spcPct val="120000"/>
              </a:lnSpc>
              <a:spcBef>
                <a:spcPts val="1000"/>
              </a:spcBef>
              <a:spcAft>
                <a:spcPts val="0"/>
              </a:spcAft>
              <a:buClr>
                <a:srgbClr val="00205B"/>
              </a:buClr>
              <a:buSzPts val="2600"/>
              <a:buNone/>
            </a:pPr>
            <a:r>
              <a:rPr lang="en-US" sz="2600" b="1"/>
              <a:t>Cycle length</a:t>
            </a:r>
            <a:endParaRPr/>
          </a:p>
          <a:p>
            <a:pPr marL="228600" lvl="0" indent="-228600" algn="l" rtl="0">
              <a:lnSpc>
                <a:spcPct val="120000"/>
              </a:lnSpc>
              <a:spcBef>
                <a:spcPts val="1000"/>
              </a:spcBef>
              <a:spcAft>
                <a:spcPts val="0"/>
              </a:spcAft>
              <a:buClr>
                <a:srgbClr val="000000"/>
              </a:buClr>
              <a:buSzPts val="2400"/>
              <a:buChar char="•"/>
            </a:pPr>
            <a:r>
              <a:rPr lang="en-US" sz="2400">
                <a:solidFill>
                  <a:srgbClr val="000000"/>
                </a:solidFill>
              </a:rPr>
              <a:t>The cycle length could be quarterly, annually, etc… depending on the needs of the budget holder.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Time Dependency and Discount Rate</a:t>
            </a:r>
            <a:endParaRPr/>
          </a:p>
        </p:txBody>
      </p:sp>
      <p:sp>
        <p:nvSpPr>
          <p:cNvPr id="155" name="Google Shape;155;p15"/>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rgbClr val="00205B"/>
              </a:buClr>
              <a:buSzPts val="2600"/>
              <a:buNone/>
            </a:pPr>
            <a:r>
              <a:rPr lang="en-US" sz="2600" b="1"/>
              <a:t>Time dependency</a:t>
            </a:r>
            <a:endParaRPr/>
          </a:p>
          <a:p>
            <a:pPr marL="228600" lvl="0" indent="-228600" algn="l" rtl="0">
              <a:lnSpc>
                <a:spcPct val="120000"/>
              </a:lnSpc>
              <a:spcBef>
                <a:spcPts val="1000"/>
              </a:spcBef>
              <a:spcAft>
                <a:spcPts val="0"/>
              </a:spcAft>
              <a:buClr>
                <a:srgbClr val="000000"/>
              </a:buClr>
              <a:buSzPts val="2400"/>
              <a:buChar char="•"/>
            </a:pPr>
            <a:r>
              <a:rPr lang="en-US" sz="2400">
                <a:solidFill>
                  <a:srgbClr val="000000"/>
                </a:solidFill>
              </a:rPr>
              <a:t>Time-dependent variables (value of the currency, new intervention(s), new understanding of diseases, etc.) need to be captured in a BIA.</a:t>
            </a:r>
            <a:endParaRPr/>
          </a:p>
          <a:p>
            <a:pPr marL="0" lvl="0" indent="0" algn="l" rtl="0">
              <a:lnSpc>
                <a:spcPct val="120000"/>
              </a:lnSpc>
              <a:spcBef>
                <a:spcPts val="1000"/>
              </a:spcBef>
              <a:spcAft>
                <a:spcPts val="0"/>
              </a:spcAft>
              <a:buClr>
                <a:srgbClr val="00205B"/>
              </a:buClr>
              <a:buSzPts val="2600"/>
              <a:buNone/>
            </a:pPr>
            <a:r>
              <a:rPr lang="en-US" sz="2600" b="1"/>
              <a:t>Discount rate</a:t>
            </a:r>
            <a:endParaRPr/>
          </a:p>
          <a:p>
            <a:pPr marL="228600" lvl="0" indent="-228600" algn="l" rtl="0">
              <a:lnSpc>
                <a:spcPct val="120000"/>
              </a:lnSpc>
              <a:spcBef>
                <a:spcPts val="1000"/>
              </a:spcBef>
              <a:spcAft>
                <a:spcPts val="0"/>
              </a:spcAft>
              <a:buClr>
                <a:srgbClr val="000000"/>
              </a:buClr>
              <a:buSzPts val="2400"/>
              <a:buChar char="•"/>
            </a:pPr>
            <a:r>
              <a:rPr lang="en-US" sz="2400">
                <a:solidFill>
                  <a:srgbClr val="000000"/>
                </a:solidFill>
              </a:rPr>
              <a:t>Most budget holders are interested in the budget/costs (dollar amount) at each point in time; therefore, discounting is not recommended in conducting a BIA.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f52c8cb045_0_4"/>
          <p:cNvSpPr txBox="1">
            <a:spLocks noGrp="1"/>
          </p:cNvSpPr>
          <p:nvPr>
            <p:ph type="title"/>
          </p:nvPr>
        </p:nvSpPr>
        <p:spPr>
          <a:xfrm>
            <a:off x="4451900" y="2225975"/>
            <a:ext cx="8047800" cy="35319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Clr>
                <a:schemeClr val="lt1"/>
              </a:buClr>
              <a:buSzPts val="7200"/>
              <a:buFont typeface="Arial"/>
              <a:buNone/>
            </a:pPr>
            <a:r>
              <a:rPr lang="en-US">
                <a:solidFill>
                  <a:schemeClr val="lt1"/>
                </a:solidFill>
              </a:rPr>
              <a:t>Additional</a:t>
            </a:r>
            <a:endParaRPr>
              <a:solidFill>
                <a:schemeClr val="lt1"/>
              </a:solidFill>
            </a:endParaRPr>
          </a:p>
          <a:p>
            <a:pPr marL="0" lvl="0" indent="0" algn="ctr" rtl="0">
              <a:lnSpc>
                <a:spcPct val="90000"/>
              </a:lnSpc>
              <a:spcBef>
                <a:spcPts val="0"/>
              </a:spcBef>
              <a:spcAft>
                <a:spcPts val="0"/>
              </a:spcAft>
              <a:buClr>
                <a:schemeClr val="lt1"/>
              </a:buClr>
              <a:buSzPts val="7200"/>
              <a:buFont typeface="Arial"/>
              <a:buNone/>
            </a:pPr>
            <a:r>
              <a:rPr lang="en-US">
                <a:solidFill>
                  <a:schemeClr val="lt1"/>
                </a:solidFill>
              </a:rPr>
              <a:t>Considerations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Budget Impact Model (BIM)</a:t>
            </a:r>
            <a:endParaRPr/>
          </a:p>
        </p:txBody>
      </p:sp>
      <p:sp>
        <p:nvSpPr>
          <p:cNvPr id="168" name="Google Shape;168;p17"/>
          <p:cNvSpPr txBox="1">
            <a:spLocks noGrp="1"/>
          </p:cNvSpPr>
          <p:nvPr>
            <p:ph type="body" idx="1"/>
          </p:nvPr>
        </p:nvSpPr>
        <p:spPr>
          <a:xfrm>
            <a:off x="838200" y="1690688"/>
            <a:ext cx="10515600" cy="3903663"/>
          </a:xfrm>
          <a:prstGeom prst="rect">
            <a:avLst/>
          </a:prstGeom>
          <a:noFill/>
          <a:ln>
            <a:noFill/>
          </a:ln>
        </p:spPr>
        <p:txBody>
          <a:bodyPr spcFirstLastPara="1" wrap="square" lIns="91425" tIns="45700" rIns="91425" bIns="45700" anchor="t" anchorCtr="0">
            <a:normAutofit lnSpcReduction="10000"/>
          </a:bodyPr>
          <a:lstStyle/>
          <a:p>
            <a:pPr marL="228600" lvl="0" indent="-63500" algn="l" rtl="0">
              <a:lnSpc>
                <a:spcPct val="90000"/>
              </a:lnSpc>
              <a:spcBef>
                <a:spcPts val="0"/>
              </a:spcBef>
              <a:spcAft>
                <a:spcPts val="0"/>
              </a:spcAft>
              <a:buClr>
                <a:srgbClr val="00205B"/>
              </a:buClr>
              <a:buSzPts val="2600"/>
              <a:buNone/>
            </a:pPr>
            <a:endParaRPr sz="2600" dirty="0">
              <a:solidFill>
                <a:srgbClr val="000000"/>
              </a:solidFill>
            </a:endParaRPr>
          </a:p>
          <a:p>
            <a:pPr marL="228600" lvl="0" indent="-228600" algn="l" rtl="0">
              <a:lnSpc>
                <a:spcPct val="90000"/>
              </a:lnSpc>
              <a:spcBef>
                <a:spcPts val="1000"/>
              </a:spcBef>
              <a:spcAft>
                <a:spcPts val="0"/>
              </a:spcAft>
              <a:buClr>
                <a:srgbClr val="000000"/>
              </a:buClr>
              <a:buSzPts val="2600"/>
              <a:buChar char="•"/>
            </a:pPr>
            <a:r>
              <a:rPr lang="en-US" sz="2600" dirty="0">
                <a:solidFill>
                  <a:srgbClr val="000000"/>
                </a:solidFill>
              </a:rPr>
              <a:t>Provide detail description of the analysis in a recommended format </a:t>
            </a:r>
            <a:endParaRPr dirty="0"/>
          </a:p>
          <a:p>
            <a:pPr marL="228600" lvl="0" indent="-228600" algn="l" rtl="0">
              <a:lnSpc>
                <a:spcPct val="90000"/>
              </a:lnSpc>
              <a:spcBef>
                <a:spcPts val="1000"/>
              </a:spcBef>
              <a:spcAft>
                <a:spcPts val="0"/>
              </a:spcAft>
              <a:buClr>
                <a:srgbClr val="000000"/>
              </a:buClr>
              <a:buSzPts val="2600"/>
              <a:buChar char="•"/>
            </a:pPr>
            <a:r>
              <a:rPr lang="en-US" sz="2600" dirty="0">
                <a:solidFill>
                  <a:srgbClr val="000000"/>
                </a:solidFill>
              </a:rPr>
              <a:t>State all assumptions used in the model</a:t>
            </a:r>
            <a:endParaRPr dirty="0"/>
          </a:p>
          <a:p>
            <a:pPr marL="228600" lvl="0" indent="-228600" algn="l" rtl="0">
              <a:lnSpc>
                <a:spcPct val="90000"/>
              </a:lnSpc>
              <a:spcBef>
                <a:spcPts val="1000"/>
              </a:spcBef>
              <a:spcAft>
                <a:spcPts val="0"/>
              </a:spcAft>
              <a:buClr>
                <a:srgbClr val="000000"/>
              </a:buClr>
              <a:buSzPts val="2600"/>
              <a:buChar char="•"/>
            </a:pPr>
            <a:r>
              <a:rPr lang="en-US" sz="2600" dirty="0">
                <a:solidFill>
                  <a:srgbClr val="000000"/>
                </a:solidFill>
              </a:rPr>
              <a:t>Adopt inputs and data specific to the target population and the budget holder</a:t>
            </a:r>
            <a:endParaRPr dirty="0"/>
          </a:p>
          <a:p>
            <a:pPr marL="228600" lvl="0" indent="-228600" algn="l" rtl="0">
              <a:lnSpc>
                <a:spcPct val="90000"/>
              </a:lnSpc>
              <a:spcBef>
                <a:spcPts val="1000"/>
              </a:spcBef>
              <a:spcAft>
                <a:spcPts val="0"/>
              </a:spcAft>
              <a:buClr>
                <a:srgbClr val="000000"/>
              </a:buClr>
              <a:buSzPts val="2600"/>
              <a:buChar char="•"/>
            </a:pPr>
            <a:r>
              <a:rPr lang="en-US" sz="2600" dirty="0">
                <a:solidFill>
                  <a:srgbClr val="000000"/>
                </a:solidFill>
              </a:rPr>
              <a:t>Estimate average cost per member per month (PMPM) for the new intervention </a:t>
            </a:r>
            <a:endParaRPr dirty="0"/>
          </a:p>
          <a:p>
            <a:pPr marL="228600" lvl="0" indent="-228600" algn="l" rtl="0">
              <a:lnSpc>
                <a:spcPct val="90000"/>
              </a:lnSpc>
              <a:spcBef>
                <a:spcPts val="1000"/>
              </a:spcBef>
              <a:spcAft>
                <a:spcPts val="0"/>
              </a:spcAft>
              <a:buClr>
                <a:srgbClr val="000000"/>
              </a:buClr>
              <a:buSzPts val="2600"/>
              <a:buChar char="•"/>
            </a:pPr>
            <a:r>
              <a:rPr lang="en-US" sz="2600" dirty="0">
                <a:solidFill>
                  <a:srgbClr val="000000"/>
                </a:solidFill>
              </a:rPr>
              <a:t>Perform scenario analysis to account for different perspectives and scenarios</a:t>
            </a:r>
            <a:endParaRPr dirty="0"/>
          </a:p>
          <a:p>
            <a:pPr marL="228600" lvl="0" indent="-63500" algn="l" rtl="0">
              <a:lnSpc>
                <a:spcPct val="90000"/>
              </a:lnSpc>
              <a:spcBef>
                <a:spcPts val="1000"/>
              </a:spcBef>
              <a:spcAft>
                <a:spcPts val="0"/>
              </a:spcAft>
              <a:buClr>
                <a:srgbClr val="00205B"/>
              </a:buClr>
              <a:buSzPts val="2600"/>
              <a:buNone/>
            </a:pPr>
            <a:endParaRPr sz="2600" dirty="0">
              <a:solidFill>
                <a:srgbClr val="000000"/>
              </a:solidFill>
            </a:endParaRPr>
          </a:p>
          <a:p>
            <a:pPr marL="228600" lvl="0" indent="-63500" algn="l" rtl="0">
              <a:lnSpc>
                <a:spcPct val="90000"/>
              </a:lnSpc>
              <a:spcBef>
                <a:spcPts val="1000"/>
              </a:spcBef>
              <a:spcAft>
                <a:spcPts val="0"/>
              </a:spcAft>
              <a:buClr>
                <a:srgbClr val="00205B"/>
              </a:buClr>
              <a:buSzPts val="2600"/>
              <a:buNone/>
            </a:pPr>
            <a:endParaRPr sz="2600" dirty="0">
              <a:solidFill>
                <a:srgbClr val="000000"/>
              </a:solidFill>
            </a:endParaRPr>
          </a:p>
          <a:p>
            <a:pPr marL="228600" lvl="0" indent="-63500" algn="l" rtl="0">
              <a:lnSpc>
                <a:spcPct val="90000"/>
              </a:lnSpc>
              <a:spcBef>
                <a:spcPts val="1000"/>
              </a:spcBef>
              <a:spcAft>
                <a:spcPts val="0"/>
              </a:spcAft>
              <a:buClr>
                <a:srgbClr val="00205B"/>
              </a:buClr>
              <a:buSzPts val="2600"/>
              <a:buNone/>
            </a:pPr>
            <a:endParaRPr sz="2600" dirty="0">
              <a:solidFill>
                <a:srgbClr val="000000"/>
              </a:solidFill>
            </a:endParaRPr>
          </a:p>
          <a:p>
            <a:pPr marL="228600" lvl="0" indent="-228600" algn="l" rtl="0">
              <a:lnSpc>
                <a:spcPct val="90000"/>
              </a:lnSpc>
              <a:spcBef>
                <a:spcPts val="1000"/>
              </a:spcBef>
              <a:spcAft>
                <a:spcPts val="0"/>
              </a:spcAft>
              <a:buClr>
                <a:srgbClr val="00205B"/>
              </a:buClr>
              <a:buSzPts val="2800"/>
              <a:buFont typeface="Arial"/>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228600" lvl="0" indent="-63500" algn="l" rtl="0">
              <a:lnSpc>
                <a:spcPct val="90000"/>
              </a:lnSpc>
              <a:spcBef>
                <a:spcPts val="0"/>
              </a:spcBef>
              <a:spcAft>
                <a:spcPts val="0"/>
              </a:spcAft>
              <a:buClr>
                <a:srgbClr val="00205B"/>
              </a:buClr>
              <a:buSzPts val="2600"/>
              <a:buNone/>
            </a:pPr>
            <a:endParaRPr sz="2600">
              <a:solidFill>
                <a:srgbClr val="000000"/>
              </a:solidFill>
            </a:endParaRPr>
          </a:p>
          <a:p>
            <a:pPr marL="0" lvl="0" indent="0" algn="l" rtl="0">
              <a:lnSpc>
                <a:spcPct val="90000"/>
              </a:lnSpc>
              <a:spcBef>
                <a:spcPts val="1000"/>
              </a:spcBef>
              <a:spcAft>
                <a:spcPts val="0"/>
              </a:spcAft>
              <a:buClr>
                <a:srgbClr val="00205B"/>
              </a:buClr>
              <a:buSzPts val="2600"/>
              <a:buNone/>
            </a:pPr>
            <a:endParaRPr sz="2600">
              <a:solidFill>
                <a:srgbClr val="000000"/>
              </a:solidFill>
            </a:endParaRPr>
          </a:p>
          <a:p>
            <a:pPr marL="228600" lvl="0" indent="-228600" algn="l" rtl="0">
              <a:lnSpc>
                <a:spcPct val="90000"/>
              </a:lnSpc>
              <a:spcBef>
                <a:spcPts val="1000"/>
              </a:spcBef>
              <a:spcAft>
                <a:spcPts val="0"/>
              </a:spcAft>
              <a:buClr>
                <a:srgbClr val="00205B"/>
              </a:buClr>
              <a:buSzPts val="2600"/>
              <a:buFont typeface="Arial"/>
              <a:buNone/>
            </a:pPr>
            <a:endParaRPr sz="2600">
              <a:solidFill>
                <a:srgbClr val="000000"/>
              </a:solidFill>
            </a:endParaRPr>
          </a:p>
        </p:txBody>
      </p:sp>
      <p:pic>
        <p:nvPicPr>
          <p:cNvPr id="175" name="Google Shape;175;p20"/>
          <p:cNvPicPr preferRelativeResize="0"/>
          <p:nvPr/>
        </p:nvPicPr>
        <p:blipFill rotWithShape="1">
          <a:blip r:embed="rId3">
            <a:alphaModFix/>
          </a:blip>
          <a:srcRect/>
          <a:stretch/>
        </p:blipFill>
        <p:spPr>
          <a:xfrm>
            <a:off x="1329396" y="0"/>
            <a:ext cx="9533207" cy="5866228"/>
          </a:xfrm>
          <a:prstGeom prst="rect">
            <a:avLst/>
          </a:prstGeom>
          <a:noFill/>
          <a:ln>
            <a:noFill/>
          </a:ln>
        </p:spPr>
      </p:pic>
      <p:sp>
        <p:nvSpPr>
          <p:cNvPr id="176" name="Google Shape;176;p20"/>
          <p:cNvSpPr txBox="1"/>
          <p:nvPr/>
        </p:nvSpPr>
        <p:spPr>
          <a:xfrm>
            <a:off x="3066755" y="867101"/>
            <a:ext cx="6105379" cy="523220"/>
          </a:xfrm>
          <a:prstGeom prst="rect">
            <a:avLst/>
          </a:prstGeom>
          <a:gradFill>
            <a:gsLst>
              <a:gs pos="0">
                <a:srgbClr val="C7EC9A"/>
              </a:gs>
              <a:gs pos="50000">
                <a:srgbClr val="BCE18D"/>
              </a:gs>
              <a:gs pos="100000">
                <a:srgbClr val="B5E278"/>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dk1"/>
                </a:solidFill>
                <a:latin typeface="Arial"/>
                <a:ea typeface="Arial"/>
                <a:cs typeface="Arial"/>
                <a:sym typeface="Arial"/>
              </a:rPr>
              <a:t>Example of a budget impact curve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Uncertainty</a:t>
            </a:r>
            <a:endParaRPr/>
          </a:p>
        </p:txBody>
      </p:sp>
      <p:sp>
        <p:nvSpPr>
          <p:cNvPr id="183" name="Google Shape;183;p16"/>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rgbClr val="000000"/>
              </a:buClr>
              <a:buSzPts val="2600"/>
              <a:buChar char="•"/>
            </a:pPr>
            <a:r>
              <a:rPr lang="en-US" sz="2600">
                <a:solidFill>
                  <a:srgbClr val="000000"/>
                </a:solidFill>
              </a:rPr>
              <a:t>Recognize that uncertainty may be present due to uncertainty in the input values and in introducing assumptions</a:t>
            </a:r>
            <a:endParaRPr/>
          </a:p>
          <a:p>
            <a:pPr marL="742950" lvl="1" indent="-285750" algn="l" rtl="0">
              <a:lnSpc>
                <a:spcPct val="120000"/>
              </a:lnSpc>
              <a:spcBef>
                <a:spcPts val="500"/>
              </a:spcBef>
              <a:spcAft>
                <a:spcPts val="0"/>
              </a:spcAft>
              <a:buSzPts val="2200"/>
              <a:buChar char="▪"/>
            </a:pPr>
            <a:r>
              <a:rPr lang="en-US" sz="2200">
                <a:solidFill>
                  <a:srgbClr val="000000"/>
                </a:solidFill>
              </a:rPr>
              <a:t>Uncertainties in the input values</a:t>
            </a:r>
            <a:endParaRPr/>
          </a:p>
          <a:p>
            <a:pPr marL="1200150" lvl="2" indent="-285750" algn="l" rtl="0">
              <a:lnSpc>
                <a:spcPct val="120000"/>
              </a:lnSpc>
              <a:spcBef>
                <a:spcPts val="500"/>
              </a:spcBef>
              <a:spcAft>
                <a:spcPts val="0"/>
              </a:spcAft>
              <a:buSzPts val="1800"/>
              <a:buChar char="o"/>
            </a:pPr>
            <a:r>
              <a:rPr lang="en-US" sz="1800">
                <a:solidFill>
                  <a:srgbClr val="000000"/>
                </a:solidFill>
              </a:rPr>
              <a:t>E.g.: efficacy and safety of the interventions, population size, costs, etc.</a:t>
            </a:r>
            <a:endParaRPr/>
          </a:p>
          <a:p>
            <a:pPr marL="742950" lvl="1" indent="-285750" algn="l" rtl="0">
              <a:lnSpc>
                <a:spcPct val="120000"/>
              </a:lnSpc>
              <a:spcBef>
                <a:spcPts val="500"/>
              </a:spcBef>
              <a:spcAft>
                <a:spcPts val="0"/>
              </a:spcAft>
              <a:buSzPts val="2200"/>
              <a:buChar char="▪"/>
            </a:pPr>
            <a:r>
              <a:rPr lang="en-US" sz="2200">
                <a:solidFill>
                  <a:srgbClr val="000000"/>
                </a:solidFill>
              </a:rPr>
              <a:t>Uncertainties created by introducing assumptions</a:t>
            </a:r>
            <a:endParaRPr/>
          </a:p>
          <a:p>
            <a:pPr marL="1200150" lvl="2" indent="-285750" algn="l" rtl="0">
              <a:lnSpc>
                <a:spcPct val="120000"/>
              </a:lnSpc>
              <a:spcBef>
                <a:spcPts val="500"/>
              </a:spcBef>
              <a:spcAft>
                <a:spcPts val="0"/>
              </a:spcAft>
              <a:buSzPts val="1800"/>
              <a:buChar char="o"/>
            </a:pPr>
            <a:r>
              <a:rPr lang="en-US" sz="1800">
                <a:solidFill>
                  <a:srgbClr val="000000"/>
                </a:solidFill>
              </a:rPr>
              <a:t>E.g.: changes in expected intervention patterns, introduction of new interventions, new restrictions for use, time to generic substitution, etc.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f52c8cb045_0_1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Sensitivity </a:t>
            </a:r>
            <a:r>
              <a:rPr lang="en-U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Analysis</a:t>
            </a:r>
            <a:endParaRPr/>
          </a:p>
        </p:txBody>
      </p:sp>
      <p:sp>
        <p:nvSpPr>
          <p:cNvPr id="190" name="Google Shape;190;gf52c8cb045_0_11"/>
          <p:cNvSpPr txBox="1">
            <a:spLocks noGrp="1"/>
          </p:cNvSpPr>
          <p:nvPr>
            <p:ph type="body" idx="1"/>
          </p:nvPr>
        </p:nvSpPr>
        <p:spPr>
          <a:xfrm>
            <a:off x="838200" y="1825625"/>
            <a:ext cx="10515600" cy="3903600"/>
          </a:xfrm>
          <a:prstGeom prst="rect">
            <a:avLst/>
          </a:prstGeom>
        </p:spPr>
        <p:txBody>
          <a:bodyPr spcFirstLastPara="1" wrap="square" lIns="91425" tIns="45700" rIns="91425" bIns="45700" anchor="t" anchorCtr="0">
            <a:normAutofit/>
          </a:bodyPr>
          <a:lstStyle/>
          <a:p>
            <a:pPr marL="228600" lvl="0" indent="-228600" algn="l" rtl="0">
              <a:spcBef>
                <a:spcPts val="1000"/>
              </a:spcBef>
              <a:spcAft>
                <a:spcPts val="0"/>
              </a:spcAft>
              <a:buClr>
                <a:srgbClr val="000000"/>
              </a:buClr>
              <a:buSzPts val="2600"/>
              <a:buChar char="•"/>
            </a:pPr>
            <a:r>
              <a:rPr lang="en-US" sz="2600">
                <a:solidFill>
                  <a:srgbClr val="000000"/>
                </a:solidFill>
              </a:rPr>
              <a:t>Assess the impact of assumptions made in a pharmacoeconomic study and the robustness of the data</a:t>
            </a:r>
            <a:endParaRPr sz="2600">
              <a:solidFill>
                <a:srgbClr val="000000"/>
              </a:solidFill>
            </a:endParaRPr>
          </a:p>
          <a:p>
            <a:pPr marL="742950" lvl="1" indent="-298450" algn="l" rtl="0">
              <a:spcBef>
                <a:spcPts val="500"/>
              </a:spcBef>
              <a:spcAft>
                <a:spcPts val="0"/>
              </a:spcAft>
              <a:buClr>
                <a:srgbClr val="000000"/>
              </a:buClr>
              <a:buSzPts val="2600"/>
              <a:buChar char="▪"/>
            </a:pPr>
            <a:r>
              <a:rPr lang="en-US" sz="2200">
                <a:solidFill>
                  <a:srgbClr val="000000"/>
                </a:solidFill>
              </a:rPr>
              <a:t>Given the uncertainty of these assumptions, it’s important to understand which variables drive the biggest changes in the model to know where uncertainty might have the biggest impact on the model outcomes </a:t>
            </a:r>
            <a:endParaRPr sz="2600">
              <a:solidFill>
                <a:srgbClr val="000000"/>
              </a:solidFill>
            </a:endParaRPr>
          </a:p>
          <a:p>
            <a:pPr marL="228600" lvl="0" indent="-228600" algn="l" rtl="0">
              <a:spcBef>
                <a:spcPts val="1000"/>
              </a:spcBef>
              <a:spcAft>
                <a:spcPts val="0"/>
              </a:spcAft>
              <a:buClr>
                <a:srgbClr val="000000"/>
              </a:buClr>
              <a:buSzPts val="2600"/>
              <a:buChar char="•"/>
            </a:pPr>
            <a:r>
              <a:rPr lang="en-US" sz="2600">
                <a:solidFill>
                  <a:srgbClr val="000000"/>
                </a:solidFill>
              </a:rPr>
              <a:t>Tests whether the outcomes are of the same direction or of a similar magnitude when these assumptions are varied (each assumption is varied higher or lower by a set percentage)</a:t>
            </a:r>
            <a:endParaRPr sz="2600">
              <a:solidFill>
                <a:srgbClr val="000000"/>
              </a:solidFill>
            </a:endParaRPr>
          </a:p>
          <a:p>
            <a:pPr marL="742950" lvl="1" indent="-273050" algn="l" rtl="0">
              <a:spcBef>
                <a:spcPts val="500"/>
              </a:spcBef>
              <a:spcAft>
                <a:spcPts val="0"/>
              </a:spcAft>
              <a:buClr>
                <a:srgbClr val="000000"/>
              </a:buClr>
              <a:buSzPts val="2200"/>
              <a:buChar char="▪"/>
            </a:pPr>
            <a:r>
              <a:rPr lang="en-US" sz="2200">
                <a:solidFill>
                  <a:srgbClr val="000000"/>
                </a:solidFill>
              </a:rPr>
              <a:t>Tornado diagrams are commonly used to visually represent the impact of these variables</a:t>
            </a:r>
            <a:endParaRPr sz="22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f7523f7958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Tornado Diagram Example</a:t>
            </a:r>
            <a:endParaRPr/>
          </a:p>
        </p:txBody>
      </p:sp>
      <p:pic>
        <p:nvPicPr>
          <p:cNvPr id="198" name="Google Shape;198;gf7523f7958_0_0"/>
          <p:cNvPicPr preferRelativeResize="0"/>
          <p:nvPr/>
        </p:nvPicPr>
        <p:blipFill>
          <a:blip r:embed="rId3">
            <a:alphaModFix/>
          </a:blip>
          <a:stretch>
            <a:fillRect/>
          </a:stretch>
        </p:blipFill>
        <p:spPr>
          <a:xfrm>
            <a:off x="2187960" y="1536375"/>
            <a:ext cx="7242175" cy="4192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Validation of BIM</a:t>
            </a:r>
            <a:endParaRPr/>
          </a:p>
        </p:txBody>
      </p:sp>
      <p:sp>
        <p:nvSpPr>
          <p:cNvPr id="205" name="Google Shape;205;p18"/>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228600" lvl="0" indent="-63500" algn="l" rtl="0">
              <a:lnSpc>
                <a:spcPct val="90000"/>
              </a:lnSpc>
              <a:spcBef>
                <a:spcPts val="0"/>
              </a:spcBef>
              <a:spcAft>
                <a:spcPts val="0"/>
              </a:spcAft>
              <a:buClr>
                <a:srgbClr val="00205B"/>
              </a:buClr>
              <a:buSzPts val="2600"/>
              <a:buNone/>
            </a:pPr>
            <a:endParaRPr sz="2600">
              <a:solidFill>
                <a:srgbClr val="000000"/>
              </a:solidFill>
            </a:endParaRPr>
          </a:p>
          <a:p>
            <a:pPr marL="228600" lvl="0" indent="-228600" algn="l" rtl="0">
              <a:lnSpc>
                <a:spcPct val="90000"/>
              </a:lnSpc>
              <a:spcBef>
                <a:spcPts val="1000"/>
              </a:spcBef>
              <a:spcAft>
                <a:spcPts val="0"/>
              </a:spcAft>
              <a:buClr>
                <a:srgbClr val="000000"/>
              </a:buClr>
              <a:buSzPts val="2600"/>
              <a:buChar char="•"/>
            </a:pPr>
            <a:r>
              <a:rPr lang="en-US" sz="2600">
                <a:solidFill>
                  <a:srgbClr val="000000"/>
                </a:solidFill>
              </a:rPr>
              <a:t>Face validation with decision makers and verify the inputs, data, sources, and calculations. </a:t>
            </a:r>
            <a:endParaRPr/>
          </a:p>
          <a:p>
            <a:pPr marL="228600" lvl="0" indent="-63500" algn="l" rtl="0">
              <a:lnSpc>
                <a:spcPct val="90000"/>
              </a:lnSpc>
              <a:spcBef>
                <a:spcPts val="1000"/>
              </a:spcBef>
              <a:spcAft>
                <a:spcPts val="0"/>
              </a:spcAft>
              <a:buClr>
                <a:srgbClr val="00205B"/>
              </a:buClr>
              <a:buSzPts val="2600"/>
              <a:buNone/>
            </a:pPr>
            <a:endParaRPr sz="2600">
              <a:solidFill>
                <a:srgbClr val="000000"/>
              </a:solidFill>
            </a:endParaRPr>
          </a:p>
          <a:p>
            <a:pPr marL="228600" lvl="0" indent="-63500" algn="l" rtl="0">
              <a:lnSpc>
                <a:spcPct val="90000"/>
              </a:lnSpc>
              <a:spcBef>
                <a:spcPts val="1000"/>
              </a:spcBef>
              <a:spcAft>
                <a:spcPts val="0"/>
              </a:spcAft>
              <a:buClr>
                <a:srgbClr val="00205B"/>
              </a:buClr>
              <a:buSzPts val="2600"/>
              <a:buNone/>
            </a:pPr>
            <a:endParaRPr sz="2600">
              <a:solidFill>
                <a:srgbClr val="000000"/>
              </a:solidFill>
            </a:endParaRPr>
          </a:p>
          <a:p>
            <a:pPr marL="228600" lvl="0" indent="-228600" algn="l" rtl="0">
              <a:lnSpc>
                <a:spcPct val="90000"/>
              </a:lnSpc>
              <a:spcBef>
                <a:spcPts val="1000"/>
              </a:spcBef>
              <a:spcAft>
                <a:spcPts val="0"/>
              </a:spcAft>
              <a:buClr>
                <a:srgbClr val="00205B"/>
              </a:buClr>
              <a:buSzPts val="2800"/>
              <a:buFont typeface="Arial"/>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Key Considerations</a:t>
            </a:r>
            <a:endParaRPr/>
          </a:p>
        </p:txBody>
      </p:sp>
      <p:sp>
        <p:nvSpPr>
          <p:cNvPr id="212" name="Google Shape;212;p19"/>
          <p:cNvSpPr txBox="1">
            <a:spLocks noGrp="1"/>
          </p:cNvSpPr>
          <p:nvPr>
            <p:ph type="body" idx="1"/>
          </p:nvPr>
        </p:nvSpPr>
        <p:spPr>
          <a:xfrm>
            <a:off x="838200" y="1825625"/>
            <a:ext cx="10515600" cy="39036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600"/>
              <a:buChar char="•"/>
            </a:pPr>
            <a:r>
              <a:rPr lang="en-US" sz="2600">
                <a:solidFill>
                  <a:srgbClr val="000000"/>
                </a:solidFill>
              </a:rPr>
              <a:t>Ensure accurate inputs and data from the best available sources </a:t>
            </a:r>
            <a:endParaRPr/>
          </a:p>
          <a:p>
            <a:pPr marL="228600" lvl="0" indent="-228600" algn="l" rtl="0">
              <a:lnSpc>
                <a:spcPct val="90000"/>
              </a:lnSpc>
              <a:spcBef>
                <a:spcPts val="1000"/>
              </a:spcBef>
              <a:spcAft>
                <a:spcPts val="0"/>
              </a:spcAft>
              <a:buClr>
                <a:srgbClr val="000000"/>
              </a:buClr>
              <a:buSzPts val="2600"/>
              <a:buChar char="•"/>
            </a:pPr>
            <a:r>
              <a:rPr lang="en-US" sz="2600">
                <a:solidFill>
                  <a:srgbClr val="000000"/>
                </a:solidFill>
              </a:rPr>
              <a:t>Thoroughly cite references to enhance transparency and validity</a:t>
            </a:r>
            <a:endParaRPr/>
          </a:p>
          <a:p>
            <a:pPr marL="228600" lvl="0" indent="-228600" algn="l" rtl="0">
              <a:lnSpc>
                <a:spcPct val="90000"/>
              </a:lnSpc>
              <a:spcBef>
                <a:spcPts val="1000"/>
              </a:spcBef>
              <a:spcAft>
                <a:spcPts val="0"/>
              </a:spcAft>
              <a:buClr>
                <a:srgbClr val="000000"/>
              </a:buClr>
              <a:buSzPts val="2600"/>
              <a:buChar char="•"/>
            </a:pPr>
            <a:r>
              <a:rPr lang="en-US" sz="2600">
                <a:solidFill>
                  <a:srgbClr val="000000"/>
                </a:solidFill>
              </a:rPr>
              <a:t>Ensure customization to fit specific needs from a budget holder</a:t>
            </a:r>
            <a:endParaRPr/>
          </a:p>
          <a:p>
            <a:pPr marL="228600" lvl="0" indent="-228600" algn="l" rtl="0">
              <a:lnSpc>
                <a:spcPct val="90000"/>
              </a:lnSpc>
              <a:spcBef>
                <a:spcPts val="1000"/>
              </a:spcBef>
              <a:spcAft>
                <a:spcPts val="0"/>
              </a:spcAft>
              <a:buClr>
                <a:srgbClr val="000000"/>
              </a:buClr>
              <a:buSzPts val="2600"/>
              <a:buChar char="•"/>
            </a:pPr>
            <a:r>
              <a:rPr lang="en-US" sz="2600">
                <a:solidFill>
                  <a:srgbClr val="000000"/>
                </a:solidFill>
              </a:rPr>
              <a:t>Collect inputs and data from published clinical trials, published data, accredited national statistics, and data provided by the budget holder </a:t>
            </a:r>
            <a:endParaRPr/>
          </a:p>
          <a:p>
            <a:pPr marL="228600" lvl="0" indent="-228600" algn="l" rtl="0">
              <a:lnSpc>
                <a:spcPct val="90000"/>
              </a:lnSpc>
              <a:spcBef>
                <a:spcPts val="1000"/>
              </a:spcBef>
              <a:spcAft>
                <a:spcPts val="0"/>
              </a:spcAft>
              <a:buClr>
                <a:srgbClr val="000000"/>
              </a:buClr>
              <a:buSzPts val="2600"/>
              <a:buChar char="•"/>
            </a:pPr>
            <a:r>
              <a:rPr lang="en-US" sz="2600">
                <a:solidFill>
                  <a:srgbClr val="000000"/>
                </a:solidFill>
              </a:rPr>
              <a:t>Present the outcomes in the format of interest to the budget holder</a:t>
            </a:r>
            <a:endParaRPr/>
          </a:p>
          <a:p>
            <a:pPr marL="228600" lvl="0" indent="-228600" algn="l" rtl="0">
              <a:lnSpc>
                <a:spcPct val="90000"/>
              </a:lnSpc>
              <a:spcBef>
                <a:spcPts val="1000"/>
              </a:spcBef>
              <a:spcAft>
                <a:spcPts val="0"/>
              </a:spcAft>
              <a:buClr>
                <a:srgbClr val="000000"/>
              </a:buClr>
              <a:buSzPts val="2600"/>
              <a:buChar char="•"/>
            </a:pPr>
            <a:r>
              <a:rPr lang="en-US" sz="2600">
                <a:solidFill>
                  <a:srgbClr val="000000"/>
                </a:solidFill>
              </a:rPr>
              <a:t>Utilize visuals (e.g. budget impact curve with tolerance range) when presenting BIA</a:t>
            </a:r>
            <a:endParaRPr/>
          </a:p>
          <a:p>
            <a:pPr marL="228600" lvl="0" indent="-63500" algn="l" rtl="0">
              <a:lnSpc>
                <a:spcPct val="90000"/>
              </a:lnSpc>
              <a:spcBef>
                <a:spcPts val="1000"/>
              </a:spcBef>
              <a:spcAft>
                <a:spcPts val="0"/>
              </a:spcAft>
              <a:buClr>
                <a:srgbClr val="00205B"/>
              </a:buClr>
              <a:buSzPts val="2600"/>
              <a:buNone/>
            </a:pPr>
            <a:endParaRPr sz="2600">
              <a:solidFill>
                <a:srgbClr val="000000"/>
              </a:solidFill>
            </a:endParaRPr>
          </a:p>
          <a:p>
            <a:pPr marL="0" lvl="0" indent="0" algn="l" rtl="0">
              <a:lnSpc>
                <a:spcPct val="90000"/>
              </a:lnSpc>
              <a:spcBef>
                <a:spcPts val="1000"/>
              </a:spcBef>
              <a:spcAft>
                <a:spcPts val="0"/>
              </a:spcAft>
              <a:buClr>
                <a:srgbClr val="00205B"/>
              </a:buClr>
              <a:buSzPts val="2600"/>
              <a:buNone/>
            </a:pPr>
            <a:endParaRPr sz="2600">
              <a:solidFill>
                <a:srgbClr val="000000"/>
              </a:solidFill>
            </a:endParaRPr>
          </a:p>
          <a:p>
            <a:pPr marL="228600" lvl="0" indent="-228600" algn="l" rtl="0">
              <a:lnSpc>
                <a:spcPct val="90000"/>
              </a:lnSpc>
              <a:spcBef>
                <a:spcPts val="1000"/>
              </a:spcBef>
              <a:spcAft>
                <a:spcPts val="0"/>
              </a:spcAft>
              <a:buClr>
                <a:srgbClr val="00205B"/>
              </a:buClr>
              <a:buSzPts val="2600"/>
              <a:buFont typeface="Arial"/>
              <a:buNone/>
            </a:pPr>
            <a:endParaRPr sz="260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3778881" y="1953643"/>
            <a:ext cx="8840949" cy="2169367"/>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Clr>
                <a:schemeClr val="lt1"/>
              </a:buClr>
              <a:buSzPts val="7200"/>
              <a:buFont typeface="Arial"/>
              <a:buNone/>
            </a:pPr>
            <a:r>
              <a:rPr lang="en-US" dirty="0">
                <a:solidFill>
                  <a:schemeClr val="lt1"/>
                </a:solidFill>
              </a:rPr>
              <a:t>Helpful Resources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Helpful resources</a:t>
            </a:r>
            <a:endParaRPr/>
          </a:p>
        </p:txBody>
      </p:sp>
      <p:sp>
        <p:nvSpPr>
          <p:cNvPr id="224" name="Google Shape;224;p22"/>
          <p:cNvSpPr txBox="1">
            <a:spLocks noGrp="1"/>
          </p:cNvSpPr>
          <p:nvPr>
            <p:ph type="body" idx="1"/>
          </p:nvPr>
        </p:nvSpPr>
        <p:spPr>
          <a:xfrm>
            <a:off x="838200" y="1558338"/>
            <a:ext cx="10655106" cy="4350093"/>
          </a:xfrm>
          <a:prstGeom prst="rect">
            <a:avLst/>
          </a:prstGeom>
          <a:noFill/>
          <a:ln>
            <a:noFill/>
          </a:ln>
        </p:spPr>
        <p:txBody>
          <a:bodyPr spcFirstLastPara="1" wrap="square" lIns="91425" tIns="45700" rIns="91425" bIns="45700" anchor="t" anchorCtr="0">
            <a:noAutofit/>
          </a:bodyPr>
          <a:lstStyle/>
          <a:p>
            <a:pPr marL="228600" lvl="0" indent="-215900" algn="l" rtl="0">
              <a:lnSpc>
                <a:spcPct val="70000"/>
              </a:lnSpc>
              <a:spcBef>
                <a:spcPts val="0"/>
              </a:spcBef>
              <a:spcAft>
                <a:spcPts val="0"/>
              </a:spcAft>
              <a:buClr>
                <a:srgbClr val="000000"/>
              </a:buClr>
              <a:buSzPts val="2180"/>
              <a:buChar char="•"/>
            </a:pPr>
            <a:r>
              <a:rPr lang="en-US" sz="2180">
                <a:solidFill>
                  <a:srgbClr val="000000"/>
                </a:solidFill>
              </a:rPr>
              <a:t>ISPOR: </a:t>
            </a:r>
            <a:endParaRPr sz="2180"/>
          </a:p>
          <a:p>
            <a:pPr marL="742950" lvl="1" indent="-273050" algn="l" rtl="0">
              <a:lnSpc>
                <a:spcPct val="70000"/>
              </a:lnSpc>
              <a:spcBef>
                <a:spcPts val="500"/>
              </a:spcBef>
              <a:spcAft>
                <a:spcPts val="0"/>
              </a:spcAft>
              <a:buSzPts val="1840"/>
              <a:buChar char="▪"/>
            </a:pPr>
            <a:r>
              <a:rPr lang="en-US" sz="1840">
                <a:solidFill>
                  <a:srgbClr val="000000"/>
                </a:solidFill>
              </a:rPr>
              <a:t>- Training courses: </a:t>
            </a:r>
            <a:r>
              <a:rPr lang="en-US" sz="1840" u="sng">
                <a:solidFill>
                  <a:srgbClr val="000000"/>
                </a:solidFill>
                <a:hlinkClick r:id="rId3">
                  <a:extLst>
                    <a:ext uri="{A12FA001-AC4F-418D-AE19-62706E023703}">
                      <ahyp:hlinkClr xmlns:ahyp="http://schemas.microsoft.com/office/drawing/2018/hyperlinkcolor" val="tx"/>
                    </a:ext>
                  </a:extLst>
                </a:hlinkClick>
              </a:rPr>
              <a:t>https://www.ispor.org/conferences-education/education-training/virtual/distance-learning/introduction-to-budget-impact-analysis-bia-part-ii</a:t>
            </a:r>
            <a:endParaRPr sz="1840">
              <a:solidFill>
                <a:srgbClr val="000000"/>
              </a:solidFill>
            </a:endParaRPr>
          </a:p>
          <a:p>
            <a:pPr marL="742950" lvl="1" indent="-273050" algn="l" rtl="0">
              <a:lnSpc>
                <a:spcPct val="70000"/>
              </a:lnSpc>
              <a:spcBef>
                <a:spcPts val="500"/>
              </a:spcBef>
              <a:spcAft>
                <a:spcPts val="0"/>
              </a:spcAft>
              <a:buSzPts val="1840"/>
              <a:buChar char="▪"/>
            </a:pPr>
            <a:r>
              <a:rPr lang="en-US" sz="1840">
                <a:solidFill>
                  <a:srgbClr val="000000"/>
                </a:solidFill>
              </a:rPr>
              <a:t>- Good practice guideline: </a:t>
            </a:r>
            <a:r>
              <a:rPr lang="en-US" sz="1840" u="sng">
                <a:solidFill>
                  <a:srgbClr val="000000"/>
                </a:solidFill>
                <a:hlinkClick r:id="rId4">
                  <a:extLst>
                    <a:ext uri="{A12FA001-AC4F-418D-AE19-62706E023703}">
                      <ahyp:hlinkClr xmlns:ahyp="http://schemas.microsoft.com/office/drawing/2018/hyperlinkcolor" val="tx"/>
                    </a:ext>
                  </a:extLst>
                </a:hlinkClick>
              </a:rPr>
              <a:t>https://www.ispor.org/heor-resources/good-practices/article/principles-of-good-practice-for-budget-impact-analysis-ii</a:t>
            </a:r>
            <a:endParaRPr sz="1840">
              <a:solidFill>
                <a:srgbClr val="000000"/>
              </a:solidFill>
            </a:endParaRPr>
          </a:p>
          <a:p>
            <a:pPr marL="228600" lvl="0" indent="-215900" algn="l" rtl="0">
              <a:lnSpc>
                <a:spcPct val="70000"/>
              </a:lnSpc>
              <a:spcBef>
                <a:spcPts val="1000"/>
              </a:spcBef>
              <a:spcAft>
                <a:spcPts val="0"/>
              </a:spcAft>
              <a:buClr>
                <a:srgbClr val="000000"/>
              </a:buClr>
              <a:buSzPts val="2180"/>
              <a:buChar char="•"/>
            </a:pPr>
            <a:r>
              <a:rPr lang="en-US" sz="2180">
                <a:solidFill>
                  <a:srgbClr val="000000"/>
                </a:solidFill>
              </a:rPr>
              <a:t>NICE:</a:t>
            </a:r>
            <a:endParaRPr sz="2180"/>
          </a:p>
          <a:p>
            <a:pPr marL="742950" lvl="1" indent="-273050" algn="l" rtl="0">
              <a:lnSpc>
                <a:spcPct val="70000"/>
              </a:lnSpc>
              <a:spcBef>
                <a:spcPts val="500"/>
              </a:spcBef>
              <a:spcAft>
                <a:spcPts val="0"/>
              </a:spcAft>
              <a:buSzPts val="1840"/>
              <a:buChar char="▪"/>
            </a:pPr>
            <a:r>
              <a:rPr lang="en-US" sz="1840">
                <a:solidFill>
                  <a:srgbClr val="000000"/>
                </a:solidFill>
              </a:rPr>
              <a:t>- Budget impact template (.xlsx): </a:t>
            </a:r>
            <a:r>
              <a:rPr lang="en-US" sz="1840" u="sng">
                <a:solidFill>
                  <a:srgbClr val="000000"/>
                </a:solidFill>
                <a:hlinkClick r:id="rId5">
                  <a:extLst>
                    <a:ext uri="{A12FA001-AC4F-418D-AE19-62706E023703}">
                      <ahyp:hlinkClr xmlns:ahyp="http://schemas.microsoft.com/office/drawing/2018/hyperlinkcolor" val="tx"/>
                    </a:ext>
                  </a:extLst>
                </a:hlinkClick>
              </a:rPr>
              <a:t>https://www.nice.org.uk/Media/Default/About/what-we-do/our-programmes/evidence-standards-framework/budget-impact-template.xlsx</a:t>
            </a:r>
            <a:endParaRPr sz="1840">
              <a:solidFill>
                <a:srgbClr val="000000"/>
              </a:solidFill>
            </a:endParaRPr>
          </a:p>
          <a:p>
            <a:pPr marL="742950" lvl="1" indent="-273050" algn="l" rtl="0">
              <a:lnSpc>
                <a:spcPct val="70000"/>
              </a:lnSpc>
              <a:spcBef>
                <a:spcPts val="500"/>
              </a:spcBef>
              <a:spcAft>
                <a:spcPts val="0"/>
              </a:spcAft>
              <a:buSzPts val="1840"/>
              <a:buChar char="▪"/>
            </a:pPr>
            <a:r>
              <a:rPr lang="en-US" sz="1840">
                <a:solidFill>
                  <a:srgbClr val="000000"/>
                </a:solidFill>
              </a:rPr>
              <a:t>- Budget impact analysis template (.docx): </a:t>
            </a:r>
            <a:r>
              <a:rPr lang="en-US" sz="1840" u="sng">
                <a:solidFill>
                  <a:srgbClr val="000000"/>
                </a:solidFill>
                <a:hlinkClick r:id="rId6">
                  <a:extLst>
                    <a:ext uri="{A12FA001-AC4F-418D-AE19-62706E023703}">
                      <ahyp:hlinkClr xmlns:ahyp="http://schemas.microsoft.com/office/drawing/2018/hyperlinkcolor" val="tx"/>
                    </a:ext>
                  </a:extLst>
                </a:hlinkClick>
              </a:rPr>
              <a:t>https://www.nice.org.uk/Media/Default/About/what-we-do/NICE-guidance/NICE-technology-appraisals/Company-budget-impact-analysis-submission.docx</a:t>
            </a:r>
            <a:endParaRPr sz="1840">
              <a:solidFill>
                <a:srgbClr val="000000"/>
              </a:solidFill>
            </a:endParaRPr>
          </a:p>
          <a:p>
            <a:pPr marL="742950" lvl="1" indent="-273050" algn="l" rtl="0">
              <a:lnSpc>
                <a:spcPct val="70000"/>
              </a:lnSpc>
              <a:spcBef>
                <a:spcPts val="500"/>
              </a:spcBef>
              <a:spcAft>
                <a:spcPts val="0"/>
              </a:spcAft>
              <a:buSzPts val="1840"/>
              <a:buChar char="▪"/>
            </a:pPr>
            <a:r>
              <a:rPr lang="en-US" sz="1840">
                <a:solidFill>
                  <a:srgbClr val="000000"/>
                </a:solidFill>
              </a:rPr>
              <a:t>- (Note: the currency unit in NICE templates is in Euro </a:t>
            </a:r>
            <a:r>
              <a:rPr lang="en-US" sz="1840" b="0" i="0">
                <a:solidFill>
                  <a:srgbClr val="202124"/>
                </a:solidFill>
                <a:latin typeface="Roboto"/>
                <a:ea typeface="Roboto"/>
                <a:cs typeface="Roboto"/>
                <a:sym typeface="Roboto"/>
              </a:rPr>
              <a:t>€</a:t>
            </a:r>
            <a:r>
              <a:rPr lang="en-US" sz="1840">
                <a:solidFill>
                  <a:srgbClr val="000000"/>
                </a:solidFill>
              </a:rPr>
              <a:t>)</a:t>
            </a:r>
            <a:endParaRPr sz="1840"/>
          </a:p>
          <a:p>
            <a:pPr marL="228600" lvl="0" indent="-215900" algn="l" rtl="0">
              <a:lnSpc>
                <a:spcPct val="70000"/>
              </a:lnSpc>
              <a:spcBef>
                <a:spcPts val="1000"/>
              </a:spcBef>
              <a:spcAft>
                <a:spcPts val="0"/>
              </a:spcAft>
              <a:buClr>
                <a:srgbClr val="000000"/>
              </a:buClr>
              <a:buSzPts val="2180"/>
              <a:buChar char="•"/>
            </a:pPr>
            <a:r>
              <a:rPr lang="en-US" sz="2180">
                <a:solidFill>
                  <a:srgbClr val="000000"/>
                </a:solidFill>
              </a:rPr>
              <a:t>Other sources: </a:t>
            </a:r>
            <a:endParaRPr sz="2180"/>
          </a:p>
          <a:p>
            <a:pPr marL="742950" lvl="1" indent="-273050" algn="l" rtl="0">
              <a:lnSpc>
                <a:spcPct val="70000"/>
              </a:lnSpc>
              <a:spcBef>
                <a:spcPts val="500"/>
              </a:spcBef>
              <a:spcAft>
                <a:spcPts val="0"/>
              </a:spcAft>
              <a:buSzPts val="1840"/>
              <a:buChar char="▪"/>
            </a:pPr>
            <a:r>
              <a:rPr lang="en-US" sz="1840">
                <a:solidFill>
                  <a:srgbClr val="000000"/>
                </a:solidFill>
              </a:rPr>
              <a:t>- VA’s Health Economics Resource Center (HERC): </a:t>
            </a:r>
            <a:r>
              <a:rPr lang="en-US" sz="1840" u="sng">
                <a:solidFill>
                  <a:srgbClr val="000000"/>
                </a:solidFill>
                <a:hlinkClick r:id="rId7">
                  <a:extLst>
                    <a:ext uri="{A12FA001-AC4F-418D-AE19-62706E023703}">
                      <ahyp:hlinkClr xmlns:ahyp="http://schemas.microsoft.com/office/drawing/2018/hyperlinkcolor" val="tx"/>
                    </a:ext>
                  </a:extLst>
                </a:hlinkClick>
              </a:rPr>
              <a:t>https://www.herc.research.va.gov/include/page.asp?ID=home</a:t>
            </a:r>
            <a:endParaRPr sz="1840">
              <a:solidFill>
                <a:srgbClr val="000000"/>
              </a:solidFill>
            </a:endParaRPr>
          </a:p>
          <a:p>
            <a:pPr marL="742950" lvl="1" indent="-156209" algn="l" rtl="0">
              <a:lnSpc>
                <a:spcPct val="70000"/>
              </a:lnSpc>
              <a:spcBef>
                <a:spcPts val="500"/>
              </a:spcBef>
              <a:spcAft>
                <a:spcPts val="0"/>
              </a:spcAft>
              <a:buSzPts val="2040"/>
              <a:buNone/>
            </a:pPr>
            <a:endParaRPr sz="184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a:solidFill>
                  <a:schemeClr val="dk1"/>
                </a:solidFill>
              </a:rPr>
              <a:t>References</a:t>
            </a:r>
            <a:endParaRPr/>
          </a:p>
        </p:txBody>
      </p:sp>
      <p:sp>
        <p:nvSpPr>
          <p:cNvPr id="231" name="Google Shape;231;p23"/>
          <p:cNvSpPr txBox="1">
            <a:spLocks noGrp="1"/>
          </p:cNvSpPr>
          <p:nvPr>
            <p:ph type="body" idx="1"/>
          </p:nvPr>
        </p:nvSpPr>
        <p:spPr>
          <a:xfrm>
            <a:off x="838200" y="1825625"/>
            <a:ext cx="10767646" cy="3903663"/>
          </a:xfrm>
          <a:prstGeom prst="rect">
            <a:avLst/>
          </a:prstGeom>
          <a:noFill/>
          <a:ln>
            <a:noFill/>
          </a:ln>
        </p:spPr>
        <p:txBody>
          <a:bodyPr spcFirstLastPara="1" wrap="square" lIns="91425" tIns="45700" rIns="91425" bIns="45700" anchor="t" anchorCtr="0">
            <a:normAutofit fontScale="92500" lnSpcReduction="10000"/>
          </a:bodyPr>
          <a:lstStyle/>
          <a:p>
            <a:pPr marL="514350" lvl="0" indent="-514381" algn="l" rtl="0">
              <a:lnSpc>
                <a:spcPct val="90000"/>
              </a:lnSpc>
              <a:spcBef>
                <a:spcPts val="0"/>
              </a:spcBef>
              <a:spcAft>
                <a:spcPts val="0"/>
              </a:spcAft>
              <a:buClr>
                <a:srgbClr val="000000"/>
              </a:buClr>
              <a:buSzPct val="100000"/>
              <a:buFont typeface="Arial"/>
              <a:buAutoNum type="arabicPeriod"/>
            </a:pPr>
            <a:r>
              <a:rPr lang="en-US" sz="1900" b="0" i="0">
                <a:solidFill>
                  <a:srgbClr val="000000"/>
                </a:solidFill>
                <a:latin typeface="Arial"/>
                <a:ea typeface="Arial"/>
                <a:cs typeface="Arial"/>
                <a:sym typeface="Arial"/>
              </a:rPr>
              <a:t>Sullivan SD, Mauskopf JA, Augustovski F, Caro JJ, Lee KM, Minchin M, Orlewska E, Penna P, Barrios JM, Shau WY. Budget impact analysis—principles of good practice: report of the ISPOR 2012 Budget Impact Analysis Good Practice II Task Force. Value in health. 2014 Jan 1;17(1):5-14.</a:t>
            </a:r>
            <a:endParaRPr/>
          </a:p>
          <a:p>
            <a:pPr marL="514350" lvl="0" indent="-514381" algn="l" rtl="0">
              <a:lnSpc>
                <a:spcPct val="90000"/>
              </a:lnSpc>
              <a:spcBef>
                <a:spcPts val="1000"/>
              </a:spcBef>
              <a:spcAft>
                <a:spcPts val="0"/>
              </a:spcAft>
              <a:buClr>
                <a:srgbClr val="000000"/>
              </a:buClr>
              <a:buSzPct val="100000"/>
              <a:buFont typeface="Arial"/>
              <a:buAutoNum type="arabicPeriod"/>
            </a:pPr>
            <a:r>
              <a:rPr lang="en-US" sz="1900" b="0" i="0">
                <a:solidFill>
                  <a:srgbClr val="000000"/>
                </a:solidFill>
                <a:latin typeface="Arial"/>
                <a:ea typeface="Arial"/>
                <a:cs typeface="Arial"/>
                <a:sym typeface="Arial"/>
              </a:rPr>
              <a:t>Antoñanzas F, Terkola R, Overton PM, Shalet N, Postma M. Defining and measuring the affordability of new medicines: a systematic review. Pharmacoeconomics. 2017 Aug;35(8):777-91.</a:t>
            </a:r>
            <a:endParaRPr/>
          </a:p>
          <a:p>
            <a:pPr marL="514350" lvl="0" indent="-514381" algn="l" rtl="0">
              <a:lnSpc>
                <a:spcPct val="90000"/>
              </a:lnSpc>
              <a:spcBef>
                <a:spcPts val="1000"/>
              </a:spcBef>
              <a:spcAft>
                <a:spcPts val="0"/>
              </a:spcAft>
              <a:buClr>
                <a:srgbClr val="000000"/>
              </a:buClr>
              <a:buSzPct val="100000"/>
              <a:buFont typeface="Arial"/>
              <a:buAutoNum type="arabicPeriod"/>
            </a:pPr>
            <a:r>
              <a:rPr lang="en-US" sz="1900" b="0" i="0">
                <a:solidFill>
                  <a:srgbClr val="000000"/>
                </a:solidFill>
                <a:latin typeface="Arial"/>
                <a:ea typeface="Arial"/>
                <a:cs typeface="Arial"/>
                <a:sym typeface="Arial"/>
              </a:rPr>
              <a:t>Mauskopf J, Earnshaw S. A methodological review of US budget-impact models for new drugs. Pharmacoeconomics. 2016 Nov;34(11):1111-31.</a:t>
            </a:r>
            <a:endParaRPr/>
          </a:p>
          <a:p>
            <a:pPr marL="514350" lvl="0" indent="-514381" algn="l" rtl="0">
              <a:lnSpc>
                <a:spcPct val="90000"/>
              </a:lnSpc>
              <a:spcBef>
                <a:spcPts val="1000"/>
              </a:spcBef>
              <a:spcAft>
                <a:spcPts val="0"/>
              </a:spcAft>
              <a:buClr>
                <a:srgbClr val="000000"/>
              </a:buClr>
              <a:buSzPct val="100000"/>
              <a:buFont typeface="Arial"/>
              <a:buAutoNum type="arabicPeriod"/>
            </a:pPr>
            <a:r>
              <a:rPr lang="en-US" sz="1900">
                <a:solidFill>
                  <a:srgbClr val="000000"/>
                </a:solidFill>
              </a:rPr>
              <a:t>National Institute for Health and Care Excellence (website). Accessed on: September 18, 2021. Available at: </a:t>
            </a:r>
            <a:r>
              <a:rPr lang="en-US" sz="1900" u="sng">
                <a:solidFill>
                  <a:srgbClr val="0076CF"/>
                </a:solidFill>
                <a:hlinkClick r:id="rId3">
                  <a:extLst>
                    <a:ext uri="{A12FA001-AC4F-418D-AE19-62706E023703}">
                      <ahyp:hlinkClr xmlns:ahyp="http://schemas.microsoft.com/office/drawing/2018/hyperlinkcolor" val="tx"/>
                    </a:ext>
                  </a:extLst>
                </a:hlinkClick>
              </a:rPr>
              <a:t>https://www.nice.org.uk</a:t>
            </a:r>
            <a:r>
              <a:rPr lang="en-US" sz="1900" u="sng">
                <a:solidFill>
                  <a:srgbClr val="000000"/>
                </a:solidFill>
                <a:hlinkClick r:id="rId3">
                  <a:extLst>
                    <a:ext uri="{A12FA001-AC4F-418D-AE19-62706E023703}">
                      <ahyp:hlinkClr xmlns:ahyp="http://schemas.microsoft.com/office/drawing/2018/hyperlinkcolor" val="tx"/>
                    </a:ext>
                  </a:extLst>
                </a:hlinkClick>
              </a:rPr>
              <a:t>/</a:t>
            </a:r>
            <a:endParaRPr sz="1900">
              <a:solidFill>
                <a:srgbClr val="000000"/>
              </a:solidFill>
            </a:endParaRPr>
          </a:p>
          <a:p>
            <a:pPr marL="514350" lvl="0" indent="-514381" algn="l" rtl="0">
              <a:lnSpc>
                <a:spcPct val="90000"/>
              </a:lnSpc>
              <a:spcBef>
                <a:spcPts val="1000"/>
              </a:spcBef>
              <a:spcAft>
                <a:spcPts val="0"/>
              </a:spcAft>
              <a:buClr>
                <a:srgbClr val="000000"/>
              </a:buClr>
              <a:buSzPct val="100000"/>
              <a:buFont typeface="Arial"/>
              <a:buAutoNum type="arabicPeriod"/>
            </a:pPr>
            <a:r>
              <a:rPr lang="en-US" sz="1900" u="sng">
                <a:solidFill>
                  <a:srgbClr val="000000"/>
                </a:solidFill>
                <a:hlinkClick r:id="rId4">
                  <a:extLst>
                    <a:ext uri="{A12FA001-AC4F-418D-AE19-62706E023703}">
                      <ahyp:hlinkClr xmlns:ahyp="http://schemas.microsoft.com/office/drawing/2018/hyperlinkcolor" val="tx"/>
                    </a:ext>
                  </a:extLst>
                </a:hlinkClick>
              </a:rPr>
              <a:t>https://www.nice.org.uk/about/what-we-do/into-practice/audit-and-service-improvement/costing-tools</a:t>
            </a:r>
            <a:endParaRPr sz="1900">
              <a:solidFill>
                <a:srgbClr val="000000"/>
              </a:solidFill>
            </a:endParaRPr>
          </a:p>
          <a:p>
            <a:pPr marL="514350" lvl="0" indent="-514381" algn="l" rtl="0">
              <a:lnSpc>
                <a:spcPct val="90000"/>
              </a:lnSpc>
              <a:spcBef>
                <a:spcPts val="1000"/>
              </a:spcBef>
              <a:spcAft>
                <a:spcPts val="0"/>
              </a:spcAft>
              <a:buClr>
                <a:srgbClr val="000000"/>
              </a:buClr>
              <a:buSzPct val="100000"/>
              <a:buFont typeface="Arial"/>
              <a:buAutoNum type="arabicPeriod"/>
            </a:pPr>
            <a:r>
              <a:rPr lang="en-US" sz="1900" u="sng">
                <a:solidFill>
                  <a:srgbClr val="000000"/>
                </a:solidFill>
                <a:hlinkClick r:id="rId5">
                  <a:extLst>
                    <a:ext uri="{A12FA001-AC4F-418D-AE19-62706E023703}">
                      <ahyp:hlinkClr xmlns:ahyp="http://schemas.microsoft.com/office/drawing/2018/hyperlinkcolor" val="tx"/>
                    </a:ext>
                  </a:extLst>
                </a:hlinkClick>
              </a:rPr>
              <a:t>https://www.herc.research.va.gov/include/page.asp?ID=home</a:t>
            </a:r>
            <a:endParaRPr sz="1900">
              <a:solidFill>
                <a:srgbClr val="000000"/>
              </a:solidFill>
            </a:endParaRPr>
          </a:p>
          <a:p>
            <a:pPr marL="514350" lvl="0" indent="-514381" algn="l" rtl="0">
              <a:lnSpc>
                <a:spcPct val="90000"/>
              </a:lnSpc>
              <a:spcBef>
                <a:spcPts val="1000"/>
              </a:spcBef>
              <a:spcAft>
                <a:spcPts val="0"/>
              </a:spcAft>
              <a:buClr>
                <a:srgbClr val="000000"/>
              </a:buClr>
              <a:buSzPct val="100000"/>
              <a:buFont typeface="Arial"/>
              <a:buAutoNum type="arabicPeriod"/>
            </a:pPr>
            <a:r>
              <a:rPr lang="en-US" sz="1900" u="sng">
                <a:solidFill>
                  <a:srgbClr val="000000"/>
                </a:solidFill>
                <a:hlinkClick r:id="rId6">
                  <a:extLst>
                    <a:ext uri="{A12FA001-AC4F-418D-AE19-62706E023703}">
                      <ahyp:hlinkClr xmlns:ahyp="http://schemas.microsoft.com/office/drawing/2018/hyperlinkcolor" val="tx"/>
                    </a:ext>
                  </a:extLst>
                </a:hlinkClick>
              </a:rPr>
              <a:t>https://noahe.ca/download/budget_impact_models.pdf</a:t>
            </a:r>
            <a:endParaRPr sz="1900">
              <a:solidFill>
                <a:srgbClr val="000000"/>
              </a:solidFill>
            </a:endParaRPr>
          </a:p>
          <a:p>
            <a:pPr marL="514350" lvl="0" indent="-349885" algn="l" rtl="0">
              <a:lnSpc>
                <a:spcPct val="90000"/>
              </a:lnSpc>
              <a:spcBef>
                <a:spcPts val="1000"/>
              </a:spcBef>
              <a:spcAft>
                <a:spcPts val="0"/>
              </a:spcAft>
              <a:buClr>
                <a:srgbClr val="00205B"/>
              </a:buClr>
              <a:buSzPct val="100000"/>
              <a:buFont typeface="Arial"/>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4"/>
          <p:cNvSpPr txBox="1">
            <a:spLocks noGrp="1"/>
          </p:cNvSpPr>
          <p:nvPr>
            <p:ph type="title"/>
          </p:nvPr>
        </p:nvSpPr>
        <p:spPr>
          <a:xfrm>
            <a:off x="3268858" y="1435814"/>
            <a:ext cx="8840949" cy="2169367"/>
          </a:xfrm>
          <a:prstGeom prst="rect">
            <a:avLst/>
          </a:prstGeom>
          <a:noFill/>
          <a:ln>
            <a:noFill/>
          </a:ln>
        </p:spPr>
        <p:txBody>
          <a:bodyPr spcFirstLastPara="1" wrap="square" lIns="0" tIns="0" rIns="0" bIns="0" anchor="t" anchorCtr="0">
            <a:noAutofit/>
          </a:bodyPr>
          <a:lstStyle/>
          <a:p>
            <a:pPr marL="0" lvl="0" indent="0" algn="r" rtl="0">
              <a:lnSpc>
                <a:spcPct val="90000"/>
              </a:lnSpc>
              <a:spcBef>
                <a:spcPts val="0"/>
              </a:spcBef>
              <a:spcAft>
                <a:spcPts val="0"/>
              </a:spcAft>
              <a:buClr>
                <a:schemeClr val="lt1"/>
              </a:buClr>
              <a:buSzPts val="4000"/>
              <a:buFont typeface="Arial"/>
              <a:buNone/>
            </a:pPr>
            <a:r>
              <a:rPr lang="en-US" sz="4000" b="0">
                <a:solidFill>
                  <a:schemeClr val="lt1"/>
                </a:solidFill>
                <a:latin typeface="Arial"/>
                <a:ea typeface="Arial"/>
                <a:cs typeface="Arial"/>
                <a:sym typeface="Arial"/>
              </a:rPr>
              <a:t>Thank you to Anh Ho, PharmD, and AMCP SOPRC members for </a:t>
            </a:r>
            <a:r>
              <a:rPr lang="en-US" sz="4000" b="0">
                <a:solidFill>
                  <a:schemeClr val="lt1"/>
                </a:solidFill>
              </a:rPr>
              <a:t>updating this presentation for 2021.</a:t>
            </a:r>
            <a:endParaRPr sz="4000" b="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25"/>
          <p:cNvPicPr preferRelativeResize="0"/>
          <p:nvPr/>
        </p:nvPicPr>
        <p:blipFill rotWithShape="1">
          <a:blip r:embed="rId3">
            <a:alphaModFix/>
          </a:blip>
          <a:srcRect/>
          <a:stretch/>
        </p:blipFill>
        <p:spPr>
          <a:xfrm>
            <a:off x="1190887" y="2348696"/>
            <a:ext cx="3450854" cy="1389003"/>
          </a:xfrm>
          <a:prstGeom prst="rect">
            <a:avLst/>
          </a:prstGeom>
          <a:noFill/>
          <a:ln>
            <a:noFill/>
          </a:ln>
        </p:spPr>
      </p:pic>
      <p:sp>
        <p:nvSpPr>
          <p:cNvPr id="243" name="Google Shape;243;p25"/>
          <p:cNvSpPr/>
          <p:nvPr/>
        </p:nvSpPr>
        <p:spPr>
          <a:xfrm>
            <a:off x="5308167" y="2556051"/>
            <a:ext cx="6659105"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a:solidFill>
                  <a:schemeClr val="lt1"/>
                </a:solidFill>
                <a:latin typeface="Arial"/>
                <a:ea typeface="Arial"/>
                <a:cs typeface="Arial"/>
                <a:sym typeface="Arial"/>
              </a:rPr>
              <a:t>To improve patient health by ensuring access to </a:t>
            </a:r>
            <a:endParaRPr/>
          </a:p>
          <a:p>
            <a:pPr marL="0" marR="0" lvl="0" indent="0" algn="l" rtl="0">
              <a:spcBef>
                <a:spcPts val="0"/>
              </a:spcBef>
              <a:spcAft>
                <a:spcPts val="0"/>
              </a:spcAft>
              <a:buNone/>
            </a:pPr>
            <a:r>
              <a:rPr lang="en-US" sz="3200">
                <a:solidFill>
                  <a:schemeClr val="lt1"/>
                </a:solidFill>
                <a:latin typeface="Arial"/>
                <a:ea typeface="Arial"/>
                <a:cs typeface="Arial"/>
                <a:sym typeface="Arial"/>
              </a:rPr>
              <a:t>high-quality, cost-effective medications and other therapies. </a:t>
            </a:r>
            <a:endParaRPr/>
          </a:p>
        </p:txBody>
      </p:sp>
      <p:sp>
        <p:nvSpPr>
          <p:cNvPr id="244" name="Google Shape;244;p25"/>
          <p:cNvSpPr/>
          <p:nvPr/>
        </p:nvSpPr>
        <p:spPr>
          <a:xfrm>
            <a:off x="5308167" y="2025530"/>
            <a:ext cx="696390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91C84C"/>
                </a:solidFill>
                <a:latin typeface="Arial"/>
                <a:ea typeface="Arial"/>
                <a:cs typeface="Arial"/>
                <a:sym typeface="Arial"/>
              </a:rPr>
              <a:t>Mission &amp; Vision</a:t>
            </a:r>
            <a:endParaRPr/>
          </a:p>
        </p:txBody>
      </p:sp>
      <p:cxnSp>
        <p:nvCxnSpPr>
          <p:cNvPr id="245" name="Google Shape;245;p25"/>
          <p:cNvCxnSpPr/>
          <p:nvPr/>
        </p:nvCxnSpPr>
        <p:spPr>
          <a:xfrm>
            <a:off x="4974954" y="1875295"/>
            <a:ext cx="0" cy="274320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Custom 7">
      <a:dk1>
        <a:srgbClr val="00205B"/>
      </a:dk1>
      <a:lt1>
        <a:srgbClr val="FFFFFF"/>
      </a:lt1>
      <a:dk2>
        <a:srgbClr val="00205B"/>
      </a:dk2>
      <a:lt2>
        <a:srgbClr val="00205B"/>
      </a:lt2>
      <a:accent1>
        <a:srgbClr val="FFFFFF"/>
      </a:accent1>
      <a:accent2>
        <a:srgbClr val="CB350F"/>
      </a:accent2>
      <a:accent3>
        <a:srgbClr val="97999B"/>
      </a:accent3>
      <a:accent4>
        <a:srgbClr val="F3D03E"/>
      </a:accent4>
      <a:accent5>
        <a:srgbClr val="34D0C1"/>
      </a:accent5>
      <a:accent6>
        <a:srgbClr val="93C90E"/>
      </a:accent6>
      <a:hlink>
        <a:srgbClr val="0076CF"/>
      </a:hlink>
      <a:folHlink>
        <a:srgbClr val="0076C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24e01ff-47af-4f69-b6b1-8bd7b642ad80">
      <Terms xmlns="http://schemas.microsoft.com/office/infopath/2007/PartnerControls"/>
    </lcf76f155ced4ddcb4097134ff3c332f>
    <TaxCatchAll xmlns="f2c48f60-54de-499d-bd5e-1a2c34db13a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689C8E0D0780E44B9FB385B5EEC703D" ma:contentTypeVersion="16" ma:contentTypeDescription="Create a new document." ma:contentTypeScope="" ma:versionID="e3d4dd4c3f5536d29d2ff7d915e2d75c">
  <xsd:schema xmlns:xsd="http://www.w3.org/2001/XMLSchema" xmlns:xs="http://www.w3.org/2001/XMLSchema" xmlns:p="http://schemas.microsoft.com/office/2006/metadata/properties" xmlns:ns2="124e01ff-47af-4f69-b6b1-8bd7b642ad80" xmlns:ns3="f2c48f60-54de-499d-bd5e-1a2c34db13ad" targetNamespace="http://schemas.microsoft.com/office/2006/metadata/properties" ma:root="true" ma:fieldsID="b1b278df919fcfd68a817278bd2abf75" ns2:_="" ns3:_="">
    <xsd:import namespace="124e01ff-47af-4f69-b6b1-8bd7b642ad80"/>
    <xsd:import namespace="f2c48f60-54de-499d-bd5e-1a2c34db13a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GenerationTime" minOccurs="0"/>
                <xsd:element ref="ns2:MediaServiceEventHashCode" minOccurs="0"/>
                <xsd:element ref="ns2:lcf76f155ced4ddcb4097134ff3c332f" minOccurs="0"/>
                <xsd:element ref="ns3:TaxCatchAll" minOccurs="0"/>
                <xsd:element ref="ns2:MediaServiceAutoKeyPoints" minOccurs="0"/>
                <xsd:element ref="ns2:MediaServiceKeyPoints" minOccurs="0"/>
                <xsd:element ref="ns3:SharedWithUsers" minOccurs="0"/>
                <xsd:element ref="ns3:SharedWithDetail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4e01ff-47af-4f69-b6b1-8bd7b642ad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542fbb9-1fc8-4dc7-bfa7-55c7b00c0383" ma:termSetId="09814cd3-568e-fe90-9814-8d621ff8fb84" ma:anchorId="fba54fb3-c3e1-fe81-a776-ca4b69148c4d" ma:open="true" ma:isKeyword="false">
      <xsd:complexType>
        <xsd:sequence>
          <xsd:element ref="pc:Terms" minOccurs="0" maxOccurs="1"/>
        </xsd:sequence>
      </xsd:complex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c48f60-54de-499d-bd5e-1a2c34db13a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b9962944-c2fb-4adb-8a69-7a81247e5e31}" ma:internalName="TaxCatchAll" ma:showField="CatchAllData" ma:web="f2c48f60-54de-499d-bd5e-1a2c34db13ad">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08A354-4CF1-4729-BA45-672B5F59BD9B}">
  <ds:schemaRefs>
    <ds:schemaRef ds:uri="http://schemas.microsoft.com/office/2006/metadata/properties"/>
    <ds:schemaRef ds:uri="http://schemas.microsoft.com/office/infopath/2007/PartnerControls"/>
    <ds:schemaRef ds:uri="124e01ff-47af-4f69-b6b1-8bd7b642ad80"/>
    <ds:schemaRef ds:uri="f2c48f60-54de-499d-bd5e-1a2c34db13ad"/>
  </ds:schemaRefs>
</ds:datastoreItem>
</file>

<file path=customXml/itemProps2.xml><?xml version="1.0" encoding="utf-8"?>
<ds:datastoreItem xmlns:ds="http://schemas.openxmlformats.org/officeDocument/2006/customXml" ds:itemID="{A958F700-521F-4342-B0C1-161EB6B7DD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4e01ff-47af-4f69-b6b1-8bd7b642ad80"/>
    <ds:schemaRef ds:uri="f2c48f60-54de-499d-bd5e-1a2c34db13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F831E8-9E89-4286-8A0C-9461AC97EB5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TotalTime>
  <Words>2186</Words>
  <Application>Microsoft Office PowerPoint</Application>
  <PresentationFormat>Widescreen</PresentationFormat>
  <Paragraphs>212</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Wingdings</vt:lpstr>
      <vt:lpstr>Montserrat</vt:lpstr>
      <vt:lpstr>Roboto</vt:lpstr>
      <vt:lpstr>Calibri</vt:lpstr>
      <vt:lpstr>Courier New</vt:lpstr>
      <vt:lpstr>Noto Sans Symbols</vt:lpstr>
      <vt:lpstr>Arial</vt:lpstr>
      <vt:lpstr>Office Theme</vt:lpstr>
      <vt:lpstr>Budget Impact Analysis</vt:lpstr>
      <vt:lpstr>Overview</vt:lpstr>
      <vt:lpstr>Introduction of BIA</vt:lpstr>
      <vt:lpstr>Definition of BIA</vt:lpstr>
      <vt:lpstr>Purpose of BIA</vt:lpstr>
      <vt:lpstr>Differentiation between BIA vs. CEA</vt:lpstr>
      <vt:lpstr>Designing BIA</vt:lpstr>
      <vt:lpstr>BIA Overview</vt:lpstr>
      <vt:lpstr>Identify budget holder/ perspective</vt:lpstr>
      <vt:lpstr>What is the current intervention mix?</vt:lpstr>
      <vt:lpstr>Know the effect of the new intervention</vt:lpstr>
      <vt:lpstr>Assumptions</vt:lpstr>
      <vt:lpstr>Cost Considerations</vt:lpstr>
      <vt:lpstr>Cost Examples</vt:lpstr>
      <vt:lpstr>Time horizon and Cycle Length</vt:lpstr>
      <vt:lpstr>Time Dependency and Discount Rate</vt:lpstr>
      <vt:lpstr>Additional Considerations</vt:lpstr>
      <vt:lpstr>Budget Impact Model (BIM)</vt:lpstr>
      <vt:lpstr>PowerPoint Presentation</vt:lpstr>
      <vt:lpstr>Uncertainty</vt:lpstr>
      <vt:lpstr>Sensitivity Analysis</vt:lpstr>
      <vt:lpstr>Tornado Diagram Example</vt:lpstr>
      <vt:lpstr>Validation of BIM</vt:lpstr>
      <vt:lpstr>Key Considerations</vt:lpstr>
      <vt:lpstr>Helpful Resources</vt:lpstr>
      <vt:lpstr>Helpful resources</vt:lpstr>
      <vt:lpstr>References</vt:lpstr>
      <vt:lpstr>Thank you to Anh Ho, PharmD, and AMCP SOPRC members for updating this presentation for 2021.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 Impact Analysis</dc:title>
  <dc:creator>Mara K. Braunger</dc:creator>
  <cp:lastModifiedBy>Betty Whitaker</cp:lastModifiedBy>
  <cp:revision>1</cp:revision>
  <dcterms:created xsi:type="dcterms:W3CDTF">2019-05-03T17:39:49Z</dcterms:created>
  <dcterms:modified xsi:type="dcterms:W3CDTF">2022-08-29T15:05:41Z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0x0101006689C8E0D0780E44B9FB385B5EEC703D</vt:lpwstr>
  </property>
  <property fmtid="{D5CDD505-2E9C-101B-9397-08002B2CF9AE}" pid="3" name="MediaServiceImageTags">
    <vt:lpwstr/>
  </property>
</Properties>
</file>