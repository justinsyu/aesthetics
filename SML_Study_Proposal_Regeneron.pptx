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77747"/>
  </p:normalViewPr>
  <p:slideViewPr>
    <p:cSldViewPr snapToGrid="0" snapToObjects="1">
      <p:cViewPr varScale="1">
        <p:scale>
          <a:sx n="91" d="100"/>
          <a:sy n="91" d="100"/>
        </p:scale>
        <p:origin x="14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7767A-9C2B-9C4C-AE62-779DAD061CB7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0B5437-5EC9-FA42-92A6-4D1E1D829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80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Desired from social media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Diagnosis confirmation </a:t>
            </a:r>
            <a:r>
              <a:rPr lang="en-US" dirty="0">
                <a:sym typeface="Wingdings" pitchFamily="2" charset="2"/>
              </a:rPr>
              <a:t> provides examples that other studies have done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Direct patient quotes  show examples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Final output examples  show examples and ask what she wants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FDA PRO assessments  lit review examples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Cost </a:t>
            </a:r>
            <a:r>
              <a:rPr lang="en-US">
                <a:sym typeface="Wingdings" pitchFamily="2" charset="2"/>
              </a:rPr>
              <a:t>and budget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B5437-5EC9-FA42-92A6-4D1E1D8291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09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36576" cy="5943600"/>
          </a:xfrm>
          <a:prstGeom prst="rect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F3D4C6"/>
                </a:solidFill>
                <a:latin typeface="Calibri"/>
              </a:rPr>
              <a:t>STUDY PROPOSAL  ·  PREPARED FOR REGENERON  · 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4EFE6"/>
                </a:solidFill>
                <a:latin typeface="Calibri"/>
              </a:rPr>
              <a:t>The patient voice,</a:t>
            </a:r>
          </a:p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4EFE6"/>
                </a:solidFill>
                <a:latin typeface="Calibri"/>
              </a:rPr>
              <a:t>made </a:t>
            </a:r>
            <a:r>
              <a:rPr sz="6000" b="1" i="1">
                <a:solidFill>
                  <a:srgbClr val="E8704C"/>
                </a:solidFill>
                <a:latin typeface="Calibri"/>
              </a:rPr>
              <a:t>rigorous</a:t>
            </a:r>
            <a:r>
              <a:rPr sz="6000" b="1" i="0">
                <a:solidFill>
                  <a:srgbClr val="F4EFE6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F3D4C6"/>
                </a:solidFill>
                <a:latin typeface="Calibri Light"/>
              </a:rPr>
              <a:t>A Pomelo Protocol social media listening study, designed for retina.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59893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400">
                <a:solidFill>
                  <a:srgbClr val="F4EFE6"/>
                </a:solidFill>
                <a:latin typeface="Calibri"/>
              </a:rPr>
              <a:t>ADVECTION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2636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1">
                <a:solidFill>
                  <a:srgbClr val="F3D4C6"/>
                </a:solidFill>
                <a:latin typeface="Calibri Light"/>
              </a:rPr>
              <a:t>Value · Community ·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300">
                <a:solidFill>
                  <a:srgbClr val="E8704C"/>
                </a:solidFill>
                <a:latin typeface="Calibri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5233D"/>
                </a:solidFill>
                <a:latin typeface="Calibri"/>
              </a:rPr>
              <a:t>Between the trial and the tweet lies the unfiltered patient.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4028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5233D"/>
                </a:solidFill>
                <a:latin typeface="Calibri Light"/>
              </a:rPr>
              <a:t>Patients describe their disease — symptoms, severity, daily impact, and treatment trade-offs — every day, in public, in their own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C6B82"/>
                </a:solidFill>
                <a:latin typeface="Calibri Light"/>
              </a:rPr>
              <a:t>Until recently, that signal has been hard to capture rigorously. AI plus natural language processing now makes it tractable — and regulators have taken notice.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40280"/>
            <a:ext cx="43891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233172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50">
                <a:solidFill>
                  <a:srgbClr val="E8704C"/>
                </a:solidFill>
                <a:latin typeface="Calibri"/>
              </a:rPr>
              <a:t>FDA &amp; 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65176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5233D"/>
                </a:solidFill>
                <a:latin typeface="Calibri Light"/>
              </a:rPr>
              <a:t>have explicitly named social media as a source of patient experience data for drug development.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3657600"/>
            <a:ext cx="43891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3749039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50" dirty="0">
                <a:solidFill>
                  <a:srgbClr val="E8704C"/>
                </a:solidFill>
                <a:latin typeface="Calibri"/>
              </a:rPr>
              <a:t>Pistoia Alliance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06908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5233D"/>
                </a:solidFill>
                <a:latin typeface="Calibri Light"/>
              </a:rPr>
              <a:t>published the first peer-reviewed, regulatory-ready best-practice framework — and a step-by-step protocol called POMELO.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5074920"/>
            <a:ext cx="4389120" cy="914400"/>
          </a:xfrm>
          <a:prstGeom prst="rect">
            <a:avLst/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51663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3D4C6"/>
                </a:solidFill>
                <a:latin typeface="Calibri"/>
              </a:rPr>
              <a:t>What this unlocks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44068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4EFE6"/>
                </a:solidFill>
                <a:latin typeface="Calibri Light"/>
              </a:rPr>
              <a:t>Conceptual disease models · richer TPPs · evidence-gap identification · endpoint selection.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ADVECTION  ·  Social Media Listening Proposal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300">
                <a:solidFill>
                  <a:srgbClr val="E8704C"/>
                </a:solidFill>
                <a:latin typeface="Calibri"/>
              </a:rPr>
              <a:t>THE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33D"/>
                </a:solidFill>
                <a:latin typeface="Calibri"/>
              </a:rPr>
              <a:t>POMELO — a protocol the industry agreed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4028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233D"/>
                </a:solidFill>
                <a:latin typeface="Calibri"/>
              </a:rPr>
              <a:t>Protocol for sOcial Media listEning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88920"/>
            <a:ext cx="6583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5233D"/>
                </a:solidFill>
                <a:latin typeface="Calibri Light"/>
              </a:rPr>
              <a:t>A 17-step checklist across four phases that turns social media listening from an ad-hoc marketing tool into a method that holds up to regulator scrutiny.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69080"/>
            <a:ext cx="6583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E8704C"/>
                </a:solidFill>
                <a:latin typeface="Calibri"/>
              </a:rPr>
              <a:t>BUILT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5C6B82"/>
                </a:solidFill>
                <a:latin typeface="Calibri Light"/>
              </a:rPr>
              <a:t>Bayer · Roche · Boehringer Ingelheim · Chiesi · Semalytix — through the Pistoia Alliance Social Media RWE expert community.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74920"/>
            <a:ext cx="6583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E8704C"/>
                </a:solidFill>
                <a:latin typeface="Calibri"/>
              </a:rPr>
              <a:t>PUBLISHED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49240"/>
            <a:ext cx="6583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5233D"/>
                </a:solidFill>
                <a:latin typeface="Calibri Light"/>
              </a:rPr>
              <a:t>Cimiano et al. Frontiers in Medicine, 2024 &amp; 2026.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5233D"/>
                </a:solidFill>
                <a:latin typeface="Calibri Light"/>
              </a:rPr>
              <a:t>Protocol summary released April 2026, presented at ISPOR 2026.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2103120"/>
            <a:ext cx="3108960" cy="310896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366760" y="2331720"/>
            <a:ext cx="2651760" cy="2651760"/>
          </a:xfrm>
          <a:prstGeom prst="ellipse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301752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 spc="400">
                <a:solidFill>
                  <a:srgbClr val="15233D"/>
                </a:solidFill>
                <a:latin typeface="Calibri"/>
              </a:rPr>
              <a:t>POMELO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5204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C6B82"/>
                </a:solidFill>
                <a:latin typeface="Calibri Light"/>
              </a:rPr>
              <a:t>4 phases  ·  17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977639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5233D"/>
                </a:solidFill>
                <a:latin typeface="Calibri Light"/>
              </a:rPr>
              <a:t>from research question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5233D"/>
                </a:solidFill>
                <a:latin typeface="Calibri Light"/>
              </a:rPr>
              <a:t>to reproducible read-out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ADVECTION  ·  Social Media Listening Proposal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300">
                <a:solidFill>
                  <a:srgbClr val="E8704C"/>
                </a:solidFill>
                <a:latin typeface="Calibri"/>
              </a:rPr>
              <a:t>METHOD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33D"/>
                </a:solidFill>
                <a:latin typeface="Calibri"/>
              </a:rPr>
              <a:t>Four phases. Seventeen decisions. One audit trail.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26974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2560320"/>
            <a:ext cx="502920" cy="50292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7860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5233D"/>
                </a:solidFill>
                <a:latin typeface="Calibri"/>
              </a:rPr>
              <a:t>Setting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E8704C"/>
                </a:solidFill>
                <a:latin typeface="Calibri Light"/>
              </a:rPr>
              <a:t>Frame the question, the team, the rules.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703320"/>
            <a:ext cx="2148840" cy="0"/>
          </a:xfrm>
          <a:prstGeom prst="line">
            <a:avLst/>
          </a:prstGeom>
          <a:ln w="9525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886200"/>
            <a:ext cx="22402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5233D"/>
                </a:solidFill>
                <a:latin typeface="Calibri Light"/>
              </a:rPr>
              <a:t>—  Define a fit-for-purpose research question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5233D"/>
                </a:solidFill>
                <a:latin typeface="Calibri Light"/>
              </a:rPr>
              <a:t>—  Assemble the cross-functional team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5233D"/>
                </a:solidFill>
                <a:latin typeface="Calibri Light"/>
              </a:rPr>
              <a:t>—  Make inclusion criteria verifiable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5233D"/>
                </a:solidFill>
                <a:latin typeface="Calibri Light"/>
              </a:rPr>
              <a:t>—  Operationalize into measurable outcomes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5233D"/>
                </a:solidFill>
                <a:latin typeface="Calibri Light"/>
              </a:rPr>
              <a:t>—  Confirm ethics-approval stance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2286000"/>
            <a:ext cx="26974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93592" y="2560320"/>
            <a:ext cx="502920" cy="50292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2560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257860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5233D"/>
                </a:solidFill>
                <a:latin typeface="Calibri"/>
              </a:rPr>
              <a:t>Data 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315468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E8704C"/>
                </a:solidFill>
                <a:latin typeface="Calibri Light"/>
              </a:rPr>
              <a:t>Find the right voices, ethically.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2" y="3703320"/>
            <a:ext cx="2148840" cy="0"/>
          </a:xfrm>
          <a:prstGeom prst="line">
            <a:avLst/>
          </a:prstGeom>
          <a:ln w="9525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93592" y="3886200"/>
            <a:ext cx="22402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5233D"/>
                </a:solidFill>
                <a:latin typeface="Calibri Light"/>
              </a:rPr>
              <a:t>—  Identify suitable public forums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5233D"/>
                </a:solidFill>
                <a:latin typeface="Calibri Light"/>
              </a:rPr>
              <a:t>—  Choose vendor-led vs. in-house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5233D"/>
                </a:solidFill>
                <a:latin typeface="Calibri Light"/>
              </a:rPr>
              <a:t>—  Comply with platform T&amp;Cs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5233D"/>
                </a:solidFill>
                <a:latin typeface="Calibri Light"/>
              </a:rPr>
              <a:t>—  Apply TOMs to protect data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5233D"/>
                </a:solidFill>
                <a:latin typeface="Calibri Light"/>
              </a:rPr>
              <a:t>—  Anonymize before processing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2286000"/>
            <a:ext cx="26974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55664" y="2560320"/>
            <a:ext cx="502920" cy="50292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55664" y="2560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5744" y="257860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5233D"/>
                </a:solidFill>
                <a:latin typeface="Calibri"/>
              </a:rPr>
              <a:t>Algorithm selection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15468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E8704C"/>
                </a:solidFill>
                <a:latin typeface="Calibri Light"/>
              </a:rPr>
              <a:t>Pick the model, prove it works.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55664" y="3703320"/>
            <a:ext cx="2148840" cy="0"/>
          </a:xfrm>
          <a:prstGeom prst="line">
            <a:avLst/>
          </a:prstGeom>
          <a:ln w="9525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55664" y="3886200"/>
            <a:ext cx="22402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5233D"/>
                </a:solidFill>
                <a:latin typeface="Calibri Light"/>
              </a:rPr>
              <a:t>—  Map algorithms to CPEM elements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5233D"/>
                </a:solidFill>
                <a:latin typeface="Calibri Light"/>
              </a:rPr>
              <a:t>—  Identify each author's role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5233D"/>
                </a:solidFill>
                <a:latin typeface="Calibri Light"/>
              </a:rPr>
              <a:t>—  Validate on a held-out test set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5233D"/>
                </a:solidFill>
                <a:latin typeface="Calibri Light"/>
              </a:rPr>
              <a:t>—  Detect and handle fake content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43416" y="2286000"/>
            <a:ext cx="26974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17736" y="2560320"/>
            <a:ext cx="502920" cy="50292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17736" y="2560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7816" y="257860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5233D"/>
                </a:solidFill>
                <a:latin typeface="Calibri"/>
              </a:rPr>
              <a:t>Analysis &amp; 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315468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E8704C"/>
                </a:solidFill>
                <a:latin typeface="Calibri Light"/>
              </a:rPr>
              <a:t>Read the signal, show your work.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17736" y="3703320"/>
            <a:ext cx="2148840" cy="0"/>
          </a:xfrm>
          <a:prstGeom prst="line">
            <a:avLst/>
          </a:prstGeom>
          <a:ln w="9525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317736" y="3886200"/>
            <a:ext cx="22402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5233D"/>
                </a:solidFill>
                <a:latin typeface="Calibri Light"/>
              </a:rPr>
              <a:t>—  Combine quant, qual &amp; descriptive views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5233D"/>
                </a:solidFill>
                <a:latin typeface="Calibri Light"/>
              </a:rPr>
              <a:t>—  Triangulate with claims, EHR or RWE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5233D"/>
                </a:solidFill>
                <a:latin typeface="Calibri Light"/>
              </a:rPr>
              <a:t>—  Report against the POMELO flowchart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ADVECTION  ·  Social Media Listening Proposal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36576" cy="5943600"/>
          </a:xfrm>
          <a:prstGeom prst="rect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E8704C"/>
                </a:solidFill>
                <a:latin typeface="Calibri"/>
              </a:rPr>
              <a:t>PHASE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33D"/>
                </a:solidFill>
                <a:latin typeface="Calibri"/>
              </a:rPr>
              <a:t>Setting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5C6B82"/>
                </a:solidFill>
                <a:latin typeface="Calibri Light"/>
              </a:rPr>
              <a:t>Disciplined framing is what separates a credible study from a curiosity.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286000"/>
            <a:ext cx="457200" cy="45720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40279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5233D"/>
                </a:solidFill>
                <a:latin typeface="Calibri"/>
              </a:rPr>
              <a:t>Define a fit-for-purpose 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7860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C6B82"/>
                </a:solidFill>
                <a:latin typeface="Calibri Light"/>
              </a:rPr>
              <a:t>Suitable: disease burden, comorbidities, unmet needs, treatment trade-offs, adherence, switching.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127248"/>
            <a:ext cx="457200" cy="45720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127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81527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5233D"/>
                </a:solidFill>
                <a:latin typeface="Calibri"/>
              </a:rPr>
              <a:t>Assemble the right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41985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C6B82"/>
                </a:solidFill>
                <a:latin typeface="Calibri Light"/>
              </a:rPr>
              <a:t>Data science · disease-area medical · RWE/epidemiology — internal, vendor, or hybrid.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968496"/>
            <a:ext cx="457200" cy="45720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9684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922776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5233D"/>
                </a:solidFill>
                <a:latin typeface="Calibri"/>
              </a:rPr>
              <a:t>Make inclusion criteria self-report-verifiable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26110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C6B82"/>
                </a:solidFill>
                <a:latin typeface="Calibri Light"/>
              </a:rPr>
              <a:t>If patients can't credibly self-report it, SML is the wrong source — or design the criteria around what's observable.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809744"/>
            <a:ext cx="457200" cy="45720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8097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764024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5233D"/>
                </a:solidFill>
                <a:latin typeface="Calibri"/>
              </a:rPr>
              <a:t>Operationalize into measurable 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10235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C6B82"/>
                </a:solidFill>
                <a:latin typeface="Calibri Light"/>
              </a:rPr>
              <a:t>Translate the question into categorical or ordinal variables an algorithm can extract from posts.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5650992"/>
            <a:ext cx="457200" cy="45720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650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60527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5233D"/>
                </a:solidFill>
                <a:latin typeface="Calibri"/>
              </a:rPr>
              <a:t>Confirm ethics-approval stance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943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C6B82"/>
                </a:solidFill>
                <a:latin typeface="Calibri Light"/>
              </a:rPr>
              <a:t>Passive observation of publicly-shared posts typically does not require IRB; closed groups, minors, or interventional designs 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ADVECTION  ·  Social Media Listening Proposal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300">
                <a:solidFill>
                  <a:srgbClr val="E8704C"/>
                </a:solidFill>
                <a:latin typeface="Calibri"/>
              </a:rPr>
              <a:t>THE LENS — CPEM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5233D"/>
                </a:solidFill>
                <a:latin typeface="Calibri"/>
              </a:rPr>
              <a:t>The Conceptual Patient Experience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5233D"/>
                </a:solidFill>
                <a:latin typeface="Calibri"/>
              </a:rPr>
              <a:t>CPEM is to SML what PICO is to clinical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54864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5233D"/>
                </a:solidFill>
                <a:latin typeface="Calibri Light"/>
              </a:rPr>
              <a:t>Five concepts, linked by relations patients actually talk about in posts. We choose extraction algorithms by mapping each algorithm to the CPEM element it codes — so the analytic plan is transparent before any data is collected.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E8704C"/>
                </a:solidFill>
                <a:latin typeface="Calibri"/>
              </a:rPr>
              <a:t>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1">
                <a:solidFill>
                  <a:srgbClr val="5C6B82"/>
                </a:solidFill>
                <a:latin typeface="Calibri Light"/>
              </a:rPr>
              <a:t>affects  ·  is diagnosed  ·  experiences  ·  impairs  ·  causes  ·  has severity  ·  has importance  ·  uses  ·  alleviates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315200" y="2560320"/>
            <a:ext cx="1828800" cy="1645920"/>
          </a:xfrm>
          <a:prstGeom prst="line">
            <a:avLst/>
          </a:prstGeom>
          <a:ln w="1270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0" y="2560320"/>
            <a:ext cx="0" cy="3108960"/>
          </a:xfrm>
          <a:prstGeom prst="line">
            <a:avLst/>
          </a:prstGeom>
          <a:ln w="1270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0" y="2560320"/>
            <a:ext cx="1828800" cy="1645920"/>
          </a:xfrm>
          <a:prstGeom prst="line">
            <a:avLst/>
          </a:prstGeom>
          <a:ln w="1270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4206240"/>
            <a:ext cx="1828800" cy="1463040"/>
          </a:xfrm>
          <a:prstGeom prst="line">
            <a:avLst/>
          </a:prstGeom>
          <a:ln w="1270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206240"/>
            <a:ext cx="1828800" cy="0"/>
          </a:xfrm>
          <a:prstGeom prst="line">
            <a:avLst/>
          </a:prstGeom>
          <a:ln w="1270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144000" y="4206240"/>
            <a:ext cx="0" cy="1463040"/>
          </a:xfrm>
          <a:prstGeom prst="line">
            <a:avLst/>
          </a:prstGeom>
          <a:ln w="1270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144000" y="4206240"/>
            <a:ext cx="1828800" cy="1463040"/>
          </a:xfrm>
          <a:prstGeom prst="line">
            <a:avLst/>
          </a:prstGeom>
          <a:ln w="1270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144000" y="4206240"/>
            <a:ext cx="1828800" cy="0"/>
          </a:xfrm>
          <a:prstGeom prst="line">
            <a:avLst/>
          </a:prstGeom>
          <a:ln w="1270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2560320"/>
            <a:ext cx="0" cy="1645920"/>
          </a:xfrm>
          <a:prstGeom prst="line">
            <a:avLst/>
          </a:prstGeom>
          <a:ln w="1270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481060" y="1897379"/>
            <a:ext cx="1325880" cy="132588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81060" y="1897379"/>
            <a:ext cx="132588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Disease</a:t>
            </a:r>
          </a:p>
        </p:txBody>
      </p:sp>
      <p:sp>
        <p:nvSpPr>
          <p:cNvPr id="19" name="Oval 18"/>
          <p:cNvSpPr/>
          <p:nvPr/>
        </p:nvSpPr>
        <p:spPr>
          <a:xfrm>
            <a:off x="6652260" y="3543299"/>
            <a:ext cx="1325880" cy="1325880"/>
          </a:xfrm>
          <a:prstGeom prst="ellipse">
            <a:avLst/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52260" y="3543299"/>
            <a:ext cx="132588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4EFE6"/>
                </a:solidFill>
                <a:latin typeface="Calibri"/>
              </a:rPr>
              <a:t>Patient</a:t>
            </a:r>
          </a:p>
        </p:txBody>
      </p:sp>
      <p:sp>
        <p:nvSpPr>
          <p:cNvPr id="21" name="Oval 20"/>
          <p:cNvSpPr/>
          <p:nvPr/>
        </p:nvSpPr>
        <p:spPr>
          <a:xfrm>
            <a:off x="8481060" y="5006340"/>
            <a:ext cx="1325880" cy="1325880"/>
          </a:xfrm>
          <a:prstGeom prst="ellipse">
            <a:avLst/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81060" y="5006340"/>
            <a:ext cx="132588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4EFE6"/>
                </a:solidFill>
                <a:latin typeface="Calibri"/>
              </a:rPr>
              <a:t>Symptom</a:t>
            </a:r>
          </a:p>
        </p:txBody>
      </p:sp>
      <p:sp>
        <p:nvSpPr>
          <p:cNvPr id="23" name="Oval 22"/>
          <p:cNvSpPr/>
          <p:nvPr/>
        </p:nvSpPr>
        <p:spPr>
          <a:xfrm>
            <a:off x="10309860" y="3543299"/>
            <a:ext cx="1325880" cy="1325880"/>
          </a:xfrm>
          <a:prstGeom prst="ellipse">
            <a:avLst/>
          </a:prstGeom>
          <a:solidFill>
            <a:srgbClr val="A8B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09860" y="3543299"/>
            <a:ext cx="132588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5233D"/>
                </a:solidFill>
                <a:latin typeface="Calibri"/>
              </a:rPr>
              <a:t>Treatment</a:t>
            </a:r>
          </a:p>
        </p:txBody>
      </p:sp>
      <p:sp>
        <p:nvSpPr>
          <p:cNvPr id="25" name="Oval 24"/>
          <p:cNvSpPr/>
          <p:nvPr/>
        </p:nvSpPr>
        <p:spPr>
          <a:xfrm>
            <a:off x="8618220" y="3680459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18220" y="3680459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15233D"/>
                </a:solidFill>
                <a:latin typeface="Calibri"/>
              </a:rPr>
              <a:t>QoL</a:t>
            </a:r>
          </a:p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15233D"/>
                </a:solidFill>
                <a:latin typeface="Calibri"/>
              </a:rPr>
              <a:t>Facet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ADVECTION  ·  Social Media Listening Proposal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36576" cy="5943600"/>
          </a:xfrm>
          <a:prstGeom prst="rect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E8704C"/>
                </a:solidFill>
                <a:latin typeface="Calibri"/>
              </a:rPr>
              <a:t>PHASE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33D"/>
                </a:solidFill>
                <a:latin typeface="Calibri"/>
              </a:rPr>
              <a:t>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5C6B82"/>
                </a:solidFill>
                <a:latin typeface="Calibri Light"/>
              </a:rPr>
              <a:t>Find the right voices in the right places — without ever compromising on consent or compliance.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286000"/>
            <a:ext cx="457200" cy="45720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40279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5233D"/>
                </a:solidFill>
                <a:latin typeface="Calibri"/>
              </a:rPr>
              <a:t>Identify suitable public online forums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7860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C6B82"/>
                </a:solidFill>
                <a:latin typeface="Calibri Light"/>
              </a:rPr>
              <a:t>Iterative keyword search across networks, communities, support forums. In the Pistoia diabetes case study: 32 forums included after manual relevance screening.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127248"/>
            <a:ext cx="457200" cy="45720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127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81527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5233D"/>
                </a:solidFill>
                <a:latin typeface="Calibri"/>
              </a:rPr>
              <a:t>Choose vendor-led vs. in-house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41985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C6B82"/>
                </a:solidFill>
                <a:latin typeface="Calibri Light"/>
              </a:rPr>
              <a:t>Vendor selection criteria: API availability, anonymization, retrospective access, GDPR/HIPAA/PIPL compliance, volume limits, coverage transparency.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968496"/>
            <a:ext cx="457200" cy="45720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9684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922776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5233D"/>
                </a:solidFill>
                <a:latin typeface="Calibri"/>
              </a:rPr>
              <a:t>Comply with each platform's terms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26110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C6B82"/>
                </a:solidFill>
                <a:latin typeface="Calibri Light"/>
              </a:rPr>
              <a:t>Licensing, fair-use research carve-outs, automated-access clauses, and AI-training restrictions. Record the T&amp;Cs as they stood at collection.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809744"/>
            <a:ext cx="457200" cy="45720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8097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764024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5233D"/>
                </a:solidFill>
                <a:latin typeface="Calibri"/>
              </a:rPr>
              <a:t>Apply Technical &amp; Organizational Measures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10235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C6B82"/>
                </a:solidFill>
                <a:latin typeface="Calibri Light"/>
              </a:rPr>
              <a:t>Role-based access, encryption, logging, retention windows, vendor due diligence, incident response, DPO oversight.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5650992"/>
            <a:ext cx="457200" cy="45720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650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60527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5233D"/>
                </a:solidFill>
                <a:latin typeface="Calibri"/>
              </a:rPr>
              <a:t>Anonymize before any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943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C6B82"/>
                </a:solidFill>
                <a:latin typeface="Calibri Light"/>
              </a:rPr>
              <a:t>Names, IDs, emails, phone numbers and addresses are removed up-front — anonymization is a prerequisite, not a downstream safeguard.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ADVECTION  ·  Social Media Listening Proposal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36576" cy="5943600"/>
          </a:xfrm>
          <a:prstGeom prst="rect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E8704C"/>
                </a:solidFill>
                <a:latin typeface="Calibri"/>
              </a:rPr>
              <a:t>PHASE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33D"/>
                </a:solidFill>
                <a:latin typeface="Calibri"/>
              </a:rPr>
              <a:t>Algorithm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5C6B82"/>
                </a:solidFill>
                <a:latin typeface="Calibri Light"/>
              </a:rPr>
              <a:t>Every model is a hypothesis. We validate ours before we trust them.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350008"/>
            <a:ext cx="457200" cy="45720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3500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86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5233D"/>
                </a:solidFill>
                <a:latin typeface="Calibri"/>
              </a:rPr>
              <a:t>Match algorithms to CPEM elements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6974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C6B82"/>
                </a:solidFill>
                <a:latin typeface="Calibri Light"/>
              </a:rPr>
              <a:t>Supervised ML · rule-based · fine-tuned LMs · unsupervised topic modeling — chosen per extraction task.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310128"/>
            <a:ext cx="457200" cy="45720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3101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46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5233D"/>
                </a:solidFill>
                <a:latin typeface="Calibri"/>
              </a:rPr>
              <a:t>Identify each author's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65760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C6B82"/>
                </a:solidFill>
                <a:latin typeface="Calibri Light"/>
              </a:rPr>
              <a:t>Patient · caregiver · HCP · family member. Often a supervised classifier — the diabetes case study used exactly this approach.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270248"/>
            <a:ext cx="457200" cy="45720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270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2062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5233D"/>
                </a:solidFill>
                <a:latin typeface="Calibri"/>
              </a:rPr>
              <a:t>Assess performance on a held-out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6177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C6B82"/>
                </a:solidFill>
                <a:latin typeface="Calibri Light"/>
              </a:rPr>
              <a:t>Standard ML metrics (precision, recall, F-measure) and clinical analogues (sensitivity, specificity) on data the model has never seen.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5230368"/>
            <a:ext cx="457200" cy="45720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2303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1663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5233D"/>
                </a:solidFill>
                <a:latin typeface="Calibri"/>
              </a:rPr>
              <a:t>Detect and handle fake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57784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C6B82"/>
                </a:solidFill>
                <a:latin typeface="Calibri Light"/>
              </a:rPr>
              <a:t>Filter outliers: very-short or very-long posts, abnormally high post frequency, duplicates, automated advertisements. Review, separate, filter or exclude.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ADVECTION  ·  Social Media Listening Proposal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36576" cy="5943600"/>
          </a:xfrm>
          <a:prstGeom prst="rect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E8704C"/>
                </a:solidFill>
                <a:latin typeface="Calibri"/>
              </a:rPr>
              <a:t>PHASE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33D"/>
                </a:solidFill>
                <a:latin typeface="Calibri"/>
              </a:rPr>
              <a:t>Analysis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5C6B82"/>
                </a:solidFill>
                <a:latin typeface="Calibri Light"/>
              </a:rPr>
              <a:t>Make the findings legible, reproducible, and ready to triangulate.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4027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5233D"/>
                </a:solidFill>
                <a:latin typeface="Calibri"/>
              </a:rPr>
              <a:t>Combine descriptive, qualitative &amp; quantitative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6974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C6B82"/>
                </a:solidFill>
                <a:latin typeface="Calibri Light"/>
              </a:rPr>
              <a:t>Descriptive statistics on coded variables · LLM-driven qualitative summaries · hypothesis tests (Chi-square, Fisher, Mann-Whitney, Spearman).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28999"/>
            <a:ext cx="457200" cy="45720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42899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3755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5233D"/>
                </a:solidFill>
                <a:latin typeface="Calibri"/>
              </a:rPr>
              <a:t>Triangulate with adjacent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794759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C6B82"/>
                </a:solidFill>
                <a:latin typeface="Calibri Light"/>
              </a:rPr>
              <a:t>Compare against published literature, claims, EHR or registry data. Mixed-methods designs strengthen confidence in findings.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526280"/>
            <a:ext cx="457200" cy="45720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4348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5233D"/>
                </a:solidFill>
                <a:latin typeface="Calibri"/>
              </a:rPr>
              <a:t>Report against the published flowchart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89204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C6B82"/>
                </a:solidFill>
                <a:latin typeface="Calibri Light"/>
              </a:rPr>
              <a:t>Inclusion criteria · observation window · forums included/excluded · algorithm definitions and quality metrics · demographic composition · statistical tests.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5632704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F4EFE6"/>
                </a:solidFill>
                <a:latin typeface="Calibri Light"/>
              </a:rPr>
              <a:t>Output: a study record that an external reviewer — or a regulator — could reconstruct end-to-end.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ADVECTION  ·  Social Media Listening Proposal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300">
                <a:solidFill>
                  <a:srgbClr val="E8704C"/>
                </a:solidFill>
                <a:latin typeface="Calibri"/>
              </a:rPr>
              <a:t>PROPOSED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5233D"/>
                </a:solidFill>
                <a:latin typeface="Calibri"/>
              </a:rPr>
              <a:t>An SML study built around the EYLEA franchise.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04C"/>
                </a:solidFill>
                <a:latin typeface="Calibri"/>
              </a:rPr>
              <a:t>RESEARCH QUESTIONS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514600"/>
            <a:ext cx="320040" cy="32004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5303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5233D"/>
                </a:solidFill>
                <a:latin typeface="Calibri Light"/>
              </a:rPr>
              <a:t>What symptoms and visual-function impacts do wet AMD and DME patients describe — and how severe do they perceive them to be?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566160"/>
            <a:ext cx="320040" cy="32004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5303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5233D"/>
                </a:solidFill>
                <a:latin typeface="Calibri Light"/>
              </a:rPr>
              <a:t>How do treatment-burden factors (injection frequency, clinic visits, caregiver dependence) shape patient sentiment and switching behavior?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4617720"/>
            <a:ext cx="320040" cy="320040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5303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5233D"/>
                </a:solidFill>
                <a:latin typeface="Calibri Light"/>
              </a:rPr>
              <a:t>What unmet needs and trade-offs surface in patient conversation that current PRO instruments do not capture?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103120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0" y="21762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E8704C"/>
                </a:solidFill>
                <a:latin typeface="Calibri"/>
              </a:rPr>
              <a:t>INDICATIONS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4231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5233D"/>
                </a:solidFill>
                <a:latin typeface="Calibri Light"/>
              </a:rPr>
              <a:t>Wet AMD · DME · RVO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5233D"/>
                </a:solidFill>
                <a:latin typeface="Calibri Light"/>
              </a:rPr>
              <a:t>(EYLEA-relevant retina franchise)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944368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3017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E8704C"/>
                </a:solidFill>
                <a:latin typeface="Calibri"/>
              </a:rPr>
              <a:t>LANGUAGES &amp; GEOS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26440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5233D"/>
                </a:solidFill>
                <a:latin typeface="Calibri Light"/>
              </a:rPr>
              <a:t>English-language posts in the US, with optional ES/DE add-ons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3785615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38587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E8704C"/>
                </a:solidFill>
                <a:latin typeface="Calibri"/>
              </a:rPr>
              <a:t>OBSERVATION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105655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5233D"/>
                </a:solidFill>
                <a:latin typeface="Calibri Light"/>
              </a:rPr>
              <a:t>24 months retrospective, with 6 months of rolling collection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4626864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0" y="47000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E8704C"/>
                </a:solidFill>
                <a:latin typeface="Calibri"/>
              </a:rPr>
              <a:t>FORUMS (TARGET)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946903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5233D"/>
                </a:solidFill>
                <a:latin typeface="Calibri Light"/>
              </a:rPr>
              <a:t>20–40 patient communities, support forums, and major networks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5468112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0" y="55412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E8704C"/>
                </a:solidFill>
                <a:latin typeface="Calibri"/>
              </a:rPr>
              <a:t>CPEM 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788151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5233D"/>
                </a:solidFill>
                <a:latin typeface="Calibri Light"/>
              </a:rPr>
              <a:t>Disease ↔ Symptom · Treatment ↔ QoL Facet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ADVECTION  ·  Social Media Listening Proposal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300">
                <a:solidFill>
                  <a:srgbClr val="E8704C"/>
                </a:solidFill>
                <a:latin typeface="Calibri"/>
              </a:rPr>
              <a:t>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33D"/>
                </a:solidFill>
                <a:latin typeface="Calibri"/>
              </a:rPr>
              <a:t>What Regeneron receives.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4884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" y="2423160"/>
            <a:ext cx="164592" cy="164592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313432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5233D"/>
                </a:solidFill>
                <a:latin typeface="Calibri"/>
              </a:rPr>
              <a:t>Study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C6B82"/>
                </a:solidFill>
                <a:latin typeface="Calibri Light"/>
              </a:rPr>
              <a:t>POMELO-aligned protocol document covering research questions, inclusion criteria, ethics rationale, and the analytic plan.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9272" y="214884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547872" y="2423160"/>
            <a:ext cx="164592" cy="164592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22192" y="2313432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5233D"/>
                </a:solidFill>
                <a:latin typeface="Calibri"/>
              </a:rPr>
              <a:t>CPEM coding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788920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C6B82"/>
                </a:solidFill>
                <a:latin typeface="Calibri Light"/>
              </a:rPr>
              <a:t>Mapping of each CPEM element to the chosen extraction algorithm, with annotated examples.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214884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9944" y="2423160"/>
            <a:ext cx="164592" cy="164592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84264" y="2313432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5233D"/>
                </a:solidFill>
                <a:latin typeface="Calibri"/>
              </a:rPr>
              <a:t>Validation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788920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C6B82"/>
                </a:solidFill>
                <a:latin typeface="Calibri Light"/>
              </a:rPr>
              <a:t>Algorithm performance on held-out data — precision, recall, F-measure, sensitivity, specificity.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43416" y="214884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72016" y="2423160"/>
            <a:ext cx="164592" cy="164592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46336" y="2313432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5233D"/>
                </a:solidFill>
                <a:latin typeface="Calibri"/>
              </a:rPr>
              <a:t>Patient-experience landscape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2788920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C6B82"/>
                </a:solidFill>
                <a:latin typeface="Calibri Light"/>
              </a:rPr>
              <a:t>Descriptive read of symptoms, severity, treatment trade-offs, and unmet needs across the retina population.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5800" y="4389120"/>
            <a:ext cx="164592" cy="164592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279392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5233D"/>
                </a:solidFill>
                <a:latin typeface="Calibri"/>
              </a:rPr>
              <a:t>Quantitative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54880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C6B82"/>
                </a:solidFill>
                <a:latin typeface="Calibri Light"/>
              </a:rPr>
              <a:t>Hypothesis tests, correlations, and sub-group comparisons aligned with the study questions.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9272" y="411480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547872" y="4389120"/>
            <a:ext cx="164592" cy="164592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22192" y="4279392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5233D"/>
                </a:solidFill>
                <a:latin typeface="Calibri"/>
              </a:rPr>
              <a:t>Qualitative narrative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4754880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C6B82"/>
                </a:solidFill>
                <a:latin typeface="Calibri Light"/>
              </a:rPr>
              <a:t>LLM-summarized themes and verbatims — paraphrased to preserve anonymization.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411480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09944" y="4389120"/>
            <a:ext cx="164592" cy="164592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84264" y="4279392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5233D"/>
                </a:solidFill>
                <a:latin typeface="Calibri"/>
              </a:rPr>
              <a:t>Triangulation memo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9944" y="4754880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C6B82"/>
                </a:solidFill>
                <a:latin typeface="Calibri Light"/>
              </a:rPr>
              <a:t>How SML findings sit alongside Regeneron's existing claims, EHR, registry, and PRO data.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43416" y="411480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272016" y="4389120"/>
            <a:ext cx="164592" cy="164592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46336" y="4279392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5233D"/>
                </a:solidFill>
                <a:latin typeface="Calibri"/>
              </a:rPr>
              <a:t>Conference-ready outputs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72016" y="4754880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C6B82"/>
                </a:solidFill>
                <a:latin typeface="Calibri Light"/>
              </a:rPr>
              <a:t>ISPOR-style poster draft, peer-review-ready manuscript outline, internal slide pack.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ADVECTION  ·  Social Media Listening Proposal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46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300">
                <a:solidFill>
                  <a:srgbClr val="E8704C"/>
                </a:solidFill>
                <a:latin typeface="Calibri"/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33D"/>
                </a:solidFill>
                <a:latin typeface="Calibri"/>
              </a:rPr>
              <a:t>Sixteen weeks, four phases, two checkpoints.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51760" y="3200400"/>
            <a:ext cx="9052560" cy="0"/>
          </a:xfrm>
          <a:prstGeom prst="line">
            <a:avLst/>
          </a:prstGeom>
          <a:ln w="9525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0" y="32918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C6B82"/>
                </a:solidFill>
                <a:latin typeface="Calibri"/>
              </a:rP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83354" y="32918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C6B82"/>
                </a:solidFill>
                <a:latin typeface="Calibri"/>
              </a:rPr>
              <a:t>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6494" y="32918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C6B82"/>
                </a:solidFill>
                <a:latin typeface="Calibri"/>
              </a:rPr>
              <a:t>Week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9635" y="32918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C6B82"/>
                </a:solidFill>
                <a:latin typeface="Calibri"/>
              </a:rPr>
              <a:t>Week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29416" y="32918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C6B82"/>
                </a:solidFill>
                <a:latin typeface="Calibri"/>
              </a:rPr>
              <a:t>Week 16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47288"/>
            <a:ext cx="384048" cy="384048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4472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2900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5233D"/>
                </a:solidFill>
                <a:latin typeface="Calibri"/>
              </a:rPr>
              <a:t>Setting 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3474720"/>
            <a:ext cx="1131570" cy="292608"/>
          </a:xfrm>
          <a:prstGeom prst="rect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1760" y="3429000"/>
            <a:ext cx="113157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4EFE6"/>
                </a:solidFill>
                <a:latin typeface="Calibri"/>
              </a:rPr>
              <a:t>W1–W3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950208"/>
            <a:ext cx="384048" cy="384048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9502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3192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5233D"/>
                </a:solidFill>
                <a:latin typeface="Calibri"/>
              </a:rPr>
              <a:t>Data collection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3330" y="3977639"/>
            <a:ext cx="2263140" cy="292608"/>
          </a:xfrm>
          <a:prstGeom prst="rect">
            <a:avLst/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83330" y="3931920"/>
            <a:ext cx="22631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4EFE6"/>
                </a:solidFill>
                <a:latin typeface="Calibri"/>
              </a:rPr>
              <a:t>W3–W7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4453128"/>
            <a:ext cx="384048" cy="384048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4531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4348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5233D"/>
                </a:solidFill>
                <a:latin typeface="Calibri"/>
              </a:rPr>
              <a:t>Algorithm selection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0685" y="4480560"/>
            <a:ext cx="2828925" cy="292608"/>
          </a:xfrm>
          <a:prstGeom prst="rect">
            <a:avLst/>
          </a:prstGeom>
          <a:solidFill>
            <a:srgbClr val="A8B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0685" y="4434840"/>
            <a:ext cx="282892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4EFE6"/>
                </a:solidFill>
                <a:latin typeface="Calibri"/>
              </a:rPr>
              <a:t>W6–W11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" y="4956048"/>
            <a:ext cx="384048" cy="384048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9560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93776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5233D"/>
                </a:solidFill>
                <a:latin typeface="Calibri"/>
              </a:rPr>
              <a:t>Analysis &amp; reporting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43825" y="4983480"/>
            <a:ext cx="3394710" cy="292608"/>
          </a:xfrm>
          <a:prstGeom prst="rect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43825" y="4937760"/>
            <a:ext cx="339471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4EFE6"/>
                </a:solidFill>
                <a:latin typeface="Calibri"/>
              </a:rPr>
              <a:t>W10–W16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77840"/>
            <a:ext cx="10607040" cy="685800"/>
          </a:xfrm>
          <a:prstGeom prst="rect">
            <a:avLst/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669279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E8704C"/>
                </a:solidFill>
                <a:latin typeface="Calibri"/>
              </a:rPr>
              <a:t>CHECKPOINT 01  ·  WEEK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436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4EFE6"/>
                </a:solidFill>
                <a:latin typeface="Calibri Light"/>
              </a:rPr>
              <a:t>Protocol approved · CPEM coding plan locked.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66927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E8704C"/>
                </a:solidFill>
                <a:latin typeface="Calibri"/>
              </a:rPr>
              <a:t>CHECKPOINT 02  ·  WEEK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9436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4EFE6"/>
                </a:solidFill>
                <a:latin typeface="Calibri Light"/>
              </a:rPr>
              <a:t>Algorithms validated · interim read shared.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ADVECTION  ·  Social Media Listening Proposal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46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300">
                <a:solidFill>
                  <a:srgbClr val="E8704C"/>
                </a:solidFill>
                <a:latin typeface="Calibri"/>
              </a:rPr>
              <a:t>GOVERNANCE &amp;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5233D"/>
                </a:solidFill>
                <a:latin typeface="Calibri"/>
              </a:rPr>
              <a:t>Patient protection is the design constraint.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48839"/>
            <a:ext cx="54864" cy="868680"/>
          </a:xfrm>
          <a:prstGeom prst="rect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5233D"/>
                </a:solidFill>
                <a:latin typeface="Calibri"/>
              </a:rPr>
              <a:t>Anonymization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C6B82"/>
                </a:solidFill>
                <a:latin typeface="Calibri Light"/>
              </a:rPr>
              <a:t>Names, IDs, emails, phone numbers and addresses are stripped before any analytic tool sees the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148839"/>
            <a:ext cx="54864" cy="868680"/>
          </a:xfrm>
          <a:prstGeom prst="rect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21031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5233D"/>
                </a:solidFill>
                <a:latin typeface="Calibri"/>
              </a:rPr>
              <a:t>Public-data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487168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C6B82"/>
                </a:solidFill>
                <a:latin typeface="Calibri Light"/>
              </a:rPr>
              <a:t>Only data 'manifestly made public.' Closed groups, minors and vulnerable populations are out of scope unless ethics-approved.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91839"/>
            <a:ext cx="54864" cy="868680"/>
          </a:xfrm>
          <a:prstGeom prst="rect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5233D"/>
                </a:solidFill>
                <a:latin typeface="Calibri"/>
              </a:rPr>
              <a:t>Vendor &amp; TOM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30168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C6B82"/>
                </a:solidFill>
                <a:latin typeface="Calibri Light"/>
              </a:rPr>
              <a:t>Role-based access, encryption in transit and at rest, defined retention, incident response, vendor due-diligence, DPO oversight.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291839"/>
            <a:ext cx="54864" cy="868680"/>
          </a:xfrm>
          <a:prstGeom prst="rect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2461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5233D"/>
                </a:solidFill>
                <a:latin typeface="Calibri"/>
              </a:rPr>
              <a:t>Re-identification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30168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C6B82"/>
                </a:solidFill>
                <a:latin typeface="Calibri Light"/>
              </a:rPr>
              <a:t>Staff with access to non-anonymized data are trained, contractually bound, and explicitly restricted from re-identification.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34840"/>
            <a:ext cx="54864" cy="868680"/>
          </a:xfrm>
          <a:prstGeom prst="rect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3891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5233D"/>
                </a:solidFill>
                <a:latin typeface="Calibri"/>
              </a:rPr>
              <a:t>T&amp;C traceability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73168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C6B82"/>
                </a:solidFill>
                <a:latin typeface="Calibri Light"/>
              </a:rPr>
              <a:t>Each platform's terms are recorded as they stood at collection — licensing, fair-use, AI-training clauses, automated-access posture.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434840"/>
            <a:ext cx="54864" cy="868680"/>
          </a:xfrm>
          <a:prstGeom prst="rect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43891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5233D"/>
                </a:solidFill>
                <a:latin typeface="Calibri"/>
              </a:rPr>
              <a:t>Reporting transparency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773168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C6B82"/>
                </a:solidFill>
                <a:latin typeface="Calibri Light"/>
              </a:rPr>
              <a:t>Inclusion criteria, observation period, forums included and excluded, and algorithm performance are reported in full.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ADVECTION  ·  Social Media Listening Proposal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300">
                <a:solidFill>
                  <a:srgbClr val="E8704C"/>
                </a:solidFill>
                <a:latin typeface="Calibri"/>
              </a:rPr>
              <a:t>WHY ADVECTION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33D"/>
                </a:solidFill>
                <a:latin typeface="Calibri"/>
              </a:rPr>
              <a:t>A boutique HEOR partner — with retina in our DNA.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8704C"/>
                </a:solidFill>
                <a:latin typeface="Calibri"/>
              </a:rPr>
              <a:t>30+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7744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5233D"/>
                </a:solidFill>
                <a:latin typeface="Calibri Light"/>
              </a:rPr>
              <a:t>years combined HEOR &amp; market-access leadership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8704C"/>
                </a:solidFill>
                <a:latin typeface="Calibri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361188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5233D"/>
                </a:solidFill>
                <a:latin typeface="Calibri Light"/>
              </a:rPr>
              <a:t>senior-led — the partners do the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8704C"/>
                </a:solidFill>
                <a:latin typeface="Calibri"/>
              </a:rPr>
              <a:t>4+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484632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5233D"/>
                </a:solidFill>
                <a:latin typeface="Calibri Light"/>
              </a:rPr>
              <a:t>retina launches across BEOVU, LUCENTIS (wet AMD, RVO, DME)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103120"/>
            <a:ext cx="4389120" cy="4114800"/>
          </a:xfrm>
          <a:prstGeom prst="rect">
            <a:avLst/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0" y="22402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04C"/>
                </a:solidFill>
                <a:latin typeface="Calibri"/>
              </a:rPr>
              <a:t>WHAT WE BRING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0" y="2770632"/>
            <a:ext cx="164592" cy="164592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2651760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FE6"/>
                </a:solidFill>
                <a:latin typeface="Calibri"/>
              </a:rPr>
              <a:t>Methodological rigor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944368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3D4C6"/>
                </a:solidFill>
                <a:latin typeface="Calibri Light"/>
              </a:rPr>
              <a:t>Trained as PharmDs with HEOR Master's degrees; fellowships at UW/Bayer and USC/AstraZeneca.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0" y="3639311"/>
            <a:ext cx="164592" cy="164592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520439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FE6"/>
                </a:solidFill>
                <a:latin typeface="Calibri"/>
              </a:rPr>
              <a:t>Retina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813048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3D4C6"/>
                </a:solidFill>
                <a:latin typeface="Calibri Light"/>
              </a:rPr>
              <a:t>Real-world anti-VEGF outcomes, BEOVU safety, wAMD cost-effectiveness, DME and RVO burden-of-illness.</a:t>
            </a:r>
          </a:p>
        </p:txBody>
      </p:sp>
      <p:sp>
        <p:nvSpPr>
          <p:cNvPr id="18" name="Oval 17"/>
          <p:cNvSpPr/>
          <p:nvPr/>
        </p:nvSpPr>
        <p:spPr>
          <a:xfrm>
            <a:off x="7589520" y="4507992"/>
            <a:ext cx="164592" cy="164592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4389120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FE6"/>
                </a:solidFill>
                <a:latin typeface="Calibri"/>
              </a:rPr>
              <a:t>AI-fluent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681728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3D4C6"/>
                </a:solidFill>
                <a:latin typeface="Calibri Light"/>
              </a:rPr>
              <a:t>Co-founder background in computer science applied to NLP, LLMs, and reproducible analytic pipelines.</a:t>
            </a:r>
          </a:p>
        </p:txBody>
      </p:sp>
      <p:sp>
        <p:nvSpPr>
          <p:cNvPr id="21" name="Oval 20"/>
          <p:cNvSpPr/>
          <p:nvPr/>
        </p:nvSpPr>
        <p:spPr>
          <a:xfrm>
            <a:off x="7589520" y="5376672"/>
            <a:ext cx="164592" cy="164592"/>
          </a:xfrm>
          <a:prstGeom prst="ellipse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5257800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FE6"/>
                </a:solidFill>
                <a:latin typeface="Calibri"/>
              </a:rPr>
              <a:t>Pre-launch readiness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550408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3D4C6"/>
                </a:solidFill>
                <a:latin typeface="Calibri Light"/>
              </a:rPr>
              <a:t>From evidence-gap assessment to ISPOR-ready posters and AMCP dossiers.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ADVECTION  ·  Social Media Listening Proposal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300">
                <a:solidFill>
                  <a:srgbClr val="E8704C"/>
                </a:solidFill>
                <a:latin typeface="Calibri"/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233D"/>
                </a:solidFill>
                <a:latin typeface="Calibri"/>
              </a:rPr>
              <a:t>Senior-led — the partners do the work.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03120"/>
            <a:ext cx="1463040" cy="1463040"/>
          </a:xfrm>
          <a:prstGeom prst="ellipse">
            <a:avLst/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46304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E8704C"/>
                </a:solidFill>
                <a:latin typeface="Calibri"/>
              </a:rPr>
              <a:t>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2148839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5233D"/>
                </a:solidFill>
                <a:latin typeface="Calibri"/>
              </a:rPr>
              <a:t>Irwin Tran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651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E8704C"/>
                </a:solidFill>
                <a:latin typeface="Calibri"/>
              </a:rPr>
              <a:t>PharmD, MS  ·  Co-Founder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9718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C6B82"/>
                </a:solidFill>
                <a:latin typeface="Calibri Light"/>
              </a:rPr>
              <a:t>Strategy with empathy.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530352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5233D"/>
                </a:solidFill>
                <a:latin typeface="Calibri Light"/>
              </a:rPr>
              <a:t>Pharmacist and health economist. PharmD from the University of Michigan; HEOR fellowship at USC and AstraZeneca. Two decades of HEOR and market-access leadership across U.S., U.K. and global functions.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2103120"/>
            <a:ext cx="1463040" cy="1463040"/>
          </a:xfrm>
          <a:prstGeom prst="ellipse">
            <a:avLst/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146304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E8704C"/>
                </a:solidFill>
                <a:latin typeface="Calibri"/>
              </a:rPr>
              <a:t>JY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148839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5233D"/>
                </a:solidFill>
                <a:latin typeface="Calibri"/>
              </a:rPr>
              <a:t>Justin Yu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651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E8704C"/>
                </a:solidFill>
                <a:latin typeface="Calibri"/>
              </a:rPr>
              <a:t>PharmD, MS  ·  Co-Founder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9718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C6B82"/>
                </a:solidFill>
                <a:latin typeface="Calibri Light"/>
              </a:rPr>
              <a:t>Where pharma meets engineering.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794760"/>
            <a:ext cx="530352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5233D"/>
                </a:solidFill>
                <a:latin typeface="Calibri Light"/>
              </a:rPr>
              <a:t>USC pharmacy school, HEOR fellowship at Bayer/UW, then nearly six years at Allergan and Novartis. Studied computer science at UC Berkeley before ChatGPT launched — now combines pharma and engineering to execute on technical deliverables and advise on practical AI.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ADVECTION  ·  Social Media Listening 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200">
                <a:solidFill>
                  <a:srgbClr val="5C6B82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36576" cy="5943600"/>
          </a:xfrm>
          <a:prstGeom prst="rect">
            <a:avLst/>
          </a:prstGeom>
          <a:solidFill>
            <a:srgbClr val="E87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F3D4C6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5156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4EFE6"/>
                </a:solidFill>
                <a:latin typeface="Calibri"/>
              </a:rPr>
              <a:t>Let's give your retina patients</a:t>
            </a:r>
          </a:p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4EFE6"/>
                </a:solidFill>
                <a:latin typeface="Calibri"/>
              </a:rPr>
              <a:t>a </a:t>
            </a:r>
            <a:r>
              <a:rPr sz="4800" b="1" i="1">
                <a:solidFill>
                  <a:srgbClr val="E8704C"/>
                </a:solidFill>
                <a:latin typeface="Calibri"/>
              </a:rPr>
              <a:t>structured</a:t>
            </a:r>
            <a:r>
              <a:rPr sz="4800" b="1" i="0">
                <a:solidFill>
                  <a:srgbClr val="F4EFE6"/>
                </a:solidFill>
                <a:latin typeface="Calibri"/>
              </a:rPr>
              <a:t> voice.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251960"/>
            <a:ext cx="3520440" cy="1463040"/>
          </a:xfrm>
          <a:prstGeom prst="rect">
            <a:avLst/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44348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04C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8463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EFE6"/>
                </a:solidFill>
                <a:latin typeface="Calibri"/>
              </a:rPr>
              <a:t>30-min scoping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166360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3D4C6"/>
                </a:solidFill>
                <a:latin typeface="Calibri Light"/>
              </a:rPr>
              <a:t>Confirm indications, geographies, and timing.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4251960"/>
            <a:ext cx="3520440" cy="1463040"/>
          </a:xfrm>
          <a:prstGeom prst="rect">
            <a:avLst/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59" y="44348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04C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48463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EFE6"/>
                </a:solidFill>
                <a:latin typeface="Calibri"/>
              </a:rPr>
              <a:t>Refined protocol &amp; quote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5166360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3D4C6"/>
                </a:solidFill>
                <a:latin typeface="Calibri Light"/>
              </a:rPr>
              <a:t>Two-week turnaround with CPEM coding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4251960"/>
            <a:ext cx="3520440" cy="1463040"/>
          </a:xfrm>
          <a:prstGeom prst="rect">
            <a:avLst/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44348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04C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8463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EFE6"/>
                </a:solidFill>
                <a:latin typeface="Calibri"/>
              </a:rPr>
              <a:t>Kick-off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5166360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3D4C6"/>
                </a:solidFill>
                <a:latin typeface="Calibri Light"/>
              </a:rPr>
              <a:t>Week-one stakeholder alignment and forum scan.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5989320"/>
            <a:ext cx="10561320" cy="0"/>
          </a:xfrm>
          <a:prstGeom prst="line">
            <a:avLst/>
          </a:prstGeom>
          <a:ln w="9525">
            <a:solidFill>
              <a:srgbClr val="E87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6126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00">
                <a:solidFill>
                  <a:srgbClr val="F4EFE6"/>
                </a:solidFill>
                <a:latin typeface="Calibri"/>
              </a:rPr>
              <a:t>info@advection-solutions.com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61264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F3D4C6"/>
                </a:solidFill>
                <a:latin typeface="Calibri Light"/>
              </a:rPr>
              <a:t>Follow us on LinkedIn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2015</Words>
  <Application>Microsoft Macintosh PowerPoint</Application>
  <PresentationFormat>Widescreen</PresentationFormat>
  <Paragraphs>289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Justin Yu</cp:lastModifiedBy>
  <cp:revision>2</cp:revision>
  <dcterms:created xsi:type="dcterms:W3CDTF">2013-01-27T09:14:16Z</dcterms:created>
  <dcterms:modified xsi:type="dcterms:W3CDTF">2026-05-13T20:49:54Z</dcterms:modified>
  <cp:category/>
</cp:coreProperties>
</file>