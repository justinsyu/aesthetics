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95160" y="0"/>
            <a:ext cx="5193792" cy="6858000"/>
          </a:xfrm>
          <a:prstGeom prst="rect">
            <a:avLst/>
          </a:prstGeom>
          <a:solidFill>
            <a:srgbClr val="19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452360" y="685800"/>
            <a:ext cx="3840480" cy="438912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780000">
            <a:off x="7552944" y="758952"/>
            <a:ext cx="3639312" cy="424281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1560000">
            <a:off x="7653528" y="832104"/>
            <a:ext cx="3438144" cy="4096511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 rot="2340000">
            <a:off x="7754112" y="905256"/>
            <a:ext cx="3236976" cy="3950208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 rot="3120000">
            <a:off x="7854696" y="978408"/>
            <a:ext cx="3035808" cy="3803904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 rot="3900000">
            <a:off x="7955280" y="1051560"/>
            <a:ext cx="2834640" cy="365760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 rot="4680000">
            <a:off x="8055864" y="1124712"/>
            <a:ext cx="2633472" cy="351129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58368"/>
            <a:ext cx="12801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00" b="1">
                <a:solidFill>
                  <a:srgbClr val="14747B"/>
                </a:solidFill>
                <a:latin typeface="Consolas"/>
              </a:rPr>
              <a:t>EVIDENCE ATLAS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1078992"/>
            <a:ext cx="5989320" cy="1234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400" b="1">
                <a:solidFill>
                  <a:srgbClr val="1F2226"/>
                </a:solidFill>
                <a:latin typeface="Aptos"/>
              </a:rPr>
              <a:t>Integrated Evidence Generation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487168"/>
            <a:ext cx="534924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50" b="0">
                <a:solidFill>
                  <a:srgbClr val="50565D"/>
                </a:solidFill>
                <a:latin typeface="Aptos"/>
              </a:rPr>
              <a:t>A reusable, brand-adaptable PowerPoint system for mapping evidence, decisions, gaps, and lifecycle execution.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3703320"/>
            <a:ext cx="256032" cy="256032"/>
          </a:xfrm>
          <a:prstGeom prst="ellipse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" y="3753611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3749039"/>
            <a:ext cx="77724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550" b="1">
                <a:solidFill>
                  <a:srgbClr val="7E8489"/>
                </a:solidFill>
                <a:latin typeface="Consolas"/>
              </a:rPr>
              <a:t>STRATEGY</a:t>
            </a:r>
          </a:p>
        </p:txBody>
      </p:sp>
      <p:sp>
        <p:nvSpPr>
          <p:cNvPr id="29" name="Oval 28"/>
          <p:cNvSpPr/>
          <p:nvPr/>
        </p:nvSpPr>
        <p:spPr>
          <a:xfrm>
            <a:off x="1929384" y="3703320"/>
            <a:ext cx="256032" cy="256032"/>
          </a:xfrm>
          <a:prstGeom prst="ellipse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1388" y="3753611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31136" y="3749039"/>
            <a:ext cx="77724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550" b="1">
                <a:solidFill>
                  <a:srgbClr val="7E8489"/>
                </a:solidFill>
                <a:latin typeface="Consolas"/>
              </a:rPr>
              <a:t>NEEDS</a:t>
            </a:r>
          </a:p>
        </p:txBody>
      </p:sp>
      <p:sp>
        <p:nvSpPr>
          <p:cNvPr id="32" name="Oval 31"/>
          <p:cNvSpPr/>
          <p:nvPr/>
        </p:nvSpPr>
        <p:spPr>
          <a:xfrm>
            <a:off x="3081528" y="3703320"/>
            <a:ext cx="256032" cy="256032"/>
          </a:xfrm>
          <a:prstGeom prst="ellipse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13532" y="3753611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749039"/>
            <a:ext cx="77724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550" b="1">
                <a:solidFill>
                  <a:srgbClr val="7E8489"/>
                </a:solidFill>
                <a:latin typeface="Consolas"/>
              </a:rPr>
              <a:t>GAPS</a:t>
            </a:r>
          </a:p>
        </p:txBody>
      </p:sp>
      <p:sp>
        <p:nvSpPr>
          <p:cNvPr id="35" name="Oval 34"/>
          <p:cNvSpPr/>
          <p:nvPr/>
        </p:nvSpPr>
        <p:spPr>
          <a:xfrm>
            <a:off x="4233672" y="3703320"/>
            <a:ext cx="256032" cy="256032"/>
          </a:xfrm>
          <a:prstGeom prst="ellipse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65676" y="3753611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5424" y="3749039"/>
            <a:ext cx="77724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550" b="1">
                <a:solidFill>
                  <a:srgbClr val="7E8489"/>
                </a:solidFill>
                <a:latin typeface="Consolas"/>
              </a:rPr>
              <a:t>ROADMAP</a:t>
            </a:r>
          </a:p>
        </p:txBody>
      </p:sp>
      <p:sp>
        <p:nvSpPr>
          <p:cNvPr id="38" name="Oval 37"/>
          <p:cNvSpPr/>
          <p:nvPr/>
        </p:nvSpPr>
        <p:spPr>
          <a:xfrm>
            <a:off x="5385816" y="3703320"/>
            <a:ext cx="256032" cy="256032"/>
          </a:xfrm>
          <a:prstGeom prst="ellipse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17820" y="3753611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87568" y="3749039"/>
            <a:ext cx="77724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550" b="1">
                <a:solidFill>
                  <a:srgbClr val="7E8489"/>
                </a:solidFill>
                <a:latin typeface="Consolas"/>
              </a:rPr>
              <a:t>CONTROL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5102352"/>
            <a:ext cx="5349240" cy="77724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9808" y="5102352"/>
            <a:ext cx="50292" cy="77724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321808"/>
            <a:ext cx="46634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50" b="1">
                <a:solidFill>
                  <a:srgbClr val="1F2226"/>
                </a:solidFill>
                <a:latin typeface="Aptos"/>
              </a:rPr>
              <a:t>[Product] | [Indication] | [Lifecycle stage] | [Region]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650992"/>
            <a:ext cx="41148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50" b="0">
                <a:solidFill>
                  <a:srgbClr val="7E8489"/>
                </a:solidFill>
                <a:latin typeface="Consolas"/>
              </a:rPr>
              <a:t>Owner: [team]  |  Version: [v0.1]  |  Date: [date]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9792" y="5897880"/>
            <a:ext cx="3291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950" b="0">
                <a:solidFill>
                  <a:srgbClr val="E2E5E1"/>
                </a:solidFill>
                <a:latin typeface="Consolas"/>
              </a:rPr>
              <a:t>Designed as editable PowerPoint objects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Design Tokens: Swap These To Brand The Deck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353312"/>
            <a:ext cx="3840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0565D"/>
                </a:solidFill>
                <a:latin typeface="Aptos"/>
              </a:rPr>
              <a:t>Replace the two accent colors and one risk color with company palette equivalents. The neutral system should remain stable for readability.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148840"/>
            <a:ext cx="658368" cy="658368"/>
          </a:xfrm>
          <a:prstGeom prst="rect">
            <a:avLst/>
          </a:prstGeom>
          <a:solidFill>
            <a:srgbClr val="14747B"/>
          </a:solidFill>
          <a:ln w="698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7048" y="2258568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80" b="1">
                <a:solidFill>
                  <a:srgbClr val="1F2226"/>
                </a:solidFill>
                <a:latin typeface="Consolas"/>
              </a:rPr>
              <a:t>Primary accent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2532888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20" b="0">
                <a:solidFill>
                  <a:srgbClr val="7E8489"/>
                </a:solidFill>
                <a:latin typeface="Consolas"/>
              </a:rPr>
              <a:t>RGB 20,116,123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07208" y="2148840"/>
            <a:ext cx="658368" cy="658368"/>
          </a:xfrm>
          <a:prstGeom prst="rect">
            <a:avLst/>
          </a:prstGeom>
          <a:solidFill>
            <a:srgbClr val="9C8044"/>
          </a:solidFill>
          <a:ln w="698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4448" y="2258568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80" b="1">
                <a:solidFill>
                  <a:srgbClr val="1F2226"/>
                </a:solidFill>
                <a:latin typeface="Consolas"/>
              </a:rPr>
              <a:t>Secondary accent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2532888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20" b="0">
                <a:solidFill>
                  <a:srgbClr val="7E8489"/>
                </a:solidFill>
                <a:latin typeface="Consolas"/>
              </a:rPr>
              <a:t>RGB 156,128,68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64608" y="2148840"/>
            <a:ext cx="658368" cy="658368"/>
          </a:xfrm>
          <a:prstGeom prst="rect">
            <a:avLst/>
          </a:prstGeom>
          <a:solidFill>
            <a:srgbClr val="B0C750"/>
          </a:solidFill>
          <a:ln w="698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41848" y="2258568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80" b="1">
                <a:solidFill>
                  <a:srgbClr val="1F2226"/>
                </a:solidFill>
                <a:latin typeface="Consolas"/>
              </a:rPr>
              <a:t>Signal / positive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2532888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20" b="0">
                <a:solidFill>
                  <a:srgbClr val="7E8489"/>
                </a:solidFill>
                <a:latin typeface="Consolas"/>
              </a:rPr>
              <a:t>RGB 176,199,80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383280"/>
            <a:ext cx="658368" cy="658368"/>
          </a:xfrm>
          <a:prstGeom prst="rect">
            <a:avLst/>
          </a:prstGeom>
          <a:solidFill>
            <a:srgbClr val="B44650"/>
          </a:solidFill>
          <a:ln w="698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27048" y="3493008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80" b="1">
                <a:solidFill>
                  <a:srgbClr val="1F2226"/>
                </a:solidFill>
                <a:latin typeface="Consolas"/>
              </a:rPr>
              <a:t>Risk / urgency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3767328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20" b="0">
                <a:solidFill>
                  <a:srgbClr val="7E8489"/>
                </a:solidFill>
                <a:latin typeface="Consolas"/>
              </a:rPr>
              <a:t>RGB 180,70,80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07208" y="3383280"/>
            <a:ext cx="658368" cy="658368"/>
          </a:xfrm>
          <a:prstGeom prst="rect">
            <a:avLst/>
          </a:prstGeom>
          <a:solidFill>
            <a:srgbClr val="1F2226"/>
          </a:solidFill>
          <a:ln w="698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84448" y="3493008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80" b="1">
                <a:solidFill>
                  <a:srgbClr val="1F2226"/>
                </a:solidFill>
                <a:latin typeface="Consolas"/>
              </a:rPr>
              <a:t>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3767328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20" b="0">
                <a:solidFill>
                  <a:srgbClr val="7E8489"/>
                </a:solidFill>
                <a:latin typeface="Consolas"/>
              </a:rPr>
              <a:t>RGB 31,34,38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64608" y="3383280"/>
            <a:ext cx="658368" cy="658368"/>
          </a:xfrm>
          <a:prstGeom prst="rect">
            <a:avLst/>
          </a:prstGeom>
          <a:solidFill>
            <a:srgbClr val="F8F7F2"/>
          </a:solidFill>
          <a:ln w="698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41848" y="3493008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80" b="1">
                <a:solidFill>
                  <a:srgbClr val="1F2226"/>
                </a:solidFill>
                <a:latin typeface="Consolas"/>
              </a:rPr>
              <a:t>Paper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41848" y="3767328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20" b="0">
                <a:solidFill>
                  <a:srgbClr val="7E8489"/>
                </a:solidFill>
                <a:latin typeface="Consolas"/>
              </a:rPr>
              <a:t>RGB 248,247,242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1325880"/>
            <a:ext cx="4389120" cy="39319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03720" y="1325880"/>
            <a:ext cx="50292" cy="393192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68312" y="1435607"/>
            <a:ext cx="4096511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Visual language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5472" y="1755648"/>
            <a:ext cx="3749039" cy="3108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F2226"/>
                </a:solidFill>
                <a:latin typeface="Aptos"/>
              </a:rPr>
              <a:t>Coordinate rails: orient sections and slide position.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F2226"/>
                </a:solidFill>
                <a:latin typeface="Aptos"/>
              </a:rPr>
              <a:t>Decision pins: identify decisions, gaps, and milestones.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F2226"/>
                </a:solidFill>
                <a:latin typeface="Aptos"/>
              </a:rPr>
              <a:t>Signal bands: encode maturity, urgency, stakeholder relevance, or workstream.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F2226"/>
                </a:solidFill>
                <a:latin typeface="Aptos"/>
              </a:rPr>
              <a:t>Evidence cards: compact fielded modules instead of generic decorative cards.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F2226"/>
                </a:solidFill>
                <a:latin typeface="Aptos"/>
              </a:rPr>
              <a:t>Contour lines: reserved for section dividers and gap/topography slides.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8F7F2"/>
                </a:solidFill>
                <a:latin typeface="Consola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D6DBD8"/>
                </a:solidFill>
                <a:latin typeface="Consolas"/>
              </a:rPr>
              <a:t>03</a:t>
            </a:r>
          </a:p>
        </p:txBody>
      </p:sp>
      <p:sp>
        <p:nvSpPr>
          <p:cNvPr id="16" name="Arc 15"/>
          <p:cNvSpPr/>
          <p:nvPr/>
        </p:nvSpPr>
        <p:spPr>
          <a:xfrm>
            <a:off x="6858000" y="502920"/>
            <a:ext cx="4389120" cy="502920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 rot="780000">
            <a:off x="6958584" y="576072"/>
            <a:ext cx="4187952" cy="488289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 rot="1560000">
            <a:off x="7059168" y="649224"/>
            <a:ext cx="3986783" cy="4736592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 rot="2340000">
            <a:off x="7159752" y="722376"/>
            <a:ext cx="3785615" cy="4590288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 rot="3120000">
            <a:off x="7260336" y="795528"/>
            <a:ext cx="3584448" cy="4443984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 rot="3900000">
            <a:off x="7360920" y="868680"/>
            <a:ext cx="3383279" cy="429768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 rot="4680000">
            <a:off x="7461504" y="941832"/>
            <a:ext cx="3182111" cy="415137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914400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1">
                <a:solidFill>
                  <a:srgbClr val="B0C750"/>
                </a:solidFill>
                <a:latin typeface="Consola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1389888"/>
            <a:ext cx="80467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ptos"/>
              </a:rPr>
              <a:t>Strategy Coordinates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331720"/>
            <a:ext cx="585216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00" b="1">
                <a:solidFill>
                  <a:srgbClr val="DCE0DC"/>
                </a:solidFill>
                <a:latin typeface="Consolas"/>
              </a:rPr>
              <a:t>CONTEXT AND 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2788920"/>
            <a:ext cx="62179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E8EAE6"/>
                </a:solidFill>
                <a:latin typeface="Aptos"/>
              </a:rPr>
              <a:t>Define the decisions, strategy, and value story before building evidence activities.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A1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Executive Evidence Briefing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1417320"/>
            <a:ext cx="3337560" cy="41605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1417320"/>
            <a:ext cx="50292" cy="416052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527048"/>
            <a:ext cx="304495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Priority 1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1828800"/>
            <a:ext cx="256032" cy="256032"/>
          </a:xfrm>
          <a:prstGeom prst="ellipse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3" y="187909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1847088"/>
            <a:ext cx="2286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50" b="1">
                <a:solidFill>
                  <a:srgbClr val="1F2226"/>
                </a:solidFill>
                <a:latin typeface="Aptos"/>
              </a:rPr>
              <a:t>[Strategic evidence priority]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" y="2331720"/>
            <a:ext cx="2606040" cy="6858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2441448"/>
            <a:ext cx="260604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50" b="0">
                <a:solidFill>
                  <a:srgbClr val="7E8489"/>
                </a:solidFill>
                <a:latin typeface="Consolas"/>
              </a:rPr>
              <a:t>gap | action | decision | timing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697480"/>
            <a:ext cx="2697480" cy="2240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69">
                <a:solidFill>
                  <a:srgbClr val="1F2226"/>
                </a:solidFill>
                <a:latin typeface="Aptos"/>
              </a:rPr>
              <a:t>Gap: [top evidence gap]</a:t>
            </a:r>
          </a:p>
          <a:p>
            <a:pPr>
              <a:spcAft>
                <a:spcPts val="300"/>
              </a:spcAft>
            </a:pPr>
            <a:r>
              <a:rPr sz="869">
                <a:solidFill>
                  <a:srgbClr val="1F2226"/>
                </a:solidFill>
                <a:latin typeface="Aptos"/>
              </a:rPr>
              <a:t>Action: [study / analysis / synthesis]</a:t>
            </a:r>
          </a:p>
          <a:p>
            <a:pPr>
              <a:spcAft>
                <a:spcPts val="300"/>
              </a:spcAft>
            </a:pPr>
            <a:r>
              <a:rPr sz="869">
                <a:solidFill>
                  <a:srgbClr val="1F2226"/>
                </a:solidFill>
                <a:latin typeface="Aptos"/>
              </a:rPr>
              <a:t>Decision: [regulatory/access/adoption]</a:t>
            </a:r>
          </a:p>
          <a:p>
            <a:pPr>
              <a:spcAft>
                <a:spcPts val="300"/>
              </a:spcAft>
            </a:pPr>
            <a:r>
              <a:rPr sz="869">
                <a:solidFill>
                  <a:srgbClr val="1F2226"/>
                </a:solidFill>
                <a:latin typeface="Aptos"/>
              </a:rPr>
              <a:t>Timing: [readout and decision window]</a:t>
            </a:r>
          </a:p>
          <a:p>
            <a:pPr>
              <a:spcAft>
                <a:spcPts val="300"/>
              </a:spcAft>
            </a:pPr>
            <a:r>
              <a:rPr sz="869">
                <a:solidFill>
                  <a:srgbClr val="1F2226"/>
                </a:solidFill>
                <a:latin typeface="Aptos"/>
              </a:rPr>
              <a:t>Risk if delayed: [impact]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6552" y="1417320"/>
            <a:ext cx="3337560" cy="41605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6552" y="1417320"/>
            <a:ext cx="50292" cy="416052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81144" y="1527048"/>
            <a:ext cx="304495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Priority 2</a:t>
            </a:r>
          </a:p>
        </p:txBody>
      </p:sp>
      <p:sp>
        <p:nvSpPr>
          <p:cNvPr id="30" name="Oval 29"/>
          <p:cNvSpPr/>
          <p:nvPr/>
        </p:nvSpPr>
        <p:spPr>
          <a:xfrm>
            <a:off x="4617720" y="1828800"/>
            <a:ext cx="256032" cy="256032"/>
          </a:xfrm>
          <a:prstGeom prst="ellipse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9724" y="187909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1847088"/>
            <a:ext cx="2286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50" b="1">
                <a:solidFill>
                  <a:srgbClr val="1F2226"/>
                </a:solidFill>
                <a:latin typeface="Aptos"/>
              </a:rPr>
              <a:t>[Strategic evidence priority]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90872" y="2331720"/>
            <a:ext cx="2606040" cy="6858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90872" y="2441448"/>
            <a:ext cx="260604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50" b="0">
                <a:solidFill>
                  <a:srgbClr val="7E8489"/>
                </a:solidFill>
                <a:latin typeface="Consolas"/>
              </a:rPr>
              <a:t>gap | action | decision | timing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2697480"/>
            <a:ext cx="2697480" cy="2240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69">
                <a:solidFill>
                  <a:srgbClr val="1F2226"/>
                </a:solidFill>
                <a:latin typeface="Aptos"/>
              </a:rPr>
              <a:t>Gap: [top evidence gap]</a:t>
            </a:r>
          </a:p>
          <a:p>
            <a:pPr>
              <a:spcAft>
                <a:spcPts val="300"/>
              </a:spcAft>
            </a:pPr>
            <a:r>
              <a:rPr sz="869">
                <a:solidFill>
                  <a:srgbClr val="1F2226"/>
                </a:solidFill>
                <a:latin typeface="Aptos"/>
              </a:rPr>
              <a:t>Action: [study / analysis / synthesis]</a:t>
            </a:r>
          </a:p>
          <a:p>
            <a:pPr>
              <a:spcAft>
                <a:spcPts val="300"/>
              </a:spcAft>
            </a:pPr>
            <a:r>
              <a:rPr sz="869">
                <a:solidFill>
                  <a:srgbClr val="1F2226"/>
                </a:solidFill>
                <a:latin typeface="Aptos"/>
              </a:rPr>
              <a:t>Decision: [regulatory/access/adoption]</a:t>
            </a:r>
          </a:p>
          <a:p>
            <a:pPr>
              <a:spcAft>
                <a:spcPts val="300"/>
              </a:spcAft>
            </a:pPr>
            <a:r>
              <a:rPr sz="869">
                <a:solidFill>
                  <a:srgbClr val="1F2226"/>
                </a:solidFill>
                <a:latin typeface="Aptos"/>
              </a:rPr>
              <a:t>Timing: [readout and decision window]</a:t>
            </a:r>
          </a:p>
          <a:p>
            <a:pPr>
              <a:spcAft>
                <a:spcPts val="300"/>
              </a:spcAft>
            </a:pPr>
            <a:r>
              <a:rPr sz="869">
                <a:solidFill>
                  <a:srgbClr val="1F2226"/>
                </a:solidFill>
                <a:latin typeface="Aptos"/>
              </a:rPr>
              <a:t>Risk if delayed: [impact]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19871" y="1417320"/>
            <a:ext cx="3337560" cy="41605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19871" y="1417320"/>
            <a:ext cx="50292" cy="4160520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1527048"/>
            <a:ext cx="304495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Priority 3</a:t>
            </a:r>
          </a:p>
        </p:txBody>
      </p:sp>
      <p:sp>
        <p:nvSpPr>
          <p:cNvPr id="39" name="Oval 38"/>
          <p:cNvSpPr/>
          <p:nvPr/>
        </p:nvSpPr>
        <p:spPr>
          <a:xfrm>
            <a:off x="8321040" y="1828800"/>
            <a:ext cx="256032" cy="256032"/>
          </a:xfrm>
          <a:prstGeom prst="ellipse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53044" y="187909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799" y="1847088"/>
            <a:ext cx="2286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50" b="1">
                <a:solidFill>
                  <a:srgbClr val="1F2226"/>
                </a:solidFill>
                <a:latin typeface="Aptos"/>
              </a:rPr>
              <a:t>[Strategic evidence priority]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94192" y="2331720"/>
            <a:ext cx="2606040" cy="68580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2" y="2441448"/>
            <a:ext cx="260604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50" b="0">
                <a:solidFill>
                  <a:srgbClr val="7E8489"/>
                </a:solidFill>
                <a:latin typeface="Consolas"/>
              </a:rPr>
              <a:t>gap | action | decision | timing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2697480"/>
            <a:ext cx="2697480" cy="2240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69">
                <a:solidFill>
                  <a:srgbClr val="1F2226"/>
                </a:solidFill>
                <a:latin typeface="Aptos"/>
              </a:rPr>
              <a:t>Gap: [top evidence gap]</a:t>
            </a:r>
          </a:p>
          <a:p>
            <a:pPr>
              <a:spcAft>
                <a:spcPts val="300"/>
              </a:spcAft>
            </a:pPr>
            <a:r>
              <a:rPr sz="869">
                <a:solidFill>
                  <a:srgbClr val="1F2226"/>
                </a:solidFill>
                <a:latin typeface="Aptos"/>
              </a:rPr>
              <a:t>Action: [study / analysis / synthesis]</a:t>
            </a:r>
          </a:p>
          <a:p>
            <a:pPr>
              <a:spcAft>
                <a:spcPts val="300"/>
              </a:spcAft>
            </a:pPr>
            <a:r>
              <a:rPr sz="869">
                <a:solidFill>
                  <a:srgbClr val="1F2226"/>
                </a:solidFill>
                <a:latin typeface="Aptos"/>
              </a:rPr>
              <a:t>Decision: [regulatory/access/adoption]</a:t>
            </a:r>
          </a:p>
          <a:p>
            <a:pPr>
              <a:spcAft>
                <a:spcPts val="300"/>
              </a:spcAft>
            </a:pPr>
            <a:r>
              <a:rPr sz="869">
                <a:solidFill>
                  <a:srgbClr val="1F2226"/>
                </a:solidFill>
                <a:latin typeface="Aptos"/>
              </a:rPr>
              <a:t>Timing: [readout and decision window]</a:t>
            </a:r>
          </a:p>
          <a:p>
            <a:pPr>
              <a:spcAft>
                <a:spcPts val="300"/>
              </a:spcAft>
            </a:pPr>
            <a:r>
              <a:rPr sz="869">
                <a:solidFill>
                  <a:srgbClr val="1F2226"/>
                </a:solidFill>
                <a:latin typeface="Aptos"/>
              </a:rPr>
              <a:t>Risk if delayed: [impact]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A2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Decision 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8368" y="1298448"/>
          <a:ext cx="1065275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965960"/>
                <a:gridCol w="3749039"/>
                <a:gridCol w="1188720"/>
                <a:gridCol w="1417320"/>
              </a:tblGrid>
              <a:tr h="627017">
                <a:tc>
                  <a:txBody>
                    <a:bodyPr anchor="ctr"/>
                    <a:lstStyle/>
                    <a:p>
                      <a:r>
                        <a:t>Decision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Recommendation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Basis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Owner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Deadline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</a:tr>
              <a:tr h="627017">
                <a:tc>
                  <a:txBody>
                    <a:bodyPr anchor="ctr"/>
                    <a:lstStyle/>
                    <a:p>
                      <a:r>
                        <a:t>[Approve priority gap list]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[Approve/revise]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[Rationale and supporting evidence]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627017">
                <a:tc>
                  <a:txBody>
                    <a:bodyPr anchor="ctr"/>
                    <a:lstStyle/>
                    <a:p>
                      <a:r>
                        <a:t>[Fund priority activity]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[Approve/defer]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value and risk of inaction]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627017">
                <a:tc>
                  <a:txBody>
                    <a:bodyPr anchor="ctr"/>
                    <a:lstStyle/>
                    <a:p>
                      <a:r>
                        <a:t>[Select design option]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[Option A/B]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[Credibility, timing, feasibility]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627017">
                <a:tc>
                  <a:txBody>
                    <a:bodyPr anchor="ctr"/>
                    <a:lstStyle/>
                    <a:p>
                      <a:r>
                        <a:t>[Resolve local need]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[Global/local split]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 reuse vs local gap]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627017">
                <a:tc>
                  <a:txBody>
                    <a:bodyPr anchor="ctr"/>
                    <a:lstStyle/>
                    <a:p>
                      <a:r>
                        <a:t>[Confirm governance]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[RACI/cadence]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[Execution accountability]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627018">
                <a:tc>
                  <a:txBody>
                    <a:bodyPr anchor="ctr"/>
                    <a:lstStyle/>
                    <a:p>
                      <a:r>
                        <a:t>[Other]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[Recommendation]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[Basis]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8F7F2"/>
                </a:solidFill>
                <a:latin typeface="Consola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D6DBD8"/>
                </a:solidFill>
                <a:latin typeface="Consolas"/>
              </a:rPr>
              <a:t>06</a:t>
            </a:r>
          </a:p>
        </p:txBody>
      </p:sp>
      <p:sp>
        <p:nvSpPr>
          <p:cNvPr id="16" name="Arc 15"/>
          <p:cNvSpPr/>
          <p:nvPr/>
        </p:nvSpPr>
        <p:spPr>
          <a:xfrm>
            <a:off x="6858000" y="502920"/>
            <a:ext cx="4389120" cy="502920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 rot="780000">
            <a:off x="6958584" y="576072"/>
            <a:ext cx="4187952" cy="488289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 rot="1560000">
            <a:off x="7059168" y="649224"/>
            <a:ext cx="3986783" cy="4736592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 rot="2340000">
            <a:off x="7159752" y="722376"/>
            <a:ext cx="3785615" cy="4590288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 rot="3120000">
            <a:off x="7260336" y="795528"/>
            <a:ext cx="3584448" cy="4443984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 rot="3900000">
            <a:off x="7360920" y="868680"/>
            <a:ext cx="3383279" cy="429768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 rot="4680000">
            <a:off x="7461504" y="941832"/>
            <a:ext cx="3182111" cy="415137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914400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1">
                <a:solidFill>
                  <a:srgbClr val="B0C750"/>
                </a:solidFill>
                <a:latin typeface="Consolas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1389888"/>
            <a:ext cx="80467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ptos"/>
              </a:rPr>
              <a:t>Asset And Value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331720"/>
            <a:ext cx="585216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00" b="1">
                <a:solidFill>
                  <a:srgbClr val="DCE0DC"/>
                </a:solidFill>
                <a:latin typeface="Consolas"/>
              </a:rPr>
              <a:t>ASSET FRAMING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2788920"/>
            <a:ext cx="62179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E8EAE6"/>
                </a:solidFill>
                <a:latin typeface="Aptos"/>
              </a:rPr>
              <a:t>Document the asset, value narrative, milestones, and decision windows that govern evidence needs.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B1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Asset Coordinate Sheet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1371600"/>
            <a:ext cx="3246120" cy="14173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1371600"/>
            <a:ext cx="50292" cy="141732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481328"/>
            <a:ext cx="29535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Asset / MoA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1874519"/>
            <a:ext cx="25603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>
                <a:solidFill>
                  <a:srgbClr val="50565D"/>
                </a:solidFill>
                <a:latin typeface="Aptos"/>
              </a:rPr>
              <a:t>[name, mechanism, modality]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1371600"/>
            <a:ext cx="3246120" cy="14173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1371600"/>
            <a:ext cx="50292" cy="141732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1481328"/>
            <a:ext cx="29535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Population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1874519"/>
            <a:ext cx="25603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>
                <a:solidFill>
                  <a:srgbClr val="50565D"/>
                </a:solidFill>
                <a:latin typeface="Aptos"/>
              </a:rPr>
              <a:t>[indication, line, biomarker]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8431" y="1371600"/>
            <a:ext cx="3246120" cy="14173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431" y="1371600"/>
            <a:ext cx="50292" cy="1417320"/>
          </a:xfrm>
          <a:prstGeom prst="rect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3" y="1481328"/>
            <a:ext cx="29535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Lifecycle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1874519"/>
            <a:ext cx="25603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>
                <a:solidFill>
                  <a:srgbClr val="50565D"/>
                </a:solidFill>
                <a:latin typeface="Aptos"/>
              </a:rPr>
              <a:t>[stage and decision horizon]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337560"/>
            <a:ext cx="3246120" cy="14173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3337560"/>
            <a:ext cx="50292" cy="141732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447288"/>
            <a:ext cx="29535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Geography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840479"/>
            <a:ext cx="25603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>
                <a:solidFill>
                  <a:srgbClr val="50565D"/>
                </a:solidFill>
                <a:latin typeface="Aptos"/>
              </a:rPr>
              <a:t>[global and priority markets]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0832" y="3337560"/>
            <a:ext cx="3246120" cy="14173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0832" y="3337560"/>
            <a:ext cx="50292" cy="141732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35424" y="3447288"/>
            <a:ext cx="29535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TPP / TVP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0288" y="3840479"/>
            <a:ext cx="25603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>
                <a:solidFill>
                  <a:srgbClr val="50565D"/>
                </a:solidFill>
                <a:latin typeface="Aptos"/>
              </a:rPr>
              <a:t>[clinical and value targets]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28431" y="3337560"/>
            <a:ext cx="3246120" cy="14173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28431" y="3337560"/>
            <a:ext cx="50292" cy="1417320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93023" y="3447288"/>
            <a:ext cx="29535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Decision windows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3840479"/>
            <a:ext cx="25603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>
                <a:solidFill>
                  <a:srgbClr val="50565D"/>
                </a:solidFill>
                <a:latin typeface="Aptos"/>
              </a:rPr>
              <a:t>[regulatory, access, launch, guideline]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B2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Value Story Evidence Spine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1828800"/>
            <a:ext cx="256032" cy="256032"/>
          </a:xfrm>
          <a:prstGeom prst="ellipse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" y="187909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240280"/>
            <a:ext cx="1143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1">
                <a:solidFill>
                  <a:srgbClr val="1F2226"/>
                </a:solidFill>
                <a:latin typeface="Consolas"/>
              </a:rPr>
              <a:t>Value driver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651760"/>
            <a:ext cx="1600200" cy="14173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651760"/>
            <a:ext cx="50292" cy="141732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2944368"/>
            <a:ext cx="12344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60">
                <a:solidFill>
                  <a:srgbClr val="50565D"/>
                </a:solidFill>
                <a:latin typeface="Aptos"/>
              </a:rPr>
              <a:t>[replace with product-specific content]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16152" y="1956816"/>
            <a:ext cx="1664208" cy="0"/>
          </a:xfrm>
          <a:prstGeom prst="line">
            <a:avLst/>
          </a:prstGeom>
          <a:ln w="13970">
            <a:solidFill>
              <a:srgbClr val="D6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063239" y="1828800"/>
            <a:ext cx="256032" cy="256032"/>
          </a:xfrm>
          <a:prstGeom prst="ellipse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5244" y="187909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799" y="2240280"/>
            <a:ext cx="1143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1">
                <a:solidFill>
                  <a:srgbClr val="1F2226"/>
                </a:solidFill>
                <a:latin typeface="Consolas"/>
              </a:rPr>
              <a:t>Evidence required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199" y="2651760"/>
            <a:ext cx="1600200" cy="14173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199" y="2651760"/>
            <a:ext cx="50292" cy="141732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98647" y="2944368"/>
            <a:ext cx="12344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60">
                <a:solidFill>
                  <a:srgbClr val="50565D"/>
                </a:solidFill>
                <a:latin typeface="Aptos"/>
              </a:rPr>
              <a:t>[replace with product-specific content]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319272" y="1956816"/>
            <a:ext cx="1664207" cy="0"/>
          </a:xfrm>
          <a:prstGeom prst="line">
            <a:avLst/>
          </a:prstGeom>
          <a:ln w="13970">
            <a:solidFill>
              <a:srgbClr val="D6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166359" y="1828800"/>
            <a:ext cx="256032" cy="256032"/>
          </a:xfrm>
          <a:prstGeom prst="ellipse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8364" y="187909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2240280"/>
            <a:ext cx="1143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1">
                <a:solidFill>
                  <a:srgbClr val="1F2226"/>
                </a:solidFill>
                <a:latin typeface="Consolas"/>
              </a:rPr>
              <a:t>Current support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2651760"/>
            <a:ext cx="1600200" cy="14173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46320" y="2651760"/>
            <a:ext cx="50292" cy="1417320"/>
          </a:xfrm>
          <a:prstGeom prst="rect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1768" y="2944368"/>
            <a:ext cx="12344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60">
                <a:solidFill>
                  <a:srgbClr val="50565D"/>
                </a:solidFill>
                <a:latin typeface="Aptos"/>
              </a:rPr>
              <a:t>[replace with product-specific content]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22392" y="1956816"/>
            <a:ext cx="1664208" cy="0"/>
          </a:xfrm>
          <a:prstGeom prst="line">
            <a:avLst/>
          </a:prstGeom>
          <a:ln w="13970">
            <a:solidFill>
              <a:srgbClr val="D6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269479" y="1828800"/>
            <a:ext cx="256032" cy="256032"/>
          </a:xfrm>
          <a:prstGeom prst="ellipse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01483" y="187909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2240280"/>
            <a:ext cx="1143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1">
                <a:solidFill>
                  <a:srgbClr val="1F2226"/>
                </a:solidFill>
                <a:latin typeface="Consolas"/>
              </a:rPr>
              <a:t>Gap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2651760"/>
            <a:ext cx="1600200" cy="14173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49440" y="2651760"/>
            <a:ext cx="50292" cy="1417320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04888" y="2944368"/>
            <a:ext cx="12344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60">
                <a:solidFill>
                  <a:srgbClr val="50565D"/>
                </a:solidFill>
                <a:latin typeface="Aptos"/>
              </a:rPr>
              <a:t>[replace with product-specific content]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25511" y="1956816"/>
            <a:ext cx="1664208" cy="0"/>
          </a:xfrm>
          <a:prstGeom prst="line">
            <a:avLst/>
          </a:prstGeom>
          <a:ln w="13970">
            <a:solidFill>
              <a:srgbClr val="D6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9372600" y="1828800"/>
            <a:ext cx="256032" cy="256032"/>
          </a:xfrm>
          <a:prstGeom prst="ellipse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04604" y="187909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2240280"/>
            <a:ext cx="1143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00" b="1">
                <a:solidFill>
                  <a:srgbClr val="1F2226"/>
                </a:solidFill>
                <a:latin typeface="Consolas"/>
              </a:rPr>
              <a:t>Tactic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2560" y="2651760"/>
            <a:ext cx="1600200" cy="14173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52560" y="2651760"/>
            <a:ext cx="50292" cy="141732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08008" y="2944368"/>
            <a:ext cx="12344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60">
                <a:solidFill>
                  <a:srgbClr val="50565D"/>
                </a:solidFill>
                <a:latin typeface="Aptos"/>
              </a:rPr>
              <a:t>[replace with product-specific content]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4846320"/>
            <a:ext cx="10515600" cy="64008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" y="4846320"/>
            <a:ext cx="50292" cy="64008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" y="4956048"/>
            <a:ext cx="1022299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Narrative test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5084064"/>
            <a:ext cx="99669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150" b="1">
                <a:solidFill>
                  <a:srgbClr val="1F2226"/>
                </a:solidFill>
                <a:latin typeface="Aptos"/>
              </a:rPr>
              <a:t>Can each external-facing value message be traced to a source-backed evidence package or a funded evidence activity?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B3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Milestone 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2880360"/>
            <a:ext cx="9875520" cy="22860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2743200"/>
            <a:ext cx="256032" cy="256032"/>
          </a:xfrm>
          <a:prstGeom prst="ellipse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3563" y="279349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2286000"/>
            <a:ext cx="822960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20" b="1">
                <a:solidFill>
                  <a:srgbClr val="1F2226"/>
                </a:solidFill>
                <a:latin typeface="Consolas"/>
              </a:rPr>
              <a:t>Readout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" y="3291840"/>
            <a:ext cx="1143000" cy="91440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" y="3291840"/>
            <a:ext cx="50292" cy="91440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39" y="3493008"/>
            <a:ext cx="914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710">
                <a:solidFill>
                  <a:srgbClr val="50565D"/>
                </a:solidFill>
                <a:latin typeface="Aptos"/>
              </a:rPr>
              <a:t>[Evidence required before milestone]</a:t>
            </a:r>
          </a:p>
        </p:txBody>
      </p:sp>
      <p:sp>
        <p:nvSpPr>
          <p:cNvPr id="25" name="Oval 24"/>
          <p:cNvSpPr/>
          <p:nvPr/>
        </p:nvSpPr>
        <p:spPr>
          <a:xfrm>
            <a:off x="2468880" y="2743200"/>
            <a:ext cx="256032" cy="256032"/>
          </a:xfrm>
          <a:prstGeom prst="ellipse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00884" y="279349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2286000"/>
            <a:ext cx="822960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20" b="1">
                <a:solidFill>
                  <a:srgbClr val="1F2226"/>
                </a:solidFill>
                <a:latin typeface="Consolas"/>
              </a:rPr>
              <a:t>Regulatory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84832" y="3291840"/>
            <a:ext cx="1143000" cy="91440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84832" y="3291840"/>
            <a:ext cx="50292" cy="91440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3493008"/>
            <a:ext cx="914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710">
                <a:solidFill>
                  <a:srgbClr val="50565D"/>
                </a:solidFill>
                <a:latin typeface="Aptos"/>
              </a:rPr>
              <a:t>[Evidence required before milestone]</a:t>
            </a:r>
          </a:p>
        </p:txBody>
      </p:sp>
      <p:sp>
        <p:nvSpPr>
          <p:cNvPr id="31" name="Oval 30"/>
          <p:cNvSpPr/>
          <p:nvPr/>
        </p:nvSpPr>
        <p:spPr>
          <a:xfrm>
            <a:off x="4160520" y="2743200"/>
            <a:ext cx="256032" cy="256032"/>
          </a:xfrm>
          <a:prstGeom prst="ellipse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92524" y="279349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2286000"/>
            <a:ext cx="822960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20" b="1">
                <a:solidFill>
                  <a:srgbClr val="1F2226"/>
                </a:solidFill>
                <a:latin typeface="Consolas"/>
              </a:rPr>
              <a:t>HTA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76472" y="3291840"/>
            <a:ext cx="1143000" cy="91440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76472" y="3291840"/>
            <a:ext cx="50292" cy="914400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3493008"/>
            <a:ext cx="914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710">
                <a:solidFill>
                  <a:srgbClr val="50565D"/>
                </a:solidFill>
                <a:latin typeface="Aptos"/>
              </a:rPr>
              <a:t>[Evidence required before milestone]</a:t>
            </a:r>
          </a:p>
        </p:txBody>
      </p:sp>
      <p:sp>
        <p:nvSpPr>
          <p:cNvPr id="37" name="Oval 36"/>
          <p:cNvSpPr/>
          <p:nvPr/>
        </p:nvSpPr>
        <p:spPr>
          <a:xfrm>
            <a:off x="5806440" y="2743200"/>
            <a:ext cx="256032" cy="256032"/>
          </a:xfrm>
          <a:prstGeom prst="ellipse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38444" y="279349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2286000"/>
            <a:ext cx="822960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20" b="1">
                <a:solidFill>
                  <a:srgbClr val="1F2226"/>
                </a:solidFill>
                <a:latin typeface="Consolas"/>
              </a:rPr>
              <a:t>Launch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22392" y="3291840"/>
            <a:ext cx="1143000" cy="91440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22392" y="3291840"/>
            <a:ext cx="50292" cy="914400"/>
          </a:xfrm>
          <a:prstGeom prst="rect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32120" y="3493008"/>
            <a:ext cx="914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710">
                <a:solidFill>
                  <a:srgbClr val="50565D"/>
                </a:solidFill>
                <a:latin typeface="Aptos"/>
              </a:rPr>
              <a:t>[Evidence required before milestone]</a:t>
            </a:r>
          </a:p>
        </p:txBody>
      </p:sp>
      <p:sp>
        <p:nvSpPr>
          <p:cNvPr id="43" name="Oval 42"/>
          <p:cNvSpPr/>
          <p:nvPr/>
        </p:nvSpPr>
        <p:spPr>
          <a:xfrm>
            <a:off x="7406640" y="2743200"/>
            <a:ext cx="256032" cy="256032"/>
          </a:xfrm>
          <a:prstGeom prst="ellipse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38644" y="279349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2286000"/>
            <a:ext cx="822960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20" b="1">
                <a:solidFill>
                  <a:srgbClr val="1F2226"/>
                </a:solidFill>
                <a:latin typeface="Consolas"/>
              </a:rPr>
              <a:t>Guideline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22592" y="3291840"/>
            <a:ext cx="1143000" cy="91440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22592" y="3291840"/>
            <a:ext cx="50292" cy="91440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0" y="3493008"/>
            <a:ext cx="914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710">
                <a:solidFill>
                  <a:srgbClr val="50565D"/>
                </a:solidFill>
                <a:latin typeface="Aptos"/>
              </a:rPr>
              <a:t>[Evidence required before milestone]</a:t>
            </a:r>
          </a:p>
        </p:txBody>
      </p:sp>
      <p:sp>
        <p:nvSpPr>
          <p:cNvPr id="49" name="Oval 48"/>
          <p:cNvSpPr/>
          <p:nvPr/>
        </p:nvSpPr>
        <p:spPr>
          <a:xfrm>
            <a:off x="8961120" y="2743200"/>
            <a:ext cx="256032" cy="256032"/>
          </a:xfrm>
          <a:prstGeom prst="ellipse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93124" y="279349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2286000"/>
            <a:ext cx="822960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20" b="1">
                <a:solidFill>
                  <a:srgbClr val="1F2226"/>
                </a:solidFill>
                <a:latin typeface="Consolas"/>
              </a:rPr>
              <a:t>Lifecycle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77072" y="3291840"/>
            <a:ext cx="1143000" cy="91440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77072" y="3291840"/>
            <a:ext cx="50292" cy="91440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0" y="3493008"/>
            <a:ext cx="914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710">
                <a:solidFill>
                  <a:srgbClr val="50565D"/>
                </a:solidFill>
                <a:latin typeface="Aptos"/>
              </a:rPr>
              <a:t>[Evidence required before milestone]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1325880"/>
            <a:ext cx="9601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50565D"/>
                </a:solidFill>
                <a:latin typeface="Aptos"/>
              </a:rPr>
              <a:t>Replace milestone labels with product-specific clinical readouts, regulatory interactions, HTA submissions, launch windows, guideline opportunities, and lifecycle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8F7F2"/>
                </a:solidFill>
                <a:latin typeface="Consola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D6DBD8"/>
                </a:solidFill>
                <a:latin typeface="Consolas"/>
              </a:rPr>
              <a:t>10</a:t>
            </a:r>
          </a:p>
        </p:txBody>
      </p:sp>
      <p:sp>
        <p:nvSpPr>
          <p:cNvPr id="16" name="Arc 15"/>
          <p:cNvSpPr/>
          <p:nvPr/>
        </p:nvSpPr>
        <p:spPr>
          <a:xfrm>
            <a:off x="6858000" y="502920"/>
            <a:ext cx="4389120" cy="502920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 rot="780000">
            <a:off x="6958584" y="576072"/>
            <a:ext cx="4187952" cy="488289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 rot="1560000">
            <a:off x="7059168" y="649224"/>
            <a:ext cx="3986783" cy="4736592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 rot="2340000">
            <a:off x="7159752" y="722376"/>
            <a:ext cx="3785615" cy="4590288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 rot="3120000">
            <a:off x="7260336" y="795528"/>
            <a:ext cx="3584448" cy="4443984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 rot="3900000">
            <a:off x="7360920" y="868680"/>
            <a:ext cx="3383279" cy="429768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 rot="4680000">
            <a:off x="7461504" y="941832"/>
            <a:ext cx="3182111" cy="415137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914400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1">
                <a:solidFill>
                  <a:srgbClr val="B0C750"/>
                </a:solidFill>
                <a:latin typeface="Consolas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1389888"/>
            <a:ext cx="80467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ptos"/>
              </a:rPr>
              <a:t>Stakeholder Evidence 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331720"/>
            <a:ext cx="585216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00" b="1">
                <a:solidFill>
                  <a:srgbClr val="DCE0DC"/>
                </a:solidFill>
                <a:latin typeface="Consolas"/>
              </a:rPr>
              <a:t>NEEDS AND INVENTORY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2788920"/>
            <a:ext cx="62179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E8EAE6"/>
                </a:solidFill>
                <a:latin typeface="Aptos"/>
              </a:rPr>
              <a:t>Map who needs evidence, what decisions they make, and what evidence exists today.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C1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Stakeholder Evidence 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92040" y="2331720"/>
            <a:ext cx="1645920" cy="1645920"/>
          </a:xfrm>
          <a:prstGeom prst="ellipse">
            <a:avLst/>
          </a:prstGeom>
          <a:solidFill>
            <a:srgbClr val="19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2871216"/>
            <a:ext cx="1143000" cy="155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ASSET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1325880"/>
            <a:ext cx="2011680" cy="82296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1325880"/>
            <a:ext cx="50292" cy="82296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1435607"/>
            <a:ext cx="171907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Regulators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1737360"/>
            <a:ext cx="1600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670">
                <a:solidFill>
                  <a:srgbClr val="50565D"/>
                </a:solidFill>
                <a:latin typeface="Aptos"/>
              </a:rPr>
              <a:t>[Decision / evidence question]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20240" y="1737360"/>
            <a:ext cx="3794760" cy="1417320"/>
          </a:xfrm>
          <a:prstGeom prst="line">
            <a:avLst/>
          </a:prstGeom>
          <a:ln w="10160">
            <a:solidFill>
              <a:srgbClr val="D6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657600" y="1051560"/>
            <a:ext cx="2011680" cy="82296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0" y="1051560"/>
            <a:ext cx="50292" cy="82296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22191" y="1161288"/>
            <a:ext cx="171907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HTA / payers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2191" y="1463039"/>
            <a:ext cx="1600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670">
                <a:solidFill>
                  <a:srgbClr val="50565D"/>
                </a:solidFill>
                <a:latin typeface="Aptos"/>
              </a:rPr>
              <a:t>[Decision / evidence question]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663440" y="1463039"/>
            <a:ext cx="1051560" cy="1691641"/>
          </a:xfrm>
          <a:prstGeom prst="line">
            <a:avLst/>
          </a:prstGeom>
          <a:ln w="10160">
            <a:solidFill>
              <a:srgbClr val="D6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60920" y="1234440"/>
            <a:ext cx="2011680" cy="82296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60920" y="1234440"/>
            <a:ext cx="50292" cy="822960"/>
          </a:xfrm>
          <a:prstGeom prst="rect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344168"/>
            <a:ext cx="171907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HCPs / KOLs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645920"/>
            <a:ext cx="1600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670">
                <a:solidFill>
                  <a:srgbClr val="50565D"/>
                </a:solidFill>
                <a:latin typeface="Aptos"/>
              </a:rPr>
              <a:t>[Decision / evidence question]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5715000" y="1645920"/>
            <a:ext cx="2651760" cy="1508760"/>
          </a:xfrm>
          <a:prstGeom prst="line">
            <a:avLst/>
          </a:prstGeom>
          <a:ln w="10160">
            <a:solidFill>
              <a:srgbClr val="D6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234440" y="4343400"/>
            <a:ext cx="2011680" cy="82296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34440" y="4343400"/>
            <a:ext cx="50292" cy="822960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99032" y="4453128"/>
            <a:ext cx="171907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Patients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9032" y="4754880"/>
            <a:ext cx="1600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670">
                <a:solidFill>
                  <a:srgbClr val="50565D"/>
                </a:solidFill>
                <a:latin typeface="Aptos"/>
              </a:rPr>
              <a:t>[Decision / evidence question]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2240280" y="3154680"/>
            <a:ext cx="3474720" cy="1600200"/>
          </a:xfrm>
          <a:prstGeom prst="line">
            <a:avLst/>
          </a:prstGeom>
          <a:ln w="10160">
            <a:solidFill>
              <a:srgbClr val="D6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572000" y="4800600"/>
            <a:ext cx="2011680" cy="82296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4800600"/>
            <a:ext cx="50292" cy="82296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6592" y="4910328"/>
            <a:ext cx="171907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Policy / systems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36592" y="5212080"/>
            <a:ext cx="1600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670">
                <a:solidFill>
                  <a:srgbClr val="50565D"/>
                </a:solidFill>
                <a:latin typeface="Aptos"/>
              </a:rPr>
              <a:t>[Decision / evidence question]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5577840" y="3154680"/>
            <a:ext cx="137160" cy="2057400"/>
          </a:xfrm>
          <a:prstGeom prst="line">
            <a:avLst/>
          </a:prstGeom>
          <a:ln w="10160">
            <a:solidFill>
              <a:srgbClr val="D6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8001000" y="4251960"/>
            <a:ext cx="2011680" cy="82296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01000" y="4251960"/>
            <a:ext cx="50292" cy="82296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65592" y="4361688"/>
            <a:ext cx="171907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Internal teams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65592" y="4663440"/>
            <a:ext cx="1600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670">
                <a:solidFill>
                  <a:srgbClr val="50565D"/>
                </a:solidFill>
                <a:latin typeface="Aptos"/>
              </a:rPr>
              <a:t>[Decision / evidence question]</a:t>
            </a:r>
          </a:p>
        </p:txBody>
      </p:sp>
      <p:cxnSp>
        <p:nvCxnSpPr>
          <p:cNvPr id="49" name="Connector 48"/>
          <p:cNvCxnSpPr/>
          <p:nvPr/>
        </p:nvCxnSpPr>
        <p:spPr>
          <a:xfrm flipH="1" flipV="1">
            <a:off x="5715000" y="3154680"/>
            <a:ext cx="3291840" cy="1508760"/>
          </a:xfrm>
          <a:prstGeom prst="line">
            <a:avLst/>
          </a:prstGeom>
          <a:ln w="10160">
            <a:solidFill>
              <a:srgbClr val="D6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Patient Journey Evidence Route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1691640"/>
            <a:ext cx="256032" cy="256032"/>
          </a:xfrm>
          <a:prstGeom prst="ellipse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" y="174193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377440"/>
            <a:ext cx="1325880" cy="123444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2377440"/>
            <a:ext cx="50292" cy="123444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2487168"/>
            <a:ext cx="1033271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Pre-Dx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816352"/>
            <a:ext cx="960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720">
                <a:solidFill>
                  <a:srgbClr val="50565D"/>
                </a:solidFill>
                <a:latin typeface="Aptos"/>
              </a:rPr>
              <a:t>[barrier]</a:t>
            </a:r>
          </a:p>
          <a:p>
            <a:pPr>
              <a:spcAft>
                <a:spcPts val="300"/>
              </a:spcAft>
            </a:pPr>
            <a:r>
              <a:rPr sz="720">
                <a:solidFill>
                  <a:srgbClr val="50565D"/>
                </a:solidFill>
                <a:latin typeface="Aptos"/>
              </a:rPr>
              <a:t>[evidence need]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78992" y="1828800"/>
            <a:ext cx="1481328" cy="384048"/>
          </a:xfrm>
          <a:prstGeom prst="line">
            <a:avLst/>
          </a:prstGeom>
          <a:ln w="12700">
            <a:solidFill>
              <a:srgbClr val="D6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2075688"/>
            <a:ext cx="256032" cy="256032"/>
          </a:xfrm>
          <a:prstGeom prst="ellipse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92324" y="2125980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2761488"/>
            <a:ext cx="1325880" cy="123444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2761488"/>
            <a:ext cx="50292" cy="123444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96312" y="2871216"/>
            <a:ext cx="1033271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Dx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3200400"/>
            <a:ext cx="960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720">
                <a:solidFill>
                  <a:srgbClr val="50565D"/>
                </a:solidFill>
                <a:latin typeface="Aptos"/>
              </a:rPr>
              <a:t>[barrier]</a:t>
            </a:r>
          </a:p>
          <a:p>
            <a:pPr>
              <a:spcAft>
                <a:spcPts val="300"/>
              </a:spcAft>
            </a:pPr>
            <a:r>
              <a:rPr sz="720">
                <a:solidFill>
                  <a:srgbClr val="50565D"/>
                </a:solidFill>
                <a:latin typeface="Aptos"/>
              </a:rPr>
              <a:t>[evidence need]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816352" y="1828800"/>
            <a:ext cx="1481327" cy="384048"/>
          </a:xfrm>
          <a:prstGeom prst="line">
            <a:avLst/>
          </a:prstGeom>
          <a:ln w="12700">
            <a:solidFill>
              <a:srgbClr val="D6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297680" y="1691640"/>
            <a:ext cx="256032" cy="256032"/>
          </a:xfrm>
          <a:prstGeom prst="ellipse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9684" y="174193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69080" y="2377440"/>
            <a:ext cx="1325880" cy="123444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69080" y="2377440"/>
            <a:ext cx="50292" cy="1234440"/>
          </a:xfrm>
          <a:prstGeom prst="rect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33672" y="2487168"/>
            <a:ext cx="1033271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Choice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2816352"/>
            <a:ext cx="960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720">
                <a:solidFill>
                  <a:srgbClr val="50565D"/>
                </a:solidFill>
                <a:latin typeface="Aptos"/>
              </a:rPr>
              <a:t>[barrier]</a:t>
            </a:r>
          </a:p>
          <a:p>
            <a:pPr>
              <a:spcAft>
                <a:spcPts val="300"/>
              </a:spcAft>
            </a:pPr>
            <a:r>
              <a:rPr sz="720">
                <a:solidFill>
                  <a:srgbClr val="50565D"/>
                </a:solidFill>
                <a:latin typeface="Aptos"/>
              </a:rPr>
              <a:t>[evidence need]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53712" y="1828800"/>
            <a:ext cx="1481328" cy="384048"/>
          </a:xfrm>
          <a:prstGeom prst="line">
            <a:avLst/>
          </a:prstGeom>
          <a:ln w="12700">
            <a:solidFill>
              <a:srgbClr val="D6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035040" y="2075688"/>
            <a:ext cx="256032" cy="256032"/>
          </a:xfrm>
          <a:prstGeom prst="ellipse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67044" y="2125980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6440" y="2761488"/>
            <a:ext cx="1325880" cy="123444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06440" y="2761488"/>
            <a:ext cx="50292" cy="1234440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71031" y="2871216"/>
            <a:ext cx="1033271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Access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61888" y="3200400"/>
            <a:ext cx="960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720">
                <a:solidFill>
                  <a:srgbClr val="50565D"/>
                </a:solidFill>
                <a:latin typeface="Aptos"/>
              </a:rPr>
              <a:t>[barrier]</a:t>
            </a:r>
          </a:p>
          <a:p>
            <a:pPr>
              <a:spcAft>
                <a:spcPts val="300"/>
              </a:spcAft>
            </a:pPr>
            <a:r>
              <a:rPr sz="720">
                <a:solidFill>
                  <a:srgbClr val="50565D"/>
                </a:solidFill>
                <a:latin typeface="Aptos"/>
              </a:rPr>
              <a:t>[evidence need]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6291072" y="1828800"/>
            <a:ext cx="1481328" cy="384048"/>
          </a:xfrm>
          <a:prstGeom prst="line">
            <a:avLst/>
          </a:prstGeom>
          <a:ln w="12700">
            <a:solidFill>
              <a:srgbClr val="D6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772400" y="1691640"/>
            <a:ext cx="256032" cy="256032"/>
          </a:xfrm>
          <a:prstGeom prst="ellipse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04404" y="174193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43800" y="2377440"/>
            <a:ext cx="1325880" cy="123444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43800" y="2377440"/>
            <a:ext cx="50292" cy="123444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08392" y="2487168"/>
            <a:ext cx="1033271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Follow-up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99248" y="2816352"/>
            <a:ext cx="960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720">
                <a:solidFill>
                  <a:srgbClr val="50565D"/>
                </a:solidFill>
                <a:latin typeface="Aptos"/>
              </a:rPr>
              <a:t>[barrier]</a:t>
            </a:r>
          </a:p>
          <a:p>
            <a:pPr>
              <a:spcAft>
                <a:spcPts val="300"/>
              </a:spcAft>
            </a:pPr>
            <a:r>
              <a:rPr sz="720">
                <a:solidFill>
                  <a:srgbClr val="50565D"/>
                </a:solidFill>
                <a:latin typeface="Aptos"/>
              </a:rPr>
              <a:t>[evidence need]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028431" y="1828800"/>
            <a:ext cx="1481329" cy="384048"/>
          </a:xfrm>
          <a:prstGeom prst="line">
            <a:avLst/>
          </a:prstGeom>
          <a:ln w="12700">
            <a:solidFill>
              <a:srgbClr val="D6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9509760" y="2075688"/>
            <a:ext cx="256032" cy="256032"/>
          </a:xfrm>
          <a:prstGeom prst="ellipse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41764" y="2125980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81160" y="2761488"/>
            <a:ext cx="1325880" cy="123444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81160" y="2761488"/>
            <a:ext cx="50292" cy="123444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45752" y="2871216"/>
            <a:ext cx="1033271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Outcomes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36608" y="3200400"/>
            <a:ext cx="960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720">
                <a:solidFill>
                  <a:srgbClr val="50565D"/>
                </a:solidFill>
                <a:latin typeface="Aptos"/>
              </a:rPr>
              <a:t>[barrier]</a:t>
            </a:r>
          </a:p>
          <a:p>
            <a:pPr>
              <a:spcAft>
                <a:spcPts val="300"/>
              </a:spcAft>
            </a:pPr>
            <a:r>
              <a:rPr sz="720">
                <a:solidFill>
                  <a:srgbClr val="50565D"/>
                </a:solidFill>
                <a:latin typeface="Aptos"/>
              </a:rPr>
              <a:t>[evidence need]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" y="4937760"/>
            <a:ext cx="10424160" cy="68580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7240" y="4937760"/>
            <a:ext cx="50292" cy="68580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1832" y="5047488"/>
            <a:ext cx="1013155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Evidence route question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5212080"/>
            <a:ext cx="9875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150" b="1">
                <a:solidFill>
                  <a:srgbClr val="1F2226"/>
                </a:solidFill>
                <a:latin typeface="Aptos"/>
              </a:rPr>
              <a:t>Where does missing evidence create a diagnosis, access, adherence, outcomes, or patient-value barrier?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C3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Evidence Inventory Instrument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" y="1261872"/>
          <a:ext cx="1078992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51560"/>
                <a:gridCol w="1828800"/>
                <a:gridCol w="2377440"/>
                <a:gridCol w="1508760"/>
                <a:gridCol w="2194560"/>
              </a:tblGrid>
              <a:tr h="543560">
                <a:tc>
                  <a:txBody>
                    <a:bodyPr anchor="ctr"/>
                    <a:lstStyle/>
                    <a:p>
                      <a:r>
                        <a:t>Source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Status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Population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Endpoint / Output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Stakeholder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Usability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</a:tr>
              <a:tr h="543560">
                <a:tc>
                  <a:txBody>
                    <a:bodyPr anchor="ctr"/>
                    <a:lstStyle/>
                    <a:p>
                      <a:r>
                        <a:t>Clinical trials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[available]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[endpoint]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[reg/HCP]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[limits]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543560">
                <a:tc>
                  <a:txBody>
                    <a:bodyPr anchor="ctr"/>
                    <a:lstStyle/>
                    <a:p>
                      <a:r>
                        <a:t>RWE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[planned]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[outcome]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[payer/HCP]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[limits]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543560">
                <a:tc>
                  <a:txBody>
                    <a:bodyPr anchor="ctr"/>
                    <a:lstStyle/>
                    <a:p>
                      <a:r>
                        <a:t>HEOR model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[planned]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[inputs]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[CE/BIA]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[HTA]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[limits]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543560">
                <a:tc>
                  <a:txBody>
                    <a:bodyPr anchor="ctr"/>
                    <a:lstStyle/>
                    <a:p>
                      <a:r>
                        <a:t>SLR / ITC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[available]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[network]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[comparison]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[HTA/internal]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[limits]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543560">
                <a:tc>
                  <a:txBody>
                    <a:bodyPr anchor="ctr"/>
                    <a:lstStyle/>
                    <a:p>
                      <a:r>
                        <a:t>COA / PRO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[TBD]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[QoL/burden]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[patient/HCP]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[limits]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543560">
                <a:tc>
                  <a:txBody>
                    <a:bodyPr anchor="ctr"/>
                    <a:lstStyle/>
                    <a:p>
                      <a:r>
                        <a:t>Epidemiology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[available]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[market]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[prevalence]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[access]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[limits]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543560">
                <a:tc>
                  <a:txBody>
                    <a:bodyPr anchor="ctr"/>
                    <a:lstStyle/>
                    <a:p>
                      <a:r>
                        <a:t>Publications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[planned]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[message]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[HCP]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[limits]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543560">
                <a:tc>
                  <a:txBody>
                    <a:bodyPr anchor="ctr"/>
                    <a:lstStyle/>
                    <a:p>
                      <a:r>
                        <a:t>Other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[scope]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[limits]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8F7F2"/>
                </a:solidFill>
                <a:latin typeface="Consolas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D6DBD8"/>
                </a:solidFill>
                <a:latin typeface="Consolas"/>
              </a:rPr>
              <a:t>14</a:t>
            </a:r>
          </a:p>
        </p:txBody>
      </p:sp>
      <p:sp>
        <p:nvSpPr>
          <p:cNvPr id="16" name="Arc 15"/>
          <p:cNvSpPr/>
          <p:nvPr/>
        </p:nvSpPr>
        <p:spPr>
          <a:xfrm>
            <a:off x="6858000" y="502920"/>
            <a:ext cx="4389120" cy="502920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 rot="780000">
            <a:off x="6958584" y="576072"/>
            <a:ext cx="4187952" cy="488289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 rot="1560000">
            <a:off x="7059168" y="649224"/>
            <a:ext cx="3986783" cy="4736592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 rot="2340000">
            <a:off x="7159752" y="722376"/>
            <a:ext cx="3785615" cy="4590288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 rot="3120000">
            <a:off x="7260336" y="795528"/>
            <a:ext cx="3584448" cy="4443984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 rot="3900000">
            <a:off x="7360920" y="868680"/>
            <a:ext cx="3383279" cy="429768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 rot="4680000">
            <a:off x="7461504" y="941832"/>
            <a:ext cx="3182111" cy="415137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914400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1">
                <a:solidFill>
                  <a:srgbClr val="B0C750"/>
                </a:solidFill>
                <a:latin typeface="Consolas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1389888"/>
            <a:ext cx="80467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ptos"/>
              </a:rPr>
              <a:t>Gap Topography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331720"/>
            <a:ext cx="585216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00" b="1">
                <a:solidFill>
                  <a:srgbClr val="DCE0DC"/>
                </a:solidFill>
                <a:latin typeface="Consolas"/>
              </a:rPr>
              <a:t>PRIORITIZATION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2788920"/>
            <a:ext cx="62179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E8EAE6"/>
                </a:solidFill>
                <a:latin typeface="Aptos"/>
              </a:rPr>
              <a:t>Turn evidence needs into prioritized gaps and answerable research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D1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Need-Have-Generate Equation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1828800"/>
            <a:ext cx="2148840" cy="201168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1828800"/>
            <a:ext cx="50292" cy="201168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1938528"/>
            <a:ext cx="185623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NEED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331720"/>
            <a:ext cx="169164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50565D"/>
                </a:solidFill>
                <a:latin typeface="Aptos"/>
              </a:rPr>
              <a:t>[stakeholder requirement]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60604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900" b="1">
                <a:solidFill>
                  <a:srgbClr val="7E8489"/>
                </a:solidFill>
                <a:latin typeface="Aptos"/>
              </a:rPr>
              <a:t>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1828800"/>
            <a:ext cx="2148840" cy="201168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11880" y="1828800"/>
            <a:ext cx="50292" cy="201168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6472" y="1938528"/>
            <a:ext cx="185623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HAVE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31720"/>
            <a:ext cx="169164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50565D"/>
                </a:solidFill>
                <a:latin typeface="Aptos"/>
              </a:rPr>
              <a:t>[available evidence]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60604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900" b="1">
                <a:solidFill>
                  <a:srgbClr val="7E8489"/>
                </a:solidFill>
                <a:latin typeface="Aptos"/>
              </a:rPr>
              <a:t>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828800"/>
            <a:ext cx="2148840" cy="201168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1828800"/>
            <a:ext cx="50292" cy="2011680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1938528"/>
            <a:ext cx="185623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331720"/>
            <a:ext cx="169164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50565D"/>
                </a:solidFill>
                <a:latin typeface="Aptos"/>
              </a:rPr>
              <a:t>[future change]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606040"/>
            <a:ext cx="320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900" b="1">
                <a:solidFill>
                  <a:srgbClr val="7E8489"/>
                </a:solidFill>
                <a:latin typeface="Aptos"/>
              </a:rPr>
              <a:t>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1828800"/>
            <a:ext cx="2148840" cy="201168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98280" y="1828800"/>
            <a:ext cx="50292" cy="2011680"/>
          </a:xfrm>
          <a:prstGeom prst="rect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2872" y="1938528"/>
            <a:ext cx="185623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GENERATE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59" y="2331720"/>
            <a:ext cx="169164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50565D"/>
                </a:solidFill>
                <a:latin typeface="Aptos"/>
              </a:rPr>
              <a:t>[priority action]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800600"/>
            <a:ext cx="102412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191F27"/>
                </a:solidFill>
                <a:latin typeface="Aptos"/>
              </a:rPr>
              <a:t>Prioritized evidence to generate = stakeholder need minus usable evidence, adjusted for future landscape change.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D2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Gap Topography Matrix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>
            <a:off x="8229600" y="1325880"/>
            <a:ext cx="2514600" cy="2514600"/>
          </a:xfrm>
          <a:prstGeom prst="arc">
            <a:avLst/>
          </a:prstGeom>
          <a:noFill/>
          <a:ln w="698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 rot="780000">
            <a:off x="8330183" y="1399032"/>
            <a:ext cx="2313432" cy="2368296"/>
          </a:xfrm>
          <a:prstGeom prst="arc">
            <a:avLst/>
          </a:prstGeom>
          <a:noFill/>
          <a:ln w="698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 rot="1560000">
            <a:off x="8430768" y="1472184"/>
            <a:ext cx="2112264" cy="2221992"/>
          </a:xfrm>
          <a:prstGeom prst="arc">
            <a:avLst/>
          </a:prstGeom>
          <a:noFill/>
          <a:ln w="698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 rot="2340000">
            <a:off x="8531352" y="1545336"/>
            <a:ext cx="1911095" cy="2075688"/>
          </a:xfrm>
          <a:prstGeom prst="arc">
            <a:avLst/>
          </a:prstGeom>
          <a:noFill/>
          <a:ln w="698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 rot="3120000">
            <a:off x="8631936" y="1618488"/>
            <a:ext cx="1709928" cy="1929384"/>
          </a:xfrm>
          <a:prstGeom prst="arc">
            <a:avLst/>
          </a:prstGeom>
          <a:noFill/>
          <a:ln w="698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rc 22"/>
          <p:cNvSpPr/>
          <p:nvPr/>
        </p:nvSpPr>
        <p:spPr>
          <a:xfrm rot="3900000">
            <a:off x="8732520" y="1691640"/>
            <a:ext cx="1508760" cy="1783080"/>
          </a:xfrm>
          <a:prstGeom prst="arc">
            <a:avLst/>
          </a:prstGeom>
          <a:noFill/>
          <a:ln w="698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rc 23"/>
          <p:cNvSpPr/>
          <p:nvPr/>
        </p:nvSpPr>
        <p:spPr>
          <a:xfrm rot="4680000">
            <a:off x="8833104" y="1764792"/>
            <a:ext cx="1307592" cy="1636776"/>
          </a:xfrm>
          <a:prstGeom prst="arc">
            <a:avLst/>
          </a:prstGeom>
          <a:noFill/>
          <a:ln w="698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40080" y="1234440"/>
          <a:ext cx="1065275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057400"/>
                <a:gridCol w="2377440"/>
                <a:gridCol w="960120"/>
                <a:gridCol w="1234440"/>
                <a:gridCol w="1874519"/>
              </a:tblGrid>
              <a:tr h="588645">
                <a:tc>
                  <a:txBody>
                    <a:bodyPr anchor="ctr"/>
                    <a:lstStyle/>
                    <a:p>
                      <a:r>
                        <a:t>Gap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Decision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Current Evidence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Priority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Risk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Action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</a:tr>
              <a:tr h="588645">
                <a:tc>
                  <a:txBody>
                    <a:bodyPr anchor="ctr"/>
                    <a:lstStyle/>
                    <a:p>
                      <a:r>
                        <a:t>G1: [gap]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 decision]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[impact]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588645">
                <a:tc>
                  <a:txBody>
                    <a:bodyPr anchor="ctr"/>
                    <a:lstStyle/>
                    <a:p>
                      <a:r>
                        <a:t>G2: [gap]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 decision]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[impact]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588645">
                <a:tc>
                  <a:txBody>
                    <a:bodyPr anchor="ctr"/>
                    <a:lstStyle/>
                    <a:p>
                      <a:r>
                        <a:t>G3: [gap]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 decision]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[impact]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588645">
                <a:tc>
                  <a:txBody>
                    <a:bodyPr anchor="ctr"/>
                    <a:lstStyle/>
                    <a:p>
                      <a:r>
                        <a:t>G4: [gap]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 decision]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[impact]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588645">
                <a:tc>
                  <a:txBody>
                    <a:bodyPr anchor="ctr"/>
                    <a:lstStyle/>
                    <a:p>
                      <a:r>
                        <a:t>G5: [gap]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 decision]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[impact]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588645">
                <a:tc>
                  <a:txBody>
                    <a:bodyPr anchor="ctr"/>
                    <a:lstStyle/>
                    <a:p>
                      <a:r>
                        <a:t>G6: [gap]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 decision]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[impact]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588645">
                <a:tc>
                  <a:txBody>
                    <a:bodyPr anchor="ctr"/>
                    <a:lstStyle/>
                    <a:p>
                      <a:r>
                        <a:t>G7: [gap]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 decision]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[impact]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D3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Gap Prioritization Field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1325880"/>
            <a:ext cx="5212080" cy="448056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1325880"/>
            <a:ext cx="50292" cy="448056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1435607"/>
            <a:ext cx="491947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Impact x feasibility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920240"/>
            <a:ext cx="1143000" cy="731520"/>
          </a:xfrm>
          <a:prstGeom prst="rect">
            <a:avLst/>
          </a:prstGeom>
          <a:solidFill>
            <a:srgbClr val="9C8044"/>
          </a:solidFill>
          <a:ln w="15240">
            <a:solidFill>
              <a:srgbClr val="F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91056" y="2176272"/>
            <a:ext cx="41148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P4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96312" y="1920240"/>
            <a:ext cx="1143000" cy="731520"/>
          </a:xfrm>
          <a:prstGeom prst="rect">
            <a:avLst/>
          </a:prstGeom>
          <a:solidFill>
            <a:srgbClr val="B0C750"/>
          </a:solidFill>
          <a:ln w="15240">
            <a:solidFill>
              <a:srgbClr val="F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25496" y="2176272"/>
            <a:ext cx="41148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P3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30752" y="1920240"/>
            <a:ext cx="1143000" cy="731520"/>
          </a:xfrm>
          <a:prstGeom prst="rect">
            <a:avLst/>
          </a:prstGeom>
          <a:solidFill>
            <a:srgbClr val="B0C750"/>
          </a:solidFill>
          <a:ln w="15240">
            <a:solidFill>
              <a:srgbClr val="F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59936" y="2176272"/>
            <a:ext cx="41148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P2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61872" y="2743200"/>
            <a:ext cx="1143000" cy="731520"/>
          </a:xfrm>
          <a:prstGeom prst="rect">
            <a:avLst/>
          </a:prstGeom>
          <a:solidFill>
            <a:srgbClr val="9C8044"/>
          </a:solidFill>
          <a:ln w="15240">
            <a:solidFill>
              <a:srgbClr val="F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91056" y="2999232"/>
            <a:ext cx="41148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P3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96312" y="2743200"/>
            <a:ext cx="1143000" cy="731520"/>
          </a:xfrm>
          <a:prstGeom prst="rect">
            <a:avLst/>
          </a:prstGeom>
          <a:solidFill>
            <a:srgbClr val="9C8044"/>
          </a:solidFill>
          <a:ln w="15240">
            <a:solidFill>
              <a:srgbClr val="F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25496" y="2999232"/>
            <a:ext cx="41148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P2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30752" y="2743200"/>
            <a:ext cx="1143000" cy="731520"/>
          </a:xfrm>
          <a:prstGeom prst="rect">
            <a:avLst/>
          </a:prstGeom>
          <a:solidFill>
            <a:srgbClr val="B0C750"/>
          </a:solidFill>
          <a:ln w="15240">
            <a:solidFill>
              <a:srgbClr val="F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59936" y="2999232"/>
            <a:ext cx="41148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P1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61872" y="3566160"/>
            <a:ext cx="1143000" cy="731520"/>
          </a:xfrm>
          <a:prstGeom prst="rect">
            <a:avLst/>
          </a:prstGeom>
          <a:solidFill>
            <a:srgbClr val="EEEEE6"/>
          </a:solidFill>
          <a:ln w="15240">
            <a:solidFill>
              <a:srgbClr val="F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91056" y="3822191"/>
            <a:ext cx="41148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P2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96312" y="3566160"/>
            <a:ext cx="1143000" cy="731520"/>
          </a:xfrm>
          <a:prstGeom prst="rect">
            <a:avLst/>
          </a:prstGeom>
          <a:solidFill>
            <a:srgbClr val="9C8044"/>
          </a:solidFill>
          <a:ln w="15240">
            <a:solidFill>
              <a:srgbClr val="F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25496" y="3822191"/>
            <a:ext cx="41148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P1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30752" y="3566160"/>
            <a:ext cx="1143000" cy="731520"/>
          </a:xfrm>
          <a:prstGeom prst="rect">
            <a:avLst/>
          </a:prstGeom>
          <a:solidFill>
            <a:srgbClr val="B44650"/>
          </a:solidFill>
          <a:ln w="15240">
            <a:solidFill>
              <a:srgbClr val="F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59936" y="3822191"/>
            <a:ext cx="41148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P1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4617720"/>
            <a:ext cx="164592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1">
                <a:solidFill>
                  <a:srgbClr val="7E8489"/>
                </a:solidFill>
                <a:latin typeface="Consolas"/>
              </a:rPr>
              <a:t>FEASIBILITY</a:t>
            </a:r>
          </a:p>
        </p:txBody>
      </p:sp>
      <p:sp>
        <p:nvSpPr>
          <p:cNvPr id="40" name="TextBox 39"/>
          <p:cNvSpPr txBox="1"/>
          <p:nvPr/>
        </p:nvSpPr>
        <p:spPr>
          <a:xfrm rot="16200000">
            <a:off x="868680" y="2468880"/>
            <a:ext cx="274320" cy="9601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1">
                <a:solidFill>
                  <a:srgbClr val="7E8489"/>
                </a:solidFill>
                <a:latin typeface="Consolas"/>
              </a:rPr>
              <a:t>IMPACT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6355080" y="1325880"/>
          <a:ext cx="48920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965960"/>
              </a:tblGrid>
              <a:tr h="739140">
                <a:tc>
                  <a:txBody>
                    <a:bodyPr anchor="ctr"/>
                    <a:lstStyle/>
                    <a:p>
                      <a:r>
                        <a:t>Criterion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Score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Notes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</a:tr>
              <a:tr h="739140">
                <a:tc>
                  <a:txBody>
                    <a:bodyPr anchor="ctr"/>
                    <a:lstStyle/>
                    <a:p>
                      <a:r>
                        <a:t>Impact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1-5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value]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739140">
                <a:tc>
                  <a:txBody>
                    <a:bodyPr anchor="ctr"/>
                    <a:lstStyle/>
                    <a:p>
                      <a:r>
                        <a:t>Urgency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1-5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[timing]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739140">
                <a:tc>
                  <a:txBody>
                    <a:bodyPr anchor="ctr"/>
                    <a:lstStyle/>
                    <a:p>
                      <a:r>
                        <a:t>Feasibility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1-5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[data/design]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739140">
                <a:tc>
                  <a:txBody>
                    <a:bodyPr anchor="ctr"/>
                    <a:lstStyle/>
                    <a:p>
                      <a:r>
                        <a:t>Reuse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1-5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[global-local]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739140">
                <a:tc>
                  <a:txBody>
                    <a:bodyPr anchor="ctr"/>
                    <a:lstStyle/>
                    <a:p>
                      <a:r>
                        <a:t>Risk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1-5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[inaction]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D4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Open Research Question Ledger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94360" y="1234440"/>
          <a:ext cx="1097279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731520"/>
                <a:gridCol w="3749039"/>
                <a:gridCol w="3703320"/>
                <a:gridCol w="2103120"/>
              </a:tblGrid>
              <a:tr h="617220">
                <a:tc>
                  <a:txBody>
                    <a:bodyPr anchor="ctr"/>
                    <a:lstStyle/>
                    <a:p>
                      <a:r>
                        <a:t>ORQ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Gap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Research Question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PICOT / Design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Decision Use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ORQ1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[answerable evidence question]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P:[ ] I:[ ] C:[ ] O:[ ] T:[ 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ORQ2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[answerable evidence question]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P:[ ] I:[ ] C:[ ] O:[ ] T:[ 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ORQ3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[answerable evidence question]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P:[ ] I:[ ] C:[ ] O:[ ] T:[ 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ORQ4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[answerable evidence question]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P:[ ] I:[ ] C:[ ] O:[ ] T:[ 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ORQ5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[answerable evidence question]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P:[ ] I:[ ] C:[ ] O:[ ] T:[ 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ORQ6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[answerable evidence question]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P:[ ] I:[ ] C:[ ] O:[ ] T:[ 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ORQ7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[answerable evidence question]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P:[ ] I:[ ] C:[ ] O:[ ] T:[ 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8F7F2"/>
                </a:solidFill>
                <a:latin typeface="Consolas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D6DBD8"/>
                </a:solidFill>
                <a:latin typeface="Consolas"/>
              </a:rPr>
              <a:t>19</a:t>
            </a:r>
          </a:p>
        </p:txBody>
      </p:sp>
      <p:sp>
        <p:nvSpPr>
          <p:cNvPr id="16" name="Arc 15"/>
          <p:cNvSpPr/>
          <p:nvPr/>
        </p:nvSpPr>
        <p:spPr>
          <a:xfrm>
            <a:off x="6858000" y="502920"/>
            <a:ext cx="4389120" cy="502920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 rot="780000">
            <a:off x="6958584" y="576072"/>
            <a:ext cx="4187952" cy="488289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 rot="1560000">
            <a:off x="7059168" y="649224"/>
            <a:ext cx="3986783" cy="4736592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 rot="2340000">
            <a:off x="7159752" y="722376"/>
            <a:ext cx="3785615" cy="4590288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 rot="3120000">
            <a:off x="7260336" y="795528"/>
            <a:ext cx="3584448" cy="4443984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 rot="3900000">
            <a:off x="7360920" y="868680"/>
            <a:ext cx="3383279" cy="429768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 rot="4680000">
            <a:off x="7461504" y="941832"/>
            <a:ext cx="3182111" cy="415137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914400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1">
                <a:solidFill>
                  <a:srgbClr val="B0C750"/>
                </a:solidFill>
                <a:latin typeface="Consolas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1389888"/>
            <a:ext cx="80467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ptos"/>
              </a:rPr>
              <a:t>Roadmap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331720"/>
            <a:ext cx="585216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00" b="1">
                <a:solidFill>
                  <a:srgbClr val="DCE0DC"/>
                </a:solidFill>
                <a:latin typeface="Consolas"/>
              </a:rPr>
              <a:t>ACTIVITIES AND PULL-THROUGH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2788920"/>
            <a:ext cx="62179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E8EAE6"/>
                </a:solidFill>
                <a:latin typeface="Aptos"/>
              </a:rPr>
              <a:t>Convert priority gaps into studies, syntheses, claims support, and lifecycle milestones.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Integrated Evidence Roadmap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1207008"/>
            <a:ext cx="68580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60" b="1">
                <a:solidFill>
                  <a:srgbClr val="7E8489"/>
                </a:solidFill>
                <a:latin typeface="Consolas"/>
              </a:rPr>
              <a:t>Y1 Q1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463040"/>
            <a:ext cx="9144" cy="4251960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8768" y="1207008"/>
            <a:ext cx="68580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60" b="1">
                <a:solidFill>
                  <a:srgbClr val="7E8489"/>
                </a:solidFill>
                <a:latin typeface="Consolas"/>
              </a:rPr>
              <a:t>Q2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8808" y="1463040"/>
            <a:ext cx="9144" cy="4251960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1456" y="1207008"/>
            <a:ext cx="68580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60" b="1">
                <a:solidFill>
                  <a:srgbClr val="7E8489"/>
                </a:solidFill>
                <a:latin typeface="Consolas"/>
              </a:rPr>
              <a:t>Q3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1463040"/>
            <a:ext cx="9144" cy="4251960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24144" y="1207008"/>
            <a:ext cx="68580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60" b="1">
                <a:solidFill>
                  <a:srgbClr val="7E8489"/>
                </a:solidFill>
                <a:latin typeface="Consolas"/>
              </a:rPr>
              <a:t>Q4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44183" y="1463040"/>
            <a:ext cx="9144" cy="4251960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1207008"/>
            <a:ext cx="68580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60" b="1">
                <a:solidFill>
                  <a:srgbClr val="7E8489"/>
                </a:solidFill>
                <a:latin typeface="Consolas"/>
              </a:rPr>
              <a:t>Y2 Q1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76872" y="1463040"/>
            <a:ext cx="9144" cy="4251960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1207008"/>
            <a:ext cx="68580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60" b="1">
                <a:solidFill>
                  <a:srgbClr val="7E8489"/>
                </a:solidFill>
                <a:latin typeface="Consolas"/>
              </a:rPr>
              <a:t>Q2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9559" y="1463040"/>
            <a:ext cx="9144" cy="4251960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1207008"/>
            <a:ext cx="68580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60" b="1">
                <a:solidFill>
                  <a:srgbClr val="7E8489"/>
                </a:solidFill>
                <a:latin typeface="Consolas"/>
              </a:rPr>
              <a:t>Q3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42248" y="1463040"/>
            <a:ext cx="9144" cy="4251960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54896" y="1207008"/>
            <a:ext cx="68580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60" b="1">
                <a:solidFill>
                  <a:srgbClr val="7E8489"/>
                </a:solidFill>
                <a:latin typeface="Consolas"/>
              </a:rPr>
              <a:t>Q4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74936" y="1463040"/>
            <a:ext cx="9144" cy="4251960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1792224"/>
            <a:ext cx="1645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50" b="1">
                <a:solidFill>
                  <a:srgbClr val="1F2226"/>
                </a:solidFill>
                <a:latin typeface="Consolas"/>
              </a:rPr>
              <a:t>Clinical/reg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1800" y="1737360"/>
            <a:ext cx="1691640" cy="256032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90672" y="1792224"/>
            <a:ext cx="1325880" cy="822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570" b="1">
                <a:solidFill>
                  <a:srgbClr val="191F27"/>
                </a:solidFill>
                <a:latin typeface="Consolas"/>
              </a:rPr>
              <a:t>[activity]</a:t>
            </a:r>
          </a:p>
        </p:txBody>
      </p:sp>
      <p:sp>
        <p:nvSpPr>
          <p:cNvPr id="37" name="Oval 36"/>
          <p:cNvSpPr/>
          <p:nvPr/>
        </p:nvSpPr>
        <p:spPr>
          <a:xfrm>
            <a:off x="4983480" y="1673352"/>
            <a:ext cx="256032" cy="256032"/>
          </a:xfrm>
          <a:prstGeom prst="ellipse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15484" y="1723644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2596896"/>
            <a:ext cx="1645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50" b="1">
                <a:solidFill>
                  <a:srgbClr val="1F2226"/>
                </a:solidFill>
                <a:latin typeface="Consolas"/>
              </a:rPr>
              <a:t>RWE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2542032"/>
            <a:ext cx="2258568" cy="256032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93591" y="2596896"/>
            <a:ext cx="1325880" cy="822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570" b="1">
                <a:solidFill>
                  <a:srgbClr val="191F27"/>
                </a:solidFill>
                <a:latin typeface="Consolas"/>
              </a:rPr>
              <a:t>[activity]</a:t>
            </a:r>
          </a:p>
        </p:txBody>
      </p:sp>
      <p:sp>
        <p:nvSpPr>
          <p:cNvPr id="42" name="Oval 41"/>
          <p:cNvSpPr/>
          <p:nvPr/>
        </p:nvSpPr>
        <p:spPr>
          <a:xfrm>
            <a:off x="5824728" y="2478024"/>
            <a:ext cx="256032" cy="256032"/>
          </a:xfrm>
          <a:prstGeom prst="ellipse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6732" y="2528316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3401568"/>
            <a:ext cx="1645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50" b="1">
                <a:solidFill>
                  <a:srgbClr val="1F2226"/>
                </a:solidFill>
                <a:latin typeface="Consolas"/>
              </a:rPr>
              <a:t>HEOR/access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7639" y="3346704"/>
            <a:ext cx="1691640" cy="256032"/>
          </a:xfrm>
          <a:prstGeom prst="rect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96512" y="3401568"/>
            <a:ext cx="1325880" cy="822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570" b="1">
                <a:solidFill>
                  <a:srgbClr val="191F27"/>
                </a:solidFill>
                <a:latin typeface="Consolas"/>
              </a:rPr>
              <a:t>[activity]</a:t>
            </a:r>
          </a:p>
        </p:txBody>
      </p:sp>
      <p:sp>
        <p:nvSpPr>
          <p:cNvPr id="47" name="Oval 46"/>
          <p:cNvSpPr/>
          <p:nvPr/>
        </p:nvSpPr>
        <p:spPr>
          <a:xfrm>
            <a:off x="6665976" y="3282696"/>
            <a:ext cx="256032" cy="256032"/>
          </a:xfrm>
          <a:prstGeom prst="ellipse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97980" y="3332988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4206240"/>
            <a:ext cx="1645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50" b="1">
                <a:solidFill>
                  <a:srgbClr val="1F2226"/>
                </a:solidFill>
                <a:latin typeface="Consolas"/>
              </a:rPr>
              <a:t>Patient/COA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71800" y="4151376"/>
            <a:ext cx="2258568" cy="256032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90672" y="4206240"/>
            <a:ext cx="1325880" cy="822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570" b="1">
                <a:solidFill>
                  <a:srgbClr val="191F27"/>
                </a:solidFill>
                <a:latin typeface="Consolas"/>
              </a:rPr>
              <a:t>[activity]</a:t>
            </a:r>
          </a:p>
        </p:txBody>
      </p:sp>
      <p:sp>
        <p:nvSpPr>
          <p:cNvPr id="52" name="Oval 51"/>
          <p:cNvSpPr/>
          <p:nvPr/>
        </p:nvSpPr>
        <p:spPr>
          <a:xfrm>
            <a:off x="7507224" y="4087368"/>
            <a:ext cx="256032" cy="256032"/>
          </a:xfrm>
          <a:prstGeom prst="ellipse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39228" y="4137659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" y="5010912"/>
            <a:ext cx="1645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50" b="1">
                <a:solidFill>
                  <a:srgbClr val="1F2226"/>
                </a:solidFill>
                <a:latin typeface="Consolas"/>
              </a:rPr>
              <a:t>Publications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0" y="4956048"/>
            <a:ext cx="1691640" cy="256032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93591" y="5010912"/>
            <a:ext cx="1325880" cy="822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570" b="1">
                <a:solidFill>
                  <a:srgbClr val="191F27"/>
                </a:solidFill>
                <a:latin typeface="Consolas"/>
              </a:rPr>
              <a:t>[activity]</a:t>
            </a:r>
          </a:p>
        </p:txBody>
      </p:sp>
      <p:sp>
        <p:nvSpPr>
          <p:cNvPr id="57" name="Oval 56"/>
          <p:cNvSpPr/>
          <p:nvPr/>
        </p:nvSpPr>
        <p:spPr>
          <a:xfrm>
            <a:off x="8348472" y="4892040"/>
            <a:ext cx="256032" cy="256032"/>
          </a:xfrm>
          <a:prstGeom prst="ellipse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80476" y="4942331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3232" y="5742432"/>
            <a:ext cx="10515600" cy="438912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3232" y="5742432"/>
            <a:ext cx="50292" cy="438912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7824" y="5852160"/>
            <a:ext cx="1022299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Decision gates: [protocol] | [data cut] | [abstract] | [regulatory] | [HTA] | [launch]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E2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Evidence Activity Tracker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1234440"/>
          <a:ext cx="10287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828800"/>
                <a:gridCol w="822960"/>
                <a:gridCol w="2423160"/>
                <a:gridCol w="1051560"/>
                <a:gridCol w="1143000"/>
                <a:gridCol w="1508760"/>
                <a:gridCol w="1005840"/>
              </a:tblGrid>
              <a:tr h="548640">
                <a:tc>
                  <a:txBody>
                    <a:bodyPr anchor="ctr"/>
                    <a:lstStyle/>
                    <a:p>
                      <a:r>
                        <a:t>ID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Activity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Gap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Method / Data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Owner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Timing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Status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Priority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A1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A2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A3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A4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A5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A6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A7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A8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Claims Matrix Route 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1234440"/>
          <a:ext cx="110642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417320"/>
                <a:gridCol w="2514600"/>
                <a:gridCol w="1828800"/>
                <a:gridCol w="1417320"/>
                <a:gridCol w="1737360"/>
              </a:tblGrid>
              <a:tr h="611505">
                <a:tc>
                  <a:txBody>
                    <a:bodyPr anchor="ctr"/>
                    <a:lstStyle/>
                    <a:p>
                      <a:r>
                        <a:t>Claim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Stakeholder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Required Evidence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Current Support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Gap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Tactic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</a:tr>
              <a:tr h="611505">
                <a:tc>
                  <a:txBody>
                    <a:bodyPr anchor="ctr"/>
                    <a:lstStyle/>
                    <a:p>
                      <a:r>
                        <a:t>[Clinical benefit claim]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[required standard]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[support]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611505">
                <a:tc>
                  <a:txBody>
                    <a:bodyPr anchor="ctr"/>
                    <a:lstStyle/>
                    <a:p>
                      <a:r>
                        <a:t>[Safety claim]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[required standard]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[support]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611505">
                <a:tc>
                  <a:txBody>
                    <a:bodyPr anchor="ctr"/>
                    <a:lstStyle/>
                    <a:p>
                      <a:r>
                        <a:t>[Economic value claim]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[required standard]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[support]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611505">
                <a:tc>
                  <a:txBody>
                    <a:bodyPr anchor="ctr"/>
                    <a:lstStyle/>
                    <a:p>
                      <a:r>
                        <a:t>[Patient value claim]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[required standard]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[support]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611505">
                <a:tc>
                  <a:txBody>
                    <a:bodyPr anchor="ctr"/>
                    <a:lstStyle/>
                    <a:p>
                      <a:r>
                        <a:t>[Implementation claim]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[required standard]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[support]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611505">
                <a:tc>
                  <a:txBody>
                    <a:bodyPr anchor="ctr"/>
                    <a:lstStyle/>
                    <a:p>
                      <a:r>
                        <a:t>[Other claim]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[required standard]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[support]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611505">
                <a:tc>
                  <a:txBody>
                    <a:bodyPr anchor="ctr"/>
                    <a:lstStyle/>
                    <a:p>
                      <a:r>
                        <a:t>[Other claim]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[audience]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[required standard]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[support]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[gap]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E4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Study Concept Card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1325880"/>
            <a:ext cx="3246120" cy="150876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1325880"/>
            <a:ext cx="50292" cy="150876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435607"/>
            <a:ext cx="29535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Study / 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828800"/>
            <a:ext cx="26517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0565D"/>
                </a:solidFill>
                <a:latin typeface="Aptos"/>
              </a:rPr>
              <a:t>[name and ID]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1325880"/>
            <a:ext cx="3246120" cy="150876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1325880"/>
            <a:ext cx="50292" cy="150876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1435607"/>
            <a:ext cx="29535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Gap and decision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828800"/>
            <a:ext cx="26517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0565D"/>
                </a:solidFill>
                <a:latin typeface="Aptos"/>
              </a:rPr>
              <a:t>[gap, ORQ, stakeholder]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8431" y="1325880"/>
            <a:ext cx="3246120" cy="150876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431" y="1325880"/>
            <a:ext cx="50292" cy="1508760"/>
          </a:xfrm>
          <a:prstGeom prst="rect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3" y="1435607"/>
            <a:ext cx="29535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Objective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828800"/>
            <a:ext cx="26517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0565D"/>
                </a:solidFill>
                <a:latin typeface="Aptos"/>
              </a:rPr>
              <a:t>[objective and hypothesis]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383280"/>
            <a:ext cx="3246120" cy="150876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3383280"/>
            <a:ext cx="50292" cy="150876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493008"/>
            <a:ext cx="29535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886200"/>
            <a:ext cx="26517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0565D"/>
                </a:solidFill>
                <a:latin typeface="Aptos"/>
              </a:rPr>
              <a:t>[population, comparator, endpoint, data source]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0832" y="3383280"/>
            <a:ext cx="3246120" cy="150876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0832" y="3383280"/>
            <a:ext cx="50292" cy="1508760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35424" y="3493008"/>
            <a:ext cx="29535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Feasibility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886200"/>
            <a:ext cx="26517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0565D"/>
                </a:solidFill>
                <a:latin typeface="Aptos"/>
              </a:rPr>
              <a:t>[cost, complexity, dependencies]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28431" y="3383280"/>
            <a:ext cx="3246120" cy="150876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28431" y="3383280"/>
            <a:ext cx="50292" cy="150876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93023" y="3493008"/>
            <a:ext cx="29535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Pull-through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886200"/>
            <a:ext cx="26517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0565D"/>
                </a:solidFill>
                <a:latin typeface="Aptos"/>
              </a:rPr>
              <a:t>[publication, dossier, claims, medical]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232" y="5623560"/>
            <a:ext cx="10561320" cy="384048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3232" y="5623560"/>
            <a:ext cx="50292" cy="384048"/>
          </a:xfrm>
          <a:prstGeom prst="rect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5733288"/>
            <a:ext cx="102687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Decision: [approve / revise / defer]    Next step: [action]    Date: [ 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E5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Specialized Evidence Workstreams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1417320"/>
            <a:ext cx="4800600" cy="178308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1417320"/>
            <a:ext cx="50292" cy="178308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1527048"/>
            <a:ext cx="450799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HEOR /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1828800"/>
            <a:ext cx="402336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SLR / ITC</a:t>
            </a:r>
          </a:p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economic model</a:t>
            </a:r>
          </a:p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budget impact</a:t>
            </a:r>
          </a:p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payer research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1417320"/>
            <a:ext cx="4800600" cy="178308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9048" y="1417320"/>
            <a:ext cx="50292" cy="178308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527048"/>
            <a:ext cx="450799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RWE /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1828800"/>
            <a:ext cx="402336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retrospective database</a:t>
            </a:r>
          </a:p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prospective study</a:t>
            </a:r>
          </a:p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registry</a:t>
            </a:r>
          </a:p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external control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657600"/>
            <a:ext cx="4800600" cy="178308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3657600"/>
            <a:ext cx="50292" cy="1783080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767328"/>
            <a:ext cx="450799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Patient-centered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069080"/>
            <a:ext cx="402336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COA / PRO</a:t>
            </a:r>
          </a:p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HRQoL</a:t>
            </a:r>
          </a:p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preference</a:t>
            </a:r>
          </a:p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caregiver burden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48" y="3657600"/>
            <a:ext cx="4800600" cy="178308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3657600"/>
            <a:ext cx="50292" cy="1783080"/>
          </a:xfrm>
          <a:prstGeom prst="rect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767328"/>
            <a:ext cx="450799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Evidence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4069080"/>
            <a:ext cx="402336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catalog</a:t>
            </a:r>
          </a:p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source log</a:t>
            </a:r>
          </a:p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claims support</a:t>
            </a:r>
          </a:p>
          <a:p>
            <a:pPr>
              <a:spcAft>
                <a:spcPts val="300"/>
              </a:spcAft>
            </a:pPr>
            <a:r>
              <a:rPr sz="930">
                <a:solidFill>
                  <a:srgbClr val="50565D"/>
                </a:solidFill>
                <a:latin typeface="Aptos"/>
              </a:rPr>
              <a:t>publication pull-through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8F7F2"/>
                </a:solidFill>
                <a:latin typeface="Consolas"/>
              </a:rPr>
              <a:t>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D6DBD8"/>
                </a:solidFill>
                <a:latin typeface="Consolas"/>
              </a:rPr>
              <a:t>25</a:t>
            </a:r>
          </a:p>
        </p:txBody>
      </p:sp>
      <p:sp>
        <p:nvSpPr>
          <p:cNvPr id="16" name="Arc 15"/>
          <p:cNvSpPr/>
          <p:nvPr/>
        </p:nvSpPr>
        <p:spPr>
          <a:xfrm>
            <a:off x="6858000" y="502920"/>
            <a:ext cx="4389120" cy="502920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 rot="780000">
            <a:off x="6958584" y="576072"/>
            <a:ext cx="4187952" cy="488289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 rot="1560000">
            <a:off x="7059168" y="649224"/>
            <a:ext cx="3986783" cy="4736592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 rot="2340000">
            <a:off x="7159752" y="722376"/>
            <a:ext cx="3785615" cy="4590288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 rot="3120000">
            <a:off x="7260336" y="795528"/>
            <a:ext cx="3584448" cy="4443984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 rot="3900000">
            <a:off x="7360920" y="868680"/>
            <a:ext cx="3383279" cy="429768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 rot="4680000">
            <a:off x="7461504" y="941832"/>
            <a:ext cx="3182111" cy="415137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914400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1">
                <a:solidFill>
                  <a:srgbClr val="B0C750"/>
                </a:solidFill>
                <a:latin typeface="Consolas"/>
              </a:rPr>
              <a:t>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1389888"/>
            <a:ext cx="80467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ptos"/>
              </a:rPr>
              <a:t>Evidence Control 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331720"/>
            <a:ext cx="585216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00" b="1">
                <a:solidFill>
                  <a:srgbClr val="DCE0DC"/>
                </a:solidFill>
                <a:latin typeface="Consolas"/>
              </a:rPr>
              <a:t>GOVERNANCE AND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2788920"/>
            <a:ext cx="62179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E8EAE6"/>
                </a:solidFill>
                <a:latin typeface="Aptos"/>
              </a:rPr>
              <a:t>Operate the plan as a living system with owners, decisions, KPIs, risks, and refresh triggers.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Evidence Control Room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8368" y="1280160"/>
          <a:ext cx="54864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057400"/>
                <a:gridCol w="960120"/>
                <a:gridCol w="1234440"/>
              </a:tblGrid>
              <a:tr h="613954">
                <a:tc>
                  <a:txBody>
                    <a:bodyPr anchor="ctr"/>
                    <a:lstStyle/>
                    <a:p>
                      <a:r>
                        <a:t>Forum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Purpose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Cadence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Rights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</a:tr>
              <a:tr h="613954">
                <a:tc>
                  <a:txBody>
                    <a:bodyPr anchor="ctr"/>
                    <a:lstStyle/>
                    <a:p>
                      <a:r>
                        <a:t>Core team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[maintain plan]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[monthly]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613954">
                <a:tc>
                  <a:txBody>
                    <a:bodyPr anchor="ctr"/>
                    <a:lstStyle/>
                    <a:p>
                      <a:r>
                        <a:t>Evidence council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[prioritize/fund]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[quarterly]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613954">
                <a:tc>
                  <a:txBody>
                    <a:bodyPr anchor="ctr"/>
                    <a:lstStyle/>
                    <a:p>
                      <a:r>
                        <a:t>Global-local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[adapt needs]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[quarterly]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613954">
                <a:tc>
                  <a:txBody>
                    <a:bodyPr anchor="ctr"/>
                    <a:lstStyle/>
                    <a:p>
                      <a:r>
                        <a:t>Leadership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[trade-offs]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[semiannual]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613954">
                <a:tc>
                  <a:txBody>
                    <a:bodyPr anchor="ctr"/>
                    <a:lstStyle/>
                    <a:p>
                      <a:r>
                        <a:t>Publications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[pull-through]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[monthly]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613956">
                <a:tc>
                  <a:txBody>
                    <a:bodyPr anchor="ctr"/>
                    <a:lstStyle/>
                    <a:p>
                      <a:r>
                        <a:t>Other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[purpose]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[cadence]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[rights]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446520" y="1280160"/>
            <a:ext cx="4754880" cy="429768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1280160"/>
            <a:ext cx="50292" cy="4297680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1389888"/>
            <a:ext cx="446227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Update triggers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737360"/>
            <a:ext cx="3977639" cy="3154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19">
                <a:solidFill>
                  <a:srgbClr val="1F2226"/>
                </a:solidFill>
                <a:latin typeface="Aptos"/>
              </a:rPr>
              <a:t>Clinical readout</a:t>
            </a:r>
          </a:p>
          <a:p>
            <a:pPr>
              <a:spcAft>
                <a:spcPts val="300"/>
              </a:spcAft>
            </a:pPr>
            <a:r>
              <a:rPr sz="1019">
                <a:solidFill>
                  <a:srgbClr val="1F2226"/>
                </a:solidFill>
                <a:latin typeface="Aptos"/>
              </a:rPr>
              <a:t>Regulatory feedback</a:t>
            </a:r>
          </a:p>
          <a:p>
            <a:pPr>
              <a:spcAft>
                <a:spcPts val="300"/>
              </a:spcAft>
            </a:pPr>
            <a:r>
              <a:rPr sz="1019">
                <a:solidFill>
                  <a:srgbClr val="1F2226"/>
                </a:solidFill>
                <a:latin typeface="Aptos"/>
              </a:rPr>
              <a:t>HTA / payer expectation change</a:t>
            </a:r>
          </a:p>
          <a:p>
            <a:pPr>
              <a:spcAft>
                <a:spcPts val="300"/>
              </a:spcAft>
            </a:pPr>
            <a:r>
              <a:rPr sz="1019">
                <a:solidFill>
                  <a:srgbClr val="1F2226"/>
                </a:solidFill>
                <a:latin typeface="Aptos"/>
              </a:rPr>
              <a:t>Competitor approval or data</a:t>
            </a:r>
          </a:p>
          <a:p>
            <a:pPr>
              <a:spcAft>
                <a:spcPts val="300"/>
              </a:spcAft>
            </a:pPr>
            <a:r>
              <a:rPr sz="1019">
                <a:solidFill>
                  <a:srgbClr val="1F2226"/>
                </a:solidFill>
                <a:latin typeface="Aptos"/>
              </a:rPr>
              <a:t>Guideline update</a:t>
            </a:r>
          </a:p>
          <a:p>
            <a:pPr>
              <a:spcAft>
                <a:spcPts val="300"/>
              </a:spcAft>
            </a:pPr>
            <a:r>
              <a:rPr sz="1019">
                <a:solidFill>
                  <a:srgbClr val="1F2226"/>
                </a:solidFill>
                <a:latin typeface="Aptos"/>
              </a:rPr>
              <a:t>Budget or feasibility change</a:t>
            </a:r>
          </a:p>
          <a:p>
            <a:pPr>
              <a:spcAft>
                <a:spcPts val="300"/>
              </a:spcAft>
            </a:pPr>
            <a:r>
              <a:rPr sz="1019">
                <a:solidFill>
                  <a:srgbClr val="1F2226"/>
                </a:solidFill>
                <a:latin typeface="Aptos"/>
              </a:rPr>
              <a:t>Regional access need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F2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Evidence Impact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1325880"/>
            <a:ext cx="2331720" cy="123444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1325880"/>
            <a:ext cx="50292" cy="123444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435607"/>
            <a:ext cx="20391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Gap closure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1856231"/>
            <a:ext cx="13258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191F27"/>
                </a:solidFill>
                <a:latin typeface="Aptos"/>
              </a:rPr>
              <a:t>[metric]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2267712"/>
            <a:ext cx="1325880" cy="6858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2377440"/>
            <a:ext cx="132588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50" b="0">
                <a:solidFill>
                  <a:srgbClr val="7E8489"/>
                </a:solidFill>
                <a:latin typeface="Consolas"/>
              </a:rPr>
              <a:t>[target]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6432" y="1325880"/>
            <a:ext cx="2331720" cy="123444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56432" y="1325880"/>
            <a:ext cx="50292" cy="123444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21024" y="1435607"/>
            <a:ext cx="20391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Milestones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1856231"/>
            <a:ext cx="13258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191F27"/>
                </a:solidFill>
                <a:latin typeface="Aptos"/>
              </a:rPr>
              <a:t>[metric]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2267712"/>
            <a:ext cx="1325880" cy="6858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2377440"/>
            <a:ext cx="132588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50" b="0">
                <a:solidFill>
                  <a:srgbClr val="7E8489"/>
                </a:solidFill>
                <a:latin typeface="Consolas"/>
              </a:rPr>
              <a:t>[target]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1325880"/>
            <a:ext cx="2331720" cy="123444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1325880"/>
            <a:ext cx="50292" cy="1234440"/>
          </a:xfrm>
          <a:prstGeom prst="rect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1435607"/>
            <a:ext cx="20391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Evidence reuse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856231"/>
            <a:ext cx="13258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191F27"/>
                </a:solidFill>
                <a:latin typeface="Aptos"/>
              </a:rPr>
              <a:t>[metric]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2267712"/>
            <a:ext cx="1325880" cy="68580"/>
          </a:xfrm>
          <a:prstGeom prst="rect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40"/>
            <a:ext cx="132588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50" b="0">
                <a:solidFill>
                  <a:srgbClr val="7E8489"/>
                </a:solidFill>
                <a:latin typeface="Consolas"/>
              </a:rPr>
              <a:t>[target]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42832" y="1325880"/>
            <a:ext cx="2331720" cy="123444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42832" y="1325880"/>
            <a:ext cx="50292" cy="1234440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435607"/>
            <a:ext cx="203911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Pull-through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1856231"/>
            <a:ext cx="13258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191F27"/>
                </a:solidFill>
                <a:latin typeface="Aptos"/>
              </a:rPr>
              <a:t>[metric]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2267712"/>
            <a:ext cx="1325880" cy="68580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2377440"/>
            <a:ext cx="1325880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50" b="0">
                <a:solidFill>
                  <a:srgbClr val="7E8489"/>
                </a:solidFill>
                <a:latin typeface="Consolas"/>
              </a:rPr>
              <a:t>[target]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713232" y="3063240"/>
          <a:ext cx="10561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023360"/>
                <a:gridCol w="1371600"/>
                <a:gridCol w="1371600"/>
                <a:gridCol w="1965960"/>
              </a:tblGrid>
              <a:tr h="426720">
                <a:tc>
                  <a:txBody>
                    <a:bodyPr anchor="ctr"/>
                    <a:lstStyle/>
                    <a:p>
                      <a:r>
                        <a:t>KPI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Definition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Baseline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Target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Owner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</a:tr>
              <a:tr h="426720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426720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426720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426720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426720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F3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Risk And Dependency Register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123444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1828800"/>
                <a:gridCol w="1188720"/>
                <a:gridCol w="3383280"/>
                <a:gridCol w="2240280"/>
              </a:tblGrid>
              <a:tr h="617220">
                <a:tc>
                  <a:txBody>
                    <a:bodyPr anchor="ctr"/>
                    <a:lstStyle/>
                    <a:p>
                      <a:r>
                        <a:t>Risk / Dependency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Activity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Impact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Mitigation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Decision Needed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D6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8F7F2"/>
                </a:solidFill>
                <a:latin typeface="Consolas"/>
              </a:rP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D6DBD8"/>
                </a:solidFill>
                <a:latin typeface="Consolas"/>
              </a:rPr>
              <a:t>29</a:t>
            </a:r>
          </a:p>
        </p:txBody>
      </p:sp>
      <p:sp>
        <p:nvSpPr>
          <p:cNvPr id="16" name="Arc 15"/>
          <p:cNvSpPr/>
          <p:nvPr/>
        </p:nvSpPr>
        <p:spPr>
          <a:xfrm>
            <a:off x="6858000" y="502920"/>
            <a:ext cx="4389120" cy="502920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 rot="780000">
            <a:off x="6958584" y="576072"/>
            <a:ext cx="4187952" cy="488289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 rot="1560000">
            <a:off x="7059168" y="649224"/>
            <a:ext cx="3986783" cy="4736592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 rot="2340000">
            <a:off x="7159752" y="722376"/>
            <a:ext cx="3785615" cy="4590288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 rot="3120000">
            <a:off x="7260336" y="795528"/>
            <a:ext cx="3584448" cy="4443984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 rot="3900000">
            <a:off x="7360920" y="868680"/>
            <a:ext cx="3383279" cy="4297680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 rot="4680000">
            <a:off x="7461504" y="941832"/>
            <a:ext cx="3182111" cy="4151376"/>
          </a:xfrm>
          <a:prstGeom prst="arc">
            <a:avLst/>
          </a:prstGeom>
          <a:noFill/>
          <a:ln w="6985">
            <a:solidFill>
              <a:srgbClr val="4A5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914400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1">
                <a:solidFill>
                  <a:srgbClr val="B0C750"/>
                </a:solidFill>
                <a:latin typeface="Consolas"/>
              </a:rPr>
              <a:t>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1389888"/>
            <a:ext cx="80467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ptos"/>
              </a:rPr>
              <a:t>Appendix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331720"/>
            <a:ext cx="585216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700" b="1">
                <a:solidFill>
                  <a:srgbClr val="DCE0DC"/>
                </a:solidFill>
                <a:latin typeface="Consolas"/>
              </a:rPr>
              <a:t>SOURCE BASIS AND WORKSHEETS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2788920"/>
            <a:ext cx="62179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E8EAE6"/>
                </a:solidFill>
                <a:latin typeface="Aptos"/>
              </a:rPr>
              <a:t>Keep provenance, methodology, regional adaptation, and final review materials audit-ready.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G1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APPENDIX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Source-Informed Template Basis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94360" y="1234440"/>
          <a:ext cx="10972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6080760"/>
                <a:gridCol w="1920240"/>
              </a:tblGrid>
              <a:tr h="548640">
                <a:tc>
                  <a:txBody>
                    <a:bodyPr anchor="ctr"/>
                    <a:lstStyle/>
                    <a:p>
                      <a:r>
                        <a:t>Source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Template Contribution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Type</a:t>
                      </a:r>
                    </a:p>
                  </a:txBody>
                  <a:tcPr marL="32004" marR="32004" marT="22860" marB="22860">
                    <a:solidFill>
                      <a:srgbClr val="191F27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Lumanity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Need-have-generate logic, future landscape, global harmonization, KPIs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Framework/PDF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Cencora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HEOR, RWE, SLR/evidence-synthesis, market-access components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Articles/service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ZS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IEP deliverable structure, roadmap, governance, execution tracking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How-to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Veranex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Claims matrix, scorecard, roadmap, budget and ROI views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Framework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DiMe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Stage resources, stakeholder maps, concrete digital-health case examples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Toolkit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MAPS/Prescient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Medical affairs standards, adaptive plans, refresh cadence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Guidance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McKinsey/Springer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Evidence catalog, prioritization, economics, value-driver framing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Thought leadership</a:t>
                      </a:r>
                    </a:p>
                  </a:txBody>
                  <a:tcPr marL="32004" marR="32004" marT="22860" marB="22860">
                    <a:solidFill>
                      <a:srgbClr val="FDFCF8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Oxford PharmaGenesis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PICOT, data-source selection, study mapping workflow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Process model</a:t>
                      </a:r>
                    </a:p>
                  </a:txBody>
                  <a:tcPr marL="32004" marR="32004" marT="22860" marB="22860">
                    <a:solidFill>
                      <a:srgbClr val="F8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G2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APPENDIX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Appendix Worksheets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1417320"/>
            <a:ext cx="4709160" cy="16459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1417320"/>
            <a:ext cx="50292" cy="1645920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1527048"/>
            <a:ext cx="441655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Regional adaptation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1901952"/>
            <a:ext cx="40690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0565D"/>
                </a:solidFill>
                <a:latin typeface="Aptos"/>
              </a:rPr>
              <a:t>local needs, reusable global evidence, local gaps, owner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417320"/>
            <a:ext cx="4709160" cy="16459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1417320"/>
            <a:ext cx="50292" cy="1645920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1" y="1527048"/>
            <a:ext cx="441655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Evidence source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901952"/>
            <a:ext cx="40690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0565D"/>
                </a:solidFill>
                <a:latin typeface="Aptos"/>
              </a:rPr>
              <a:t>source, date, owner, confidence, limitation, claim link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611880"/>
            <a:ext cx="4709160" cy="16459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611880"/>
            <a:ext cx="50292" cy="1645920"/>
          </a:xfrm>
          <a:prstGeom prst="rect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3721608"/>
            <a:ext cx="441655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Methodology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096512"/>
            <a:ext cx="40690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0565D"/>
                </a:solidFill>
                <a:latin typeface="Aptos"/>
              </a:rPr>
              <a:t>inputs, workshops, scoring rubric, assumptions, exclusions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611880"/>
            <a:ext cx="4709160" cy="1645920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3611880"/>
            <a:ext cx="50292" cy="1645920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1" y="3721608"/>
            <a:ext cx="441655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69" b="1">
                <a:solidFill>
                  <a:srgbClr val="1F2226"/>
                </a:solidFill>
                <a:latin typeface="Consolas"/>
              </a:rPr>
              <a:t>Glossary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096512"/>
            <a:ext cx="40690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0565D"/>
                </a:solidFill>
                <a:latin typeface="Aptos"/>
              </a:rPr>
              <a:t>IEGP/IEP, ORQ, PICOT, RWE, HEOR, HTA, COA/PRO, IIR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530352"/>
            <a:ext cx="10972" cy="5623560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" y="6858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32588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96596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260603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" y="324612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" y="388620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452627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" y="5166359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" y="5806440"/>
            <a:ext cx="100584" cy="10972"/>
          </a:xfrm>
          <a:prstGeom prst="rect">
            <a:avLst/>
          </a:prstGeom>
          <a:solidFill>
            <a:srgbClr val="7E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228600"/>
            <a:ext cx="3200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191F27"/>
                </a:solidFill>
                <a:latin typeface="Consolas"/>
              </a:rPr>
              <a:t>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632764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00" b="0">
                <a:solidFill>
                  <a:srgbClr val="7E8489"/>
                </a:solidFill>
                <a:latin typeface="Consolas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1089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670" b="1">
                <a:solidFill>
                  <a:srgbClr val="14747B"/>
                </a:solidFill>
                <a:latin typeface="Consolas"/>
              </a:rPr>
              <a:t>APPENDIX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66928"/>
            <a:ext cx="98755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50" b="1">
                <a:solidFill>
                  <a:srgbClr val="1F2226"/>
                </a:solidFill>
                <a:latin typeface="Aptos"/>
              </a:rPr>
              <a:t>Final Review Checklist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069848"/>
            <a:ext cx="10881360" cy="9144"/>
          </a:xfrm>
          <a:prstGeom prst="rect">
            <a:avLst/>
          </a:prstGeom>
          <a:solidFill>
            <a:srgbClr val="D6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1280160"/>
            <a:ext cx="256032" cy="256032"/>
          </a:xfrm>
          <a:prstGeom prst="ellipse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" y="133045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7008" y="1234440"/>
            <a:ext cx="4434840" cy="566928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7008" y="1234440"/>
            <a:ext cx="50292" cy="566928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1435608"/>
            <a:ext cx="388620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80" b="1">
                <a:solidFill>
                  <a:srgbClr val="1F2226"/>
                </a:solidFill>
                <a:latin typeface="Aptos"/>
              </a:rPr>
              <a:t>Strategy linked to decisions</a:t>
            </a:r>
          </a:p>
        </p:txBody>
      </p:sp>
      <p:sp>
        <p:nvSpPr>
          <p:cNvPr id="23" name="Oval 22"/>
          <p:cNvSpPr/>
          <p:nvPr/>
        </p:nvSpPr>
        <p:spPr>
          <a:xfrm>
            <a:off x="6080760" y="1280160"/>
            <a:ext cx="256032" cy="256032"/>
          </a:xfrm>
          <a:prstGeom prst="ellipse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12764" y="133045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4808" y="1234440"/>
            <a:ext cx="4434840" cy="566928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64808" y="1234440"/>
            <a:ext cx="50292" cy="566928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1435608"/>
            <a:ext cx="388620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80" b="1">
                <a:solidFill>
                  <a:srgbClr val="1F2226"/>
                </a:solidFill>
                <a:latin typeface="Aptos"/>
              </a:rPr>
              <a:t>Stakeholder needs documented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2423160"/>
            <a:ext cx="256032" cy="256032"/>
          </a:xfrm>
          <a:prstGeom prst="ellipse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" y="247345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7008" y="2377440"/>
            <a:ext cx="4434840" cy="566928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7008" y="2377440"/>
            <a:ext cx="50292" cy="566928"/>
          </a:xfrm>
          <a:prstGeom prst="rect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2578608"/>
            <a:ext cx="388620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80" b="1">
                <a:solidFill>
                  <a:srgbClr val="1F2226"/>
                </a:solidFill>
                <a:latin typeface="Aptos"/>
              </a:rPr>
              <a:t>Evidence inventory quality checked</a:t>
            </a:r>
          </a:p>
        </p:txBody>
      </p:sp>
      <p:sp>
        <p:nvSpPr>
          <p:cNvPr id="33" name="Oval 32"/>
          <p:cNvSpPr/>
          <p:nvPr/>
        </p:nvSpPr>
        <p:spPr>
          <a:xfrm>
            <a:off x="6080760" y="2423160"/>
            <a:ext cx="256032" cy="256032"/>
          </a:xfrm>
          <a:prstGeom prst="ellipse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12764" y="247345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64808" y="2377440"/>
            <a:ext cx="4434840" cy="566928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64808" y="2377440"/>
            <a:ext cx="50292" cy="566928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2578608"/>
            <a:ext cx="388620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80" b="1">
                <a:solidFill>
                  <a:srgbClr val="1F2226"/>
                </a:solidFill>
                <a:latin typeface="Aptos"/>
              </a:rPr>
              <a:t>Gaps prioritized with rubric</a:t>
            </a:r>
          </a:p>
        </p:txBody>
      </p:sp>
      <p:sp>
        <p:nvSpPr>
          <p:cNvPr id="38" name="Oval 37"/>
          <p:cNvSpPr/>
          <p:nvPr/>
        </p:nvSpPr>
        <p:spPr>
          <a:xfrm>
            <a:off x="822960" y="3566160"/>
            <a:ext cx="256032" cy="256032"/>
          </a:xfrm>
          <a:prstGeom prst="ellipse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" y="361645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07008" y="3520440"/>
            <a:ext cx="4434840" cy="566928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07008" y="3520440"/>
            <a:ext cx="50292" cy="566928"/>
          </a:xfrm>
          <a:prstGeom prst="rect">
            <a:avLst/>
          </a:prstGeom>
          <a:solidFill>
            <a:srgbClr val="14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17320" y="3721608"/>
            <a:ext cx="388620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80" b="1">
                <a:solidFill>
                  <a:srgbClr val="1F2226"/>
                </a:solidFill>
                <a:latin typeface="Aptos"/>
              </a:rPr>
              <a:t>Activities have owner/timing/status</a:t>
            </a:r>
          </a:p>
        </p:txBody>
      </p:sp>
      <p:sp>
        <p:nvSpPr>
          <p:cNvPr id="43" name="Oval 42"/>
          <p:cNvSpPr/>
          <p:nvPr/>
        </p:nvSpPr>
        <p:spPr>
          <a:xfrm>
            <a:off x="6080760" y="3566160"/>
            <a:ext cx="256032" cy="256032"/>
          </a:xfrm>
          <a:prstGeom prst="ellipse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12764" y="3616452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64808" y="3520440"/>
            <a:ext cx="4434840" cy="566928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64808" y="3520440"/>
            <a:ext cx="50292" cy="566928"/>
          </a:xfrm>
          <a:prstGeom prst="rect">
            <a:avLst/>
          </a:prstGeom>
          <a:solidFill>
            <a:srgbClr val="9C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3721608"/>
            <a:ext cx="388620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80" b="1">
                <a:solidFill>
                  <a:srgbClr val="1F2226"/>
                </a:solidFill>
                <a:latin typeface="Aptos"/>
              </a:rPr>
              <a:t>Governance cadence agreed</a:t>
            </a:r>
          </a:p>
        </p:txBody>
      </p:sp>
      <p:sp>
        <p:nvSpPr>
          <p:cNvPr id="48" name="Oval 47"/>
          <p:cNvSpPr/>
          <p:nvPr/>
        </p:nvSpPr>
        <p:spPr>
          <a:xfrm>
            <a:off x="822960" y="4709159"/>
            <a:ext cx="256032" cy="256032"/>
          </a:xfrm>
          <a:prstGeom prst="ellipse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964" y="4759451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07008" y="4663440"/>
            <a:ext cx="4434840" cy="566928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07008" y="4663440"/>
            <a:ext cx="50292" cy="566928"/>
          </a:xfrm>
          <a:prstGeom prst="rect">
            <a:avLst/>
          </a:prstGeom>
          <a:solidFill>
            <a:srgbClr val="B0C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17320" y="4864607"/>
            <a:ext cx="388620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80" b="1">
                <a:solidFill>
                  <a:srgbClr val="1F2226"/>
                </a:solidFill>
                <a:latin typeface="Aptos"/>
              </a:rPr>
              <a:t>Source-backed facts separated from assumptions</a:t>
            </a:r>
          </a:p>
        </p:txBody>
      </p:sp>
      <p:sp>
        <p:nvSpPr>
          <p:cNvPr id="53" name="Oval 52"/>
          <p:cNvSpPr/>
          <p:nvPr/>
        </p:nvSpPr>
        <p:spPr>
          <a:xfrm>
            <a:off x="6080760" y="4709159"/>
            <a:ext cx="256032" cy="256032"/>
          </a:xfrm>
          <a:prstGeom prst="ellipse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12764" y="4759451"/>
            <a:ext cx="192024" cy="91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64808" y="4663440"/>
            <a:ext cx="4434840" cy="566928"/>
          </a:xfrm>
          <a:prstGeom prst="rect">
            <a:avLst/>
          </a:prstGeom>
          <a:solidFill>
            <a:srgbClr val="FDFCF8"/>
          </a:solidFill>
          <a:ln w="8255">
            <a:solidFill>
              <a:srgbClr val="D6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64808" y="4663440"/>
            <a:ext cx="50292" cy="566928"/>
          </a:xfrm>
          <a:prstGeom prst="rect">
            <a:avLst/>
          </a:prstGeom>
          <a:solidFill>
            <a:srgbClr val="B4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0" y="4864607"/>
            <a:ext cx="3886200" cy="109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880" b="1">
                <a:solidFill>
                  <a:srgbClr val="1F2226"/>
                </a:solidFill>
                <a:latin typeface="Aptos"/>
              </a:rPr>
              <a:t>Next review date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