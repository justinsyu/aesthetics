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F3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2194560" cy="23774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850" b="1">
                <a:solidFill>
                  <a:srgbClr val="1B7E7C"/>
                </a:solidFill>
                <a:latin typeface="Aptos"/>
              </a:rPr>
              <a:t>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960120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3900" b="1">
                <a:solidFill>
                  <a:srgbClr val="23262B"/>
                </a:solidFill>
                <a:latin typeface="Aptos"/>
              </a:rPr>
              <a:t>Integrated Evidence Generation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04288"/>
            <a:ext cx="804672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600" b="0">
                <a:solidFill>
                  <a:srgbClr val="636970"/>
                </a:solidFill>
                <a:latin typeface="Aptos"/>
              </a:rPr>
              <a:t>Reusable PowerPoint starting point for asset, indication, and lifecycle evidence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154680"/>
            <a:ext cx="190195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154680"/>
            <a:ext cx="54864" cy="105156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282696"/>
            <a:ext cx="1581912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93592"/>
            <a:ext cx="1609344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Replace with product-specific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154680"/>
            <a:ext cx="190195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3154680"/>
            <a:ext cx="54864" cy="105156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282696"/>
            <a:ext cx="1581912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593592"/>
            <a:ext cx="1609344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Replace with product-specific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3154680"/>
            <a:ext cx="190195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8928" y="3154680"/>
            <a:ext cx="54864" cy="105156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3282696"/>
            <a:ext cx="1581912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Gap prioritization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593592"/>
            <a:ext cx="1609344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Replace with product-specific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775" y="3154680"/>
            <a:ext cx="190195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51775" y="3154680"/>
            <a:ext cx="54864" cy="1051560"/>
          </a:xfrm>
          <a:prstGeom prst="rect">
            <a:avLst/>
          </a:prstGeom>
          <a:solidFill>
            <a:srgbClr val="BED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5" y="3282696"/>
            <a:ext cx="1581912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3593592"/>
            <a:ext cx="1609344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Replace with product-specific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64624" y="3154680"/>
            <a:ext cx="190195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64624" y="3154680"/>
            <a:ext cx="54864" cy="105156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7503" y="3282696"/>
            <a:ext cx="1581912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5" y="3593592"/>
            <a:ext cx="1609344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Replace with product-specific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596128"/>
            <a:ext cx="7040880" cy="31089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[Product / Asset] | [Indication] | [Region] | [Plan date]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62472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0">
                <a:solidFill>
                  <a:srgbClr val="E8EDEF"/>
                </a:solidFill>
                <a:latin typeface="Aptos"/>
              </a:rPr>
              <a:t>Prepared by: [Team / function]  |  Version: [v0.1]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How To Use This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Keep the template editable; replace bracketed placeholders with product-specific evidence, owners, and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4864" cy="192024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45336"/>
            <a:ext cx="3154679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1. Start With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2"/>
            <a:ext cx="3182112" cy="13533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Anchor evidence planning in asset strategy, TPP/TVP, lifecycle stage, geography, and decision windows.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Define what decisions this IEGP must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7472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54864" cy="192024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45336"/>
            <a:ext cx="3154679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2. Convert Needs Into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56232"/>
            <a:ext cx="3182112" cy="13533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Catalogue available evidence.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Map stakeholder evidence needs.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Prioritize gaps by strategic value and feasibility.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0632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54864" cy="192024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45336"/>
            <a:ext cx="2743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3. Build The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856232"/>
            <a:ext cx="2770632" cy="13533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Translate gaps into study concepts and activities.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Assign owners, timing, budget class, and pull-through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39"/>
            <a:ext cx="1056132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877055"/>
            <a:ext cx="102412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Template conventions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60520"/>
            <a:ext cx="996696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171450" indent="-114300"/>
            <a:r>
              <a:rPr sz="1100">
                <a:solidFill>
                  <a:srgbClr val="23262B"/>
                </a:solidFill>
                <a:latin typeface="Aptos"/>
              </a:rPr>
              <a:t>Replace [bracketed text] with product-specific content.</a:t>
            </a:r>
          </a:p>
          <a:p>
            <a:pPr marL="171450" indent="-114300"/>
            <a:r>
              <a:rPr sz="1100">
                <a:solidFill>
                  <a:srgbClr val="23262B"/>
                </a:solidFill>
                <a:latin typeface="Aptos"/>
              </a:rPr>
              <a:t>Keep source-backed facts distinct from assumptions and internal strategy decisions.</a:t>
            </a:r>
          </a:p>
          <a:p>
            <a:pPr marL="171450" indent="-114300"/>
            <a:r>
              <a:rPr sz="1100">
                <a:solidFill>
                  <a:srgbClr val="23262B"/>
                </a:solidFill>
                <a:latin typeface="Aptos"/>
              </a:rPr>
              <a:t>Use the evidence activity tracker as the single source of truth for study concepts, status, and owners.</a:t>
            </a:r>
          </a:p>
          <a:p>
            <a:pPr marL="171450" indent="-114300"/>
            <a:r>
              <a:rPr sz="1100">
                <a:solidFill>
                  <a:srgbClr val="23262B"/>
                </a:solidFill>
                <a:latin typeface="Aptos"/>
              </a:rPr>
              <a:t>Refresh after major regulatory, competitor, clinical, access, guideline, or data-readout events.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IEGP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Public guidance converges on a living, cross-functional plan that turns evidence needs into prioritized activities.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19202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54864" cy="196596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9656"/>
            <a:ext cx="1600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Strategic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30552"/>
            <a:ext cx="162763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TPP/TVP, value narrative, lifecycle stage, decision gates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32888" y="2395728"/>
            <a:ext cx="310896" cy="384048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19202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691640"/>
            <a:ext cx="54864" cy="196596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819656"/>
            <a:ext cx="1600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130552"/>
            <a:ext cx="162763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Stakeholder questions by regulator, HTA/payer, HCP, patient, policy, internal team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95728"/>
            <a:ext cx="310896" cy="384048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1691640"/>
            <a:ext cx="19202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691640"/>
            <a:ext cx="54864" cy="196596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819656"/>
            <a:ext cx="1600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130552"/>
            <a:ext cx="162763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Trial data, RWE, HEOR, SLRs, COA/PROs, publications, competitor evidence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04888" y="2395728"/>
            <a:ext cx="310896" cy="384048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60" y="1691640"/>
            <a:ext cx="19202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691640"/>
            <a:ext cx="54864" cy="196596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1819656"/>
            <a:ext cx="1600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Gaps and priorities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130552"/>
            <a:ext cx="162763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Risk, value, feasibility, timing, geography, funding and ownership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90888" y="2395728"/>
            <a:ext cx="310896" cy="384048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38360" y="1691640"/>
            <a:ext cx="192024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1691640"/>
            <a:ext cx="54864" cy="1965960"/>
          </a:xfrm>
          <a:prstGeom prst="rect">
            <a:avLst/>
          </a:prstGeom>
          <a:solidFill>
            <a:srgbClr val="BED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1819656"/>
            <a:ext cx="1600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2130552"/>
            <a:ext cx="162763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Studies, analyses, data sources, publications, owners, milestones, KPIs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4379976"/>
            <a:ext cx="1028700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Design 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645152"/>
            <a:ext cx="99669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F3952"/>
                </a:solidFill>
                <a:latin typeface="Aptos"/>
              </a:rPr>
              <a:t>Evidence to generate = evidence needed for strategic decisions minus evidence already available, adjusted for future landscape change and feasibility.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Summarize the evidence strategy, key gaps, proposed investments, and decisions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4290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54864" cy="18288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53895"/>
            <a:ext cx="31089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Strategic evidence priorities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64792"/>
            <a:ext cx="3136392" cy="1261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1. [Priority evidence objective]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2. [Priority evidence objective]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3. [Priority evidence objective]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54864" cy="182880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53895"/>
            <a:ext cx="31089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Top evidence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64792"/>
            <a:ext cx="3136392" cy="1261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G1 [Gap and decision risk]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G2 [Gap and decision risk]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G3 [Gap and decision risk]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325880"/>
            <a:ext cx="30632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325880"/>
            <a:ext cx="54864" cy="182880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453895"/>
            <a:ext cx="2743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Major decisions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764792"/>
            <a:ext cx="2770632" cy="1261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[Approve roadmap]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[Fund priority studies]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[Resolve owner / timing]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58368" y="370332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920240"/>
                <a:gridCol w="2743200"/>
                <a:gridCol w="1371600"/>
                <a:gridCol w="1645920"/>
              </a:tblGrid>
              <a:tr h="434340">
                <a:tc>
                  <a:txBody>
                    <a:bodyPr anchor="ctr"/>
                    <a:lstStyle/>
                    <a:p>
                      <a:r>
                        <a:t>Proposed Activity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Gap Addressed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Supported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Investment Class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t>[Study / analysis /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[Regulatory / access / adoption / lifecycle]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 / year]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 / $$ / $$$]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t>[Study / analysis /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[Regulatory / access / adoption / lifecycle]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 / year]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 / $$ / $$$]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t>[Study / analysis /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[Regulatory / access / adoption / lifecycle]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 / year]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 / $$ / $$$]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Key Decisions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Use this slide for governance meetings and funding reviews.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61872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3337560"/>
                <a:gridCol w="1325880"/>
                <a:gridCol w="1463040"/>
              </a:tblGrid>
              <a:tr h="679268">
                <a:tc>
                  <a:txBody>
                    <a:bodyPr anchor="ctr"/>
                    <a:lstStyle/>
                    <a:p>
                      <a:r>
                        <a:t>Decision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Recommendation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Rationale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Deadline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79268">
                <a:tc>
                  <a:txBody>
                    <a:bodyPr anchor="ctr"/>
                    <a:lstStyle/>
                    <a:p>
                      <a:r>
                        <a:t>[Approve priority gap list]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 / revise]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[Why this matters for asset strategy]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anchor="ctr"/>
                    <a:lstStyle/>
                    <a:p>
                      <a:r>
                        <a:t>[Fund evidence activity 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 / defer]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value and risk of inaction]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anchor="ctr"/>
                    <a:lstStyle/>
                    <a:p>
                      <a:r>
                        <a:t>[Select study design option]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[Option 1 / 2]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[Feasibility, credibility, timing]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anchor="ctr"/>
                    <a:lstStyle/>
                    <a:p>
                      <a:r>
                        <a:t>[Resolve regional adaptation]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 split]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[Reusable evidence vs local 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anchor="ctr"/>
                    <a:lstStyle/>
                    <a:p>
                      <a:r>
                        <a:t>[Confirm owner and cadence]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[RACI approval]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[Execution accountability]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 anchor="ctr"/>
                    <a:lstStyle/>
                    <a:p>
                      <a:r>
                        <a:t>[Other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[Rationale]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Asset Strategy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Summarize the product context before defining evidence needs.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983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54864" cy="9144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Asset /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64792"/>
            <a:ext cx="46908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[Name, mechanism, modality]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4983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4864" cy="91440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53895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Indication / 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764792"/>
            <a:ext cx="46908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[Target population, line of therapy, biomarker status]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560320"/>
            <a:ext cx="4983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560320"/>
            <a:ext cx="54864" cy="9144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8833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Lifecycle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999232"/>
            <a:ext cx="46908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[Pre-Ph2 / Ph3 / launch / post-launch / mature]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560320"/>
            <a:ext cx="4983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560320"/>
            <a:ext cx="54864" cy="91440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68833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Target geographies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999232"/>
            <a:ext cx="46908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[Global, US, EU5, JP, priority local markets]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94760"/>
            <a:ext cx="4983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794760"/>
            <a:ext cx="54864" cy="9144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2277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Target product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233672"/>
            <a:ext cx="46908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[Clinical, safety, convenience, durability, differentiation]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94760"/>
            <a:ext cx="4983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94760"/>
            <a:ext cx="54864" cy="91440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92277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Target value proposition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233672"/>
            <a:ext cx="46908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[Expected payer/HCP/patient value drivers]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257800"/>
            <a:ext cx="104698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385816"/>
            <a:ext cx="1014984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Key decision windows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59552"/>
            <a:ext cx="996696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23262B"/>
                </a:solidFill>
                <a:latin typeface="Aptos"/>
              </a:rPr>
              <a:t>[Regulatory interaction]  |  [Phase 3 design lock]  |  [HTA submission]  |  [Launch]  |  [Guideline update]  |  [Lifecycle expansion]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Strategic Imperatives And Value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Translate business, clinical, and access strategy into evidence-generation imperatives.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8813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011680"/>
                <a:gridCol w="2743200"/>
                <a:gridCol w="1828800"/>
              </a:tblGrid>
              <a:tr h="632460">
                <a:tc>
                  <a:txBody>
                    <a:bodyPr anchor="ctr"/>
                    <a:lstStyle/>
                    <a:p>
                      <a:r>
                        <a:t>Imperative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It Supports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Primary Stakeholders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Needed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Current Confidence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32460">
                <a:tc>
                  <a:txBody>
                    <a:bodyPr anchor="ctr"/>
                    <a:lstStyle/>
                    <a:p>
                      <a:r>
                        <a:t>[e.g., demonstrate differentiated clinical benefit]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guideline / uptake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[Regulators, HCPs]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comparator, subgroup 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 / Med / 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anchor="ctr"/>
                    <a:lstStyle/>
                    <a:p>
                      <a:r>
                        <a:t>[e.g., prove economic value]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/ formulary / contracting]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[Payers, HTA]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[Cost, resource use, budget impact]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anchor="ctr"/>
                    <a:lstStyle/>
                    <a:p>
                      <a:r>
                        <a:t>[e.g., support patient-centered value]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[Adoption / adherence / persistence]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[Patients, HCPs]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[PRO, COA, burden, QoL data]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anchor="ctr"/>
                    <a:lstStyle/>
                    <a:p>
                      <a:r>
                        <a:t>[e.g., de-risk local launch]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[Market access sequencing]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[Regional/local teams]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[Local comparator, epidemiology, pathways]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anchor="ctr"/>
                    <a:lstStyle/>
                    <a:p>
                      <a:r>
                        <a:t>[Add imperative]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Value Narrative And Evidence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Connect the asset value proposition to the claims and evidence required to support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4864" cy="141732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08176"/>
            <a:ext cx="2971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Draft 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2999232" cy="8503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[Concise product value narrative]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[Differentiation vs standard of care and competitors]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28016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280160"/>
            <a:ext cx="54864" cy="141732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08176"/>
            <a:ext cx="2971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Core claims /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719072"/>
            <a:ext cx="2999232" cy="8503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[Clinical claim]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[Economic/access claim]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[Patient-centered claim]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280160"/>
            <a:ext cx="35204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1280160"/>
            <a:ext cx="54864" cy="141732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408176"/>
            <a:ext cx="3200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1719072"/>
            <a:ext cx="3227832" cy="8503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[Evidence required for label, payer, medical, publication, or internal use]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108960"/>
          <a:ext cx="10561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057400"/>
                <a:gridCol w="1691640"/>
                <a:gridCol w="1965960"/>
              </a:tblGrid>
              <a:tr h="466344">
                <a:tc>
                  <a:txBody>
                    <a:bodyPr anchor="ctr"/>
                    <a:lstStyle/>
                    <a:p>
                      <a:r>
                        <a:t>Value Driver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Needed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Current Support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Gap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Planned Tactic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r>
                        <a:t>Clinical differentiation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 / comparator / subgroup]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r>
                        <a:t>Economic value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[Cost, utilization, model inputs]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r>
                        <a:t>Patient value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[PRO/COA, burden, preference]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r>
                        <a:t>Implementation value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[Pathway, adoption, service delivery]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Development And Commercial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Anchor evidence activities to readouts, submissions, launch windows, and external decision points.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08760"/>
                <a:gridCol w="2606040"/>
                <a:gridCol w="3200400"/>
                <a:gridCol w="1371600"/>
              </a:tblGrid>
              <a:tr h="565785">
                <a:tc>
                  <a:txBody>
                    <a:bodyPr anchor="ctr"/>
                    <a:lstStyle/>
                    <a:p>
                      <a:r>
                        <a:t>Milestone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Date / Window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Impact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Required Before Milestone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565785">
                <a:tc>
                  <a:txBody>
                    <a:bodyPr anchor="ctr"/>
                    <a:lstStyle/>
                    <a:p>
                      <a:r>
                        <a:t>[Phase 2/3 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claims, value story]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package]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anchor="ctr"/>
                    <a:lstStyle/>
                    <a:p>
                      <a:r>
                        <a:t>[Regulatory interaction]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endpoint / safety]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package]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anchor="ctr"/>
                    <a:lstStyle/>
                    <a:p>
                      <a:r>
                        <a:t>[HTA / payer submission]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[Access / reimbursement]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[Economic and comparative 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anchor="ctr"/>
                    <a:lstStyle/>
                    <a:p>
                      <a:r>
                        <a:t>[Launch]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[Adoption readiness]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[Publication / medical / access 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anchor="ctr"/>
                    <a:lstStyle/>
                    <a:p>
                      <a:r>
                        <a:t>[Guideline opportunity]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[Scientific credibility]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[Published 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anchor="ctr"/>
                    <a:lstStyle/>
                    <a:p>
                      <a:r>
                        <a:t>[Lifecycle expansion]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[New indication / 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package]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[Impact]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Stakeholder Evidence Needs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Capture the evidence questions that must be answered for each external and internal decision maker.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71800"/>
                <a:gridCol w="2606040"/>
                <a:gridCol w="1371600"/>
                <a:gridCol w="2468880"/>
              </a:tblGrid>
              <a:tr h="605790">
                <a:tc>
                  <a:txBody>
                    <a:bodyPr anchor="ctr"/>
                    <a:lstStyle/>
                    <a:p>
                      <a:r>
                        <a:t>Stakeholder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/ Question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Standard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Risk If Unanswered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r>
                        <a:t>Regulators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[Benefit-risk, endpoint, safety, subgroup, external control]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[RCT / supportive RWE / validated 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delay / restricted 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r>
                        <a:t>HTA / payers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[Comparative value, budget impact, durability]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 relevance, model inputs, local data]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[Access delay / unfavorable price]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r>
                        <a:t>HCPs / KOLs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[Place in therapy, patient selection, sequencing]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[Head-to-head, real-world use, guidelines]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[Slow adoption]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r>
                        <a:t>Patients / caregivers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[QoL, burden, preference, adherence]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[COA/PRO, qualitative, preference studies]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[Low perceived value]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r>
                        <a:t>Policy / systems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[Capacity, pathway, health equity, implementation]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[Service delivery, epidemiology, outcomes]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[Implementation barrier]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r>
                        <a:t>Internal teams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[Claims, launch readiness, lifecycle decisions]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[Approved evidence package and claims matrix]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[Fragmented 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[Standard]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Patient Journey Evidence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Identify evidence needs across diagnosis, treatment, access, persistence, and outcomes.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4864" cy="13716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45336"/>
            <a:ext cx="1280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Pre-diagnosis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56232"/>
            <a:ext cx="1307592" cy="8046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Awareness, symptoms, unmet need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[Evidence need]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84831" y="1874519"/>
            <a:ext cx="274320" cy="310896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68879" y="141732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79" y="1417320"/>
            <a:ext cx="54864" cy="137160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545336"/>
            <a:ext cx="1280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1856232"/>
            <a:ext cx="1307592" cy="8046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Testing, referral, severity, biomarker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[Evidence need]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59352" y="1874519"/>
            <a:ext cx="274320" cy="310896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41732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417320"/>
            <a:ext cx="54864" cy="137160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545336"/>
            <a:ext cx="1280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Treatment choice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1856232"/>
            <a:ext cx="1307592" cy="8046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Eligibility, sequencing, shared decision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[Evidence need]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33871" y="1874519"/>
            <a:ext cx="274320" cy="310896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141732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54864" cy="137160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45336"/>
            <a:ext cx="1280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856232"/>
            <a:ext cx="1307592" cy="8046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Coverage, affordability, site of care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[Evidence need]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708392" y="1874519"/>
            <a:ext cx="274320" cy="310896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141732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417320"/>
            <a:ext cx="54864" cy="1371600"/>
          </a:xfrm>
          <a:prstGeom prst="rect">
            <a:avLst/>
          </a:prstGeom>
          <a:solidFill>
            <a:srgbClr val="BED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1545336"/>
            <a:ext cx="1280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Follow-up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1856232"/>
            <a:ext cx="1307592" cy="8046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Adherence, persistence, monitoring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[Evidence need]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582911" y="1874519"/>
            <a:ext cx="274320" cy="310896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66960" y="141732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6960" y="1417320"/>
            <a:ext cx="54864" cy="13716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545336"/>
            <a:ext cx="1280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Outcomes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1552" y="1856232"/>
            <a:ext cx="1307592" cy="8046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QoL, durability, resource use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[Evidence need]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40080" y="3657600"/>
          <a:ext cx="10789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2468880"/>
                <a:gridCol w="1920240"/>
              </a:tblGrid>
              <a:tr h="434340">
                <a:tc>
                  <a:txBody>
                    <a:bodyPr anchor="ctr"/>
                    <a:lstStyle/>
                    <a:p>
                      <a:r>
                        <a:t>Journey Barrier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Question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Potential Method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Stakeholder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t>[Barrier]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[COA / preference / RWE / qualitative]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 / HCP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t>[Barrier]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[COA / preference / RWE / qualitative]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 / HCP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r>
                        <a:t>[Barrier]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[COA / preference / RWE / qualitative]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 / HCP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Geography And Market Evidence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Capture market-specific evidence requirements early enough to influence global studies or local tactics.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3444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2057400"/>
                <a:gridCol w="2743200"/>
                <a:gridCol w="1234440"/>
                <a:gridCol w="1828800"/>
              </a:tblGrid>
              <a:tr h="617220">
                <a:tc>
                  <a:txBody>
                    <a:bodyPr anchor="ctr"/>
                    <a:lstStyle/>
                    <a:p>
                      <a:r>
                        <a:t>Market / Region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Body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Comparator / Standard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Local Evidence Need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Global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[Core evidence council]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SOC]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[Core evidence requirement]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US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[Payers / guidelines]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[US SOC]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[Coverage / pathway / outcomes]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EU5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bodies]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[Local comparator]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[Indirect comparison, model, local data]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Japan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[PMDA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[Local SOC]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[Local clinical/access 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China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[NMPA / access]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[Local SOC]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[Local epidemiology / registry / access]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[Market]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[Body]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[Market]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[Body]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Current Evidence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Catalogue available and planned evidence before defining the incremental IEGP roadmap.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43000"/>
                <a:gridCol w="3200400"/>
                <a:gridCol w="2011680"/>
                <a:gridCol w="2606040"/>
              </a:tblGrid>
              <a:tr h="553720">
                <a:tc>
                  <a:txBody>
                    <a:bodyPr anchor="ctr"/>
                    <a:lstStyle/>
                    <a:p>
                      <a:r>
                        <a:t>Evidence Source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Status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Key Findings / Asset Relevance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Stakeholder Link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Quality / Limits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r>
                        <a:t>Clinical trials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 / ongoing]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[Endpoints, comparator, population, subgroup]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 / HCP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[Bias, maturity, generalizability]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r>
                        <a:t>Real-world evidence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 / planned]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[Utilization, outcomes, safety, pathway]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[Payer / HCP]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[Data source, missingness, confounding]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r>
                        <a:t>HEOR models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 / planned]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[CE model, BIA, burden, resource use]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[Inputs, assumptions, transferability]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r>
                        <a:t>SLR / indirect comparison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 / planned]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 landscape and evidence base]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[Network, heterogeneity, recency]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r>
                        <a:t>COA / PRO / preference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 / planned]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 burden, QoL, preference]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 / HCP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[Instrument validity, sample]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r>
                        <a:t>Epidemiology / market landscape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 / planned]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 size, pathway, competitor shifts]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[Date, geography, data gaps]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r>
                        <a:t>Publications / congresses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 / planned]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dissemination and claim support]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[HCP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[Status, timing, embargo]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[Finding]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Evidence Quality And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Assess whether existing evidence is decision-ready, transferable, and claim-supporting.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07008"/>
          <a:ext cx="11064239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097280"/>
                <a:gridCol w="2103120"/>
                <a:gridCol w="1828800"/>
                <a:gridCol w="1828800"/>
                <a:gridCol w="2331720"/>
              </a:tblGrid>
              <a:tr h="622935">
                <a:tc>
                  <a:txBody>
                    <a:bodyPr anchor="ctr"/>
                    <a:lstStyle/>
                    <a:p>
                      <a:r>
                        <a:t>Evidence Source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Strength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Publication / Disclosure Status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Jurisdiction Relevance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Claim Support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Limitations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[Source / study]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[Published / planned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 / limited]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[Claim/message]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[Bias, comparator, sample, 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[Source / study]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[Published / planned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 / limited]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[Claim/message]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[Bias, comparator, sample, 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[Source / study]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[Published / planned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 / limited]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[Claim/message]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[Bias, comparator, sample, 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[Source / study]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[Published / planned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 / limited]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[Claim/message]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[Bias, comparator, sample, 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[Source / study]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[Published / planned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 / limited]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[Claim/message]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[Bias, comparator, sample, 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[Source / study]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[Published / planned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 / limited]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[Claim/message]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[Bias, comparator, sample, 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[Source / study]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[Published / planned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/ local / limited]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[Claim/message]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[Bias, comparator, sample, 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Evidence Need vs Evidence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Use this logic to isolate what must be generated, updated, or synthesized.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PRIORITIZE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4864" cy="196596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28216"/>
            <a:ext cx="2011679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39112"/>
            <a:ext cx="203911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Stakeholder decisions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TPP/TVP and value narrative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Future landscape expectations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71800" y="2240280"/>
            <a:ext cx="292608" cy="384048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60020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600200"/>
            <a:ext cx="54864" cy="196596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728216"/>
            <a:ext cx="2011679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039112"/>
            <a:ext cx="203911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Completed / ongoing studies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Published evidence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Existing RWE, HEOR, COA, SLR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15000" y="2240280"/>
            <a:ext cx="292608" cy="384048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600200"/>
            <a:ext cx="54864" cy="196596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28216"/>
            <a:ext cx="2011679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Landscape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039112"/>
            <a:ext cx="203911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Competitors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Regulatory / HTA expectations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Guidelines and SoC change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58200" y="2240280"/>
            <a:ext cx="292608" cy="384048"/>
          </a:xfrm>
          <a:prstGeom prst="rightArrow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0" y="160020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600200"/>
            <a:ext cx="54864" cy="1965960"/>
          </a:xfrm>
          <a:prstGeom prst="rect">
            <a:avLst/>
          </a:prstGeom>
          <a:solidFill>
            <a:srgbClr val="BED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728216"/>
            <a:ext cx="2011679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to 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039112"/>
            <a:ext cx="2039112" cy="13990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New studies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Analyses / synthesis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Publication / pull-through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251960"/>
            <a:ext cx="104698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379976"/>
            <a:ext cx="1014984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Working formula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17720"/>
            <a:ext cx="1005840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1F3952"/>
                </a:solidFill>
                <a:latin typeface="Aptos"/>
              </a:rPr>
              <a:t>Prioritized evidence to generate = unmet stakeholder needs + future landscape changes - usable available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Future Landscape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IEGPs should anticipate the evidence environment at decision time, not only today.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4864" cy="20574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45336"/>
            <a:ext cx="21031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Clinical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2"/>
            <a:ext cx="2130552" cy="1490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New comparators, sequencing, endpoints, guidelines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[Add product-specific assumptions]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417320"/>
            <a:ext cx="54864" cy="205740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45336"/>
            <a:ext cx="21031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Access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856232"/>
            <a:ext cx="2130552" cy="1490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HTA rules, payer evidence expectations, affordability pressure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[Add product-specific assumptions]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1732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54864" cy="205740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45336"/>
            <a:ext cx="21031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Competitive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856232"/>
            <a:ext cx="2130552" cy="1490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Readouts, approvals, label expansions, biosimilars/generics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[Add product-specific assumptions]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41732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417320"/>
            <a:ext cx="54864" cy="205740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1545336"/>
            <a:ext cx="21031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Data and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1856232"/>
            <a:ext cx="2130552" cy="1490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RWE availability, registries, privacy, health-system priorities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[Add product-specific assumptions]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3977639"/>
          <a:ext cx="10607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2194560"/>
                <a:gridCol w="1828800"/>
              </a:tblGrid>
              <a:tr h="365760">
                <a:tc>
                  <a:txBody>
                    <a:bodyPr anchor="ctr"/>
                    <a:lstStyle/>
                    <a:p>
                      <a:r>
                        <a:t>Assumption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Implication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Trigger To Revisit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r>
                        <a:t>[Assumption]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[How this changes evidence needs]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[Event / 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r>
                        <a:t>[Assumption]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[How this changes evidence needs]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[Event / 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r>
                        <a:t>[Assumption]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[How this changes evidence needs]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[Event / 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Evidence Gap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Prioritize gaps by stakeholder importance, timing, feasibility, and strategic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PRIORITIZE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07008"/>
          <a:ext cx="110642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743200"/>
                <a:gridCol w="2194560"/>
                <a:gridCol w="2148840"/>
                <a:gridCol w="1005840"/>
                <a:gridCol w="2286000"/>
              </a:tblGrid>
              <a:tr h="563880">
                <a:tc>
                  <a:txBody>
                    <a:bodyPr anchor="ctr"/>
                    <a:lstStyle/>
                    <a:p>
                      <a:r>
                        <a:t>Gap ID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Gap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Stakeholder / Decision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Current Evidence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Priority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Recommended Action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G1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statement]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and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exists today]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 /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G2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statement]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and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exists today]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G3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statement]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and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exists today]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G4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statement]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and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exists today]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G5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statement]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and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exists today]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G6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statement]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and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exists today]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G7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statement]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and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exists today]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G8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statement]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and 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exists today]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Gap Prioritization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Use a consistent scoring rubric before converting gaps into funded evidence activities.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PRIORITIZE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25780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53895"/>
            <a:ext cx="493776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Impact x feasibility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1920240"/>
            <a:ext cx="1234440" cy="749808"/>
          </a:xfrm>
          <a:prstGeom prst="rect">
            <a:avLst/>
          </a:prstGeom>
          <a:solidFill>
            <a:srgbClr val="D5D9D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157984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1920240"/>
            <a:ext cx="1234440" cy="749808"/>
          </a:xfrm>
          <a:prstGeom prst="rect">
            <a:avLst/>
          </a:prstGeom>
          <a:solidFill>
            <a:srgbClr val="E7AA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157984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P3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30752" y="1920240"/>
            <a:ext cx="1234440" cy="749808"/>
          </a:xfrm>
          <a:prstGeom prst="rect">
            <a:avLst/>
          </a:prstGeom>
          <a:solidFill>
            <a:srgbClr val="BE535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2157984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P2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" y="2761488"/>
            <a:ext cx="1234440" cy="749808"/>
          </a:xfrm>
          <a:prstGeom prst="rect">
            <a:avLst/>
          </a:prstGeom>
          <a:solidFill>
            <a:srgbClr val="E7AA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2999232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P3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4872" y="2761488"/>
            <a:ext cx="1234440" cy="749808"/>
          </a:xfrm>
          <a:prstGeom prst="rect">
            <a:avLst/>
          </a:prstGeom>
          <a:solidFill>
            <a:srgbClr val="E7AA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999232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0752" y="2761488"/>
            <a:ext cx="1234440" cy="749808"/>
          </a:xfrm>
          <a:prstGeom prst="rect">
            <a:avLst/>
          </a:prstGeom>
          <a:solidFill>
            <a:srgbClr val="BED64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5928" y="2999232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3602736"/>
            <a:ext cx="1234440" cy="749808"/>
          </a:xfrm>
          <a:prstGeom prst="rect">
            <a:avLst/>
          </a:prstGeom>
          <a:solidFill>
            <a:srgbClr val="E7AA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" y="3840480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P2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04872" y="3602736"/>
            <a:ext cx="1234440" cy="749808"/>
          </a:xfrm>
          <a:prstGeom prst="rect">
            <a:avLst/>
          </a:prstGeom>
          <a:solidFill>
            <a:srgbClr val="BED64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3840480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P1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0752" y="3602736"/>
            <a:ext cx="1234440" cy="749808"/>
          </a:xfrm>
          <a:prstGeom prst="rect">
            <a:avLst/>
          </a:prstGeom>
          <a:solidFill>
            <a:srgbClr val="BED64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5928" y="3840480"/>
            <a:ext cx="6400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F3952"/>
                </a:solidFill>
                <a:latin typeface="Aptos"/>
              </a:rP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617720"/>
            <a:ext cx="128016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1">
                <a:solidFill>
                  <a:srgbClr val="636970"/>
                </a:solidFill>
                <a:latin typeface="Aptos"/>
              </a:rPr>
              <a:t>Feasibility / ability to generate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804672" y="2468880"/>
            <a:ext cx="274320" cy="10972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750" b="1">
                <a:solidFill>
                  <a:srgbClr val="636970"/>
                </a:solidFill>
                <a:latin typeface="Aptos"/>
              </a:rPr>
              <a:t>Strategic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1828800"/>
            <a:ext cx="1097280" cy="2651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High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Medium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325880"/>
            <a:ext cx="51663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1453895"/>
            <a:ext cx="48463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Scoring criteria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473952" y="1737360"/>
          <a:ext cx="470915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1874519"/>
              </a:tblGrid>
              <a:tr h="571500">
                <a:tc>
                  <a:txBody>
                    <a:bodyPr anchor="ctr"/>
                    <a:lstStyle/>
                    <a:p>
                      <a:r>
                        <a:t>Criterion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Score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Notes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t>Strategic importance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value / risk]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t>Stakeholder urgency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 and dependency]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t>Evidence feasibility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[Data, design, cost]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t>Differentiation potential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 / value impact]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t>Global-local leverage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[Reusable across markets]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Priority Gap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Duplicate this worksheet for each top-priority evidence gap.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PRIORITIZE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3375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96012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362456"/>
            <a:ext cx="30175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Gap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673352"/>
            <a:ext cx="3044952" cy="3931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[Concise gap and why existing evidence is insufficient]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3375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34440"/>
            <a:ext cx="54864" cy="96012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62456"/>
            <a:ext cx="30175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Affected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1673352"/>
            <a:ext cx="3044952" cy="3931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[Regulatory, HTA, HCP, patient, internal, lifecycle]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34440"/>
            <a:ext cx="33375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234440"/>
            <a:ext cx="54864" cy="96012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362456"/>
            <a:ext cx="30175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Risk of inaction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1673352"/>
            <a:ext cx="3044952" cy="3931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[Decision consequence, timing, market impact]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514600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514600"/>
            <a:ext cx="54864" cy="132588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2642616"/>
            <a:ext cx="475488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Current evidence and 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2953512"/>
            <a:ext cx="4782312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[Summarize available evidence]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[Quality, transferability, comparator, endpoint, timing limits]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514600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2514600"/>
            <a:ext cx="54864" cy="1325880"/>
          </a:xfrm>
          <a:prstGeom prst="rect">
            <a:avLst/>
          </a:prstGeom>
          <a:solidFill>
            <a:srgbClr val="BED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642616"/>
            <a:ext cx="475488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options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1" y="2953512"/>
            <a:ext cx="4782312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[Option A: study / analysis]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[Option B: synthesis / RWE / model]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[Option C: defer / monitor]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" y="4251960"/>
          <a:ext cx="104698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828800"/>
                <a:gridCol w="1463040"/>
                <a:gridCol w="2103120"/>
                <a:gridCol w="3017520"/>
              </a:tblGrid>
              <a:tr h="308610">
                <a:tc>
                  <a:txBody>
                    <a:bodyPr anchor="ctr"/>
                    <a:lstStyle/>
                    <a:p>
                      <a:r>
                        <a:t>Option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Credibility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Cost / Complexity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Recommendation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308610">
                <a:tc>
                  <a:txBody>
                    <a:bodyPr anchor="ctr"/>
                    <a:lstStyle/>
                    <a:p>
                      <a:r>
                        <a:t>Option 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 / $$ / $$$]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[Select / hold / reject]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/>
                    <a:lstStyle/>
                    <a:p>
                      <a:r>
                        <a:t>Option 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 / $$ / $$$]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[Select / hold / reject]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anchor="ctr"/>
                    <a:lstStyle/>
                    <a:p>
                      <a:r>
                        <a:t>Option 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[High/Med/Low]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 / $$ / $$$]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[Select / hold / reject]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Open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Convert priority gaps into answerable questions before selecting study designs.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PRIORITIZE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07008"/>
          <a:ext cx="1097279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05840"/>
                <a:gridCol w="3749039"/>
                <a:gridCol w="3291840"/>
                <a:gridCol w="2148840"/>
              </a:tblGrid>
              <a:tr h="628650">
                <a:tc>
                  <a:txBody>
                    <a:bodyPr anchor="ctr"/>
                    <a:lstStyle/>
                    <a:p>
                      <a:r>
                        <a:t>ORQ ID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Gap Link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Research Question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PICOT / Design Notes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Use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ORQ1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[What evidence question must be answered?]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P: [ ] I: [ ] C: [ ] O: [ ] T: 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ORQ2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Population, endpoint, comparator, follow-up, data source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ORQ3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considerations]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ORQ4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considerations]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ORQ5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considerations]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ORQ6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considerations]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ORQ7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[Question]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considerations]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Evidence Generation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Compare possible evidence tactics before selecting the roadmap.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07008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2514600"/>
                <a:gridCol w="2880360"/>
                <a:gridCol w="1371600"/>
              </a:tblGrid>
              <a:tr h="622935">
                <a:tc>
                  <a:txBody>
                    <a:bodyPr anchor="ctr"/>
                    <a:lstStyle/>
                    <a:p>
                      <a:r>
                        <a:t>Evidence Option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Best Use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Strengths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Limitations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Typical 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RCT / Phase IV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[Causal efficacy/safety, label/lifecycle]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 internal validity]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[Cost, time, feasibility]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RWE retrospective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[Utilization, outcomes, safety, burden]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[Speed, external validity]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[Confounding, data gaps]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[RWE]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Registry / prospective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[Natural history, long-term outcomes]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[Rich longitudinal data]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[Operational burden]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[RWE/Medical]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HEOR model / BIA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[HTA, payer, budget decisions]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[Decision-ready economics]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[Assumption-sensitive]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SLR / meta-analysis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landscape, comparator context]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[Efficient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[Dependent on source data]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[HEOR/Medical]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Post-hoc / secondary analysis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[Subgroups, endpoints, exploratory claims]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[Uses existing data]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[Multiplicity, credibility]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[Clinical/Stats]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IIR / external research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[Independent science, unmet questions]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[External credibility]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[Control, timing]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Evidence Generation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Map prioritized activities across lifecycle milestones and decision windows.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234440"/>
            <a:ext cx="73152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850" b="1">
                <a:solidFill>
                  <a:srgbClr val="1F3952"/>
                </a:solidFill>
                <a:latin typeface="Aptos"/>
              </a:rPr>
              <a:t>Q1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508760"/>
            <a:ext cx="10972" cy="425196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234440"/>
            <a:ext cx="73152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850" b="1">
                <a:solidFill>
                  <a:srgbClr val="1F3952"/>
                </a:solidFill>
                <a:latin typeface="Aptos"/>
              </a:rPr>
              <a:t>Q2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508760"/>
            <a:ext cx="10972" cy="425196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234440"/>
            <a:ext cx="73152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850" b="1">
                <a:solidFill>
                  <a:srgbClr val="1F3952"/>
                </a:solidFill>
                <a:latin typeface="Aptos"/>
              </a:rPr>
              <a:t>Q3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2352" y="1508760"/>
            <a:ext cx="10972" cy="425196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1576" y="1234440"/>
            <a:ext cx="73152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850" b="1">
                <a:solidFill>
                  <a:srgbClr val="1F3952"/>
                </a:solidFill>
                <a:latin typeface="Aptos"/>
              </a:rPr>
              <a:t>Q4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508760"/>
            <a:ext cx="10972" cy="425196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1234440"/>
            <a:ext cx="73152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850" b="1">
                <a:solidFill>
                  <a:srgbClr val="1F3952"/>
                </a:solidFill>
                <a:latin typeface="Aptos"/>
              </a:rPr>
              <a:t>Q5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77456" y="1508760"/>
            <a:ext cx="10972" cy="425196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1234440"/>
            <a:ext cx="73152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850" b="1">
                <a:solidFill>
                  <a:srgbClr val="1F3952"/>
                </a:solidFill>
                <a:latin typeface="Aptos"/>
              </a:rPr>
              <a:t>Q6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508760"/>
            <a:ext cx="10972" cy="425196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1234440"/>
            <a:ext cx="73152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850" b="1">
                <a:solidFill>
                  <a:srgbClr val="1F3952"/>
                </a:solidFill>
                <a:latin typeface="Aptos"/>
              </a:rPr>
              <a:t>Q7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508760"/>
            <a:ext cx="10972" cy="425196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1784" y="1234440"/>
            <a:ext cx="73152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850" b="1">
                <a:solidFill>
                  <a:srgbClr val="1F3952"/>
                </a:solidFill>
                <a:latin typeface="Aptos"/>
              </a:rPr>
              <a:t>Q8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40112" y="1508760"/>
            <a:ext cx="10972" cy="425196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28800"/>
            <a:ext cx="192024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880" b="1">
                <a:solidFill>
                  <a:srgbClr val="23262B"/>
                </a:solidFill>
                <a:latin typeface="Aptos"/>
              </a:rPr>
              <a:t>Clinical / regulatory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286000"/>
            <a:ext cx="809244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71800" y="1737360"/>
            <a:ext cx="1783080" cy="310896"/>
          </a:xfrm>
          <a:prstGeom prst="roundRect">
            <a:avLst/>
          </a:prstGeom>
          <a:solidFill>
            <a:srgbClr val="1B7E7C"/>
          </a:solidFill>
          <a:ln w="6350">
            <a:solidFill>
              <a:srgbClr val="1B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72384" y="1801368"/>
            <a:ext cx="1554480" cy="1188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90" b="1">
                <a:solidFill>
                  <a:srgbClr val="1F3952"/>
                </a:solidFill>
                <a:latin typeface="Aptos"/>
              </a:rPr>
              <a:t>[Activity]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651760"/>
            <a:ext cx="192024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880" b="1">
                <a:solidFill>
                  <a:srgbClr val="23262B"/>
                </a:solidFill>
                <a:latin typeface="Aptos"/>
              </a:rPr>
              <a:t>RWE / HEOR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3108960"/>
            <a:ext cx="809244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11880" y="2560320"/>
            <a:ext cx="2377440" cy="310896"/>
          </a:xfrm>
          <a:prstGeom prst="roundRect">
            <a:avLst/>
          </a:prstGeom>
          <a:solidFill>
            <a:srgbClr val="577EAB"/>
          </a:solidFill>
          <a:ln w="6350">
            <a:solidFill>
              <a:srgbClr val="577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2463" y="2624328"/>
            <a:ext cx="2103120" cy="1188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90" b="1">
                <a:solidFill>
                  <a:srgbClr val="1F3952"/>
                </a:solidFill>
                <a:latin typeface="Aptos"/>
              </a:rPr>
              <a:t>[Activity]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474720"/>
            <a:ext cx="192024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880" b="1">
                <a:solidFill>
                  <a:srgbClr val="23262B"/>
                </a:solidFill>
                <a:latin typeface="Aptos"/>
              </a:rPr>
              <a:t>COA / patient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931920"/>
            <a:ext cx="809244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51960" y="3383280"/>
            <a:ext cx="1783080" cy="310896"/>
          </a:xfrm>
          <a:prstGeom prst="roundRect">
            <a:avLst/>
          </a:prstGeom>
          <a:solidFill>
            <a:srgbClr val="E7AA4A"/>
          </a:solidFill>
          <a:ln w="6350">
            <a:solidFill>
              <a:srgbClr val="E7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2544" y="3447288"/>
            <a:ext cx="1554480" cy="1188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90" b="1">
                <a:solidFill>
                  <a:srgbClr val="1F3952"/>
                </a:solidFill>
                <a:latin typeface="Aptos"/>
              </a:rPr>
              <a:t>[Activity]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297680"/>
            <a:ext cx="192024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880" b="1">
                <a:solidFill>
                  <a:srgbClr val="23262B"/>
                </a:solidFill>
                <a:latin typeface="Aptos"/>
              </a:rPr>
              <a:t>Access / HTA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4754880"/>
            <a:ext cx="809244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71800" y="4206240"/>
            <a:ext cx="2377440" cy="310896"/>
          </a:xfrm>
          <a:prstGeom prst="roundRect">
            <a:avLst/>
          </a:prstGeom>
          <a:solidFill>
            <a:srgbClr val="BE535D"/>
          </a:solidFill>
          <a:ln w="6350">
            <a:solidFill>
              <a:srgbClr val="BE5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72384" y="4270248"/>
            <a:ext cx="2103120" cy="1188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90" b="1">
                <a:solidFill>
                  <a:srgbClr val="1F3952"/>
                </a:solidFill>
                <a:latin typeface="Aptos"/>
              </a:rPr>
              <a:t>[Activity]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120640"/>
            <a:ext cx="192024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880" b="1">
                <a:solidFill>
                  <a:srgbClr val="23262B"/>
                </a:solidFill>
                <a:latin typeface="Aptos"/>
              </a:rPr>
              <a:t>Publications / pull-through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5577840"/>
            <a:ext cx="809244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11880" y="5029200"/>
            <a:ext cx="1783080" cy="310896"/>
          </a:xfrm>
          <a:prstGeom prst="roundRect">
            <a:avLst/>
          </a:prstGeom>
          <a:solidFill>
            <a:srgbClr val="BED645"/>
          </a:solidFill>
          <a:ln w="6350">
            <a:solidFill>
              <a:srgbClr val="BED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12463" y="5093208"/>
            <a:ext cx="1554480" cy="11887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90" b="1">
                <a:solidFill>
                  <a:srgbClr val="1F3952"/>
                </a:solidFill>
                <a:latin typeface="Aptos"/>
              </a:rPr>
              <a:t>[Activity]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833872"/>
            <a:ext cx="1069848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961888"/>
            <a:ext cx="1037844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Milestones: [Protocol finalization] | [Data cut] | [Abstract submission] | [Regulatory interaction] | [HTA submission] | [Launch]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Evidence Activity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Use this as the working table for each study, analysis, synthesis, or dissemination activity.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1083563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74519"/>
                <a:gridCol w="1965960"/>
                <a:gridCol w="2240280"/>
                <a:gridCol w="1051560"/>
                <a:gridCol w="1143000"/>
                <a:gridCol w="1143000"/>
                <a:gridCol w="914400"/>
              </a:tblGrid>
              <a:tr h="563880">
                <a:tc>
                  <a:txBody>
                    <a:bodyPr anchor="ctr"/>
                    <a:lstStyle/>
                    <a:p>
                      <a:r>
                        <a:t>ID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Activity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Need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Method / Data Source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Status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Priority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A1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 / ORQ[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dataset,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 / planned / active / complete]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A2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 / ORQ[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dataset,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 / planned / active / complete]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A3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 / ORQ[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dataset,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 / planned / active / complete]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A4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 / ORQ[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dataset,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 / planned / active / complete]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A5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 / ORQ[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dataset,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 / planned / active / complete]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A6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 / ORQ[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dataset,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 / planned / active / complete]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A7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 / ORQ[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dataset,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 / planned / active / complete]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ctr"/>
                    <a:lstStyle/>
                    <a:p>
                      <a:r>
                        <a:t>A8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 / ORQ[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[Design, dataset,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 / planned / active / complete]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Claims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Connect planned evidence to value messages and permitted use cases.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07008"/>
          <a:ext cx="11064239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17320"/>
                <a:gridCol w="2560320"/>
                <a:gridCol w="1874519"/>
                <a:gridCol w="1508760"/>
                <a:gridCol w="1508760"/>
              </a:tblGrid>
              <a:tr h="622935">
                <a:tc>
                  <a:txBody>
                    <a:bodyPr anchor="ctr"/>
                    <a:lstStyle/>
                    <a:p>
                      <a:r>
                        <a:t>Claim / Message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Stakeholder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Required Evidence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Current Support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Gap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Planned Tactic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[Clinical benefit 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[HCP / regulator]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comparator, 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[Study/source]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[Safety/tolerability 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[HCP / regulator]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[Safety dataset, long-term 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[Study/source]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[Economic value 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[Payer / HTA]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[Resource use, model, BIA]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[Study/source]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[Patient value 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 / HCP]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[PRO/COA/preference/burden]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[Study/source]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[Implementation 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[System / policy]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[Pathway, capacity, outcomes]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[Study/source]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Study Concept One-Pager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Duplicate this slide for each priority evidence-generation activity.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383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4864" cy="9144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62456"/>
            <a:ext cx="30632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Study / activity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673352"/>
            <a:ext cx="30906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[Name and ID]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234440"/>
            <a:ext cx="3383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234440"/>
            <a:ext cx="54864" cy="91440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362456"/>
            <a:ext cx="30632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gap and decision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673352"/>
            <a:ext cx="30906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[Gap ID, ORQ, stakeholder decision]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34440"/>
            <a:ext cx="3383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234440"/>
            <a:ext cx="54864" cy="91440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362456"/>
            <a:ext cx="30632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Priority and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1673352"/>
            <a:ext cx="309067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[P1/P2/P3, accountable function]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77440"/>
            <a:ext cx="5120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377440"/>
            <a:ext cx="54864" cy="123444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505456"/>
            <a:ext cx="48006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Objective and hypothesis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2816352"/>
            <a:ext cx="4828031" cy="6675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[Primary objective]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[Hypothesis / expected value]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37744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2377440"/>
            <a:ext cx="54864" cy="123444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505456"/>
            <a:ext cx="48463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Design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2816352"/>
            <a:ext cx="4873752" cy="6675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[Design, population, comparator, endpoint, duration, data source]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858768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858768"/>
            <a:ext cx="54864" cy="118872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986783"/>
            <a:ext cx="30632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Feasibility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4297679"/>
            <a:ext cx="3090672" cy="6217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[Data access, operational complexity, cost class, dependencies]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87952" y="3858768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87952" y="3858768"/>
            <a:ext cx="54864" cy="118872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3986783"/>
            <a:ext cx="30632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Milestones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4297679"/>
            <a:ext cx="3090672" cy="6217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[Protocol, start, interim, readout, publication]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858768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3858768"/>
            <a:ext cx="54864" cy="1188720"/>
          </a:xfrm>
          <a:prstGeom prst="rect">
            <a:avLst/>
          </a:prstGeom>
          <a:solidFill>
            <a:srgbClr val="BED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986783"/>
            <a:ext cx="30632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Pull-through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4297679"/>
            <a:ext cx="3090672" cy="6217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[Claims matrix, publication, field medical, HTA dossier, guideline]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349240"/>
            <a:ext cx="1056132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5477255"/>
            <a:ext cx="102412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Decision: [Approve / revise / defer]  |  Required next step: [Action]  |  Date: [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HEOR And Market Access Evidence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Define economic, comparative, payer, and HTA evidence activities.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07008"/>
          <a:ext cx="110642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423160"/>
                <a:gridCol w="2377440"/>
                <a:gridCol w="1965960"/>
                <a:gridCol w="1143000"/>
                <a:gridCol w="1234440"/>
              </a:tblGrid>
              <a:tr h="622935">
                <a:tc>
                  <a:txBody>
                    <a:bodyPr anchor="ctr"/>
                    <a:lstStyle/>
                    <a:p>
                      <a:r>
                        <a:t>Activity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Inputs Needed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Market / Stakeholder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SLR / evidence synthesis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[Comparator landscape, model inputs]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[Search strategy, criteria]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Indirect treatment comparison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[Relative effectiveness]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[Trial network, endpoints]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Cost-effectiveness model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[Value demonstration]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[Clinical, utility, cost inputs]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Budget impact model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[Affordability planning]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[Population, uptake, cost]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Payer research / advisory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expectation validation]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[Profiles, stimuli]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[Payers]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[Access]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Dossier / value story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[Submission / negotiation support]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[Claims, sources, model outputs]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[Access]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[Purpose]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[Inputs]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RWE And Data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Document data sources, feasibility, endpoints, bias risks, and intended 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07008"/>
          <a:ext cx="110642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920240"/>
                <a:gridCol w="2011680"/>
                <a:gridCol w="1828800"/>
                <a:gridCol w="1463040"/>
              </a:tblGrid>
              <a:tr h="622935">
                <a:tc>
                  <a:txBody>
                    <a:bodyPr anchor="ctr"/>
                    <a:lstStyle/>
                    <a:p>
                      <a:r>
                        <a:t>Use Case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Data Source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Population / Sample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Endpoint Availability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Bias / Limits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Use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Treatment patterns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[Claims / EHR / registry]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 / proxy]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[Selection, coding]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[Access / HCP]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Comparative effectiveness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[Dataset]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[Confounding]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Safety monitoring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[Dataset]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[Safety outcome]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[Under-capture]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 / 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External control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[Dataset / registry]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[Comparability]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 / clinical]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Burden / resource use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[Dataset]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[Cost/utilization]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[Generalizability]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Long-term outcomes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[Registry / follow-up]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[Durability/QoL]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[Attrition]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[Lifecycle]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[Use]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Patient-Centered Evidence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Define COA, PRO, HRQoL, preference, burden, adherence, and caregiver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98448"/>
            <a:ext cx="54864" cy="150876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26464"/>
            <a:ext cx="31089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Patient-relevant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37360"/>
            <a:ext cx="3136392" cy="9418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[Symptoms, functioning, burden, preferences]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[Treatment trade-offs and adherence drivers]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98448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98448"/>
            <a:ext cx="54864" cy="150876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26464"/>
            <a:ext cx="31089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Measures /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737360"/>
            <a:ext cx="3136392" cy="9418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[Validated COA/PRO, utilities, interviews]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[Preference or qualitative studies]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98448"/>
            <a:ext cx="3063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98448"/>
            <a:ext cx="54864" cy="150876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26464"/>
            <a:ext cx="2743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Decision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737360"/>
            <a:ext cx="2770632" cy="9418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[Label, HTA, medical education, access, lifecycle]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246120"/>
          <a:ext cx="10469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971800"/>
                <a:gridCol w="1965960"/>
                <a:gridCol w="1280160"/>
                <a:gridCol w="1600200"/>
              </a:tblGrid>
              <a:tr h="402336">
                <a:tc>
                  <a:txBody>
                    <a:bodyPr anchor="ctr"/>
                    <a:lstStyle/>
                    <a:p>
                      <a:r>
                        <a:t>Evidence Need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Method / Instrument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Population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[COA/PRO/preference/qualitative]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[COA/PRO/preference/qualitative]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[COA/PRO/preference/qualitative]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[COA/PRO/preference/qualitative]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Regulatory Evidence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Capture regulatory questions, commitments, and evidence acceptability considerations.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07008"/>
          <a:ext cx="110642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240280"/>
                <a:gridCol w="1828800"/>
                <a:gridCol w="1965960"/>
                <a:gridCol w="1828800"/>
                <a:gridCol w="1143000"/>
              </a:tblGrid>
              <a:tr h="622935">
                <a:tc>
                  <a:txBody>
                    <a:bodyPr anchor="ctr"/>
                    <a:lstStyle/>
                    <a:p>
                      <a:r>
                        <a:t>Regulatory Question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Needed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Current Support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Planned Activity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Milestone / Interaction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[Question / commitment]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safety, subgroup, RWE, COA]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[Question / commitment]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safety, subgroup, RWE, COA]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[Question / commitment]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safety, subgroup, RWE, COA]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[Question / commitment]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safety, subgroup, RWE, COA]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[Question / commitment]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safety, subgroup, RWE, COA]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[Question / commitment]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safety, subgroup, RWE, COA]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[Question / commitment]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[Endpoint, safety, subgroup, RWE, COA]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[Milestone]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Medical And Scientific Communications Pull-Through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Plan how generated evidence will be disclosed, published, and used in scientific exchange.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07008"/>
          <a:ext cx="110642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920240"/>
                <a:gridCol w="1554480"/>
                <a:gridCol w="1234440"/>
                <a:gridCol w="2926080"/>
                <a:gridCol w="1371600"/>
              </a:tblGrid>
              <a:tr h="622935">
                <a:tc>
                  <a:txBody>
                    <a:bodyPr anchor="ctr"/>
                    <a:lstStyle/>
                    <a:p>
                      <a:r>
                        <a:t>Evidence Output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Target Channel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Audience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Claim / Message Link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[Study readout]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[Congress / manuscript]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[HCP / KOL]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[Claim/value 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[Publications]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[HEOR model]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dossier / payer tool]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[Payer / HTA]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[Economic value]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[Access]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[RWE study]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[Manuscript / field 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[HCP / payer]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[Real-world value]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[COA analysis]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[Congress / manuscript]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[HCP / patient]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[Patient-centered value]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[Evidence synthesis]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[Internal narrative / publication]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[Internal / external]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story]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[Channel]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[Channel]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[Message]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External Research And IIR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Define external research interests and link them to strategic evidence gaps.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07008"/>
          <a:ext cx="110642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417320"/>
                <a:gridCol w="2743200"/>
                <a:gridCol w="1920240"/>
                <a:gridCol w="1737360"/>
                <a:gridCol w="1188720"/>
              </a:tblGrid>
              <a:tr h="622935">
                <a:tc>
                  <a:txBody>
                    <a:bodyPr anchor="ctr"/>
                    <a:lstStyle/>
                    <a:p>
                      <a:r>
                        <a:t>Area Of Interest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Gap Link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Strategic Rationale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Eligible Methods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Governance Notes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[Area]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[Why external research could address 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 / RWE / COA / 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[Review, compliance, budget]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[Area]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[Why external research could address 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 / RWE / COA / 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[Review, compliance, budget]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[Area]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[Why external research could address 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 / RWE / COA / 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[Review, compliance, budget]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[Area]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[Why external research could address 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 / RWE / COA / 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[Review, compliance, budget]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[Area]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[Why external research could address 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 / RWE / COA / 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[Review, compliance, budget]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[Area]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[Why external research could address 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 / RWE / COA / 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[Review, compliance, budget]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[Area]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[Why external research could address 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 / RWE / COA / HEOR]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[Review, compliance, budget]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[Medical]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Budget And Resource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Estimate resources by workstream and year to support prioritization and governance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07008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34440"/>
                <a:gridCol w="1234440"/>
                <a:gridCol w="1234440"/>
                <a:gridCol w="2423160"/>
                <a:gridCol w="2834640"/>
              </a:tblGrid>
              <a:tr h="561702">
                <a:tc>
                  <a:txBody>
                    <a:bodyPr anchor="ctr"/>
                    <a:lstStyle/>
                    <a:p>
                      <a:r>
                        <a:t>Workstream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Year 1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Year 2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Year 3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FTE / Vendor Need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Notes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561702">
                <a:tc>
                  <a:txBody>
                    <a:bodyPr anchor="ctr"/>
                    <a:lstStyle/>
                    <a:p>
                      <a:r>
                        <a:t>Clinical / regulatory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[Internal / vendor]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[Notes]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anchor="ctr"/>
                    <a:lstStyle/>
                    <a:p>
                      <a:r>
                        <a:t>RWE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[Internal / vendor]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[Notes]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anchor="ctr"/>
                    <a:lstStyle/>
                    <a:p>
                      <a:r>
                        <a:t>HEOR / access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[Internal / vendor]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[Notes]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anchor="ctr"/>
                    <a:lstStyle/>
                    <a:p>
                      <a:r>
                        <a:t>COA / patient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[Internal / vendor]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[Notes]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anchor="ctr"/>
                    <a:lstStyle/>
                    <a:p>
                      <a:r>
                        <a:t>Publications / pull-through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[Internal / vendor]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[Notes]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 anchor="ctr"/>
                    <a:lstStyle/>
                    <a:p>
                      <a:r>
                        <a:t>Contingency / TBD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[$]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[Notes]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5486400"/>
            <a:ext cx="109728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5614416"/>
            <a:ext cx="1065276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Budget decision: [Approve all priority activities] | [Phase by decision window] | [Defer low-priority tactics]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Global-Regional Evidence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Separate globally reusable evidence from local evidence requirements and adaptations.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07008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514600"/>
                <a:gridCol w="2514600"/>
                <a:gridCol w="2148840"/>
                <a:gridCol w="2286000"/>
              </a:tblGrid>
              <a:tr h="622935">
                <a:tc>
                  <a:txBody>
                    <a:bodyPr anchor="ctr"/>
                    <a:lstStyle/>
                    <a:p>
                      <a:r>
                        <a:t>Region / Market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Local Decision Need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Reusable Global Evidence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Local Gap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Local Tactic / 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Global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[Core evidence 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[Clinical / RWE / HEOR / COA]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US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[Coverage / guideline / pathway]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[US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EU5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 / comparator / local model]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[EU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Japan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[Regulatory / reimbursement]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[JP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China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[Regulatory / access / local data]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[CN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[Market]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[Market]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Specialized Evidence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Use these prompts to ensure RWE, HEOR, access, and patient-centered evidence are represented.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9834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54864" cy="182880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4533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RWE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56232"/>
            <a:ext cx="4690872" cy="1261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Retrospective database studies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Prospective observational studies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External controls / natural history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Safety, utilization, persistence,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49834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4864" cy="182880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4533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HEOR /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56232"/>
            <a:ext cx="4690872" cy="1261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SLR and indirect comparison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Cost-effectiveness and budget impact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Burden and resource use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HTA and payer value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49834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54864" cy="18288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85615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COA / patient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96512"/>
            <a:ext cx="4690872" cy="1261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PROs, HRQoL, utility measures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Patient preference and burden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Caregiver impact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Digital endpoints and interviews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49834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657600"/>
            <a:ext cx="54864" cy="182880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85615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096512"/>
            <a:ext cx="4690872" cy="1261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Evidence catalog and source log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Gap updates and literature surveillance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Claims matrix and publication support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Evidence quality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Governance, Cadence, And Decision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A living IEGP needs explicit ownership, review cadence, and update triggers.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5486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20240"/>
                <a:gridCol w="1005840"/>
                <a:gridCol w="1371600"/>
              </a:tblGrid>
              <a:tr h="607422">
                <a:tc>
                  <a:txBody>
                    <a:bodyPr anchor="ctr"/>
                    <a:lstStyle/>
                    <a:p>
                      <a:r>
                        <a:t>Forum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Cadence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Rights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Core team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[Maintain plan, resolve dependencies]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[Biweekly/monthly]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Evidence council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[Prioritize gaps, approve studies]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Global-local review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plan, capture local needs]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Leadership review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[Funding, trade-offs, risk]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[Semiannual]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 funding]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Publication / claims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pull-through]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[Purpose]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[Cadence]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[Rights]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46520" y="1234440"/>
            <a:ext cx="466344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362456"/>
            <a:ext cx="434340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1">
                <a:solidFill>
                  <a:srgbClr val="1F3952"/>
                </a:solidFill>
                <a:latin typeface="Aptos"/>
              </a:rPr>
              <a:t>Update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2"/>
            <a:ext cx="4160520" cy="3337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171450" indent="-114300"/>
            <a:r>
              <a:rPr sz="1019">
                <a:solidFill>
                  <a:srgbClr val="23262B"/>
                </a:solidFill>
                <a:latin typeface="Aptos"/>
              </a:rPr>
              <a:t>Major clinical readout or protocol change</a:t>
            </a:r>
          </a:p>
          <a:p>
            <a:pPr marL="171450" indent="-114300"/>
            <a:r>
              <a:rPr sz="1019">
                <a:solidFill>
                  <a:srgbClr val="23262B"/>
                </a:solidFill>
                <a:latin typeface="Aptos"/>
              </a:rPr>
              <a:t>Regulatory feedback or label change</a:t>
            </a:r>
          </a:p>
          <a:p>
            <a:pPr marL="171450" indent="-114300"/>
            <a:r>
              <a:rPr sz="1019">
                <a:solidFill>
                  <a:srgbClr val="23262B"/>
                </a:solidFill>
                <a:latin typeface="Aptos"/>
              </a:rPr>
              <a:t>HTA / payer evidence expectation change</a:t>
            </a:r>
          </a:p>
          <a:p>
            <a:pPr marL="171450" indent="-114300"/>
            <a:r>
              <a:rPr sz="1019">
                <a:solidFill>
                  <a:srgbClr val="23262B"/>
                </a:solidFill>
                <a:latin typeface="Aptos"/>
              </a:rPr>
              <a:t>Competitor approval, readout, guideline, or pricing event</a:t>
            </a:r>
          </a:p>
          <a:p>
            <a:pPr marL="171450" indent="-114300"/>
            <a:r>
              <a:rPr sz="1019">
                <a:solidFill>
                  <a:srgbClr val="23262B"/>
                </a:solidFill>
                <a:latin typeface="Aptos"/>
              </a:rPr>
              <a:t>New RWE dataset, registry, or evidence synthesis</a:t>
            </a:r>
          </a:p>
          <a:p>
            <a:pPr marL="171450" indent="-114300"/>
            <a:r>
              <a:rPr sz="1019">
                <a:solidFill>
                  <a:srgbClr val="23262B"/>
                </a:solidFill>
                <a:latin typeface="Aptos"/>
              </a:rPr>
              <a:t>Budget, timeline, or operational feasibility change</a:t>
            </a:r>
          </a:p>
          <a:p>
            <a:pPr marL="171450" indent="-114300"/>
            <a:r>
              <a:rPr sz="1019">
                <a:solidFill>
                  <a:srgbClr val="23262B"/>
                </a:solidFill>
                <a:latin typeface="Aptos"/>
              </a:rPr>
              <a:t>Regional launch sequencing or access need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RACI And Cross-Functional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Clarify who is accountable, consulted, and informed for major evidence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112014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17320"/>
                <a:gridCol w="1417320"/>
                <a:gridCol w="1508760"/>
                <a:gridCol w="1600200"/>
                <a:gridCol w="1463040"/>
                <a:gridCol w="1508760"/>
              </a:tblGrid>
              <a:tr h="622935">
                <a:tc>
                  <a:txBody>
                    <a:bodyPr anchor="ctr"/>
                    <a:lstStyle/>
                    <a:p>
                      <a:r>
                        <a:t>Activity / Decision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Medical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Clinical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HEOR/RWE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Market Access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Regulatory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Commercial / Comms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Strategic imperatives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A/R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Evidence gap prioritization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A/R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Study concept approval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R/C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R/C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HEOR / access evidence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A/R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Regulatory evidence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A/R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Publication / pull-through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A/R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R/C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Plan refresh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A/R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Refresh Cadence And Version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Set an update rhythm and document trigger-based changes to preserve the plan as a living artifact.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3383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98448"/>
            <a:ext cx="54864" cy="146304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26464"/>
            <a:ext cx="30632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Annual planning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37360"/>
            <a:ext cx="3090672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[Portfolio strategy input]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[Gap review]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[Budget and roadmap approval]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98448"/>
            <a:ext cx="3383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98448"/>
            <a:ext cx="54864" cy="146304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26464"/>
            <a:ext cx="30632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Quarterly check-ins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737360"/>
            <a:ext cx="3090672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[Milestone status]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[Risk updates]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[New evidence / landscape events]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298448"/>
            <a:ext cx="324612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298448"/>
            <a:ext cx="54864" cy="146304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426464"/>
            <a:ext cx="2926079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Trigger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1737360"/>
            <a:ext cx="2953512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[Readout, regulatory feedback, competitor event, HTA change, guideline update]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246120"/>
          <a:ext cx="104698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25880"/>
                <a:gridCol w="2606040"/>
                <a:gridCol w="3657600"/>
                <a:gridCol w="1783080"/>
              </a:tblGrid>
              <a:tr h="411480">
                <a:tc>
                  <a:txBody>
                    <a:bodyPr anchor="ctr"/>
                    <a:lstStyle/>
                    <a:p>
                      <a:r>
                        <a:t>Version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Date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Change Trigger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Major Updates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Approved By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v0.1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[Trigger]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[Summary of changed gaps, activities, owners, timing]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[Forum]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v0.2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[Trigger]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[Summary of changed gaps, activities, owners, timing]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[Forum]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v0.3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[Trigger]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[Summary of changed gaps, activities, owners, timing]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[Forum]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v0.4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[Trigger]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[Summary of changed gaps, activities, owners, timing]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[Forum]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IEGP KPIs And Impact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Track both plan execution and evidence impact, not only study completion.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24231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54864" cy="105156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99616"/>
            <a:ext cx="21031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Gap 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810512"/>
            <a:ext cx="2130552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[# high-priority gaps closed / total]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371600"/>
            <a:ext cx="24231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371600"/>
            <a:ext cx="54864" cy="105156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499616"/>
            <a:ext cx="21031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On-time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810512"/>
            <a:ext cx="2130552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[% milestones on track]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371600"/>
            <a:ext cx="24231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371600"/>
            <a:ext cx="54864" cy="1051560"/>
          </a:xfrm>
          <a:prstGeom prst="rect">
            <a:avLst/>
          </a:prstGeom>
          <a:solidFill>
            <a:srgbClr val="BED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499616"/>
            <a:ext cx="21031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reuse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810512"/>
            <a:ext cx="2130552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[# markets using global evidence]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371600"/>
            <a:ext cx="24231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8" y="1371600"/>
            <a:ext cx="54864" cy="105156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1499616"/>
            <a:ext cx="210312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Pull-through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810512"/>
            <a:ext cx="2130552" cy="4846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[# claims, dossiers, publications supported]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58368" y="2788920"/>
          <a:ext cx="103784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23360"/>
                <a:gridCol w="1417320"/>
                <a:gridCol w="1417320"/>
                <a:gridCol w="1691640"/>
              </a:tblGrid>
              <a:tr h="464820">
                <a:tc>
                  <a:txBody>
                    <a:bodyPr anchor="ctr"/>
                    <a:lstStyle/>
                    <a:p>
                      <a:r>
                        <a:t>KPI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Definition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Baseline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Target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464820">
                <a:tc>
                  <a:txBody>
                    <a:bodyPr anchor="ctr"/>
                    <a:lstStyle/>
                    <a:p>
                      <a:r>
                        <a:t>Evidence-gap closure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[High-priority gaps with approved evidence solution]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anchor="ctr"/>
                    <a:lstStyle/>
                    <a:p>
                      <a:r>
                        <a:t>Decision readiness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windows with complete evidence package]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anchor="ctr"/>
                    <a:lstStyle/>
                    <a:p>
                      <a:r>
                        <a:t>Publication / dissemination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[Completed outputs vs plan]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anchor="ctr"/>
                    <a:lstStyle/>
                    <a:p>
                      <a:r>
                        <a:t>Market access support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[HTA/payer submissions supported by roadmap 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anchor="ctr"/>
                    <a:lstStyle/>
                    <a:p>
                      <a:r>
                        <a:t>Plan refresh quality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[Updates completed after trigger events]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 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Risks, Dependencies,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Document constraints that could prevent evidence generation or reduce decision usefulness.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07008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148840"/>
                <a:gridCol w="1463040"/>
                <a:gridCol w="2971800"/>
                <a:gridCol w="1965960"/>
              </a:tblGrid>
              <a:tr h="617220">
                <a:tc>
                  <a:txBody>
                    <a:bodyPr anchor="ctr"/>
                    <a:lstStyle/>
                    <a:p>
                      <a:r>
                        <a:t>Risk / Dependency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Activity Affected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Impact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Mitigation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Needed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 or dependency]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 ID]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 or dependency]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 ID]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 or dependency]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 ID]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 or dependency]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 ID]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 or dependency]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 ID]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 or dependency]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 ID]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 or dependency]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 ID]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Appendix: Regional Adaptation Worksheet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Use one copy per region or priority affiliate to capture local needs and adaptation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3291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34440"/>
            <a:ext cx="54864" cy="91440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62456"/>
            <a:ext cx="2971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Region / affiliate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73352"/>
            <a:ext cx="299923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[Region and lead]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291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34440"/>
            <a:ext cx="54864" cy="91440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62456"/>
            <a:ext cx="2971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Local decision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1673352"/>
            <a:ext cx="299923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[HTA, payer, guideline, launch]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234440"/>
            <a:ext cx="3291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54112" y="1234440"/>
            <a:ext cx="54864" cy="91440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1362456"/>
            <a:ext cx="2971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Local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1673352"/>
            <a:ext cx="2999232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[Comparator, dataset, policy, budget]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58368" y="2560320"/>
          <a:ext cx="1037843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1874519"/>
                <a:gridCol w="2240280"/>
                <a:gridCol w="1325880"/>
              </a:tblGrid>
              <a:tr h="480060">
                <a:tc>
                  <a:txBody>
                    <a:bodyPr anchor="ctr"/>
                    <a:lstStyle/>
                    <a:p>
                      <a:r>
                        <a:t>Local Need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Global Evidence Reuse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Local Gap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Adaptation / New Tactic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Affiliate 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480060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/ asset]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/ generate / monitor]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/ asset]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/ generate / monitor]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/ asset]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/ generate / monitor]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/ asset]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/ generate / monitor]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anchor="ctr"/>
                    <a:lstStyle/>
                    <a:p>
                      <a:r>
                        <a:t>[Need]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/ asset]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/ generate / monitor]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Appendix: Evidence Source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Track source provenance, dates, confidence, and limitations for source-backed evidence claims.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07008"/>
          <a:ext cx="110642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514600"/>
                <a:gridCol w="1143000"/>
                <a:gridCol w="1417320"/>
                <a:gridCol w="2560320"/>
                <a:gridCol w="2423160"/>
              </a:tblGrid>
              <a:tr h="622935">
                <a:tc>
                  <a:txBody>
                    <a:bodyPr anchor="ctr"/>
                    <a:lstStyle/>
                    <a:p>
                      <a:r>
                        <a:t>Source ID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Source / Dataset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Date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Use In IEGP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Confidence / Limitation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[Study, publication, registry, model, interview, internal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[Slide / claim / gap link]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[Confidence and limitation]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[Study, publication, registry, model, interview, internal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[Slide / claim / gap link]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[Confidence and limitation]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[Study, publication, registry, model, interview, internal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[Slide / claim / gap link]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[Confidence and limitation]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[Study, publication, registry, model, interview, internal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[Slide / claim / gap link]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[Confidence and limitation]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[Study, publication, registry, model, interview, internal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[Slide / claim / gap link]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[Confidence and limitation]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[Study, publication, registry, model, interview, internal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[Slide / claim / gap link]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[Confidence and limitation]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anchor="ctr"/>
                    <a:lstStyle/>
                    <a:p>
                      <a:r>
                        <a:t>S7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[Study, publication, registry, model, interview, internal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[Slide / claim / gap link]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[Confidence and limitation]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Appendix: IEGP Development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Document how the plan was created so future refreshes remain auditable.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4864" cy="150876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0817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Inputs reviewed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4690872" cy="9418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[TPP/TVP, clinical plans, publications, landscape, access insights, source inventory]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28016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280160"/>
            <a:ext cx="54864" cy="150876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0817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Stakeholder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719072"/>
            <a:ext cx="4690872" cy="9418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[Functions interviewed, workshops held, affiliate input, external advisors]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5468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54680"/>
            <a:ext cx="54864" cy="150876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28269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Scoring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593592"/>
            <a:ext cx="4690872" cy="9418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[Criteria, weights, evidence standards, tie-break rules]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15468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3154680"/>
            <a:ext cx="54864" cy="1508760"/>
          </a:xfrm>
          <a:prstGeom prst="rect">
            <a:avLst/>
          </a:prstGeom>
          <a:solidFill>
            <a:srgbClr val="BE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282696"/>
            <a:ext cx="46634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Assumptions and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3593592"/>
            <a:ext cx="4690872" cy="9418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[Known evidence gaps, unvalidated assumptions, data limitations, scope exclusions]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Source-Informed Template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This template combines public IEGP/IEP methods, case studies, and evidence-planning guidance.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07008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6080760"/>
                <a:gridCol w="1920240"/>
              </a:tblGrid>
              <a:tr h="548640">
                <a:tc>
                  <a:txBody>
                    <a:bodyPr anchor="ctr"/>
                    <a:lstStyle/>
                    <a:p>
                      <a:r>
                        <a:t>Source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Template Contribution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Source Type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Lumanity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needed vs available, future landscape, gap prioritization, global harmonization, KPIs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Framework / PDF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Cencora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Market access, RWE, HEOR, SLR/evidence-synthesis components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Service / article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ZS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IEP deliverable structure, 3-5 year roadmap, governance and execution discipline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How-to article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Veranex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Claims matrix, scorecard, roadmap, budget, ROI dashboard concepts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Framework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DiMe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Stage-based evidence plan resources and concrete DHT case examples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Toolkit / case PDFs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MAPS / Prescient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Medical affairs standards, stakeholder relevance, adaptive evidence plans, refresh cadence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Guidance / whitepaper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McKinsey / Springer-Tufts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catalog, prioritization economics, value-driver framing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Thought leadership / academic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Oxford PharmaGenesis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PICOT refinement, data source selection, study mapping workflow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Process model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Appendix: Claims And Evidence Linkage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Optional table for connecting evidence outputs to claims, messages, and local adaptations.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07008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103120"/>
                <a:gridCol w="1508760"/>
                <a:gridCol w="1828800"/>
                <a:gridCol w="1600200"/>
                <a:gridCol w="1965960"/>
              </a:tblGrid>
              <a:tr h="628650">
                <a:tc>
                  <a:txBody>
                    <a:bodyPr anchor="ctr"/>
                    <a:lstStyle/>
                    <a:p>
                      <a:r>
                        <a:t>Claim / Message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Source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Strength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Allowed Use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Market / Audience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Gap / Next Step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[Claim]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[Strong / moderate / weak]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medical / payer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or 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[Claim]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[Strong / moderate / weak]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medical / payer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or 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[Claim]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[Strong / moderate / weak]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medical / payer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or 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[Claim]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[Strong / moderate / weak]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medical / payer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or 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[Claim]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[Strong / moderate / weak]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medical / payer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or 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[Claim]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[Strong / moderate / weak]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medical / payer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or 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r>
                        <a:t>[Claim]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source]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[Strong / moderate / weak]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[Label / medical / payer / internal]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 or action]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Common terms for integrated evidence generation planning.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07008"/>
          <a:ext cx="108356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675120"/>
                <a:gridCol w="2651760"/>
              </a:tblGrid>
              <a:tr h="498348">
                <a:tc>
                  <a:txBody>
                    <a:bodyPr anchor="ctr"/>
                    <a:lstStyle/>
                    <a:p>
                      <a:r>
                        <a:t>Term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Definition / Template Usage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Notes</a:t>
                      </a:r>
                    </a:p>
                  </a:txBody>
                  <a:tcPr marL="36576" marR="36576" marT="27432" marB="27432">
                    <a:solidFill>
                      <a:srgbClr val="1F3952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IEGP / IEP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Integrated evidence generation/evidence plan across lifecycle, stakeholders, and functions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[Use organization terminology]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ORQ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Open research question converted from a priority evidence gap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[Often PICOT-framed]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PICOT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Population, intervention, comparator, outcome, timing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[For answerable questions]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RWE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Real-world evidence from data outside conventional randomized trials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[Claims/EHR/registry/prospective]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HEOR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Health economics and outcomes research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[SLR, models, BIA, burden]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HTA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Health technology assessment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[Market access decision body]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COA / PRO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Clinical outcome assessment / patient-reported outcome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[Patient-centered evidence]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IIR / IIT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Investigator-initiated research/trial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[External research]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anchor="ctr"/>
                    <a:lstStyle/>
                    <a:p>
                      <a:r>
                        <a:t>Pull-through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Use of generated evidence in publications, dossiers, claims, medical exchange, or decisions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[Track as KPI]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78408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23262B"/>
                </a:solidFill>
                <a:latin typeface="Aptos"/>
              </a:rPr>
              <a:t>Final IEGP Review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966960" cy="3017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50" b="0">
                <a:solidFill>
                  <a:srgbClr val="636970"/>
                </a:solidFill>
                <a:latin typeface="Aptos"/>
              </a:rPr>
              <a:t>Use this slide before governance review or funding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320040"/>
            <a:ext cx="1234440" cy="274320"/>
          </a:xfrm>
          <a:prstGeom prst="roundRect">
            <a:avLst/>
          </a:prstGeom>
          <a:solidFill>
            <a:srgbClr val="F7F8F6"/>
          </a:solidFill>
          <a:ln w="889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1008" y="370332"/>
            <a:ext cx="1097280" cy="14630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680" b="1">
                <a:solidFill>
                  <a:srgbClr val="1F3952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0972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50292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98448"/>
            <a:ext cx="54864" cy="1920240"/>
          </a:xfrm>
          <a:prstGeom prst="rect">
            <a:avLst/>
          </a:prstGeom>
          <a:solidFill>
            <a:srgbClr val="1B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26464"/>
            <a:ext cx="4709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Content 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4736592" cy="13533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Strategic imperatives tied to decisions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Stakeholder evidence needs documented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Current evidence inventory reviewed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Evidence gaps prioritized using agreed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298448"/>
            <a:ext cx="50292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298448"/>
            <a:ext cx="54864" cy="1920240"/>
          </a:xfrm>
          <a:prstGeom prst="rect">
            <a:avLst/>
          </a:prstGeom>
          <a:solidFill>
            <a:srgbClr val="577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26464"/>
            <a:ext cx="4709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Execution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737360"/>
            <a:ext cx="4736592" cy="13533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Each activity has owner, timing, status, and decision use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Budget class and dependencies are known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Pull-through plan and claims linkage documented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Governance cadence and update triggers agreed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02920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54864" cy="1463040"/>
          </a:xfrm>
          <a:prstGeom prst="rect">
            <a:avLst/>
          </a:prstGeom>
          <a:solidFill>
            <a:srgbClr val="E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85615"/>
            <a:ext cx="4709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Evidence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96512"/>
            <a:ext cx="4736592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Source-backed facts are separated from assumptions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Evidence limitations and quality notes retained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657600"/>
            <a:ext cx="502920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3657600"/>
            <a:ext cx="54864" cy="1463040"/>
          </a:xfrm>
          <a:prstGeom prst="rect">
            <a:avLst/>
          </a:prstGeom>
          <a:solidFill>
            <a:srgbClr val="BED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785615"/>
            <a:ext cx="47091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000" b="1">
                <a:solidFill>
                  <a:srgbClr val="1F3952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4096512"/>
            <a:ext cx="4736592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/>
            <a:r>
              <a:rPr sz="850">
                <a:solidFill>
                  <a:srgbClr val="636970"/>
                </a:solidFill>
                <a:latin typeface="Aptos"/>
              </a:rPr>
              <a:t>[Approve roadmap]  [Revise]  [Defer]</a:t>
            </a:r>
          </a:p>
          <a:p>
            <a:pPr/>
            <a:r>
              <a:rPr sz="850">
                <a:solidFill>
                  <a:srgbClr val="636970"/>
                </a:solidFill>
                <a:latin typeface="Aptos"/>
              </a:rPr>
              <a:t>Next review date: [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6473952"/>
            <a:ext cx="475488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750" b="0">
                <a:solidFill>
                  <a:srgbClr val="636970"/>
                </a:solidFill>
                <a:latin typeface="Aptos"/>
              </a:rPr>
              <a:t>Integrated Evidence Generation Plan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73952"/>
            <a:ext cx="914400" cy="16459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750" b="0">
                <a:solidFill>
                  <a:srgbClr val="636970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