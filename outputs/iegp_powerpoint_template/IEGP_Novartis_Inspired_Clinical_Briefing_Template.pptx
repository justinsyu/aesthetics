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6480" y="0"/>
            <a:ext cx="6062472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91072" y="365760"/>
            <a:ext cx="2546238" cy="49377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0839" y="3771900"/>
            <a:ext cx="2061240" cy="150876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5080" y="777240"/>
            <a:ext cx="5029200" cy="3794760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29400" y="1097280"/>
            <a:ext cx="256032" cy="310896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57416" y="1097280"/>
            <a:ext cx="73152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41464" y="1097280"/>
            <a:ext cx="256032" cy="310896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69479" y="1097280"/>
            <a:ext cx="73152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53528" y="1097280"/>
            <a:ext cx="256032" cy="310896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81544" y="1097280"/>
            <a:ext cx="73152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65592" y="1097280"/>
            <a:ext cx="256032" cy="310896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93608" y="1097280"/>
            <a:ext cx="73152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77656" y="1097280"/>
            <a:ext cx="256032" cy="310896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05672" y="1097280"/>
            <a:ext cx="73152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89720" y="1097280"/>
            <a:ext cx="256032" cy="310896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17736" y="1097280"/>
            <a:ext cx="73152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01784" y="1097280"/>
            <a:ext cx="256032" cy="310896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29800" y="1097280"/>
            <a:ext cx="73152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13848" y="1097280"/>
            <a:ext cx="256032" cy="310896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41864" y="1097280"/>
            <a:ext cx="73152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4773168"/>
            <a:ext cx="2743200" cy="96012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713232"/>
            <a:ext cx="2926080" cy="1371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70" b="1">
                <a:solidFill>
                  <a:srgbClr val="005DAB"/>
                </a:solidFill>
                <a:latin typeface="Arial"/>
              </a:rPr>
              <a:t>INTEGRATED EVIDENCE GENERATION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1325880"/>
            <a:ext cx="4800600" cy="8412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3200" b="1">
                <a:solidFill>
                  <a:srgbClr val="002560"/>
                </a:solidFill>
                <a:latin typeface="Arial"/>
              </a:rPr>
              <a:t>Clinical evidence briefing template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2487168"/>
            <a:ext cx="443484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1200" b="0">
                <a:solidFill>
                  <a:srgbClr val="707780"/>
                </a:solidFill>
                <a:latin typeface="Arial"/>
              </a:rPr>
              <a:t>A Novartis-inspired, data-first PowerPoint system for evidence strategy, gap prioritization, and roadmap governance.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3840480"/>
            <a:ext cx="3200400" cy="7315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892040"/>
            <a:ext cx="475488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1300" b="1">
                <a:solidFill>
                  <a:srgbClr val="002560"/>
                </a:solidFill>
                <a:latin typeface="Arial"/>
              </a:rPr>
              <a:t>[Product] | [Indication] | [Region]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230368"/>
            <a:ext cx="384048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750" b="0">
                <a:solidFill>
                  <a:srgbClr val="707780"/>
                </a:solidFill>
                <a:latin typeface="Arial"/>
              </a:rPr>
              <a:t>Owner: [team]  |  Version: [v0.1]  |  Date: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"/>
            <a:ext cx="969264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2200" b="1">
                <a:solidFill>
                  <a:srgbClr val="002560"/>
                </a:solidFill>
                <a:latin typeface="Arial"/>
              </a:rPr>
              <a:t>Brand tokens can be swapped without changing the layout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841248"/>
            <a:ext cx="90525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919" b="0">
                <a:solidFill>
                  <a:srgbClr val="707780"/>
                </a:solidFill>
                <a:latin typeface="Arial"/>
              </a:rPr>
              <a:t>Default colors are Novartis-inspired, not copied brand assets.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1152144"/>
            <a:ext cx="1051560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Overview | [Product / indication]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1828800"/>
            <a:ext cx="713232" cy="713232"/>
          </a:xfrm>
          <a:prstGeom prst="rect">
            <a:avLst/>
          </a:prstGeom>
          <a:solidFill>
            <a:srgbClr val="00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01368" y="1938528"/>
            <a:ext cx="16459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60" b="1">
                <a:solidFill>
                  <a:srgbClr val="002560"/>
                </a:solidFill>
                <a:latin typeface="Arial"/>
              </a:rPr>
              <a:t>Primary Brand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1368" y="2212848"/>
            <a:ext cx="1691640" cy="1280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40" b="0">
                <a:solidFill>
                  <a:srgbClr val="707780"/>
                </a:solidFill>
                <a:latin typeface="Arial"/>
              </a:rPr>
              <a:t>RGB 0, 37, 96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1828800"/>
            <a:ext cx="713232" cy="713232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1938528"/>
            <a:ext cx="16459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60" b="1">
                <a:solidFill>
                  <a:srgbClr val="002560"/>
                </a:solidFill>
                <a:latin typeface="Arial"/>
              </a:rPr>
              <a:t>Secondary Brand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2212848"/>
            <a:ext cx="1691640" cy="1280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40" b="0">
                <a:solidFill>
                  <a:srgbClr val="707780"/>
                </a:solidFill>
                <a:latin typeface="Arial"/>
              </a:rPr>
              <a:t>RGB 0, 93, 171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7808" y="1828800"/>
            <a:ext cx="713232" cy="71323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76488" y="1938528"/>
            <a:ext cx="16459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60" b="1">
                <a:solidFill>
                  <a:srgbClr val="002560"/>
                </a:solidFill>
                <a:latin typeface="Arial"/>
              </a:rPr>
              <a:t>Signal / highlight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2212848"/>
            <a:ext cx="1691640" cy="1280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40" b="0">
                <a:solidFill>
                  <a:srgbClr val="707780"/>
                </a:solidFill>
                <a:latin typeface="Arial"/>
              </a:rPr>
              <a:t>RGB 239, 101, 35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3063240"/>
            <a:ext cx="713232" cy="713232"/>
          </a:xfrm>
          <a:prstGeom prst="rect">
            <a:avLst/>
          </a:prstGeom>
          <a:solidFill>
            <a:srgbClr val="707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01368" y="3172968"/>
            <a:ext cx="16459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60" b="1">
                <a:solidFill>
                  <a:srgbClr val="002560"/>
                </a:solidFill>
                <a:latin typeface="Arial"/>
              </a:rPr>
              <a:t>Comparator gray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1368" y="3447288"/>
            <a:ext cx="1691640" cy="1280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40" b="0">
                <a:solidFill>
                  <a:srgbClr val="707780"/>
                </a:solidFill>
                <a:latin typeface="Arial"/>
              </a:rPr>
              <a:t>RGB 112, 119, 128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063240"/>
            <a:ext cx="713232" cy="713232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38928" y="3172968"/>
            <a:ext cx="16459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60" b="1">
                <a:solidFill>
                  <a:srgbClr val="002560"/>
                </a:solidFill>
                <a:latin typeface="Arial"/>
              </a:rPr>
              <a:t>Panel gray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3447288"/>
            <a:ext cx="1691640" cy="1280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40" b="0">
                <a:solidFill>
                  <a:srgbClr val="707780"/>
                </a:solidFill>
                <a:latin typeface="Arial"/>
              </a:rPr>
              <a:t>RGB 243, 246, 249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07808" y="3063240"/>
            <a:ext cx="713232" cy="71323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76488" y="3172968"/>
            <a:ext cx="16459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60" b="1">
                <a:solidFill>
                  <a:srgbClr val="002560"/>
                </a:solidFill>
                <a:latin typeface="Arial"/>
              </a:rPr>
              <a:t>Risk / 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6488" y="3447288"/>
            <a:ext cx="1691640" cy="1280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40" b="0">
                <a:solidFill>
                  <a:srgbClr val="707780"/>
                </a:solidFill>
                <a:latin typeface="Arial"/>
              </a:rPr>
              <a:t>RGB 239, 101, 35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" y="4846320"/>
            <a:ext cx="10012680" cy="713232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2688" y="4846320"/>
            <a:ext cx="64008" cy="71323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3856" y="4974336"/>
            <a:ext cx="9646919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Adaptation rule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" y="5138928"/>
            <a:ext cx="9628632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60" b="0">
                <a:solidFill>
                  <a:srgbClr val="20262E"/>
                </a:solidFill>
                <a:latin typeface="Arial"/>
              </a:rPr>
              <a:t>Keep white space, deep primary color, selective highlight color, and one dominant evidence object per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65392" y="365760"/>
            <a:ext cx="2431023" cy="49377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84283" y="3771900"/>
            <a:ext cx="1967971" cy="150876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1005840"/>
            <a:ext cx="4114800" cy="3931920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86600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9480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98664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81544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0728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93608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22792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05672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34856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17736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1234440"/>
            <a:ext cx="4892040" cy="685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3400" b="1">
                <a:solidFill>
                  <a:srgbClr val="002560"/>
                </a:solidFill>
                <a:latin typeface="Arial"/>
              </a:rPr>
              <a:t>Overview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2240280"/>
            <a:ext cx="44805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1300" b="0">
                <a:solidFill>
                  <a:srgbClr val="707780"/>
                </a:solidFill>
                <a:latin typeface="Arial"/>
              </a:rPr>
              <a:t>Summarize the evidence priorities and decisions needed now.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3154680"/>
            <a:ext cx="3108960" cy="7315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Overview | [Product / indication]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"/>
            <a:ext cx="969264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2200" b="1">
                <a:solidFill>
                  <a:srgbClr val="002560"/>
                </a:solidFill>
                <a:latin typeface="Arial"/>
              </a:rPr>
              <a:t>Evidence priorities focus decision makers on the highest-value gaps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841248"/>
            <a:ext cx="90525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919" b="0">
                <a:solidFill>
                  <a:srgbClr val="707780"/>
                </a:solidFill>
                <a:latin typeface="Arial"/>
              </a:rPr>
              <a:t>Use this slide as the senior-team briefing 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1152144"/>
            <a:ext cx="1051560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Overview | [Product / indication]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1645920"/>
            <a:ext cx="2971800" cy="338328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2688" y="1645920"/>
            <a:ext cx="64008" cy="3383280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1773936"/>
            <a:ext cx="260604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Priority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2148840"/>
            <a:ext cx="23317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1300" b="1">
                <a:solidFill>
                  <a:srgbClr val="002560"/>
                </a:solidFill>
                <a:latin typeface="Arial"/>
              </a:rPr>
              <a:t>[Strategic evidence priority]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2651760"/>
            <a:ext cx="2377440" cy="15087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80">
                <a:solidFill>
                  <a:srgbClr val="20262E"/>
                </a:solidFill>
                <a:latin typeface="Arial"/>
              </a:rPr>
              <a:t>Gap: [top gap]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0262E"/>
                </a:solidFill>
                <a:latin typeface="Arial"/>
              </a:rPr>
              <a:t>Action: [study / analysis]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0262E"/>
                </a:solidFill>
                <a:latin typeface="Arial"/>
              </a:rPr>
              <a:t>Decision: [reg/access/adoption]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0262E"/>
                </a:solidFill>
                <a:latin typeface="Arial"/>
              </a:rPr>
              <a:t>Timing: [window]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61288" y="4526280"/>
            <a:ext cx="1645920" cy="7315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4256" y="1645920"/>
            <a:ext cx="2971800" cy="338328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34256" y="1645920"/>
            <a:ext cx="64008" cy="3383280"/>
          </a:xfrm>
          <a:prstGeom prst="rect">
            <a:avLst/>
          </a:prstGeom>
          <a:solidFill>
            <a:srgbClr val="00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5424" y="1773936"/>
            <a:ext cx="260604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Priority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2148840"/>
            <a:ext cx="23317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1300" b="1">
                <a:solidFill>
                  <a:srgbClr val="002560"/>
                </a:solidFill>
                <a:latin typeface="Arial"/>
              </a:rPr>
              <a:t>[Strategic evidence priority]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2651760"/>
            <a:ext cx="2377440" cy="15087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80">
                <a:solidFill>
                  <a:srgbClr val="20262E"/>
                </a:solidFill>
                <a:latin typeface="Arial"/>
              </a:rPr>
              <a:t>Gap: [top gap]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0262E"/>
                </a:solidFill>
                <a:latin typeface="Arial"/>
              </a:rPr>
              <a:t>Action: [study / analysis]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0262E"/>
                </a:solidFill>
                <a:latin typeface="Arial"/>
              </a:rPr>
              <a:t>Decision: [reg/access/adoption]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0262E"/>
                </a:solidFill>
                <a:latin typeface="Arial"/>
              </a:rPr>
              <a:t>Timing: [window]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62856" y="4526280"/>
            <a:ext cx="1645920" cy="7315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35824" y="1645920"/>
            <a:ext cx="2971800" cy="338328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35824" y="1645920"/>
            <a:ext cx="64008" cy="338328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36992" y="1773936"/>
            <a:ext cx="260604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Priority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4424" y="2148840"/>
            <a:ext cx="23317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1300" b="1">
                <a:solidFill>
                  <a:srgbClr val="002560"/>
                </a:solidFill>
                <a:latin typeface="Arial"/>
              </a:rPr>
              <a:t>[Strategic evidence priority]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64424" y="2651760"/>
            <a:ext cx="2377440" cy="15087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80">
                <a:solidFill>
                  <a:srgbClr val="20262E"/>
                </a:solidFill>
                <a:latin typeface="Arial"/>
              </a:rPr>
              <a:t>Gap: [top gap]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0262E"/>
                </a:solidFill>
                <a:latin typeface="Arial"/>
              </a:rPr>
              <a:t>Action: [study / analysis]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0262E"/>
                </a:solidFill>
                <a:latin typeface="Arial"/>
              </a:rPr>
              <a:t>Decision: [reg/access/adoption]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0262E"/>
                </a:solidFill>
                <a:latin typeface="Arial"/>
              </a:rPr>
              <a:t>Timing: [window]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64424" y="4526280"/>
            <a:ext cx="1645920" cy="7315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2688" y="5413248"/>
            <a:ext cx="9966960" cy="54864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2688" y="5413248"/>
            <a:ext cx="64008" cy="54864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3856" y="5541264"/>
            <a:ext cx="96012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Decision 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" y="5705856"/>
            <a:ext cx="9582912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60" b="0">
                <a:solidFill>
                  <a:srgbClr val="20262E"/>
                </a:solidFill>
                <a:latin typeface="Arial"/>
              </a:rPr>
              <a:t>[Approve roadmap] | [Fund priority activities] | [Confirm owners and refresh cadence]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"/>
            <a:ext cx="969264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2200" b="1">
                <a:solidFill>
                  <a:srgbClr val="002560"/>
                </a:solidFill>
                <a:latin typeface="Arial"/>
              </a:rPr>
              <a:t>Decisions needed are tied to evidence readiness and timing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1152144"/>
            <a:ext cx="1051560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Overview | [Product / indication]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05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32688" y="1691640"/>
          <a:ext cx="10012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3474720"/>
                <a:gridCol w="1234440"/>
                <a:gridCol w="1280160"/>
              </a:tblGrid>
              <a:tr h="627017"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Recommendation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Evidence basis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Deadline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</a:tr>
              <a:tr h="627017">
                <a:tc>
                  <a:txBody>
                    <a:bodyPr anchor="ctr"/>
                    <a:lstStyle/>
                    <a:p>
                      <a:r>
                        <a:t>Approve priority gaps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[approve/revise]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[risk and value rationale]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anchor="ctr"/>
                    <a:lstStyle/>
                    <a:p>
                      <a:r>
                        <a:t>Fund evidence activity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[approve/defer]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value]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  <a:tr h="627017">
                <a:tc>
                  <a:txBody>
                    <a:bodyPr anchor="ctr"/>
                    <a:lstStyle/>
                    <a:p>
                      <a:r>
                        <a:t>Select study design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[option A/B]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[credibility and feasibility]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anchor="ctr"/>
                    <a:lstStyle/>
                    <a:p>
                      <a:r>
                        <a:t>Resolve local adaptation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[global/local split]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[reuse vs local gap]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  <a:tr h="627017">
                <a:tc>
                  <a:txBody>
                    <a:bodyPr anchor="ctr"/>
                    <a:lstStyle/>
                    <a:p>
                      <a:r>
                        <a:t>Confirm governance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[RACI/cadence]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[execution accountability]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 anchor="ctr"/>
                    <a:lstStyle/>
                    <a:p>
                      <a:r>
                        <a:t>Other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[recommendation]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[basis]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07008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65392" y="365760"/>
            <a:ext cx="2431023" cy="49377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84283" y="3771900"/>
            <a:ext cx="1967971" cy="150876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1005840"/>
            <a:ext cx="4114800" cy="3931920"/>
          </a:xfrm>
          <a:prstGeom prst="rect">
            <a:avLst/>
          </a:prstGeom>
          <a:solidFill>
            <a:srgbClr val="00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86600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9480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98664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81544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0728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93608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22792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05672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34856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17736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1234440"/>
            <a:ext cx="4892040" cy="685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3400" b="1">
                <a:solidFill>
                  <a:srgbClr val="002560"/>
                </a:solidFill>
                <a:latin typeface="Arial"/>
              </a:rPr>
              <a:t>Asset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2240280"/>
            <a:ext cx="44805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1300" b="0">
                <a:solidFill>
                  <a:srgbClr val="707780"/>
                </a:solidFill>
                <a:latin typeface="Arial"/>
              </a:rPr>
              <a:t>Frame the product, value story, and stakeholder requirements.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3154680"/>
            <a:ext cx="3108960" cy="7315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Context | [Product / indication]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07008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"/>
            <a:ext cx="969264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2200" b="1">
                <a:solidFill>
                  <a:srgbClr val="002560"/>
                </a:solidFill>
                <a:latin typeface="Arial"/>
              </a:rPr>
              <a:t>Asset snapshot frames evidence needs before study planning begins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1152144"/>
            <a:ext cx="1051560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Context | [Product / indication]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07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1691640"/>
            <a:ext cx="2816352" cy="987552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" y="1691640"/>
            <a:ext cx="64008" cy="987552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1819656"/>
            <a:ext cx="2450592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Asset / mechanism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2185416"/>
            <a:ext cx="224028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950" b="0">
                <a:solidFill>
                  <a:srgbClr val="707780"/>
                </a:solidFill>
                <a:latin typeface="Arial"/>
              </a:rPr>
              <a:t>[name, modality, MoA]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42816" y="1691640"/>
            <a:ext cx="2816352" cy="987552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42816" y="1691640"/>
            <a:ext cx="64008" cy="987552"/>
          </a:xfrm>
          <a:prstGeom prst="rect">
            <a:avLst/>
          </a:prstGeom>
          <a:solidFill>
            <a:srgbClr val="00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3984" y="1819656"/>
            <a:ext cx="2450592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Population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2185416"/>
            <a:ext cx="224028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950" b="0">
                <a:solidFill>
                  <a:srgbClr val="707780"/>
                </a:solidFill>
                <a:latin typeface="Arial"/>
              </a:rPr>
              <a:t>[indication, line, biomarker]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52944" y="1691640"/>
            <a:ext cx="2816352" cy="987552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52944" y="1691640"/>
            <a:ext cx="64008" cy="98755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54112" y="1819656"/>
            <a:ext cx="2450592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Lifecycle stage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185416"/>
            <a:ext cx="224028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950" b="0">
                <a:solidFill>
                  <a:srgbClr val="707780"/>
                </a:solidFill>
                <a:latin typeface="Arial"/>
              </a:rPr>
              <a:t>[pre-launch / launch / post-launch]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" y="3200400"/>
            <a:ext cx="2816352" cy="987552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2688" y="3200400"/>
            <a:ext cx="64008" cy="987552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856" y="3328416"/>
            <a:ext cx="2450592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Geography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" y="3694176"/>
            <a:ext cx="224028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950" b="0">
                <a:solidFill>
                  <a:srgbClr val="707780"/>
                </a:solidFill>
                <a:latin typeface="Arial"/>
              </a:rPr>
              <a:t>[global and priority markets]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42816" y="3200400"/>
            <a:ext cx="2816352" cy="987552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42816" y="3200400"/>
            <a:ext cx="64008" cy="987552"/>
          </a:xfrm>
          <a:prstGeom prst="rect">
            <a:avLst/>
          </a:prstGeom>
          <a:solidFill>
            <a:srgbClr val="00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43984" y="3328416"/>
            <a:ext cx="2450592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TPP / TVP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3694176"/>
            <a:ext cx="224028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950" b="0">
                <a:solidFill>
                  <a:srgbClr val="707780"/>
                </a:solidFill>
                <a:latin typeface="Arial"/>
              </a:rPr>
              <a:t>[clinical and value targets]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52944" y="3200400"/>
            <a:ext cx="2816352" cy="987552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52944" y="3200400"/>
            <a:ext cx="64008" cy="98755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54112" y="3328416"/>
            <a:ext cx="2450592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Key milestones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3694176"/>
            <a:ext cx="224028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950" b="0">
                <a:solidFill>
                  <a:srgbClr val="707780"/>
                </a:solidFill>
                <a:latin typeface="Arial"/>
              </a:rPr>
              <a:t>[readouts, submissions, HTA, launch]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07008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"/>
            <a:ext cx="969264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2200" b="1">
                <a:solidFill>
                  <a:srgbClr val="002560"/>
                </a:solidFill>
                <a:latin typeface="Arial"/>
              </a:rPr>
              <a:t>Value messages trace to evidence requirements, support, gaps, and tactics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1152144"/>
            <a:ext cx="1051560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Context | [Product / indication]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08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" y="1901952"/>
            <a:ext cx="1417320" cy="320040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2423160"/>
            <a:ext cx="132588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900" b="1">
                <a:solidFill>
                  <a:srgbClr val="002560"/>
                </a:solidFill>
                <a:latin typeface="Arial"/>
              </a:rPr>
              <a:t>Value driver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" y="2852928"/>
            <a:ext cx="1417320" cy="109728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4128" y="2852928"/>
            <a:ext cx="64008" cy="1097280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3182112"/>
            <a:ext cx="10058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0">
                <a:solidFill>
                  <a:srgbClr val="707780"/>
                </a:solidFill>
                <a:latin typeface="Arial"/>
              </a:rPr>
              <a:t>[content]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05456" y="3396996"/>
            <a:ext cx="384048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99232" y="1901952"/>
            <a:ext cx="1417320" cy="320040"/>
          </a:xfrm>
          <a:prstGeom prst="rect">
            <a:avLst/>
          </a:prstGeom>
          <a:solidFill>
            <a:srgbClr val="00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9232" y="2423160"/>
            <a:ext cx="132588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900" b="1">
                <a:solidFill>
                  <a:srgbClr val="002560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99232" y="2852928"/>
            <a:ext cx="1417320" cy="109728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99232" y="2852928"/>
            <a:ext cx="64008" cy="1097280"/>
          </a:xfrm>
          <a:prstGeom prst="rect">
            <a:avLst/>
          </a:prstGeom>
          <a:solidFill>
            <a:srgbClr val="00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45536" y="3182112"/>
            <a:ext cx="10058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0">
                <a:solidFill>
                  <a:srgbClr val="707780"/>
                </a:solidFill>
                <a:latin typeface="Arial"/>
              </a:rPr>
              <a:t>[content]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3396996"/>
            <a:ext cx="384048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74336" y="1901952"/>
            <a:ext cx="1417320" cy="320040"/>
          </a:xfrm>
          <a:prstGeom prst="rect">
            <a:avLst/>
          </a:prstGeom>
          <a:solidFill>
            <a:srgbClr val="707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74336" y="2423160"/>
            <a:ext cx="132588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900" b="1">
                <a:solidFill>
                  <a:srgbClr val="002560"/>
                </a:solidFill>
                <a:latin typeface="Arial"/>
              </a:rPr>
              <a:t>Current 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74336" y="2852928"/>
            <a:ext cx="1417320" cy="109728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74336" y="2852928"/>
            <a:ext cx="64008" cy="1097280"/>
          </a:xfrm>
          <a:prstGeom prst="rect">
            <a:avLst/>
          </a:prstGeom>
          <a:solidFill>
            <a:srgbClr val="707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3182112"/>
            <a:ext cx="10058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0">
                <a:solidFill>
                  <a:srgbClr val="707780"/>
                </a:solidFill>
                <a:latin typeface="Arial"/>
              </a:rPr>
              <a:t>[content]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55664" y="3396996"/>
            <a:ext cx="384048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49440" y="1901952"/>
            <a:ext cx="1417320" cy="32004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2423160"/>
            <a:ext cx="132588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900" b="1">
                <a:solidFill>
                  <a:srgbClr val="002560"/>
                </a:solidFill>
                <a:latin typeface="Arial"/>
              </a:rPr>
              <a:t>Gap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2852928"/>
            <a:ext cx="1417320" cy="109728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49440" y="2852928"/>
            <a:ext cx="64008" cy="109728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95744" y="3182112"/>
            <a:ext cx="10058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0">
                <a:solidFill>
                  <a:srgbClr val="707780"/>
                </a:solidFill>
                <a:latin typeface="Arial"/>
              </a:rPr>
              <a:t>[content]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30768" y="3396996"/>
            <a:ext cx="384048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24544" y="1901952"/>
            <a:ext cx="1417320" cy="320040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24544" y="2423160"/>
            <a:ext cx="132588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900" b="1">
                <a:solidFill>
                  <a:srgbClr val="002560"/>
                </a:solidFill>
                <a:latin typeface="Arial"/>
              </a:rPr>
              <a:t>Tactic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24544" y="2852928"/>
            <a:ext cx="1417320" cy="109728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24544" y="2852928"/>
            <a:ext cx="64008" cy="1097280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70848" y="3182112"/>
            <a:ext cx="100584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0">
                <a:solidFill>
                  <a:srgbClr val="707780"/>
                </a:solidFill>
                <a:latin typeface="Arial"/>
              </a:rPr>
              <a:t>[content]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" y="5120640"/>
            <a:ext cx="9966960" cy="59436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2688" y="5120640"/>
            <a:ext cx="64008" cy="59436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33856" y="5248655"/>
            <a:ext cx="96012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Narrative test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" y="5413248"/>
            <a:ext cx="9582912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60" b="0">
                <a:solidFill>
                  <a:srgbClr val="20262E"/>
                </a:solidFill>
                <a:latin typeface="Arial"/>
              </a:rPr>
              <a:t>Can every value message be supported by source-backed evidence or a funded activity?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865376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65392" y="365760"/>
            <a:ext cx="2431023" cy="49377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84283" y="3771900"/>
            <a:ext cx="1967971" cy="150876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1005840"/>
            <a:ext cx="4114800" cy="3931920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86600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9480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98664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81544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0728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93608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22792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05672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34856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17736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1234440"/>
            <a:ext cx="4892040" cy="685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3400" b="1">
                <a:solidFill>
                  <a:srgbClr val="002560"/>
                </a:solidFill>
                <a:latin typeface="Arial"/>
              </a:rPr>
              <a:t>Evidence needs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2240280"/>
            <a:ext cx="44805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1300" b="0">
                <a:solidFill>
                  <a:srgbClr val="707780"/>
                </a:solidFill>
                <a:latin typeface="Arial"/>
              </a:rPr>
              <a:t>Map stakeholder evidence standards and the current evidence base.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3154680"/>
            <a:ext cx="3108960" cy="7315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Needs | [Product / indication]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865376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"/>
            <a:ext cx="969264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2200" b="1">
                <a:solidFill>
                  <a:srgbClr val="002560"/>
                </a:solidFill>
                <a:latin typeface="Arial"/>
              </a:rPr>
              <a:t>Stakeholder needs define the evidence standard for each decision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1152144"/>
            <a:ext cx="1051560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Needs | [Product / indication]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1691640"/>
            <a:ext cx="2788920" cy="141732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" y="1691640"/>
            <a:ext cx="64008" cy="1417320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1819656"/>
            <a:ext cx="242316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Regulators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2203704"/>
            <a:ext cx="2240280" cy="56692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00">
                <a:solidFill>
                  <a:srgbClr val="20262E"/>
                </a:solidFill>
                <a:latin typeface="Arial"/>
              </a:rPr>
              <a:t>Decision: [ ]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0262E"/>
                </a:solidFill>
                <a:latin typeface="Arial"/>
              </a:rPr>
              <a:t>Evidence standard: [ ]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0262E"/>
                </a:solidFill>
                <a:latin typeface="Arial"/>
              </a:rPr>
              <a:t>Timing: [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1691640"/>
            <a:ext cx="2788920" cy="141732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1691640"/>
            <a:ext cx="64008" cy="1417320"/>
          </a:xfrm>
          <a:prstGeom prst="rect">
            <a:avLst/>
          </a:prstGeom>
          <a:solidFill>
            <a:srgbClr val="00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1819656"/>
            <a:ext cx="242316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HTA / payers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2203704"/>
            <a:ext cx="2240280" cy="56692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00">
                <a:solidFill>
                  <a:srgbClr val="20262E"/>
                </a:solidFill>
                <a:latin typeface="Arial"/>
              </a:rPr>
              <a:t>Decision: [ ]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0262E"/>
                </a:solidFill>
                <a:latin typeface="Arial"/>
              </a:rPr>
              <a:t>Evidence standard: [ ]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0262E"/>
                </a:solidFill>
                <a:latin typeface="Arial"/>
              </a:rPr>
              <a:t>Timing: [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71231" y="1691640"/>
            <a:ext cx="2788920" cy="141732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71231" y="1691640"/>
            <a:ext cx="64008" cy="141732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1819656"/>
            <a:ext cx="242316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HCPs / KOLs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0688" y="2203704"/>
            <a:ext cx="2240280" cy="56692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00">
                <a:solidFill>
                  <a:srgbClr val="20262E"/>
                </a:solidFill>
                <a:latin typeface="Arial"/>
              </a:rPr>
              <a:t>Decision: [ ]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0262E"/>
                </a:solidFill>
                <a:latin typeface="Arial"/>
              </a:rPr>
              <a:t>Evidence standard: [ ]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0262E"/>
                </a:solidFill>
                <a:latin typeface="Arial"/>
              </a:rPr>
              <a:t>Timing: [ 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" y="3730752"/>
            <a:ext cx="2788920" cy="141732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2688" y="3730752"/>
            <a:ext cx="64008" cy="141732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856" y="3858768"/>
            <a:ext cx="242316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Patients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" y="4242816"/>
            <a:ext cx="2240280" cy="56692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00">
                <a:solidFill>
                  <a:srgbClr val="20262E"/>
                </a:solidFill>
                <a:latin typeface="Arial"/>
              </a:rPr>
              <a:t>Decision: [ ]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0262E"/>
                </a:solidFill>
                <a:latin typeface="Arial"/>
              </a:rPr>
              <a:t>Evidence standard: [ ]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0262E"/>
                </a:solidFill>
                <a:latin typeface="Arial"/>
              </a:rPr>
              <a:t>Timing: [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3730752"/>
            <a:ext cx="2788920" cy="141732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51960" y="3730752"/>
            <a:ext cx="64008" cy="1417320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53128" y="3858768"/>
            <a:ext cx="242316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Policy / systems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1416" y="4242816"/>
            <a:ext cx="2240280" cy="56692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00">
                <a:solidFill>
                  <a:srgbClr val="20262E"/>
                </a:solidFill>
                <a:latin typeface="Arial"/>
              </a:rPr>
              <a:t>Decision: [ ]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0262E"/>
                </a:solidFill>
                <a:latin typeface="Arial"/>
              </a:rPr>
              <a:t>Evidence standard: [ ]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0262E"/>
                </a:solidFill>
                <a:latin typeface="Arial"/>
              </a:rPr>
              <a:t>Timing: [ 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71231" y="3730752"/>
            <a:ext cx="2788920" cy="141732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71231" y="3730752"/>
            <a:ext cx="64008" cy="1417320"/>
          </a:xfrm>
          <a:prstGeom prst="rect">
            <a:avLst/>
          </a:prstGeom>
          <a:solidFill>
            <a:srgbClr val="00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3858768"/>
            <a:ext cx="242316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Internal teams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0688" y="4242816"/>
            <a:ext cx="2240280" cy="56692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00">
                <a:solidFill>
                  <a:srgbClr val="20262E"/>
                </a:solidFill>
                <a:latin typeface="Arial"/>
              </a:rPr>
              <a:t>Decision: [ ]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0262E"/>
                </a:solidFill>
                <a:latin typeface="Arial"/>
              </a:rPr>
              <a:t>Evidence standard: [ ]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20262E"/>
                </a:solidFill>
                <a:latin typeface="Arial"/>
              </a:rPr>
              <a:t>Timing: [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865376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"/>
            <a:ext cx="969264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2200" b="1">
                <a:solidFill>
                  <a:srgbClr val="002560"/>
                </a:solidFill>
                <a:latin typeface="Arial"/>
              </a:rPr>
              <a:t>Current evidence inventory separates usable support from unresolved limits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1152144"/>
            <a:ext cx="1051560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Needs | [Product / indication]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11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68680" y="1691640"/>
          <a:ext cx="101955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51560"/>
                <a:gridCol w="1737360"/>
                <a:gridCol w="2468880"/>
                <a:gridCol w="1417320"/>
                <a:gridCol w="1783080"/>
              </a:tblGrid>
              <a:tr h="497840"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Population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Endpoint / output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Stakeholder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Limits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Clinical trials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RWE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HEOR model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SLR / ITC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COA / PRO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Epidemiology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Publications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Other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523744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65392" y="365760"/>
            <a:ext cx="2431023" cy="49377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84283" y="3771900"/>
            <a:ext cx="1967971" cy="150876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1005840"/>
            <a:ext cx="4114800" cy="3931920"/>
          </a:xfrm>
          <a:prstGeom prst="rect">
            <a:avLst/>
          </a:prstGeom>
          <a:solidFill>
            <a:srgbClr val="00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86600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9480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98664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81544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0728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93608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22792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05672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34856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17736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1234440"/>
            <a:ext cx="4892040" cy="685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3400" b="1">
                <a:solidFill>
                  <a:srgbClr val="002560"/>
                </a:solidFill>
                <a:latin typeface="Arial"/>
              </a:rPr>
              <a:t>Gap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2240280"/>
            <a:ext cx="44805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1300" b="0">
                <a:solidFill>
                  <a:srgbClr val="707780"/>
                </a:solidFill>
                <a:latin typeface="Arial"/>
              </a:rPr>
              <a:t>Convert evidence needs into prioritized, actionable gaps.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3154680"/>
            <a:ext cx="3108960" cy="7315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Gaps | [Product / indication]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523744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"/>
            <a:ext cx="969264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2200" b="1">
                <a:solidFill>
                  <a:srgbClr val="002560"/>
                </a:solidFill>
                <a:latin typeface="Arial"/>
              </a:rPr>
              <a:t>Evidence gaps are prioritized by decision consequence and actionability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1152144"/>
            <a:ext cx="1051560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Gaps | [Product / indication]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13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68680" y="1691640"/>
          <a:ext cx="877823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2240280"/>
                <a:gridCol w="822960"/>
                <a:gridCol w="1874519"/>
              </a:tblGrid>
              <a:tr h="560070"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Current evidence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Priority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G1: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G2: [gap]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G3: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G4: [gap]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G5: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G6: [gap]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G7: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9921240" y="1691640"/>
            <a:ext cx="1234440" cy="448056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21240" y="1691640"/>
            <a:ext cx="64008" cy="448056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22408" y="1819656"/>
            <a:ext cx="86868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Decision consequence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22408" y="2148840"/>
            <a:ext cx="850392" cy="39136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60">
                <a:solidFill>
                  <a:srgbClr val="20262E"/>
                </a:solidFill>
                <a:latin typeface="Arial"/>
              </a:rPr>
              <a:t>[label risk]</a:t>
            </a:r>
          </a:p>
          <a:p>
            <a:pPr>
              <a:spcAft>
                <a:spcPts val="400"/>
              </a:spcAft>
            </a:pPr>
            <a:r>
              <a:rPr sz="860">
                <a:solidFill>
                  <a:srgbClr val="20262E"/>
                </a:solidFill>
                <a:latin typeface="Arial"/>
              </a:rPr>
              <a:t>[HTA risk]</a:t>
            </a:r>
          </a:p>
          <a:p>
            <a:pPr>
              <a:spcAft>
                <a:spcPts val="400"/>
              </a:spcAft>
            </a:pPr>
            <a:r>
              <a:rPr sz="860">
                <a:solidFill>
                  <a:srgbClr val="20262E"/>
                </a:solidFill>
                <a:latin typeface="Arial"/>
              </a:rPr>
              <a:t>[slow uptake]</a:t>
            </a:r>
          </a:p>
          <a:p>
            <a:pPr>
              <a:spcAft>
                <a:spcPts val="400"/>
              </a:spcAft>
            </a:pPr>
            <a:r>
              <a:rPr sz="860">
                <a:solidFill>
                  <a:srgbClr val="20262E"/>
                </a:solidFill>
                <a:latin typeface="Arial"/>
              </a:rPr>
              <a:t>[unfunded lifecycle]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523744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"/>
            <a:ext cx="969264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2200" b="1">
                <a:solidFill>
                  <a:srgbClr val="002560"/>
                </a:solidFill>
                <a:latin typeface="Arial"/>
              </a:rPr>
              <a:t>Priority scoring converts evidence gaps into funded roadmap choices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1152144"/>
            <a:ext cx="1051560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Gaps | [Product / indication]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1828800"/>
            <a:ext cx="118872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700" b="1">
                <a:solidFill>
                  <a:srgbClr val="005DAB"/>
                </a:solidFill>
                <a:latin typeface="Arial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8992" y="2441448"/>
            <a:ext cx="960120" cy="54864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2651760"/>
            <a:ext cx="164592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00" b="0">
                <a:solidFill>
                  <a:srgbClr val="707780"/>
                </a:solidFill>
                <a:latin typeface="Arial"/>
              </a:rPr>
              <a:t>Strategic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1828800"/>
            <a:ext cx="118872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700" b="1">
                <a:solidFill>
                  <a:srgbClr val="002560"/>
                </a:solidFill>
                <a:latin typeface="Arial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47872" y="2441448"/>
            <a:ext cx="960120" cy="54864"/>
          </a:xfrm>
          <a:prstGeom prst="rect">
            <a:avLst/>
          </a:prstGeom>
          <a:solidFill>
            <a:srgbClr val="00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27832" y="2651760"/>
            <a:ext cx="164592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00" b="0">
                <a:solidFill>
                  <a:srgbClr val="707780"/>
                </a:solidFill>
                <a:latin typeface="Arial"/>
              </a:rPr>
              <a:t>Urgency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5312" y="1828800"/>
            <a:ext cx="118872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700" b="1">
                <a:solidFill>
                  <a:srgbClr val="EF6523"/>
                </a:solidFill>
                <a:latin typeface="Arial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16752" y="2441448"/>
            <a:ext cx="960120" cy="54864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96712" y="2651760"/>
            <a:ext cx="164592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00" b="0">
                <a:solidFill>
                  <a:srgbClr val="707780"/>
                </a:solidFill>
                <a:latin typeface="Arial"/>
              </a:rPr>
              <a:t>Feasibility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1828800"/>
            <a:ext cx="118872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700" b="1">
                <a:solidFill>
                  <a:srgbClr val="707780"/>
                </a:solidFill>
                <a:latin typeface="Arial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85632" y="2441448"/>
            <a:ext cx="960120" cy="54864"/>
          </a:xfrm>
          <a:prstGeom prst="rect">
            <a:avLst/>
          </a:prstGeom>
          <a:solidFill>
            <a:srgbClr val="707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2651760"/>
            <a:ext cx="164592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00" b="0">
                <a:solidFill>
                  <a:srgbClr val="707780"/>
                </a:solidFill>
                <a:latin typeface="Arial"/>
              </a:rPr>
              <a:t>Reuse potential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932688" y="3749039"/>
          <a:ext cx="100126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371600"/>
                <a:gridCol w="1600200"/>
                <a:gridCol w="3108960"/>
              </a:tblGrid>
              <a:tr h="411480"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Urgency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Feasibility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r>
                        <a:t>G1: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[fund / revise / hold]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r>
                        <a:t>G2: [gap]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[fund / revise / hold]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r>
                        <a:t>G3: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[fund / revise / hold]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r>
                        <a:t>G4: [gap]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[fund / revise / hold]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182112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65392" y="365760"/>
            <a:ext cx="2431023" cy="49377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84283" y="3771900"/>
            <a:ext cx="1967971" cy="150876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1005840"/>
            <a:ext cx="4114800" cy="3931920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86600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9480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98664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81544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0728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93608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22792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05672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34856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17736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1234440"/>
            <a:ext cx="4892040" cy="685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3400" b="1">
                <a:solidFill>
                  <a:srgbClr val="002560"/>
                </a:solidFill>
                <a:latin typeface="Arial"/>
              </a:rPr>
              <a:t>Roadmap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2240280"/>
            <a:ext cx="44805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1300" b="0">
                <a:solidFill>
                  <a:srgbClr val="707780"/>
                </a:solidFill>
                <a:latin typeface="Arial"/>
              </a:rPr>
              <a:t>Translate priority gaps into activities, readouts, and pull-through.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3154680"/>
            <a:ext cx="3108960" cy="7315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Roadmap | [Product / indication]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182112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"/>
            <a:ext cx="969264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2200" b="1">
                <a:solidFill>
                  <a:srgbClr val="002560"/>
                </a:solidFill>
                <a:latin typeface="Arial"/>
              </a:rPr>
              <a:t>Integrated roadmap aligns workstreams to evidence readouts and decision gates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1152144"/>
            <a:ext cx="1051560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Roadmap | [Product / indication]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1691640"/>
            <a:ext cx="640080" cy="1280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620" b="1">
                <a:solidFill>
                  <a:srgbClr val="707780"/>
                </a:solidFill>
                <a:latin typeface="Arial"/>
              </a:rPr>
              <a:t>Y1 Q1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1691640"/>
            <a:ext cx="640080" cy="1280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620" b="1">
                <a:solidFill>
                  <a:srgbClr val="707780"/>
                </a:solidFill>
                <a:latin typeface="Arial"/>
              </a:rPr>
              <a:t>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1691640"/>
            <a:ext cx="640080" cy="1280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620" b="1">
                <a:solidFill>
                  <a:srgbClr val="707780"/>
                </a:solidFill>
                <a:latin typeface="Arial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79" y="1691640"/>
            <a:ext cx="640080" cy="1280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620" b="1">
                <a:solidFill>
                  <a:srgbClr val="707780"/>
                </a:solidFill>
                <a:latin typeface="Arial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1691640"/>
            <a:ext cx="640080" cy="1280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620" b="1">
                <a:solidFill>
                  <a:srgbClr val="707780"/>
                </a:solidFill>
                <a:latin typeface="Arial"/>
              </a:rPr>
              <a:t>Y2 Q1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1" y="1691640"/>
            <a:ext cx="640080" cy="1280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620" b="1">
                <a:solidFill>
                  <a:srgbClr val="707780"/>
                </a:solidFill>
                <a:latin typeface="Arial"/>
              </a:rPr>
              <a:t>Q2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1691640"/>
            <a:ext cx="640080" cy="1280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620" b="1">
                <a:solidFill>
                  <a:srgbClr val="707780"/>
                </a:solidFill>
                <a:latin typeface="Arial"/>
              </a:rPr>
              <a:t>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691640"/>
            <a:ext cx="640080" cy="1280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620" b="1">
                <a:solidFill>
                  <a:srgbClr val="707780"/>
                </a:solidFill>
                <a:latin typeface="Arial"/>
              </a:rPr>
              <a:t>Q4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2276856"/>
            <a:ext cx="1783080" cy="1371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720" b="1">
                <a:solidFill>
                  <a:srgbClr val="002560"/>
                </a:solidFill>
                <a:latin typeface="Arial"/>
              </a:rPr>
              <a:t>Clinical / regulatory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2368296"/>
            <a:ext cx="804672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63240" y="2212848"/>
            <a:ext cx="1417320" cy="274320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82112" y="2286000"/>
            <a:ext cx="960120" cy="731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[activity]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85232" y="2185416"/>
            <a:ext cx="137160" cy="329184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2935223"/>
            <a:ext cx="1783080" cy="1371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720" b="1">
                <a:solidFill>
                  <a:srgbClr val="002560"/>
                </a:solidFill>
                <a:latin typeface="Arial"/>
              </a:rPr>
              <a:t>RWE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3026663"/>
            <a:ext cx="804672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20440" y="2871215"/>
            <a:ext cx="1874519" cy="274320"/>
          </a:xfrm>
          <a:prstGeom prst="rect">
            <a:avLst/>
          </a:prstGeom>
          <a:solidFill>
            <a:srgbClr val="00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9312" y="2944368"/>
            <a:ext cx="960120" cy="731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[activity]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25312" y="2843784"/>
            <a:ext cx="137160" cy="329184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3593591"/>
            <a:ext cx="1783080" cy="1371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720" b="1">
                <a:solidFill>
                  <a:srgbClr val="002560"/>
                </a:solidFill>
                <a:latin typeface="Arial"/>
              </a:rPr>
              <a:t>HEOR / access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3685032"/>
            <a:ext cx="804672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77639" y="3529584"/>
            <a:ext cx="1417320" cy="27432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96512" y="3602736"/>
            <a:ext cx="960120" cy="731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[activity]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65392" y="3502152"/>
            <a:ext cx="137160" cy="329184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4251960"/>
            <a:ext cx="1783080" cy="1371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720" b="1">
                <a:solidFill>
                  <a:srgbClr val="002560"/>
                </a:solidFill>
                <a:latin typeface="Arial"/>
              </a:rPr>
              <a:t>Patient / COA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4343400"/>
            <a:ext cx="804672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63240" y="4187952"/>
            <a:ext cx="1874519" cy="27432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82112" y="4261104"/>
            <a:ext cx="960120" cy="731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[activity]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5472" y="4160520"/>
            <a:ext cx="137160" cy="329184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4910328"/>
            <a:ext cx="1783080" cy="1371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720" b="1">
                <a:solidFill>
                  <a:srgbClr val="002560"/>
                </a:solidFill>
                <a:latin typeface="Arial"/>
              </a:rPr>
              <a:t>Publications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" y="5001768"/>
            <a:ext cx="804672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520440" y="4846320"/>
            <a:ext cx="1417320" cy="274320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39312" y="4919472"/>
            <a:ext cx="960120" cy="731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[activity]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45552" y="4818888"/>
            <a:ext cx="137160" cy="329184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32688" y="5687568"/>
            <a:ext cx="9966960" cy="45720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2688" y="5687568"/>
            <a:ext cx="64008" cy="45720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33856" y="5815583"/>
            <a:ext cx="96012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Decision gates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" y="5980176"/>
            <a:ext cx="9582912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60" b="0">
                <a:solidFill>
                  <a:srgbClr val="20262E"/>
                </a:solidFill>
                <a:latin typeface="Arial"/>
              </a:rPr>
              <a:t>[protocol] | [data cut] | [abstract] | [regulatory] | [HTA] | [launch]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182112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"/>
            <a:ext cx="969264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2200" b="1">
                <a:solidFill>
                  <a:srgbClr val="002560"/>
                </a:solidFill>
                <a:latin typeface="Arial"/>
              </a:rPr>
              <a:t>Evidence activity tracker functions as the working source of truth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1152144"/>
            <a:ext cx="1051560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Roadmap | [Product / indication]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17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49808" y="1691640"/>
          <a:ext cx="92811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645920"/>
                <a:gridCol w="640080"/>
                <a:gridCol w="2240280"/>
                <a:gridCol w="960120"/>
                <a:gridCol w="1051560"/>
                <a:gridCol w="1463040"/>
                <a:gridCol w="822960"/>
              </a:tblGrid>
              <a:tr h="497840">
                <a:tc>
                  <a:txBody>
                    <a:bodyPr anchor="ctr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Activity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Method / data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Priority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A1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A2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A3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A4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A5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A6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A7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anchor="ctr"/>
                    <a:lstStyle/>
                    <a:p>
                      <a:r>
                        <a:t>A8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182112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"/>
            <a:ext cx="969264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2200" b="1">
                <a:solidFill>
                  <a:srgbClr val="002560"/>
                </a:solidFill>
                <a:latin typeface="Arial"/>
              </a:rPr>
              <a:t>Study concept one-pager keeps design, decision use, and pull-through visible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1152144"/>
            <a:ext cx="1051560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Roadmap | [Product / indication]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1691640"/>
            <a:ext cx="2816352" cy="987552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" y="1691640"/>
            <a:ext cx="64008" cy="987552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1819656"/>
            <a:ext cx="2450592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Study / activity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2185416"/>
            <a:ext cx="224028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900" b="0">
                <a:solidFill>
                  <a:srgbClr val="707780"/>
                </a:solidFill>
                <a:latin typeface="Arial"/>
              </a:rPr>
              <a:t>[name and ID]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42816" y="1691640"/>
            <a:ext cx="2816352" cy="987552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42816" y="1691640"/>
            <a:ext cx="64008" cy="987552"/>
          </a:xfrm>
          <a:prstGeom prst="rect">
            <a:avLst/>
          </a:prstGeom>
          <a:solidFill>
            <a:srgbClr val="00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3984" y="1819656"/>
            <a:ext cx="2450592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Evidence need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2185416"/>
            <a:ext cx="224028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900" b="0">
                <a:solidFill>
                  <a:srgbClr val="707780"/>
                </a:solidFill>
                <a:latin typeface="Arial"/>
              </a:rPr>
              <a:t>[gap, ORQ, stakeholder]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52944" y="1691640"/>
            <a:ext cx="2816352" cy="987552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52944" y="1691640"/>
            <a:ext cx="64008" cy="987552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54112" y="1819656"/>
            <a:ext cx="2450592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Objective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185416"/>
            <a:ext cx="224028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900" b="0">
                <a:solidFill>
                  <a:srgbClr val="707780"/>
                </a:solidFill>
                <a:latin typeface="Arial"/>
              </a:rPr>
              <a:t>[objective and hypothesis]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" y="3200400"/>
            <a:ext cx="2816352" cy="987552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2688" y="3200400"/>
            <a:ext cx="64008" cy="987552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856" y="3328416"/>
            <a:ext cx="2450592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" y="3694176"/>
            <a:ext cx="224028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900" b="0">
                <a:solidFill>
                  <a:srgbClr val="707780"/>
                </a:solidFill>
                <a:latin typeface="Arial"/>
              </a:rPr>
              <a:t>[population, comparator, endpoint, data]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42816" y="3200400"/>
            <a:ext cx="2816352" cy="987552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42816" y="3200400"/>
            <a:ext cx="64008" cy="98755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43984" y="3328416"/>
            <a:ext cx="2450592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Feasibility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3694176"/>
            <a:ext cx="224028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900" b="0">
                <a:solidFill>
                  <a:srgbClr val="707780"/>
                </a:solidFill>
                <a:latin typeface="Arial"/>
              </a:rPr>
              <a:t>[cost, complexity, dependency]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52944" y="3200400"/>
            <a:ext cx="2816352" cy="987552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52944" y="3200400"/>
            <a:ext cx="64008" cy="987552"/>
          </a:xfrm>
          <a:prstGeom prst="rect">
            <a:avLst/>
          </a:prstGeom>
          <a:solidFill>
            <a:srgbClr val="00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54112" y="3328416"/>
            <a:ext cx="2450592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Pull-through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3694176"/>
            <a:ext cx="224028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900" b="0">
                <a:solidFill>
                  <a:srgbClr val="707780"/>
                </a:solidFill>
                <a:latin typeface="Arial"/>
              </a:rPr>
              <a:t>[publication, dossier, claims]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" y="5486400"/>
            <a:ext cx="9966960" cy="45720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2688" y="5486400"/>
            <a:ext cx="64008" cy="45720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33856" y="5614416"/>
            <a:ext cx="96012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Decision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" y="5779008"/>
            <a:ext cx="9582912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60" b="0">
                <a:solidFill>
                  <a:srgbClr val="20262E"/>
                </a:solidFill>
                <a:latin typeface="Arial"/>
              </a:rPr>
              <a:t>[approve / revise / defer]    Next step: [action]    Date: [ 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182112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"/>
            <a:ext cx="969264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2200" b="1">
                <a:solidFill>
                  <a:srgbClr val="002560"/>
                </a:solidFill>
                <a:latin typeface="Arial"/>
              </a:rPr>
              <a:t>Specialized workstreams remain distinct but connected to the integrated 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1152144"/>
            <a:ext cx="1051560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Roadmap | [Product / indication]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1783080"/>
            <a:ext cx="4434840" cy="132588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" y="1783080"/>
            <a:ext cx="64008" cy="1325880"/>
          </a:xfrm>
          <a:prstGeom prst="rect">
            <a:avLst/>
          </a:prstGeom>
          <a:solidFill>
            <a:srgbClr val="00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1911095"/>
            <a:ext cx="4069079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HEOR /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2258568"/>
            <a:ext cx="3657600" cy="5029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50">
                <a:solidFill>
                  <a:srgbClr val="20262E"/>
                </a:solidFill>
                <a:latin typeface="Arial"/>
              </a:rPr>
              <a:t>SLR / ITC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20262E"/>
                </a:solidFill>
                <a:latin typeface="Arial"/>
              </a:rPr>
              <a:t>economic model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20262E"/>
                </a:solidFill>
                <a:latin typeface="Arial"/>
              </a:rPr>
              <a:t>budget impact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20262E"/>
                </a:solidFill>
                <a:latin typeface="Arial"/>
              </a:rPr>
              <a:t>payer research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1783080"/>
            <a:ext cx="4434840" cy="132588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0" y="1783080"/>
            <a:ext cx="64008" cy="1325880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1911095"/>
            <a:ext cx="4069079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RWE /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1616" y="2258568"/>
            <a:ext cx="3657600" cy="5029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50">
                <a:solidFill>
                  <a:srgbClr val="20262E"/>
                </a:solidFill>
                <a:latin typeface="Arial"/>
              </a:rPr>
              <a:t>retrospective database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20262E"/>
                </a:solidFill>
                <a:latin typeface="Arial"/>
              </a:rPr>
              <a:t>prospective study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20262E"/>
                </a:solidFill>
                <a:latin typeface="Arial"/>
              </a:rPr>
              <a:t>registry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20262E"/>
                </a:solidFill>
                <a:latin typeface="Arial"/>
              </a:rPr>
              <a:t>external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3611880"/>
            <a:ext cx="4434840" cy="132588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" y="3611880"/>
            <a:ext cx="64008" cy="132588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3856" y="3739896"/>
            <a:ext cx="4069079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Patient-centered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" y="4087368"/>
            <a:ext cx="3657600" cy="5029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50">
                <a:solidFill>
                  <a:srgbClr val="20262E"/>
                </a:solidFill>
                <a:latin typeface="Arial"/>
              </a:rPr>
              <a:t>COA / PRO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20262E"/>
                </a:solidFill>
                <a:latin typeface="Arial"/>
              </a:rPr>
              <a:t>HRQoL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20262E"/>
                </a:solidFill>
                <a:latin typeface="Arial"/>
              </a:rPr>
              <a:t>preference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20262E"/>
                </a:solidFill>
                <a:latin typeface="Arial"/>
              </a:rPr>
              <a:t>caregiver burden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3611880"/>
            <a:ext cx="4434840" cy="132588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52160" y="3611880"/>
            <a:ext cx="64008" cy="132588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53328" y="3739896"/>
            <a:ext cx="4069079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Medical communications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71616" y="4087368"/>
            <a:ext cx="3657600" cy="5029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50">
                <a:solidFill>
                  <a:srgbClr val="20262E"/>
                </a:solidFill>
                <a:latin typeface="Arial"/>
              </a:rPr>
              <a:t>abstract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20262E"/>
                </a:solidFill>
                <a:latin typeface="Arial"/>
              </a:rPr>
              <a:t>manuscript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20262E"/>
                </a:solidFill>
                <a:latin typeface="Arial"/>
              </a:rPr>
              <a:t>field medical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20262E"/>
                </a:solidFill>
                <a:latin typeface="Arial"/>
              </a:rPr>
              <a:t>claims matrix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3840480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65392" y="365760"/>
            <a:ext cx="2431023" cy="49377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84283" y="3771900"/>
            <a:ext cx="1967971" cy="150876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1005840"/>
            <a:ext cx="4114800" cy="3931920"/>
          </a:xfrm>
          <a:prstGeom prst="rect">
            <a:avLst/>
          </a:prstGeom>
          <a:solidFill>
            <a:srgbClr val="00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86600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9480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98664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81544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0728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93608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22792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05672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34856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17736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1325880"/>
            <a:ext cx="1828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1325880"/>
            <a:ext cx="91440" cy="32004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1234440"/>
            <a:ext cx="4892040" cy="6858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3400" b="1">
                <a:solidFill>
                  <a:srgbClr val="002560"/>
                </a:solidFill>
                <a:latin typeface="Arial"/>
              </a:rPr>
              <a:t>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2240280"/>
            <a:ext cx="44805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1300" b="0">
                <a:solidFill>
                  <a:srgbClr val="707780"/>
                </a:solidFill>
                <a:latin typeface="Arial"/>
              </a:rPr>
              <a:t>Operate the IEGP as a living governance and impact system.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3154680"/>
            <a:ext cx="3108960" cy="7315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Control | [Product / indication]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3840480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"/>
            <a:ext cx="969264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2200" b="1">
                <a:solidFill>
                  <a:srgbClr val="002560"/>
                </a:solidFill>
                <a:latin typeface="Arial"/>
              </a:rPr>
              <a:t>Governance cadence keeps the plan current after each evidence or landscape event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1152144"/>
            <a:ext cx="1051560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Control | [Product / indication]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21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32688" y="1691640"/>
          <a:ext cx="54406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057400"/>
                <a:gridCol w="1005840"/>
                <a:gridCol w="1143000"/>
              </a:tblGrid>
              <a:tr h="607422">
                <a:tc>
                  <a:txBody>
                    <a:bodyPr anchor="ctr"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  <a:latin typeface="Arial"/>
                        </a:rPr>
                        <a:t>Forum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  <a:latin typeface="Arial"/>
                        </a:rPr>
                        <a:t>Cadence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  <a:latin typeface="Arial"/>
                        </a:rPr>
                        <a:t>Rights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Core team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[maintain plan]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[monthly]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Evidence council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[prioritize/fund]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[quarterly]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Global-local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[adapt needs]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[quarterly]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Leadership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[trade-offs]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[semiannual]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Publications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[pull-through]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[monthly]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607428">
                <a:tc>
                  <a:txBody>
                    <a:bodyPr anchor="ctr"/>
                    <a:lstStyle/>
                    <a:p>
                      <a:r>
                        <a:t>Other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[purpose]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[cadence]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[rights]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784848" y="1691640"/>
            <a:ext cx="4206240" cy="425196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84848" y="1691640"/>
            <a:ext cx="64008" cy="425196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6016" y="1819656"/>
            <a:ext cx="3840479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Update triggers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2148840"/>
            <a:ext cx="3822191" cy="3685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60">
                <a:solidFill>
                  <a:srgbClr val="20262E"/>
                </a:solidFill>
                <a:latin typeface="Arial"/>
              </a:rPr>
              <a:t>Clinical readout</a:t>
            </a:r>
          </a:p>
          <a:p>
            <a:pPr>
              <a:spcAft>
                <a:spcPts val="400"/>
              </a:spcAft>
            </a:pPr>
            <a:r>
              <a:rPr sz="860">
                <a:solidFill>
                  <a:srgbClr val="20262E"/>
                </a:solidFill>
                <a:latin typeface="Arial"/>
              </a:rPr>
              <a:t>Regulatory feedback</a:t>
            </a:r>
          </a:p>
          <a:p>
            <a:pPr>
              <a:spcAft>
                <a:spcPts val="400"/>
              </a:spcAft>
            </a:pPr>
            <a:r>
              <a:rPr sz="860">
                <a:solidFill>
                  <a:srgbClr val="20262E"/>
                </a:solidFill>
                <a:latin typeface="Arial"/>
              </a:rPr>
              <a:t>HTA / payer change</a:t>
            </a:r>
          </a:p>
          <a:p>
            <a:pPr>
              <a:spcAft>
                <a:spcPts val="400"/>
              </a:spcAft>
            </a:pPr>
            <a:r>
              <a:rPr sz="860">
                <a:solidFill>
                  <a:srgbClr val="20262E"/>
                </a:solidFill>
                <a:latin typeface="Arial"/>
              </a:rPr>
              <a:t>Competitor approval or data</a:t>
            </a:r>
          </a:p>
          <a:p>
            <a:pPr>
              <a:spcAft>
                <a:spcPts val="400"/>
              </a:spcAft>
            </a:pPr>
            <a:r>
              <a:rPr sz="860">
                <a:solidFill>
                  <a:srgbClr val="20262E"/>
                </a:solidFill>
                <a:latin typeface="Arial"/>
              </a:rPr>
              <a:t>Guideline update</a:t>
            </a:r>
          </a:p>
          <a:p>
            <a:pPr>
              <a:spcAft>
                <a:spcPts val="400"/>
              </a:spcAft>
            </a:pPr>
            <a:r>
              <a:rPr sz="860">
                <a:solidFill>
                  <a:srgbClr val="20262E"/>
                </a:solidFill>
                <a:latin typeface="Arial"/>
              </a:rPr>
              <a:t>Budget or feasibility change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3840480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"/>
            <a:ext cx="969264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2200" b="1">
                <a:solidFill>
                  <a:srgbClr val="002560"/>
                </a:solidFill>
                <a:latin typeface="Arial"/>
              </a:rPr>
              <a:t>Impact dashboard measures plan execution and evidence pull-through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1152144"/>
            <a:ext cx="1051560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Control | [Product / indication]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828800"/>
            <a:ext cx="132588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400" b="1">
                <a:solidFill>
                  <a:srgbClr val="005DAB"/>
                </a:solidFill>
                <a:latin typeface="Arial"/>
              </a:rPr>
              <a:t>72%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24712" y="2395728"/>
            <a:ext cx="960120" cy="54864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606040"/>
            <a:ext cx="16002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750" b="0">
                <a:solidFill>
                  <a:srgbClr val="707780"/>
                </a:solidFill>
                <a:latin typeface="Arial"/>
              </a:rPr>
              <a:t>Gap closure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1828800"/>
            <a:ext cx="132588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400" b="1">
                <a:solidFill>
                  <a:srgbClr val="002560"/>
                </a:solidFill>
                <a:latin typeface="Arial"/>
              </a:rPr>
              <a:t>18/24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2395728"/>
            <a:ext cx="960120" cy="54864"/>
          </a:xfrm>
          <a:prstGeom prst="rect">
            <a:avLst/>
          </a:prstGeom>
          <a:solidFill>
            <a:srgbClr val="00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0128" y="2606040"/>
            <a:ext cx="16002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750" b="0">
                <a:solidFill>
                  <a:srgbClr val="707780"/>
                </a:solidFill>
                <a:latin typeface="Arial"/>
              </a:rPr>
              <a:t>Milestones 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34456" y="1828800"/>
            <a:ext cx="132588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400" b="1">
                <a:solidFill>
                  <a:srgbClr val="EF6523"/>
                </a:solidFill>
                <a:latin typeface="Arial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9048" y="2395728"/>
            <a:ext cx="960120" cy="54864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97296" y="2606040"/>
            <a:ext cx="16002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750" b="0">
                <a:solidFill>
                  <a:srgbClr val="707780"/>
                </a:solidFill>
                <a:latin typeface="Arial"/>
              </a:rPr>
              <a:t>Markets reusing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1828800"/>
            <a:ext cx="132588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400" b="1">
                <a:solidFill>
                  <a:srgbClr val="5FA6D7"/>
                </a:solidFill>
                <a:latin typeface="Arial"/>
              </a:rP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86216" y="2395728"/>
            <a:ext cx="960120" cy="54864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4" y="2606040"/>
            <a:ext cx="16002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750" b="0">
                <a:solidFill>
                  <a:srgbClr val="707780"/>
                </a:solidFill>
                <a:latin typeface="Arial"/>
              </a:rPr>
              <a:t>Pull-through outputs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932688" y="3703320"/>
          <a:ext cx="10012678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749039"/>
                <a:gridCol w="1325880"/>
                <a:gridCol w="1325880"/>
                <a:gridCol w="1874519"/>
              </a:tblGrid>
              <a:tr h="411480">
                <a:tc>
                  <a:txBody>
                    <a:bodyPr anchor="ctr"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Arial"/>
                        </a:rPr>
                        <a:t>Definition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r>
                        <a:t>[KPI]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[definition]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[baseline]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[target]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r>
                        <a:t>[KPI]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[definition]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[baseline]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[target]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r>
                        <a:t>[KPI]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[definition]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[baseline]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[target]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anchor="ctr"/>
                    <a:lstStyle/>
                    <a:p>
                      <a:r>
                        <a:t>[KPI]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[definition]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[baseline]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[target]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3840480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"/>
            <a:ext cx="969264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2200" b="1">
                <a:solidFill>
                  <a:srgbClr val="002560"/>
                </a:solidFill>
                <a:latin typeface="Arial"/>
              </a:rPr>
              <a:t>Risks and dependencies are managed as evidence-design choices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1152144"/>
            <a:ext cx="1051560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Control | [Product / indication]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23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68680" y="1691640"/>
          <a:ext cx="101955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600200"/>
                <a:gridCol w="1051560"/>
                <a:gridCol w="3154680"/>
                <a:gridCol w="2057400"/>
              </a:tblGrid>
              <a:tr h="560070"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Risk / dependency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Activity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70" b="1">
                          <a:solidFill>
                            <a:srgbClr val="FFFFFF"/>
                          </a:solidFill>
                          <a:latin typeface="Arial"/>
                        </a:rPr>
                        <a:t>Decision needed</a:t>
                      </a:r>
                    </a:p>
                  </a:txBody>
                  <a:tcPr marL="32004" marR="32004" marT="18288" marB="18288">
                    <a:solidFill>
                      <a:srgbClr val="002560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3F6F9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49808" cy="6858000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59436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252728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911095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2569464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3227832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0">
                <a:solidFill>
                  <a:srgbClr val="707780"/>
                </a:solidFill>
                <a:latin typeface="Arial"/>
              </a:rPr>
              <a:t>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3840480"/>
            <a:ext cx="73152" cy="347472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3886200"/>
            <a:ext cx="502920" cy="118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560" b="1">
                <a:solidFill>
                  <a:srgbClr val="005DAB"/>
                </a:solidFill>
                <a:latin typeface="Arial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6473952"/>
            <a:ext cx="320040" cy="1097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560" b="0">
                <a:solidFill>
                  <a:srgbClr val="707780"/>
                </a:solidFill>
                <a:latin typeface="Arial"/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0896"/>
            <a:ext cx="9692640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2200" b="1">
                <a:solidFill>
                  <a:srgbClr val="002560"/>
                </a:solidFill>
                <a:latin typeface="Arial"/>
              </a:rPr>
              <a:t>Appendix worksheets preserve traceability without crowding briefing slides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1152144"/>
            <a:ext cx="10515600" cy="10972"/>
          </a:xfrm>
          <a:prstGeom prst="rect">
            <a:avLst/>
          </a:prstGeom>
          <a:solidFill>
            <a:srgbClr val="DA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473952"/>
            <a:ext cx="438912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660" b="0">
                <a:solidFill>
                  <a:srgbClr val="707780"/>
                </a:solidFill>
                <a:latin typeface="Arial"/>
              </a:rPr>
              <a:t>IEGP | Control | [Product / indication]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473952"/>
            <a:ext cx="777240" cy="1463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660" b="0">
                <a:solidFill>
                  <a:srgbClr val="707780"/>
                </a:solidFill>
                <a:latin typeface="Arial"/>
              </a:rPr>
              <a:t>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1783080"/>
            <a:ext cx="4434840" cy="114300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" y="1783080"/>
            <a:ext cx="64008" cy="1143000"/>
          </a:xfrm>
          <a:prstGeom prst="rect">
            <a:avLst/>
          </a:prstGeom>
          <a:solidFill>
            <a:srgbClr val="005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1911095"/>
            <a:ext cx="4069079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Regional adaptation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2313432"/>
            <a:ext cx="3749039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69" b="0">
                <a:solidFill>
                  <a:srgbClr val="707780"/>
                </a:solidFill>
                <a:latin typeface="Arial"/>
              </a:rPr>
              <a:t>local needs, reusable global evidence, local gaps,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1783080"/>
            <a:ext cx="4434840" cy="114300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0" y="1783080"/>
            <a:ext cx="64008" cy="1143000"/>
          </a:xfrm>
          <a:prstGeom prst="rect">
            <a:avLst/>
          </a:prstGeom>
          <a:solidFill>
            <a:srgbClr val="002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1911095"/>
            <a:ext cx="4069079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Evidence source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1616" y="2313432"/>
            <a:ext cx="3749039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69" b="0">
                <a:solidFill>
                  <a:srgbClr val="707780"/>
                </a:solidFill>
                <a:latin typeface="Arial"/>
              </a:rPr>
              <a:t>source, date, owner, confidence, limitation, claim link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3474720"/>
            <a:ext cx="4434840" cy="114300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" y="3474720"/>
            <a:ext cx="64008" cy="1143000"/>
          </a:xfrm>
          <a:prstGeom prst="rect">
            <a:avLst/>
          </a:prstGeom>
          <a:solidFill>
            <a:srgbClr val="EF6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3856" y="3602736"/>
            <a:ext cx="4069079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Methodology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" y="4005072"/>
            <a:ext cx="3749039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69" b="0">
                <a:solidFill>
                  <a:srgbClr val="707780"/>
                </a:solidFill>
                <a:latin typeface="Arial"/>
              </a:rPr>
              <a:t>inputs, workshops, scoring rubric, assumptions, exclusions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3474720"/>
            <a:ext cx="4434840" cy="1143000"/>
          </a:xfrm>
          <a:prstGeom prst="rect">
            <a:avLst/>
          </a:prstGeom>
          <a:solidFill>
            <a:srgbClr val="F3F6F9"/>
          </a:solidFill>
          <a:ln w="889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52160" y="3474720"/>
            <a:ext cx="64008" cy="1143000"/>
          </a:xfrm>
          <a:prstGeom prst="rect">
            <a:avLst/>
          </a:prstGeom>
          <a:solidFill>
            <a:srgbClr val="5FA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53328" y="3602736"/>
            <a:ext cx="4069079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40" b="1">
                <a:solidFill>
                  <a:srgbClr val="002560"/>
                </a:solidFill>
                <a:latin typeface="Arial"/>
              </a:rPr>
              <a:t>Glossary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71616" y="4005072"/>
            <a:ext cx="3749039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rPr sz="869" b="0">
                <a:solidFill>
                  <a:srgbClr val="707780"/>
                </a:solidFill>
                <a:latin typeface="Arial"/>
              </a:rPr>
              <a:t>IEGP/IEP, ORQ, PICOT, RWE, HEOR, HTA, COA/PRO, IIR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