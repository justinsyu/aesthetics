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640080"/>
            <a:ext cx="109728" cy="109728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1517904"/>
            <a:ext cx="109728" cy="109728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2395728"/>
            <a:ext cx="109728" cy="109728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20256" y="1271016"/>
            <a:ext cx="109728" cy="109728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20256" y="2148839"/>
            <a:ext cx="109728" cy="109728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20256" y="3026663"/>
            <a:ext cx="109728" cy="109728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39712" y="1024128"/>
            <a:ext cx="109728" cy="109728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39712" y="1901952"/>
            <a:ext cx="109728" cy="109728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39712" y="2779776"/>
            <a:ext cx="109728" cy="109728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59168" y="777240"/>
            <a:ext cx="109728" cy="109728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59168" y="1655064"/>
            <a:ext cx="109728" cy="109728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59168" y="2532888"/>
            <a:ext cx="109728" cy="109728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78624" y="1408175"/>
            <a:ext cx="109728" cy="109728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78624" y="2286000"/>
            <a:ext cx="109728" cy="109728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78624" y="3163824"/>
            <a:ext cx="109728" cy="10972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1161288"/>
            <a:ext cx="109728" cy="109728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79" y="2039112"/>
            <a:ext cx="109728" cy="109728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2916936"/>
            <a:ext cx="109728" cy="10972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17536" y="914400"/>
            <a:ext cx="109728" cy="109728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17536" y="1792224"/>
            <a:ext cx="109728" cy="109728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17536" y="2670048"/>
            <a:ext cx="109728" cy="10972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36992" y="1545336"/>
            <a:ext cx="109728" cy="109728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36992" y="2423160"/>
            <a:ext cx="109728" cy="10972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36992" y="3300984"/>
            <a:ext cx="109728" cy="109728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56448" y="1298448"/>
            <a:ext cx="109728" cy="109728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56448" y="2176272"/>
            <a:ext cx="109728" cy="10972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56448" y="3054096"/>
            <a:ext cx="109728" cy="109728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75904" y="1051560"/>
            <a:ext cx="109728" cy="109728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75904" y="1929384"/>
            <a:ext cx="109728" cy="10972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75904" y="2807208"/>
            <a:ext cx="109728" cy="109728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95360" y="1682495"/>
            <a:ext cx="109728" cy="10972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95360" y="2560320"/>
            <a:ext cx="109728" cy="109728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95360" y="3438144"/>
            <a:ext cx="109728" cy="109728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14816" y="1435608"/>
            <a:ext cx="109728" cy="10972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14816" y="2313432"/>
            <a:ext cx="109728" cy="109728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14816" y="3191256"/>
            <a:ext cx="109728" cy="109728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34272" y="1188720"/>
            <a:ext cx="109728" cy="10972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34272" y="2066543"/>
            <a:ext cx="109728" cy="109728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34272" y="2944368"/>
            <a:ext cx="109728" cy="109728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253728" y="1819655"/>
            <a:ext cx="109728" cy="109728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53728" y="2697479"/>
            <a:ext cx="109728" cy="109728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53728" y="3575303"/>
            <a:ext cx="109728" cy="109728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73184" y="1572768"/>
            <a:ext cx="109728" cy="109728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473184" y="2450592"/>
            <a:ext cx="109728" cy="109728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473184" y="3328416"/>
            <a:ext cx="109728" cy="109728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692640" y="1325880"/>
            <a:ext cx="109728" cy="109728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692640" y="2203704"/>
            <a:ext cx="109728" cy="109728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92640" y="3081528"/>
            <a:ext cx="109728" cy="109728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912096" y="1956815"/>
            <a:ext cx="109728" cy="109728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912096" y="2834639"/>
            <a:ext cx="109728" cy="109728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912096" y="3712463"/>
            <a:ext cx="109728" cy="109728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131552" y="1709928"/>
            <a:ext cx="109728" cy="109728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131552" y="2587752"/>
            <a:ext cx="109728" cy="109728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131552" y="3465576"/>
            <a:ext cx="109728" cy="109728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351008" y="1463040"/>
            <a:ext cx="109728" cy="109728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351008" y="2340864"/>
            <a:ext cx="109728" cy="109728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351008" y="3218688"/>
            <a:ext cx="109728" cy="109728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570463" y="2093976"/>
            <a:ext cx="109728" cy="109728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570463" y="2971800"/>
            <a:ext cx="109728" cy="109728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570463" y="3849624"/>
            <a:ext cx="109728" cy="10972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0080" y="658368"/>
            <a:ext cx="1097280" cy="32004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9808" y="749808"/>
            <a:ext cx="868680" cy="8229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50" b="1">
                <a:solidFill>
                  <a:srgbClr val="FFFFFF"/>
                </a:solidFill>
                <a:latin typeface="Arial"/>
              </a:rPr>
              <a:t>TEMPLATE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1792" y="1417320"/>
            <a:ext cx="5760720" cy="98755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3200" b="0">
                <a:solidFill>
                  <a:srgbClr val="FFFFFF"/>
                </a:solidFill>
                <a:latin typeface="Georgia"/>
              </a:rPr>
              <a:t>Integrated Evidence Generation Plan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" y="2761488"/>
            <a:ext cx="4846320" cy="3840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200" b="0">
                <a:solidFill>
                  <a:srgbClr val="E1E1E1"/>
                </a:solidFill>
                <a:latin typeface="Arial"/>
              </a:rPr>
              <a:t>Editorial consulting-style PowerPoint starting point for evidence strategy, gap prioritization, and lifecycle execution.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8368" y="4937760"/>
            <a:ext cx="402336" cy="402336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87552" y="5120640"/>
            <a:ext cx="457200" cy="457200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19" y="5440680"/>
            <a:ext cx="566928" cy="347472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353312" y="4974336"/>
            <a:ext cx="329184" cy="676656"/>
          </a:xfrm>
          <a:prstGeom prst="rect">
            <a:avLst/>
          </a:prstGeom>
          <a:solidFill>
            <a:srgbClr val="60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225295" y="5650992"/>
            <a:ext cx="493776" cy="256032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65960" y="5138928"/>
            <a:ext cx="4389120" cy="2011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[Product] | [Indication] | [Region]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65960" y="5486400"/>
            <a:ext cx="3657600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20" b="0">
                <a:solidFill>
                  <a:srgbClr val="D2D2D2"/>
                </a:solidFill>
                <a:latin typeface="Arial"/>
              </a:rPr>
              <a:t>Owner: [team]  |  Version: [v0.1]  |  Date: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43891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1">
                <a:solidFill>
                  <a:srgbClr val="D04A02"/>
                </a:solidFill>
                <a:latin typeface="Arial"/>
              </a:rPr>
              <a:t>IEGP |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877824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600" b="0">
                <a:solidFill>
                  <a:srgbClr val="000000"/>
                </a:solidFill>
                <a:latin typeface="Georgia"/>
              </a:rPr>
              <a:t>Brand adaptation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33856"/>
            <a:ext cx="877824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50" b="0">
                <a:solidFill>
                  <a:srgbClr val="2D2D2D"/>
                </a:solidFill>
                <a:latin typeface="Arial"/>
              </a:rPr>
              <a:t>Replace only these accent tokens to adapt the deck to a company palette.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10835640" cy="10972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78440" y="256032"/>
            <a:ext cx="329915" cy="329915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48370" y="405993"/>
            <a:ext cx="374904" cy="374904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38424" y="668426"/>
            <a:ext cx="464880" cy="284927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48294" y="286024"/>
            <a:ext cx="269930" cy="554857"/>
          </a:xfrm>
          <a:prstGeom prst="rect">
            <a:avLst/>
          </a:prstGeom>
          <a:solidFill>
            <a:srgbClr val="60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3320" y="840882"/>
            <a:ext cx="404896" cy="209946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0">
                <a:solidFill>
                  <a:srgbClr val="7D7D7D"/>
                </a:solidFill>
                <a:latin typeface="Arial"/>
              </a:rPr>
              <a:t>IEGP | Setup | [Product / indication]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5486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80" b="0">
                <a:solidFill>
                  <a:srgbClr val="7D7D7D"/>
                </a:solidFill>
                <a:latin typeface="Arial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011680"/>
            <a:ext cx="713232" cy="713232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7048" y="2130552"/>
            <a:ext cx="155448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1">
                <a:solidFill>
                  <a:srgbClr val="000000"/>
                </a:solidFill>
                <a:latin typeface="Arial"/>
              </a:rPr>
              <a:t>Primary accent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2423160"/>
            <a:ext cx="1645920" cy="1371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70" b="0">
                <a:solidFill>
                  <a:srgbClr val="7D7D7D"/>
                </a:solidFill>
                <a:latin typeface="Arial"/>
              </a:rPr>
              <a:t>RGB 208, 74,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33087" y="2011680"/>
            <a:ext cx="713232" cy="713232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1768" y="2130552"/>
            <a:ext cx="155448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1">
                <a:solidFill>
                  <a:srgbClr val="000000"/>
                </a:solidFill>
                <a:latin typeface="Arial"/>
              </a:rPr>
              <a:t>Secondary accent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1768" y="2423160"/>
            <a:ext cx="1645920" cy="1371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70" b="0">
                <a:solidFill>
                  <a:srgbClr val="7D7D7D"/>
                </a:solidFill>
                <a:latin typeface="Arial"/>
              </a:rPr>
              <a:t>RGB 235, 140, 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7808" y="2011680"/>
            <a:ext cx="713232" cy="713232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76488" y="2130552"/>
            <a:ext cx="155448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1">
                <a:solidFill>
                  <a:srgbClr val="000000"/>
                </a:solidFill>
                <a:latin typeface="Arial"/>
              </a:rPr>
              <a:t>Warm highlight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6488" y="2423160"/>
            <a:ext cx="1645920" cy="1371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70" b="0">
                <a:solidFill>
                  <a:srgbClr val="7D7D7D"/>
                </a:solidFill>
                <a:latin typeface="Arial"/>
              </a:rPr>
              <a:t>RGB 255, 182, 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273552"/>
            <a:ext cx="713232" cy="713232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27048" y="3392424"/>
            <a:ext cx="155448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1">
                <a:solidFill>
                  <a:srgbClr val="000000"/>
                </a:solidFill>
                <a:latin typeface="Arial"/>
              </a:rPr>
              <a:t>Risk / 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7048" y="3685032"/>
            <a:ext cx="1645920" cy="1371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70" b="0">
                <a:solidFill>
                  <a:srgbClr val="7D7D7D"/>
                </a:solidFill>
                <a:latin typeface="Arial"/>
              </a:rPr>
              <a:t>RGB 224, 48, 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33087" y="3273552"/>
            <a:ext cx="713232" cy="71323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01768" y="3392424"/>
            <a:ext cx="155448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1">
                <a:solidFill>
                  <a:srgbClr val="000000"/>
                </a:solidFill>
                <a:latin typeface="Arial"/>
              </a:rPr>
              <a:t>Neutral dark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01768" y="3685032"/>
            <a:ext cx="1645920" cy="1371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70" b="0">
                <a:solidFill>
                  <a:srgbClr val="7D7D7D"/>
                </a:solidFill>
                <a:latin typeface="Arial"/>
              </a:rPr>
              <a:t>RGB 45, 45, 45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07808" y="3273552"/>
            <a:ext cx="713232" cy="713232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76488" y="3392424"/>
            <a:ext cx="155448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50" b="1">
                <a:solidFill>
                  <a:srgbClr val="000000"/>
                </a:solidFill>
                <a:latin typeface="Arial"/>
              </a:rPr>
              <a:t>Neutral light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6488" y="3685032"/>
            <a:ext cx="1645920" cy="1371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70" b="0">
                <a:solidFill>
                  <a:srgbClr val="7D7D7D"/>
                </a:solidFill>
                <a:latin typeface="Arial"/>
              </a:rPr>
              <a:t>RGB 222, 222, 222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846320"/>
            <a:ext cx="1042416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4846320"/>
            <a:ext cx="73152" cy="73152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7" y="4974336"/>
            <a:ext cx="101041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19" b="1">
                <a:solidFill>
                  <a:srgbClr val="000000"/>
                </a:solidFill>
                <a:latin typeface="Arial"/>
              </a:rPr>
              <a:t>Rule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138928"/>
            <a:ext cx="978408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130" b="1">
                <a:solidFill>
                  <a:srgbClr val="000000"/>
                </a:solidFill>
                <a:latin typeface="Arial"/>
              </a:rPr>
              <a:t>Use accent color for hierarchy and meaning, not decoration. Keep backgrounds mostly white and preserve table readability.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58368"/>
            <a:ext cx="502920" cy="50292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" y="886968"/>
            <a:ext cx="571500" cy="571500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1287018"/>
            <a:ext cx="708660" cy="43434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27048" y="704088"/>
            <a:ext cx="411479" cy="845820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67028" y="1549908"/>
            <a:ext cx="617220" cy="320040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7680960" cy="6858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4200" b="0">
                <a:solidFill>
                  <a:srgbClr val="000000"/>
                </a:solidFill>
                <a:latin typeface="Georgia"/>
              </a:rPr>
              <a:t>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788920"/>
            <a:ext cx="6309360" cy="34747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300" b="0">
                <a:solidFill>
                  <a:srgbClr val="2D2D2D"/>
                </a:solidFill>
                <a:latin typeface="Arial"/>
              </a:rPr>
              <a:t>Set the evidence priorities and the decisions needed now.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977639"/>
            <a:ext cx="5394960" cy="50292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6327648"/>
            <a:ext cx="1828800" cy="1371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20" b="1">
                <a:solidFill>
                  <a:srgbClr val="7D7D7D"/>
                </a:solidFill>
                <a:latin typeface="Arial"/>
              </a:rPr>
              <a:t>BRIEFING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0">
                <a:solidFill>
                  <a:srgbClr val="7D7D7D"/>
                </a:solidFill>
                <a:latin typeface="Arial"/>
              </a:rPr>
              <a:t>IEGP | Briefing | [Product / indication]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5486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80" b="0">
                <a:solidFill>
                  <a:srgbClr val="7D7D7D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43891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1">
                <a:solidFill>
                  <a:srgbClr val="D04A02"/>
                </a:solidFill>
                <a:latin typeface="Arial"/>
              </a:rPr>
              <a:t>IEGP |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877824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600" b="0">
                <a:solidFill>
                  <a:srgbClr val="000000"/>
                </a:solidFill>
                <a:latin typeface="Georgia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33856"/>
            <a:ext cx="877824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50" b="0">
                <a:solidFill>
                  <a:srgbClr val="2D2D2D"/>
                </a:solidFill>
                <a:latin typeface="Arial"/>
              </a:rPr>
              <a:t>Three evidence priorities, their consequences, and the actions needed now.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10835640" cy="10972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78440" y="256032"/>
            <a:ext cx="329915" cy="329915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48370" y="405993"/>
            <a:ext cx="374904" cy="374904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38424" y="668426"/>
            <a:ext cx="464880" cy="284927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48294" y="286024"/>
            <a:ext cx="269930" cy="554857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3320" y="840882"/>
            <a:ext cx="404896" cy="209946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0">
                <a:solidFill>
                  <a:srgbClr val="7D7D7D"/>
                </a:solidFill>
                <a:latin typeface="Arial"/>
              </a:rPr>
              <a:t>IEGP | Briefing | [Product / indication]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5486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80" b="0">
                <a:solidFill>
                  <a:srgbClr val="7D7D7D"/>
                </a:solidFill>
                <a:latin typeface="Arial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1901952"/>
            <a:ext cx="2971800" cy="18288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240280"/>
            <a:ext cx="2011680" cy="2011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Georgia"/>
              </a:rPr>
              <a:t>Priority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97480"/>
            <a:ext cx="2834640" cy="1783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2D2D2D"/>
                </a:solidFill>
                <a:latin typeface="Arial"/>
              </a:rPr>
              <a:t>Gap: [top evidence gap]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2D2D2D"/>
                </a:solidFill>
                <a:latin typeface="Arial"/>
              </a:rPr>
              <a:t>Action: [study / analysis / synthesis]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2D2D2D"/>
                </a:solidFill>
                <a:latin typeface="Arial"/>
              </a:rPr>
              <a:t>Decision impact: [reg/access/adoption]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2D2D2D"/>
                </a:solidFill>
                <a:latin typeface="Arial"/>
              </a:rPr>
              <a:t>Timing: [decision window]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5968" y="1901952"/>
            <a:ext cx="2971800" cy="182880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5968" y="2240280"/>
            <a:ext cx="2011680" cy="2011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Georgia"/>
              </a:rPr>
              <a:t>Priority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2697480"/>
            <a:ext cx="2834640" cy="1783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2D2D2D"/>
                </a:solidFill>
                <a:latin typeface="Arial"/>
              </a:rPr>
              <a:t>Gap: [top evidence gap]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2D2D2D"/>
                </a:solidFill>
                <a:latin typeface="Arial"/>
              </a:rPr>
              <a:t>Action: [study / analysis / synthesis]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2D2D2D"/>
                </a:solidFill>
                <a:latin typeface="Arial"/>
              </a:rPr>
              <a:t>Decision impact: [reg/access/adoption]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2D2D2D"/>
                </a:solidFill>
                <a:latin typeface="Arial"/>
              </a:rPr>
              <a:t>Timing: [decision window]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73568" y="1901952"/>
            <a:ext cx="2971800" cy="182880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2240280"/>
            <a:ext cx="2011680" cy="2011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Georgia"/>
              </a:rPr>
              <a:t>Priority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2697480"/>
            <a:ext cx="2834640" cy="1783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919">
                <a:solidFill>
                  <a:srgbClr val="2D2D2D"/>
                </a:solidFill>
                <a:latin typeface="Arial"/>
              </a:rPr>
              <a:t>Gap: [top evidence gap]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2D2D2D"/>
                </a:solidFill>
                <a:latin typeface="Arial"/>
              </a:rPr>
              <a:t>Action: [study / analysis / synthesis]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2D2D2D"/>
                </a:solidFill>
                <a:latin typeface="Arial"/>
              </a:rPr>
              <a:t>Decision impact: [reg/access/adoption]</a:t>
            </a:r>
          </a:p>
          <a:p>
            <a:pPr>
              <a:spcAft>
                <a:spcPts val="400"/>
              </a:spcAft>
            </a:pPr>
            <a:r>
              <a:rPr sz="919">
                <a:solidFill>
                  <a:srgbClr val="2D2D2D"/>
                </a:solidFill>
                <a:latin typeface="Arial"/>
              </a:rPr>
              <a:t>Timing: [decision window]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074920"/>
            <a:ext cx="10378440" cy="749808"/>
          </a:xfrm>
          <a:prstGeom prst="rect">
            <a:avLst/>
          </a:prstGeom>
          <a:solidFill>
            <a:srgbClr val="FFFFFF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074920"/>
            <a:ext cx="73152" cy="74980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5202936"/>
            <a:ext cx="100584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19" b="1">
                <a:solidFill>
                  <a:srgbClr val="000000"/>
                </a:solidFill>
                <a:latin typeface="Arial"/>
              </a:rPr>
              <a:t>Decision 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67528"/>
            <a:ext cx="96012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130" b="1">
                <a:solidFill>
                  <a:srgbClr val="000000"/>
                </a:solidFill>
                <a:latin typeface="Arial"/>
              </a:rPr>
              <a:t>[Approve roadmap]  |  [Fund priority evidence activities]  |  [Confirm owners and refresh cadence]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43891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1">
                <a:solidFill>
                  <a:srgbClr val="D04A02"/>
                </a:solidFill>
                <a:latin typeface="Arial"/>
              </a:rPr>
              <a:t>IEGP |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877824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600" b="0">
                <a:solidFill>
                  <a:srgbClr val="000000"/>
                </a:solidFill>
                <a:latin typeface="Georgia"/>
              </a:rPr>
              <a:t>Decisions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33856"/>
            <a:ext cx="877824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50" b="0">
                <a:solidFill>
                  <a:srgbClr val="2D2D2D"/>
                </a:solidFill>
                <a:latin typeface="Arial"/>
              </a:rPr>
              <a:t>A governance-ready view of choices, recommendations, and timing.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10835640" cy="10972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78440" y="256032"/>
            <a:ext cx="329915" cy="329915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48370" y="405993"/>
            <a:ext cx="374904" cy="374904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38424" y="668426"/>
            <a:ext cx="464880" cy="284927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48294" y="286024"/>
            <a:ext cx="269930" cy="554857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3320" y="840882"/>
            <a:ext cx="404896" cy="209946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0">
                <a:solidFill>
                  <a:srgbClr val="7D7D7D"/>
                </a:solidFill>
                <a:latin typeface="Arial"/>
              </a:rPr>
              <a:t>IEGP | Briefing | [Product / indication]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5486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80" b="0">
                <a:solidFill>
                  <a:srgbClr val="7D7D7D"/>
                </a:solidFill>
                <a:latin typeface="Arial"/>
              </a:rPr>
              <a:t>05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6928" y="1847088"/>
          <a:ext cx="1101852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828800"/>
                <a:gridCol w="3840480"/>
                <a:gridCol w="1417320"/>
                <a:gridCol w="1600200"/>
              </a:tblGrid>
              <a:tr h="607422">
                <a:tc>
                  <a:txBody>
                    <a:bodyPr anchor="ctr"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32004" marR="32004" marT="18288" marB="18288">
                    <a:solidFill>
                      <a:srgbClr val="60222B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Recommendation</a:t>
                      </a:r>
                    </a:p>
                  </a:txBody>
                  <a:tcPr marL="32004" marR="32004" marT="18288" marB="18288">
                    <a:solidFill>
                      <a:srgbClr val="60222B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Rationale</a:t>
                      </a:r>
                    </a:p>
                  </a:txBody>
                  <a:tcPr marL="32004" marR="32004" marT="18288" marB="18288">
                    <a:solidFill>
                      <a:srgbClr val="60222B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32004" marR="32004" marT="18288" marB="18288">
                    <a:solidFill>
                      <a:srgbClr val="60222B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Deadline</a:t>
                      </a:r>
                    </a:p>
                  </a:txBody>
                  <a:tcPr marL="32004" marR="32004" marT="18288" marB="18288">
                    <a:solidFill>
                      <a:srgbClr val="60222B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r>
                        <a:t>Approve priority gaps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[approve / revise]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[risk and value rationale]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r>
                        <a:t>Fund evidence activity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[approve / defer]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value]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r>
                        <a:t>Select study design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[option A/B]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[credibility and feasibility]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r>
                        <a:t>Resolve local adaptation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[global/local split]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[reuse vs local 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 anchor="ctr"/>
                    <a:lstStyle/>
                    <a:p>
                      <a:r>
                        <a:t>Confirm governance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[RACI/cadence]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[execution accountability]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607428">
                <a:tc>
                  <a:txBody>
                    <a:bodyPr anchor="ctr"/>
                    <a:lstStyle/>
                    <a:p>
                      <a:r>
                        <a:t>Other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[recommendation]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[basis]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[date]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58368"/>
            <a:ext cx="502920" cy="50292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" y="886968"/>
            <a:ext cx="571500" cy="571500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1287018"/>
            <a:ext cx="708660" cy="43434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27048" y="704088"/>
            <a:ext cx="411479" cy="845820"/>
          </a:xfrm>
          <a:prstGeom prst="rect">
            <a:avLst/>
          </a:prstGeom>
          <a:solidFill>
            <a:srgbClr val="60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67028" y="1549908"/>
            <a:ext cx="617220" cy="320040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7680960" cy="6858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4200" b="0">
                <a:solidFill>
                  <a:srgbClr val="000000"/>
                </a:solidFill>
                <a:latin typeface="Georgia"/>
              </a:rPr>
              <a:t>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788920"/>
            <a:ext cx="6309360" cy="34747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300" b="0">
                <a:solidFill>
                  <a:srgbClr val="2D2D2D"/>
                </a:solidFill>
                <a:latin typeface="Arial"/>
              </a:rPr>
              <a:t>Frame the asset, value story, and stakeholder landscape.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977639"/>
            <a:ext cx="5394960" cy="50292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6327648"/>
            <a:ext cx="1828800" cy="1371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20" b="1">
                <a:solidFill>
                  <a:srgbClr val="7D7D7D"/>
                </a:solidFill>
                <a:latin typeface="Arial"/>
              </a:rP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0">
                <a:solidFill>
                  <a:srgbClr val="7D7D7D"/>
                </a:solidFill>
                <a:latin typeface="Arial"/>
              </a:rPr>
              <a:t>IEGP | Context | [Product / indication]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5486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80" b="0">
                <a:solidFill>
                  <a:srgbClr val="7D7D7D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43891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1">
                <a:solidFill>
                  <a:srgbClr val="D04A02"/>
                </a:solidFill>
                <a:latin typeface="Arial"/>
              </a:rPr>
              <a:t>IEGP |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877824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600" b="0">
                <a:solidFill>
                  <a:srgbClr val="000000"/>
                </a:solidFill>
                <a:latin typeface="Georgia"/>
              </a:rPr>
              <a:t>Asset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33856"/>
            <a:ext cx="877824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50" b="0">
                <a:solidFill>
                  <a:srgbClr val="2D2D2D"/>
                </a:solidFill>
                <a:latin typeface="Arial"/>
              </a:rPr>
              <a:t>Frame the asset before defining stakeholder evidence needs.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10835640" cy="10972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78440" y="256032"/>
            <a:ext cx="329915" cy="329915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48370" y="405993"/>
            <a:ext cx="374904" cy="374904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38424" y="668426"/>
            <a:ext cx="464880" cy="284927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48294" y="286024"/>
            <a:ext cx="269930" cy="554857"/>
          </a:xfrm>
          <a:prstGeom prst="rect">
            <a:avLst/>
          </a:prstGeom>
          <a:solidFill>
            <a:srgbClr val="60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3320" y="840882"/>
            <a:ext cx="404896" cy="209946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0">
                <a:solidFill>
                  <a:srgbClr val="7D7D7D"/>
                </a:solidFill>
                <a:latin typeface="Arial"/>
              </a:rPr>
              <a:t>IEGP | Context | [Product / indication]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5486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80" b="0">
                <a:solidFill>
                  <a:srgbClr val="7D7D7D"/>
                </a:solidFill>
                <a:latin typeface="Arial"/>
              </a:rPr>
              <a:t>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1874519"/>
            <a:ext cx="3063240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1874519"/>
            <a:ext cx="73152" cy="1078992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002536"/>
            <a:ext cx="27432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19" b="1">
                <a:solidFill>
                  <a:srgbClr val="000000"/>
                </a:solidFill>
                <a:latin typeface="Arial"/>
              </a:rPr>
              <a:t>Asset / mechanism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2404872"/>
            <a:ext cx="2514600" cy="23774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50" b="0">
                <a:solidFill>
                  <a:srgbClr val="2D2D2D"/>
                </a:solidFill>
                <a:latin typeface="Arial"/>
              </a:rPr>
              <a:t>[name, modality, MoA]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42816" y="1874519"/>
            <a:ext cx="3063240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42816" y="1874519"/>
            <a:ext cx="73152" cy="1078992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25696" y="2002536"/>
            <a:ext cx="27432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19" b="1">
                <a:solidFill>
                  <a:srgbClr val="000000"/>
                </a:solidFill>
                <a:latin typeface="Arial"/>
              </a:rPr>
              <a:t>Population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3" y="2404872"/>
            <a:ext cx="2514600" cy="23774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50" b="0">
                <a:solidFill>
                  <a:srgbClr val="2D2D2D"/>
                </a:solidFill>
                <a:latin typeface="Arial"/>
              </a:rPr>
              <a:t>[indication, line, biomarker]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27264" y="1874519"/>
            <a:ext cx="3063240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27264" y="1874519"/>
            <a:ext cx="73152" cy="1078992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4" y="2002536"/>
            <a:ext cx="27432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19" b="1">
                <a:solidFill>
                  <a:srgbClr val="000000"/>
                </a:solidFill>
                <a:latin typeface="Arial"/>
              </a:rPr>
              <a:t>Lifecycle stage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2" y="2404872"/>
            <a:ext cx="2514600" cy="23774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50" b="0">
                <a:solidFill>
                  <a:srgbClr val="2D2D2D"/>
                </a:solidFill>
                <a:latin typeface="Arial"/>
              </a:rPr>
              <a:t>[pre-launch / launch / post-launch]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566160"/>
            <a:ext cx="3063240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566160"/>
            <a:ext cx="73152" cy="1078992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3694176"/>
            <a:ext cx="27432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19" b="1">
                <a:solidFill>
                  <a:srgbClr val="000000"/>
                </a:solidFill>
                <a:latin typeface="Arial"/>
              </a:rPr>
              <a:t>Geography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4096511"/>
            <a:ext cx="2514600" cy="23774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50" b="0">
                <a:solidFill>
                  <a:srgbClr val="2D2D2D"/>
                </a:solidFill>
                <a:latin typeface="Arial"/>
              </a:rPr>
              <a:t>[global, US, EU5, JP, local markets]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42816" y="3566160"/>
            <a:ext cx="3063240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42816" y="3566160"/>
            <a:ext cx="73152" cy="1078992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25696" y="3694176"/>
            <a:ext cx="27432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19" b="1">
                <a:solidFill>
                  <a:srgbClr val="000000"/>
                </a:solidFill>
                <a:latin typeface="Arial"/>
              </a:rPr>
              <a:t>TPP / TVP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43983" y="4096511"/>
            <a:ext cx="2514600" cy="23774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50" b="0">
                <a:solidFill>
                  <a:srgbClr val="2D2D2D"/>
                </a:solidFill>
                <a:latin typeface="Arial"/>
              </a:rPr>
              <a:t>[clinical and value targets]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27264" y="3566160"/>
            <a:ext cx="3063240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27264" y="3566160"/>
            <a:ext cx="73152" cy="1078992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10144" y="3694176"/>
            <a:ext cx="27432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19" b="1">
                <a:solidFill>
                  <a:srgbClr val="000000"/>
                </a:solidFill>
                <a:latin typeface="Arial"/>
              </a:rPr>
              <a:t>Key milestones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28432" y="4096511"/>
            <a:ext cx="2514600" cy="23774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50" b="0">
                <a:solidFill>
                  <a:srgbClr val="2D2D2D"/>
                </a:solidFill>
                <a:latin typeface="Arial"/>
              </a:rPr>
              <a:t>[readouts, submissions, HTA, launch]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43891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1">
                <a:solidFill>
                  <a:srgbClr val="D04A02"/>
                </a:solidFill>
                <a:latin typeface="Arial"/>
              </a:rPr>
              <a:t>IEGP |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877824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600" b="0">
                <a:solidFill>
                  <a:srgbClr val="000000"/>
                </a:solidFill>
                <a:latin typeface="Georgia"/>
              </a:rPr>
              <a:t>Value narrative evidence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33856"/>
            <a:ext cx="877824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50" b="0">
                <a:solidFill>
                  <a:srgbClr val="2D2D2D"/>
                </a:solidFill>
                <a:latin typeface="Arial"/>
              </a:rPr>
              <a:t>Trace each value message to evidence required, current support, gaps, and tactics.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10835640" cy="10972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78440" y="256032"/>
            <a:ext cx="329915" cy="329915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48370" y="405993"/>
            <a:ext cx="374904" cy="374904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38424" y="668426"/>
            <a:ext cx="464880" cy="284927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48294" y="286024"/>
            <a:ext cx="269930" cy="554857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3320" y="840882"/>
            <a:ext cx="404896" cy="209946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0">
                <a:solidFill>
                  <a:srgbClr val="7D7D7D"/>
                </a:solidFill>
                <a:latin typeface="Arial"/>
              </a:rPr>
              <a:t>IEGP | Context | [Product / indication]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5486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80" b="0">
                <a:solidFill>
                  <a:srgbClr val="7D7D7D"/>
                </a:solidFill>
                <a:latin typeface="Arial"/>
              </a:rPr>
              <a:t>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057400"/>
            <a:ext cx="1417320" cy="29260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14600"/>
            <a:ext cx="141732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50" b="0">
                <a:solidFill>
                  <a:srgbClr val="000000"/>
                </a:solidFill>
                <a:latin typeface="Georgia"/>
              </a:rPr>
              <a:t>Value driver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063240"/>
            <a:ext cx="1417320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063240"/>
            <a:ext cx="73152" cy="1143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401568"/>
            <a:ext cx="1051560" cy="31089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0">
                <a:solidFill>
                  <a:srgbClr val="2D2D2D"/>
                </a:solidFill>
                <a:latin typeface="Arial"/>
              </a:rPr>
              <a:t>[content]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86000" y="3611880"/>
            <a:ext cx="502920" cy="0"/>
          </a:xfrm>
          <a:prstGeom prst="line">
            <a:avLst/>
          </a:prstGeom>
          <a:ln w="13970">
            <a:solidFill>
              <a:srgbClr val="DE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926080" y="2057400"/>
            <a:ext cx="1417320" cy="292608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2514600"/>
            <a:ext cx="141732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50" b="0">
                <a:solidFill>
                  <a:srgbClr val="000000"/>
                </a:solidFill>
                <a:latin typeface="Georgia"/>
              </a:rPr>
              <a:t>Evidence required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3063240"/>
            <a:ext cx="1417320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26080" y="3063240"/>
            <a:ext cx="73152" cy="1143000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72384" y="3401568"/>
            <a:ext cx="1051560" cy="31089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0">
                <a:solidFill>
                  <a:srgbClr val="2D2D2D"/>
                </a:solidFill>
                <a:latin typeface="Arial"/>
              </a:rPr>
              <a:t>[content]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434840" y="3611880"/>
            <a:ext cx="502920" cy="0"/>
          </a:xfrm>
          <a:prstGeom prst="line">
            <a:avLst/>
          </a:prstGeom>
          <a:ln w="13970">
            <a:solidFill>
              <a:srgbClr val="DE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074920" y="2057400"/>
            <a:ext cx="1417320" cy="292608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2514600"/>
            <a:ext cx="141732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50" b="0">
                <a:solidFill>
                  <a:srgbClr val="000000"/>
                </a:solidFill>
                <a:latin typeface="Georgia"/>
              </a:rPr>
              <a:t>Current support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4920" y="3063240"/>
            <a:ext cx="1417320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74920" y="3063240"/>
            <a:ext cx="73152" cy="1143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21224" y="3401568"/>
            <a:ext cx="1051560" cy="31089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0">
                <a:solidFill>
                  <a:srgbClr val="2D2D2D"/>
                </a:solidFill>
                <a:latin typeface="Arial"/>
              </a:rPr>
              <a:t>[content]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83679" y="3611880"/>
            <a:ext cx="502921" cy="0"/>
          </a:xfrm>
          <a:prstGeom prst="line">
            <a:avLst/>
          </a:prstGeom>
          <a:ln w="13970">
            <a:solidFill>
              <a:srgbClr val="DE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223760" y="2057400"/>
            <a:ext cx="1417320" cy="292608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60" y="2514600"/>
            <a:ext cx="141732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50" b="0">
                <a:solidFill>
                  <a:srgbClr val="000000"/>
                </a:solidFill>
                <a:latin typeface="Georgia"/>
              </a:rPr>
              <a:t>Gap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3063240"/>
            <a:ext cx="1417320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223760" y="3063240"/>
            <a:ext cx="73152" cy="1143000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70064" y="3401568"/>
            <a:ext cx="1051560" cy="31089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0">
                <a:solidFill>
                  <a:srgbClr val="2D2D2D"/>
                </a:solidFill>
                <a:latin typeface="Arial"/>
              </a:rPr>
              <a:t>[content]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732520" y="3611880"/>
            <a:ext cx="502920" cy="0"/>
          </a:xfrm>
          <a:prstGeom prst="line">
            <a:avLst/>
          </a:prstGeom>
          <a:ln w="13970">
            <a:solidFill>
              <a:srgbClr val="DE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372600" y="2057400"/>
            <a:ext cx="1417320" cy="292608"/>
          </a:xfrm>
          <a:prstGeom prst="rect">
            <a:avLst/>
          </a:prstGeom>
          <a:solidFill>
            <a:srgbClr val="60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72600" y="2514600"/>
            <a:ext cx="1417320" cy="2286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50" b="0">
                <a:solidFill>
                  <a:srgbClr val="000000"/>
                </a:solidFill>
                <a:latin typeface="Georgia"/>
              </a:rPr>
              <a:t>Planned tactic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72600" y="3063240"/>
            <a:ext cx="1417320" cy="1143000"/>
          </a:xfrm>
          <a:prstGeom prst="rect">
            <a:avLst/>
          </a:prstGeom>
          <a:solidFill>
            <a:srgbClr val="FFFFFF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372600" y="3063240"/>
            <a:ext cx="73152" cy="1143000"/>
          </a:xfrm>
          <a:prstGeom prst="rect">
            <a:avLst/>
          </a:prstGeom>
          <a:solidFill>
            <a:srgbClr val="60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18904" y="3401568"/>
            <a:ext cx="1051560" cy="31089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00" b="0">
                <a:solidFill>
                  <a:srgbClr val="2D2D2D"/>
                </a:solidFill>
                <a:latin typeface="Arial"/>
              </a:rPr>
              <a:t>[content]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074920"/>
            <a:ext cx="9875520" cy="21945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350" b="0">
                <a:solidFill>
                  <a:srgbClr val="000000"/>
                </a:solidFill>
                <a:latin typeface="Georgia"/>
              </a:rPr>
              <a:t>Narrative test: Can every value message be supported by source-backed evidence or a funded activity?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43891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1">
                <a:solidFill>
                  <a:srgbClr val="D04A02"/>
                </a:solidFill>
                <a:latin typeface="Arial"/>
              </a:rPr>
              <a:t>IEGP |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877824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600" b="0">
                <a:solidFill>
                  <a:srgbClr val="000000"/>
                </a:solidFill>
                <a:latin typeface="Georgia"/>
              </a:rPr>
              <a:t>Stakeholder evidence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33856"/>
            <a:ext cx="877824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50" b="0">
                <a:solidFill>
                  <a:srgbClr val="2D2D2D"/>
                </a:solidFill>
                <a:latin typeface="Arial"/>
              </a:rPr>
              <a:t>Compact map of decision makers, their questions, and evidence standards.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10835640" cy="10972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78440" y="256032"/>
            <a:ext cx="329915" cy="329915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48370" y="405993"/>
            <a:ext cx="374904" cy="374904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38424" y="668426"/>
            <a:ext cx="464880" cy="284927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48294" y="286024"/>
            <a:ext cx="269930" cy="554857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3320" y="840882"/>
            <a:ext cx="404896" cy="209946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0">
                <a:solidFill>
                  <a:srgbClr val="7D7D7D"/>
                </a:solidFill>
                <a:latin typeface="Arial"/>
              </a:rPr>
              <a:t>IEGP | Needs | [Product / indication]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5486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80" b="0">
                <a:solidFill>
                  <a:srgbClr val="7D7D7D"/>
                </a:solidFill>
                <a:latin typeface="Arial"/>
              </a:rPr>
              <a:t>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1874519"/>
            <a:ext cx="2606040" cy="256032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350008"/>
            <a:ext cx="2286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Georgia"/>
              </a:rPr>
              <a:t>Regulators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743200"/>
            <a:ext cx="251460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830">
                <a:solidFill>
                  <a:srgbClr val="2D2D2D"/>
                </a:solidFill>
                <a:latin typeface="Arial"/>
              </a:rPr>
              <a:t>Decision: [ ]</a:t>
            </a:r>
          </a:p>
          <a:p>
            <a:pPr>
              <a:spcAft>
                <a:spcPts val="400"/>
              </a:spcAft>
            </a:pPr>
            <a:r>
              <a:rPr sz="830">
                <a:solidFill>
                  <a:srgbClr val="2D2D2D"/>
                </a:solidFill>
                <a:latin typeface="Arial"/>
              </a:rPr>
              <a:t>Evidence standard: [ ]</a:t>
            </a:r>
          </a:p>
          <a:p>
            <a:pPr>
              <a:spcAft>
                <a:spcPts val="400"/>
              </a:spcAft>
            </a:pPr>
            <a:r>
              <a:rPr sz="830">
                <a:solidFill>
                  <a:srgbClr val="2D2D2D"/>
                </a:solidFill>
                <a:latin typeface="Arial"/>
              </a:rPr>
              <a:t>Timing: [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77639" y="1874519"/>
            <a:ext cx="2606040" cy="256032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77639" y="2350008"/>
            <a:ext cx="2286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Georgia"/>
              </a:rPr>
              <a:t>HTA / payers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2743200"/>
            <a:ext cx="251460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830">
                <a:solidFill>
                  <a:srgbClr val="2D2D2D"/>
                </a:solidFill>
                <a:latin typeface="Arial"/>
              </a:rPr>
              <a:t>Decision: [ ]</a:t>
            </a:r>
          </a:p>
          <a:p>
            <a:pPr>
              <a:spcAft>
                <a:spcPts val="400"/>
              </a:spcAft>
            </a:pPr>
            <a:r>
              <a:rPr sz="830">
                <a:solidFill>
                  <a:srgbClr val="2D2D2D"/>
                </a:solidFill>
                <a:latin typeface="Arial"/>
              </a:rPr>
              <a:t>Evidence standard: [ ]</a:t>
            </a:r>
          </a:p>
          <a:p>
            <a:pPr>
              <a:spcAft>
                <a:spcPts val="400"/>
              </a:spcAft>
            </a:pPr>
            <a:r>
              <a:rPr sz="830">
                <a:solidFill>
                  <a:srgbClr val="2D2D2D"/>
                </a:solidFill>
                <a:latin typeface="Arial"/>
              </a:rPr>
              <a:t>Timing: [ 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42048" y="1874519"/>
            <a:ext cx="2606040" cy="256032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42048" y="2350008"/>
            <a:ext cx="2286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Georgia"/>
              </a:rPr>
              <a:t>HCPs / KOLs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2048" y="2743200"/>
            <a:ext cx="251460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830">
                <a:solidFill>
                  <a:srgbClr val="2D2D2D"/>
                </a:solidFill>
                <a:latin typeface="Arial"/>
              </a:rPr>
              <a:t>Decision: [ ]</a:t>
            </a:r>
          </a:p>
          <a:p>
            <a:pPr>
              <a:spcAft>
                <a:spcPts val="400"/>
              </a:spcAft>
            </a:pPr>
            <a:r>
              <a:rPr sz="830">
                <a:solidFill>
                  <a:srgbClr val="2D2D2D"/>
                </a:solidFill>
                <a:latin typeface="Arial"/>
              </a:rPr>
              <a:t>Evidence standard: [ ]</a:t>
            </a:r>
          </a:p>
          <a:p>
            <a:pPr>
              <a:spcAft>
                <a:spcPts val="400"/>
              </a:spcAft>
            </a:pPr>
            <a:r>
              <a:rPr sz="830">
                <a:solidFill>
                  <a:srgbClr val="2D2D2D"/>
                </a:solidFill>
                <a:latin typeface="Arial"/>
              </a:rPr>
              <a:t>Timing: [ 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3977639"/>
            <a:ext cx="2606040" cy="256032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453127"/>
            <a:ext cx="2286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Georgia"/>
              </a:rPr>
              <a:t>Patients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846320"/>
            <a:ext cx="251460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830">
                <a:solidFill>
                  <a:srgbClr val="2D2D2D"/>
                </a:solidFill>
                <a:latin typeface="Arial"/>
              </a:rPr>
              <a:t>Decision: [ ]</a:t>
            </a:r>
          </a:p>
          <a:p>
            <a:pPr>
              <a:spcAft>
                <a:spcPts val="400"/>
              </a:spcAft>
            </a:pPr>
            <a:r>
              <a:rPr sz="830">
                <a:solidFill>
                  <a:srgbClr val="2D2D2D"/>
                </a:solidFill>
                <a:latin typeface="Arial"/>
              </a:rPr>
              <a:t>Evidence standard: [ ]</a:t>
            </a:r>
          </a:p>
          <a:p>
            <a:pPr>
              <a:spcAft>
                <a:spcPts val="400"/>
              </a:spcAft>
            </a:pPr>
            <a:r>
              <a:rPr sz="830">
                <a:solidFill>
                  <a:srgbClr val="2D2D2D"/>
                </a:solidFill>
                <a:latin typeface="Arial"/>
              </a:rPr>
              <a:t>Timing: [ 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7639" y="3977639"/>
            <a:ext cx="2606040" cy="256032"/>
          </a:xfrm>
          <a:prstGeom prst="rect">
            <a:avLst/>
          </a:prstGeom>
          <a:solidFill>
            <a:srgbClr val="60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39" y="4453127"/>
            <a:ext cx="2286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Georgia"/>
              </a:rPr>
              <a:t>Policy / systems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4846320"/>
            <a:ext cx="251460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830">
                <a:solidFill>
                  <a:srgbClr val="2D2D2D"/>
                </a:solidFill>
                <a:latin typeface="Arial"/>
              </a:rPr>
              <a:t>Decision: [ ]</a:t>
            </a:r>
          </a:p>
          <a:p>
            <a:pPr>
              <a:spcAft>
                <a:spcPts val="400"/>
              </a:spcAft>
            </a:pPr>
            <a:r>
              <a:rPr sz="830">
                <a:solidFill>
                  <a:srgbClr val="2D2D2D"/>
                </a:solidFill>
                <a:latin typeface="Arial"/>
              </a:rPr>
              <a:t>Evidence standard: [ ]</a:t>
            </a:r>
          </a:p>
          <a:p>
            <a:pPr>
              <a:spcAft>
                <a:spcPts val="400"/>
              </a:spcAft>
            </a:pPr>
            <a:r>
              <a:rPr sz="830">
                <a:solidFill>
                  <a:srgbClr val="2D2D2D"/>
                </a:solidFill>
                <a:latin typeface="Arial"/>
              </a:rPr>
              <a:t>Timing: [ 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42048" y="3977639"/>
            <a:ext cx="2606040" cy="256032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42048" y="4453127"/>
            <a:ext cx="2286000" cy="1828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Georgia"/>
              </a:rPr>
              <a:t>Internal teams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42048" y="4846320"/>
            <a:ext cx="251460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830">
                <a:solidFill>
                  <a:srgbClr val="2D2D2D"/>
                </a:solidFill>
                <a:latin typeface="Arial"/>
              </a:rPr>
              <a:t>Decision: [ ]</a:t>
            </a:r>
          </a:p>
          <a:p>
            <a:pPr>
              <a:spcAft>
                <a:spcPts val="400"/>
              </a:spcAft>
            </a:pPr>
            <a:r>
              <a:rPr sz="830">
                <a:solidFill>
                  <a:srgbClr val="2D2D2D"/>
                </a:solidFill>
                <a:latin typeface="Arial"/>
              </a:rPr>
              <a:t>Evidence standard: [ ]</a:t>
            </a:r>
          </a:p>
          <a:p>
            <a:pPr>
              <a:spcAft>
                <a:spcPts val="400"/>
              </a:spcAft>
            </a:pPr>
            <a:r>
              <a:rPr sz="830">
                <a:solidFill>
                  <a:srgbClr val="2D2D2D"/>
                </a:solidFill>
                <a:latin typeface="Arial"/>
              </a:rPr>
              <a:t>Timing: [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43891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1">
                <a:solidFill>
                  <a:srgbClr val="D04A02"/>
                </a:solidFill>
                <a:latin typeface="Arial"/>
              </a:rPr>
              <a:t>IEGP |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877824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600" b="0">
                <a:solidFill>
                  <a:srgbClr val="000000"/>
                </a:solidFill>
                <a:latin typeface="Georgia"/>
              </a:rPr>
              <a:t>Current evidence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33856"/>
            <a:ext cx="877824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50" b="0">
                <a:solidFill>
                  <a:srgbClr val="2D2D2D"/>
                </a:solidFill>
                <a:latin typeface="Arial"/>
              </a:rPr>
              <a:t>Catalogue available and planned evidence before defining new evidence to generate.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10835640" cy="10972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78440" y="256032"/>
            <a:ext cx="329915" cy="329915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48370" y="405993"/>
            <a:ext cx="374904" cy="374904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38424" y="668426"/>
            <a:ext cx="464880" cy="284927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48294" y="286024"/>
            <a:ext cx="269930" cy="554857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3320" y="840882"/>
            <a:ext cx="404896" cy="209946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0">
                <a:solidFill>
                  <a:srgbClr val="7D7D7D"/>
                </a:solidFill>
                <a:latin typeface="Arial"/>
              </a:rPr>
              <a:t>IEGP | Needs | [Product / indication]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5486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80" b="0">
                <a:solidFill>
                  <a:srgbClr val="7D7D7D"/>
                </a:solidFill>
                <a:latin typeface="Arial"/>
              </a:rPr>
              <a:t>10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1847088"/>
          <a:ext cx="1120140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828800"/>
                <a:gridCol w="2514600"/>
                <a:gridCol w="1508760"/>
                <a:gridCol w="2423160"/>
              </a:tblGrid>
              <a:tr h="492760">
                <a:tc>
                  <a:txBody>
                    <a:bodyPr anchor="ctr"/>
                    <a:lstStyle/>
                    <a:p>
                      <a:r>
                        <a:rPr sz="660" b="1">
                          <a:solidFill>
                            <a:srgbClr val="FFFFFF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 marL="32004" marR="32004" marT="18288" marB="18288">
                    <a:solidFill>
                      <a:srgbClr val="D04A0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6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32004" marR="32004" marT="18288" marB="18288">
                    <a:solidFill>
                      <a:srgbClr val="D04A0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60" b="1">
                          <a:solidFill>
                            <a:srgbClr val="FFFFFF"/>
                          </a:solidFill>
                          <a:latin typeface="Arial"/>
                        </a:rPr>
                        <a:t>Population</a:t>
                      </a:r>
                    </a:p>
                  </a:txBody>
                  <a:tcPr marL="32004" marR="32004" marT="18288" marB="18288">
                    <a:solidFill>
                      <a:srgbClr val="D04A0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60" b="1">
                          <a:solidFill>
                            <a:srgbClr val="FFFFFF"/>
                          </a:solidFill>
                          <a:latin typeface="Arial"/>
                        </a:rPr>
                        <a:t>Endpoint / output</a:t>
                      </a:r>
                    </a:p>
                  </a:txBody>
                  <a:tcPr marL="32004" marR="32004" marT="18288" marB="18288">
                    <a:solidFill>
                      <a:srgbClr val="D04A0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60" b="1">
                          <a:solidFill>
                            <a:srgbClr val="FFFFFF"/>
                          </a:solidFill>
                          <a:latin typeface="Arial"/>
                        </a:rPr>
                        <a:t>Stakeholder</a:t>
                      </a:r>
                    </a:p>
                  </a:txBody>
                  <a:tcPr marL="32004" marR="32004" marT="18288" marB="18288">
                    <a:solidFill>
                      <a:srgbClr val="D04A0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60" b="1">
                          <a:solidFill>
                            <a:srgbClr val="FFFFFF"/>
                          </a:solidFill>
                          <a:latin typeface="Arial"/>
                        </a:rPr>
                        <a:t>Limits</a:t>
                      </a:r>
                    </a:p>
                  </a:txBody>
                  <a:tcPr marL="32004" marR="32004" marT="18288" marB="18288">
                    <a:solidFill>
                      <a:srgbClr val="D04A02"/>
                    </a:solidFill>
                  </a:tcPr>
                </a:tc>
              </a:tr>
              <a:tr h="492760">
                <a:tc>
                  <a:txBody>
                    <a:bodyPr anchor="ctr"/>
                    <a:lstStyle/>
                    <a:p>
                      <a:r>
                        <a:t>Clinical trials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[status]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[output]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[quality / usability limits]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 anchor="ctr"/>
                    <a:lstStyle/>
                    <a:p>
                      <a:r>
                        <a:t>RWE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[status]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[output]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[quality / usability limits]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 anchor="ctr"/>
                    <a:lstStyle/>
                    <a:p>
                      <a:r>
                        <a:t>HEOR model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[status]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[output]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[quality / usability limits]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 anchor="ctr"/>
                    <a:lstStyle/>
                    <a:p>
                      <a:r>
                        <a:t>SLR / ITC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[status]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[output]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[quality / usability limits]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 anchor="ctr"/>
                    <a:lstStyle/>
                    <a:p>
                      <a:r>
                        <a:t>COA / PRO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[status]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[output]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[quality / usability limits]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 anchor="ctr"/>
                    <a:lstStyle/>
                    <a:p>
                      <a:r>
                        <a:t>Epidemiology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[status]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[output]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[quality / usability limits]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 anchor="ctr"/>
                    <a:lstStyle/>
                    <a:p>
                      <a:r>
                        <a:t>Publications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[status]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[output]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[quality / usability limits]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 anchor="ctr"/>
                    <a:lstStyle/>
                    <a:p>
                      <a:r>
                        <a:t>Other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[status]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[population]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[output]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[stakeholder]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[quality / usability limits]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58368"/>
            <a:ext cx="502920" cy="502920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" y="886968"/>
            <a:ext cx="571500" cy="571500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1287018"/>
            <a:ext cx="708660" cy="43434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27048" y="704088"/>
            <a:ext cx="411479" cy="84582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67028" y="1549908"/>
            <a:ext cx="617220" cy="320040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7680960" cy="6858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4200" b="0">
                <a:solidFill>
                  <a:srgbClr val="000000"/>
                </a:solidFill>
                <a:latin typeface="Georgia"/>
              </a:rPr>
              <a:t>Gap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788920"/>
            <a:ext cx="6309360" cy="34747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300" b="0">
                <a:solidFill>
                  <a:srgbClr val="2D2D2D"/>
                </a:solidFill>
                <a:latin typeface="Arial"/>
              </a:rPr>
              <a:t>Convert evidence needs into prioritized, actionable gaps.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977639"/>
            <a:ext cx="5394960" cy="50292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6327648"/>
            <a:ext cx="1828800" cy="1371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20" b="1">
                <a:solidFill>
                  <a:srgbClr val="7D7D7D"/>
                </a:solidFill>
                <a:latin typeface="Arial"/>
              </a:rPr>
              <a:t>GAPS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0">
                <a:solidFill>
                  <a:srgbClr val="7D7D7D"/>
                </a:solidFill>
                <a:latin typeface="Arial"/>
              </a:rPr>
              <a:t>IEGP | Gaps | [Product / indication]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5486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80" b="0">
                <a:solidFill>
                  <a:srgbClr val="7D7D7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43891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1">
                <a:solidFill>
                  <a:srgbClr val="D04A02"/>
                </a:solidFill>
                <a:latin typeface="Arial"/>
              </a:rPr>
              <a:t>IEGP |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877824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600" b="0">
                <a:solidFill>
                  <a:srgbClr val="000000"/>
                </a:solidFill>
                <a:latin typeface="Georgia"/>
              </a:rPr>
              <a:t>Evidence gap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33856"/>
            <a:ext cx="877824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50" b="0">
                <a:solidFill>
                  <a:srgbClr val="2D2D2D"/>
                </a:solidFill>
                <a:latin typeface="Arial"/>
              </a:rPr>
              <a:t>Prioritize by stakeholder decision, current coverage, consequence, and action.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10835640" cy="10972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78440" y="256032"/>
            <a:ext cx="329915" cy="329915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48370" y="405993"/>
            <a:ext cx="374904" cy="374904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38424" y="668426"/>
            <a:ext cx="464880" cy="284927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48294" y="286024"/>
            <a:ext cx="269930" cy="554857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3320" y="840882"/>
            <a:ext cx="404896" cy="209946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0">
                <a:solidFill>
                  <a:srgbClr val="7D7D7D"/>
                </a:solidFill>
                <a:latin typeface="Arial"/>
              </a:rPr>
              <a:t>IEGP | Gaps | [Product / indication]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5486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80" b="0">
                <a:solidFill>
                  <a:srgbClr val="7D7D7D"/>
                </a:solidFill>
                <a:latin typeface="Arial"/>
              </a:rPr>
              <a:t>12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1847088"/>
          <a:ext cx="94183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423160"/>
                <a:gridCol w="914400"/>
                <a:gridCol w="1965960"/>
              </a:tblGrid>
              <a:tr h="560070">
                <a:tc>
                  <a:txBody>
                    <a:bodyPr anchor="ctr"/>
                    <a:lstStyle/>
                    <a:p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32004" marR="32004" marT="18288" marB="18288">
                    <a:solidFill>
                      <a:srgbClr val="E0301E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32004" marR="32004" marT="18288" marB="18288">
                    <a:solidFill>
                      <a:srgbClr val="E0301E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Current evidence</a:t>
                      </a:r>
                    </a:p>
                  </a:txBody>
                  <a:tcPr marL="32004" marR="32004" marT="18288" marB="18288">
                    <a:solidFill>
                      <a:srgbClr val="E0301E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Priority</a:t>
                      </a:r>
                    </a:p>
                  </a:txBody>
                  <a:tcPr marL="32004" marR="32004" marT="18288" marB="18288">
                    <a:solidFill>
                      <a:srgbClr val="E0301E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 marL="32004" marR="32004" marT="18288" marB="18288">
                    <a:solidFill>
                      <a:srgbClr val="E0301E"/>
                    </a:solidFill>
                  </a:tcPr>
                </a:tc>
              </a:tr>
              <a:tr h="560070">
                <a:tc>
                  <a:txBody>
                    <a:bodyPr anchor="ctr"/>
                    <a:lstStyle/>
                    <a:p>
                      <a:r>
                        <a:t>G1: [gap]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[P1/P2/P3]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anchor="ctr"/>
                    <a:lstStyle/>
                    <a:p>
                      <a:r>
                        <a:t>G2: [gap]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[P1/P2/P3]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anchor="ctr"/>
                    <a:lstStyle/>
                    <a:p>
                      <a:r>
                        <a:t>G3: [gap]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[P1/P2/P3]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anchor="ctr"/>
                    <a:lstStyle/>
                    <a:p>
                      <a:r>
                        <a:t>G4: [gap]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[P1/P2/P3]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anchor="ctr"/>
                    <a:lstStyle/>
                    <a:p>
                      <a:r>
                        <a:t>G5: [gap]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[P1/P2/P3]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anchor="ctr"/>
                    <a:lstStyle/>
                    <a:p>
                      <a:r>
                        <a:t>G6: [gap]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[P1/P2/P3]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anchor="ctr"/>
                    <a:lstStyle/>
                    <a:p>
                      <a:r>
                        <a:t>G7: [gap]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[evidence]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[P1/P2/P3]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[tactic]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10168128" y="1847088"/>
            <a:ext cx="1234440" cy="4480560"/>
          </a:xfrm>
          <a:prstGeom prst="rect">
            <a:avLst/>
          </a:prstGeom>
          <a:solidFill>
            <a:srgbClr val="F5F5F3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168128" y="1847088"/>
            <a:ext cx="73152" cy="4480560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51007" y="1975104"/>
            <a:ext cx="9144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19" b="1">
                <a:solidFill>
                  <a:srgbClr val="000000"/>
                </a:solidFill>
                <a:latin typeface="Arial"/>
              </a:rPr>
              <a:t>Consequence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51008" y="2423160"/>
            <a:ext cx="868680" cy="28346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740">
                <a:solidFill>
                  <a:srgbClr val="2D2D2D"/>
                </a:solidFill>
                <a:latin typeface="Arial"/>
              </a:rPr>
              <a:t>[label delay]</a:t>
            </a:r>
          </a:p>
          <a:p>
            <a:pPr>
              <a:spcAft>
                <a:spcPts val="400"/>
              </a:spcAft>
            </a:pPr>
            <a:r>
              <a:rPr sz="740">
                <a:solidFill>
                  <a:srgbClr val="2D2D2D"/>
                </a:solidFill>
                <a:latin typeface="Arial"/>
              </a:rPr>
              <a:t>[HTA risk]</a:t>
            </a:r>
          </a:p>
          <a:p>
            <a:pPr>
              <a:spcAft>
                <a:spcPts val="400"/>
              </a:spcAft>
            </a:pPr>
            <a:r>
              <a:rPr sz="740">
                <a:solidFill>
                  <a:srgbClr val="2D2D2D"/>
                </a:solidFill>
                <a:latin typeface="Arial"/>
              </a:rPr>
              <a:t>[slow uptake]</a:t>
            </a:r>
          </a:p>
          <a:p>
            <a:pPr>
              <a:spcAft>
                <a:spcPts val="400"/>
              </a:spcAft>
            </a:pPr>
            <a:r>
              <a:rPr sz="740">
                <a:solidFill>
                  <a:srgbClr val="2D2D2D"/>
                </a:solidFill>
                <a:latin typeface="Arial"/>
              </a:rPr>
              <a:t>[unfunded lifecycle]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43891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1">
                <a:solidFill>
                  <a:srgbClr val="D04A02"/>
                </a:solidFill>
                <a:latin typeface="Arial"/>
              </a:rPr>
              <a:t>IEGP |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877824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600" b="0">
                <a:solidFill>
                  <a:srgbClr val="000000"/>
                </a:solidFill>
                <a:latin typeface="Georgia"/>
              </a:rPr>
              <a:t>Gap prioritization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33856"/>
            <a:ext cx="877824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50" b="0">
                <a:solidFill>
                  <a:srgbClr val="2D2D2D"/>
                </a:solidFill>
                <a:latin typeface="Arial"/>
              </a:rPr>
              <a:t>Use a transparent rubric before converting gaps into funded activities.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10835640" cy="10972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78440" y="256032"/>
            <a:ext cx="329915" cy="329915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48370" y="405993"/>
            <a:ext cx="374904" cy="374904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38424" y="668426"/>
            <a:ext cx="464880" cy="284927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48294" y="286024"/>
            <a:ext cx="269930" cy="554857"/>
          </a:xfrm>
          <a:prstGeom prst="rect">
            <a:avLst/>
          </a:prstGeom>
          <a:solidFill>
            <a:srgbClr val="60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3320" y="840882"/>
            <a:ext cx="404896" cy="209946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0">
                <a:solidFill>
                  <a:srgbClr val="7D7D7D"/>
                </a:solidFill>
                <a:latin typeface="Arial"/>
              </a:rPr>
              <a:t>IEGP | Gaps | [Product / indication]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5486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80" b="0">
                <a:solidFill>
                  <a:srgbClr val="7D7D7D"/>
                </a:solidFill>
                <a:latin typeface="Arial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874519"/>
            <a:ext cx="141732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800" b="0">
                <a:solidFill>
                  <a:srgbClr val="D04A02"/>
                </a:solidFill>
                <a:latin typeface="Georgia"/>
              </a:rP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441448"/>
            <a:ext cx="114300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587752"/>
            <a:ext cx="201168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80" b="0">
                <a:solidFill>
                  <a:srgbClr val="2D2D2D"/>
                </a:solidFill>
                <a:latin typeface="Arial"/>
              </a:rPr>
              <a:t>strategic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7" y="1874519"/>
            <a:ext cx="141732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800" b="0">
                <a:solidFill>
                  <a:srgbClr val="EB8C00"/>
                </a:solidFill>
                <a:latin typeface="Georgia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0127" y="2441448"/>
            <a:ext cx="1143000" cy="41148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0127" y="2587752"/>
            <a:ext cx="201168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80" b="0">
                <a:solidFill>
                  <a:srgbClr val="2D2D2D"/>
                </a:solidFill>
                <a:latin typeface="Arial"/>
              </a:rPr>
              <a:t>urgency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0448" y="1874519"/>
            <a:ext cx="141732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800" b="0">
                <a:solidFill>
                  <a:srgbClr val="FFB600"/>
                </a:solidFill>
                <a:latin typeface="Georgia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70448" y="2441448"/>
            <a:ext cx="1143000" cy="41148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70448" y="2587752"/>
            <a:ext cx="201168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80" b="0">
                <a:solidFill>
                  <a:srgbClr val="2D2D2D"/>
                </a:solidFill>
                <a:latin typeface="Arial"/>
              </a:rPr>
              <a:t>feasibility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7" y="1874519"/>
            <a:ext cx="141732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800" b="0">
                <a:solidFill>
                  <a:srgbClr val="E0301E"/>
                </a:solidFill>
                <a:latin typeface="Georgia"/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30767" y="2441448"/>
            <a:ext cx="1143000" cy="41148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0767" y="2587752"/>
            <a:ext cx="201168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80" b="0">
                <a:solidFill>
                  <a:srgbClr val="2D2D2D"/>
                </a:solidFill>
                <a:latin typeface="Arial"/>
              </a:rPr>
              <a:t>reuse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13232" y="3657600"/>
          <a:ext cx="1056132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554480"/>
                <a:gridCol w="1554480"/>
                <a:gridCol w="1737360"/>
                <a:gridCol w="2971800"/>
              </a:tblGrid>
              <a:tr h="448056">
                <a:tc>
                  <a:txBody>
                    <a:bodyPr anchor="ctr"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32004" marR="32004" marT="18288" marB="18288">
                    <a:solidFill>
                      <a:srgbClr val="60222B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Impact</a:t>
                      </a:r>
                    </a:p>
                  </a:txBody>
                  <a:tcPr marL="32004" marR="32004" marT="18288" marB="18288">
                    <a:solidFill>
                      <a:srgbClr val="60222B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Urgency</a:t>
                      </a:r>
                    </a:p>
                  </a:txBody>
                  <a:tcPr marL="32004" marR="32004" marT="18288" marB="18288">
                    <a:solidFill>
                      <a:srgbClr val="60222B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Feasibility</a:t>
                      </a:r>
                    </a:p>
                  </a:txBody>
                  <a:tcPr marL="32004" marR="32004" marT="18288" marB="18288">
                    <a:solidFill>
                      <a:srgbClr val="60222B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32004" marR="32004" marT="18288" marB="18288">
                    <a:solidFill>
                      <a:srgbClr val="60222B"/>
                    </a:solidFill>
                  </a:tcPr>
                </a:tc>
              </a:tr>
              <a:tr h="448056">
                <a:tc>
                  <a:txBody>
                    <a:bodyPr anchor="ctr"/>
                    <a:lstStyle/>
                    <a:p>
                      <a:r>
                        <a:t>G1: [gap]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[fund / revise / hold]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anchor="ctr"/>
                    <a:lstStyle/>
                    <a:p>
                      <a:r>
                        <a:t>G2: [gap]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[fund / revise / hold]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anchor="ctr"/>
                    <a:lstStyle/>
                    <a:p>
                      <a:r>
                        <a:t>G3: [gap]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[fund / revise / hold]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anchor="ctr"/>
                    <a:lstStyle/>
                    <a:p>
                      <a:r>
                        <a:t>G4: [gap]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[1-5]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[fund / revise / hold]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58368"/>
            <a:ext cx="502920" cy="50292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" y="886968"/>
            <a:ext cx="571500" cy="571500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1287018"/>
            <a:ext cx="708660" cy="43434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27048" y="704088"/>
            <a:ext cx="411479" cy="845820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67028" y="1549908"/>
            <a:ext cx="617220" cy="320040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7680960" cy="6858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4200" b="0">
                <a:solidFill>
                  <a:srgbClr val="000000"/>
                </a:solidFill>
                <a:latin typeface="Georgia"/>
              </a:rPr>
              <a:t>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788920"/>
            <a:ext cx="6309360" cy="34747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300" b="0">
                <a:solidFill>
                  <a:srgbClr val="2D2D2D"/>
                </a:solidFill>
                <a:latin typeface="Arial"/>
              </a:rPr>
              <a:t>Translate priority gaps into activities, owners, timing, and pull-through.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977639"/>
            <a:ext cx="5394960" cy="50292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6327648"/>
            <a:ext cx="1828800" cy="1371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20" b="1">
                <a:solidFill>
                  <a:srgbClr val="7D7D7D"/>
                </a:solidFill>
                <a:latin typeface="Arial"/>
              </a:rPr>
              <a:t>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0">
                <a:solidFill>
                  <a:srgbClr val="7D7D7D"/>
                </a:solidFill>
                <a:latin typeface="Arial"/>
              </a:rPr>
              <a:t>IEGP | Roadmap | [Product / indication]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5486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80" b="0">
                <a:solidFill>
                  <a:srgbClr val="7D7D7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43891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1">
                <a:solidFill>
                  <a:srgbClr val="D04A02"/>
                </a:solidFill>
                <a:latin typeface="Arial"/>
              </a:rPr>
              <a:t>IEGP |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877824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600" b="0">
                <a:solidFill>
                  <a:srgbClr val="000000"/>
                </a:solidFill>
                <a:latin typeface="Georgia"/>
              </a:rPr>
              <a:t>Integrated evidence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33856"/>
            <a:ext cx="877824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50" b="0">
                <a:solidFill>
                  <a:srgbClr val="2D2D2D"/>
                </a:solidFill>
                <a:latin typeface="Arial"/>
              </a:rPr>
              <a:t>Function-level swimlanes with readouts, decisions, and pull-through milestones.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10835640" cy="10972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78440" y="256032"/>
            <a:ext cx="329915" cy="329915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48370" y="405993"/>
            <a:ext cx="374904" cy="374904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38424" y="668426"/>
            <a:ext cx="464880" cy="284927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48294" y="286024"/>
            <a:ext cx="269930" cy="554857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3320" y="840882"/>
            <a:ext cx="404896" cy="209946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0">
                <a:solidFill>
                  <a:srgbClr val="7D7D7D"/>
                </a:solidFill>
                <a:latin typeface="Arial"/>
              </a:rPr>
              <a:t>IEGP | Roadmap | [Product / indication]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5486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80" b="0">
                <a:solidFill>
                  <a:srgbClr val="7D7D7D"/>
                </a:solidFill>
                <a:latin typeface="Arial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1828800"/>
            <a:ext cx="685800" cy="1371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650" b="1">
                <a:solidFill>
                  <a:srgbClr val="7D7D7D"/>
                </a:solidFill>
                <a:latin typeface="Arial"/>
              </a:rPr>
              <a:t>Y1 Q1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1828800"/>
            <a:ext cx="685800" cy="1371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650" b="1">
                <a:solidFill>
                  <a:srgbClr val="7D7D7D"/>
                </a:solidFill>
                <a:latin typeface="Arial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1828800"/>
            <a:ext cx="685800" cy="1371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650" b="1">
                <a:solidFill>
                  <a:srgbClr val="7D7D7D"/>
                </a:solidFill>
                <a:latin typeface="Arial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1828800"/>
            <a:ext cx="685800" cy="1371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650" b="1">
                <a:solidFill>
                  <a:srgbClr val="7D7D7D"/>
                </a:solidFill>
                <a:latin typeface="Arial"/>
              </a:rPr>
              <a:t>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828800"/>
            <a:ext cx="685800" cy="1371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650" b="1">
                <a:solidFill>
                  <a:srgbClr val="7D7D7D"/>
                </a:solidFill>
                <a:latin typeface="Arial"/>
              </a:rPr>
              <a:t>Y2 Q1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1828800"/>
            <a:ext cx="685800" cy="1371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650" b="1">
                <a:solidFill>
                  <a:srgbClr val="7D7D7D"/>
                </a:solidFill>
                <a:latin typeface="Arial"/>
              </a:rPr>
              <a:t>Q2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828800"/>
            <a:ext cx="685800" cy="1371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650" b="1">
                <a:solidFill>
                  <a:srgbClr val="7D7D7D"/>
                </a:solidFill>
                <a:latin typeface="Arial"/>
              </a:rP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1828800"/>
            <a:ext cx="685800" cy="1371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650" b="1">
                <a:solidFill>
                  <a:srgbClr val="7D7D7D"/>
                </a:solidFill>
                <a:latin typeface="Arial"/>
              </a:rPr>
              <a:t>Q4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2304288"/>
            <a:ext cx="1828800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20" b="1">
                <a:solidFill>
                  <a:srgbClr val="000000"/>
                </a:solidFill>
                <a:latin typeface="Arial"/>
              </a:rPr>
              <a:t>Clinical / regulatory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80" y="2395728"/>
            <a:ext cx="8046720" cy="13716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26080" y="2240280"/>
            <a:ext cx="1508760" cy="29260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35808" y="2322576"/>
            <a:ext cx="1097280" cy="7315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80" b="1">
                <a:solidFill>
                  <a:srgbClr val="000000"/>
                </a:solidFill>
                <a:latin typeface="Arial"/>
              </a:rPr>
              <a:t>[activity]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57800" y="2203704"/>
            <a:ext cx="164592" cy="365760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2990088"/>
            <a:ext cx="1828800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20" b="1">
                <a:solidFill>
                  <a:srgbClr val="000000"/>
                </a:solidFill>
                <a:latin typeface="Arial"/>
              </a:rPr>
              <a:t>RWE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97480" y="3081528"/>
            <a:ext cx="8046720" cy="13716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2926080"/>
            <a:ext cx="2011680" cy="292608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38728" y="3008376"/>
            <a:ext cx="1097280" cy="7315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80" b="1">
                <a:solidFill>
                  <a:srgbClr val="000000"/>
                </a:solidFill>
                <a:latin typeface="Arial"/>
              </a:rPr>
              <a:t>[activity]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2889504"/>
            <a:ext cx="164592" cy="365760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" y="3675888"/>
            <a:ext cx="1828800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20" b="1">
                <a:solidFill>
                  <a:srgbClr val="000000"/>
                </a:solidFill>
                <a:latin typeface="Arial"/>
              </a:rPr>
              <a:t>HEOR / access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97480" y="3767328"/>
            <a:ext cx="8046720" cy="13716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31920" y="3611880"/>
            <a:ext cx="1508760" cy="292608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41648" y="3694176"/>
            <a:ext cx="1097280" cy="7315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80" b="1">
                <a:solidFill>
                  <a:srgbClr val="000000"/>
                </a:solidFill>
                <a:latin typeface="Arial"/>
              </a:rPr>
              <a:t>[activity]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29400" y="3575304"/>
            <a:ext cx="164592" cy="365760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" y="4361688"/>
            <a:ext cx="1828800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20" b="1">
                <a:solidFill>
                  <a:srgbClr val="000000"/>
                </a:solidFill>
                <a:latin typeface="Arial"/>
              </a:rPr>
              <a:t>Patient / COA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97480" y="4453128"/>
            <a:ext cx="8046720" cy="13716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26080" y="4297680"/>
            <a:ext cx="2011680" cy="292608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35808" y="4379976"/>
            <a:ext cx="1097280" cy="7315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80" b="1">
                <a:solidFill>
                  <a:srgbClr val="000000"/>
                </a:solidFill>
                <a:latin typeface="Arial"/>
              </a:rPr>
              <a:t>[activity]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0" y="4261104"/>
            <a:ext cx="164592" cy="365760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" y="5047488"/>
            <a:ext cx="1828800" cy="146304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20" b="1">
                <a:solidFill>
                  <a:srgbClr val="000000"/>
                </a:solidFill>
                <a:latin typeface="Arial"/>
              </a:rPr>
              <a:t>Publications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97480" y="5138928"/>
            <a:ext cx="8046720" cy="13716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29000" y="4983480"/>
            <a:ext cx="1508760" cy="292608"/>
          </a:xfrm>
          <a:prstGeom prst="rect">
            <a:avLst/>
          </a:prstGeom>
          <a:solidFill>
            <a:srgbClr val="60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38728" y="5065776"/>
            <a:ext cx="1097280" cy="7315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ctr"/>
            <a:r>
              <a:rPr sz="580" b="1">
                <a:solidFill>
                  <a:srgbClr val="000000"/>
                </a:solidFill>
                <a:latin typeface="Arial"/>
              </a:rPr>
              <a:t>[activity]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01000" y="4946904"/>
            <a:ext cx="164592" cy="365760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4944" y="5806440"/>
            <a:ext cx="1065276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4944" y="5806440"/>
            <a:ext cx="73152" cy="402336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7824" y="5934455"/>
            <a:ext cx="103327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19" b="1">
                <a:solidFill>
                  <a:srgbClr val="000000"/>
                </a:solidFill>
                <a:latin typeface="Arial"/>
              </a:rPr>
              <a:t>Decision gates: [protocol] | [data cut] | [abstract] | [regulatory] | [HTA] | [launch]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43891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1">
                <a:solidFill>
                  <a:srgbClr val="D04A02"/>
                </a:solidFill>
                <a:latin typeface="Arial"/>
              </a:rPr>
              <a:t>IEGP |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877824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600" b="0">
                <a:solidFill>
                  <a:srgbClr val="000000"/>
                </a:solidFill>
                <a:latin typeface="Georgia"/>
              </a:rPr>
              <a:t>Evidence activity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33856"/>
            <a:ext cx="877824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50" b="0">
                <a:solidFill>
                  <a:srgbClr val="2D2D2D"/>
                </a:solidFill>
                <a:latin typeface="Arial"/>
              </a:rPr>
              <a:t>Single working table for studies, analyses, syntheses, and dissemination activities.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10835640" cy="10972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78440" y="256032"/>
            <a:ext cx="329915" cy="329915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48370" y="405993"/>
            <a:ext cx="374904" cy="374904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38424" y="668426"/>
            <a:ext cx="464880" cy="284927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48294" y="286024"/>
            <a:ext cx="269930" cy="554857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3320" y="840882"/>
            <a:ext cx="404896" cy="209946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0">
                <a:solidFill>
                  <a:srgbClr val="7D7D7D"/>
                </a:solidFill>
                <a:latin typeface="Arial"/>
              </a:rPr>
              <a:t>IEGP | Roadmap | [Product / indication]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5486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80" b="0">
                <a:solidFill>
                  <a:srgbClr val="7D7D7D"/>
                </a:solidFill>
                <a:latin typeface="Arial"/>
              </a:rPr>
              <a:t>16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38912" y="1847088"/>
          <a:ext cx="996696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737360"/>
                <a:gridCol w="731520"/>
                <a:gridCol w="2377440"/>
                <a:gridCol w="1005840"/>
                <a:gridCol w="1143000"/>
                <a:gridCol w="1554480"/>
                <a:gridCol w="914400"/>
              </a:tblGrid>
              <a:tr h="492760">
                <a:tc>
                  <a:txBody>
                    <a:bodyPr anchor="ctr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32004" marR="32004" marT="18288" marB="18288">
                    <a:solidFill>
                      <a:srgbClr val="D04A0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Activity</a:t>
                      </a:r>
                    </a:p>
                  </a:txBody>
                  <a:tcPr marL="32004" marR="32004" marT="18288" marB="18288">
                    <a:solidFill>
                      <a:srgbClr val="D04A0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32004" marR="32004" marT="18288" marB="18288">
                    <a:solidFill>
                      <a:srgbClr val="D04A0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Method / data</a:t>
                      </a:r>
                    </a:p>
                  </a:txBody>
                  <a:tcPr marL="32004" marR="32004" marT="18288" marB="18288">
                    <a:solidFill>
                      <a:srgbClr val="D04A0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32004" marR="32004" marT="18288" marB="18288">
                    <a:solidFill>
                      <a:srgbClr val="D04A0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Timing</a:t>
                      </a:r>
                    </a:p>
                  </a:txBody>
                  <a:tcPr marL="32004" marR="32004" marT="18288" marB="18288">
                    <a:solidFill>
                      <a:srgbClr val="D04A0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32004" marR="32004" marT="18288" marB="18288">
                    <a:solidFill>
                      <a:srgbClr val="D04A0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Priority</a:t>
                      </a:r>
                    </a:p>
                  </a:txBody>
                  <a:tcPr marL="32004" marR="32004" marT="18288" marB="18288">
                    <a:solidFill>
                      <a:srgbClr val="D04A02"/>
                    </a:solidFill>
                  </a:tcPr>
                </a:tc>
              </a:tr>
              <a:tr h="492760">
                <a:tc>
                  <a:txBody>
                    <a:bodyPr anchor="ctr"/>
                    <a:lstStyle/>
                    <a:p>
                      <a:r>
                        <a:t>A1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 anchor="ctr"/>
                    <a:lstStyle/>
                    <a:p>
                      <a:r>
                        <a:t>A2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 anchor="ctr"/>
                    <a:lstStyle/>
                    <a:p>
                      <a:r>
                        <a:t>A3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 anchor="ctr"/>
                    <a:lstStyle/>
                    <a:p>
                      <a:r>
                        <a:t>A4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 anchor="ctr"/>
                    <a:lstStyle/>
                    <a:p>
                      <a:r>
                        <a:t>A5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 anchor="ctr"/>
                    <a:lstStyle/>
                    <a:p>
                      <a:r>
                        <a:t>A6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 anchor="ctr"/>
                    <a:lstStyle/>
                    <a:p>
                      <a:r>
                        <a:t>A7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 anchor="ctr"/>
                    <a:lstStyle/>
                    <a:p>
                      <a:r>
                        <a:t>A8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[study / analysis]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G[ 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[design / source]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[start-readout]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[idea/planned/active]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[P1]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43891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1">
                <a:solidFill>
                  <a:srgbClr val="D04A02"/>
                </a:solidFill>
                <a:latin typeface="Arial"/>
              </a:rPr>
              <a:t>IEGP |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877824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600" b="0">
                <a:solidFill>
                  <a:srgbClr val="000000"/>
                </a:solidFill>
                <a:latin typeface="Georgia"/>
              </a:rPr>
              <a:t>Study concept one-pager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33856"/>
            <a:ext cx="877824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50" b="0">
                <a:solidFill>
                  <a:srgbClr val="2D2D2D"/>
                </a:solidFill>
                <a:latin typeface="Arial"/>
              </a:rPr>
              <a:t>Duplicate this page for each priority evidence-generation activity.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10835640" cy="10972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78440" y="256032"/>
            <a:ext cx="329915" cy="329915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48370" y="405993"/>
            <a:ext cx="374904" cy="374904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38424" y="668426"/>
            <a:ext cx="464880" cy="284927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48294" y="286024"/>
            <a:ext cx="269930" cy="554857"/>
          </a:xfrm>
          <a:prstGeom prst="rect">
            <a:avLst/>
          </a:prstGeom>
          <a:solidFill>
            <a:srgbClr val="60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3320" y="840882"/>
            <a:ext cx="404896" cy="209946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0">
                <a:solidFill>
                  <a:srgbClr val="7D7D7D"/>
                </a:solidFill>
                <a:latin typeface="Arial"/>
              </a:rPr>
              <a:t>IEGP | Roadmap | [Product / indication]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5486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80" b="0">
                <a:solidFill>
                  <a:srgbClr val="7D7D7D"/>
                </a:solidFill>
                <a:latin typeface="Arial"/>
              </a:rPr>
              <a:t>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1874519"/>
            <a:ext cx="3063240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1874519"/>
            <a:ext cx="73152" cy="987552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002536"/>
            <a:ext cx="27432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19" b="1">
                <a:solidFill>
                  <a:srgbClr val="000000"/>
                </a:solidFill>
                <a:latin typeface="Arial"/>
              </a:rPr>
              <a:t>Study / activity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2386584"/>
            <a:ext cx="2514600" cy="2011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30" b="0">
                <a:solidFill>
                  <a:srgbClr val="2D2D2D"/>
                </a:solidFill>
                <a:latin typeface="Arial"/>
              </a:rPr>
              <a:t>[name and ID]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42816" y="1874519"/>
            <a:ext cx="3063240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42816" y="1874519"/>
            <a:ext cx="73152" cy="987552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25696" y="2002536"/>
            <a:ext cx="27432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19" b="1">
                <a:solidFill>
                  <a:srgbClr val="000000"/>
                </a:solidFill>
                <a:latin typeface="Arial"/>
              </a:rPr>
              <a:t>Gap and decision 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3" y="2386584"/>
            <a:ext cx="2514600" cy="2011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30" b="0">
                <a:solidFill>
                  <a:srgbClr val="2D2D2D"/>
                </a:solidFill>
                <a:latin typeface="Arial"/>
              </a:rPr>
              <a:t>[gap, ORQ, stakeholder]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27264" y="1874519"/>
            <a:ext cx="3063240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27264" y="1874519"/>
            <a:ext cx="73152" cy="987552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4" y="2002536"/>
            <a:ext cx="27432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19" b="1">
                <a:solidFill>
                  <a:srgbClr val="000000"/>
                </a:solidFill>
                <a:latin typeface="Arial"/>
              </a:rPr>
              <a:t>Objective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2" y="2386584"/>
            <a:ext cx="2514600" cy="2011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30" b="0">
                <a:solidFill>
                  <a:srgbClr val="2D2D2D"/>
                </a:solidFill>
                <a:latin typeface="Arial"/>
              </a:rPr>
              <a:t>[objective and hypothesis]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474720"/>
            <a:ext cx="3063240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474720"/>
            <a:ext cx="73152" cy="987552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3602736"/>
            <a:ext cx="27432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19" b="1">
                <a:solidFill>
                  <a:srgbClr val="000000"/>
                </a:solidFill>
                <a:latin typeface="Arial"/>
              </a:rPr>
              <a:t>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3986783"/>
            <a:ext cx="2514600" cy="2011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30" b="0">
                <a:solidFill>
                  <a:srgbClr val="2D2D2D"/>
                </a:solidFill>
                <a:latin typeface="Arial"/>
              </a:rPr>
              <a:t>[population, comparator, endpoint, data]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42816" y="3474720"/>
            <a:ext cx="3063240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42816" y="3474720"/>
            <a:ext cx="73152" cy="987552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25696" y="3602736"/>
            <a:ext cx="27432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19" b="1">
                <a:solidFill>
                  <a:srgbClr val="000000"/>
                </a:solidFill>
                <a:latin typeface="Arial"/>
              </a:rPr>
              <a:t>Feasibility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43983" y="3986783"/>
            <a:ext cx="2514600" cy="2011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30" b="0">
                <a:solidFill>
                  <a:srgbClr val="2D2D2D"/>
                </a:solidFill>
                <a:latin typeface="Arial"/>
              </a:rPr>
              <a:t>[cost, complexity, dependency]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27264" y="3474720"/>
            <a:ext cx="3063240" cy="987552"/>
          </a:xfrm>
          <a:prstGeom prst="rect">
            <a:avLst/>
          </a:prstGeom>
          <a:solidFill>
            <a:srgbClr val="FFFFFF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27264" y="3474720"/>
            <a:ext cx="73152" cy="987552"/>
          </a:xfrm>
          <a:prstGeom prst="rect">
            <a:avLst/>
          </a:prstGeom>
          <a:solidFill>
            <a:srgbClr val="60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10144" y="3602736"/>
            <a:ext cx="27432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19" b="1">
                <a:solidFill>
                  <a:srgbClr val="000000"/>
                </a:solidFill>
                <a:latin typeface="Arial"/>
              </a:rPr>
              <a:t>Pull-through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28432" y="3986783"/>
            <a:ext cx="2514600" cy="20116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30" b="0">
                <a:solidFill>
                  <a:srgbClr val="2D2D2D"/>
                </a:solidFill>
                <a:latin typeface="Arial"/>
              </a:rPr>
              <a:t>[publication, dossier, claims]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486400"/>
            <a:ext cx="10378440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486400"/>
            <a:ext cx="73152" cy="420624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7" y="5614416"/>
            <a:ext cx="100584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19" b="1">
                <a:solidFill>
                  <a:srgbClr val="000000"/>
                </a:solidFill>
                <a:latin typeface="Arial"/>
              </a:rPr>
              <a:t>Decision: [approve / revise / defer]    Next step: [action]    Date: [ 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43891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1">
                <a:solidFill>
                  <a:srgbClr val="D04A02"/>
                </a:solidFill>
                <a:latin typeface="Arial"/>
              </a:rPr>
              <a:t>IEGP |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877824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600" b="0">
                <a:solidFill>
                  <a:srgbClr val="000000"/>
                </a:solidFill>
                <a:latin typeface="Georgia"/>
              </a:rPr>
              <a:t>Specialized evidence workstreams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33856"/>
            <a:ext cx="877824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50" b="0">
                <a:solidFill>
                  <a:srgbClr val="2D2D2D"/>
                </a:solidFill>
                <a:latin typeface="Arial"/>
              </a:rPr>
              <a:t>Ensure HEOR, RWE, patient-centered, regulatory, and communications evidence are explicit.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10835640" cy="10972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78440" y="256032"/>
            <a:ext cx="329915" cy="329915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48370" y="405993"/>
            <a:ext cx="374904" cy="374904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38424" y="668426"/>
            <a:ext cx="464880" cy="284927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48294" y="286024"/>
            <a:ext cx="269930" cy="554857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3320" y="840882"/>
            <a:ext cx="404896" cy="209946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0">
                <a:solidFill>
                  <a:srgbClr val="7D7D7D"/>
                </a:solidFill>
                <a:latin typeface="Arial"/>
              </a:rPr>
              <a:t>IEGP | Roadmap | [Product / indication]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5486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80" b="0">
                <a:solidFill>
                  <a:srgbClr val="7D7D7D"/>
                </a:solidFill>
                <a:latin typeface="Arial"/>
              </a:rPr>
              <a:t>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1828800"/>
            <a:ext cx="4709160" cy="1417320"/>
          </a:xfrm>
          <a:prstGeom prst="rect">
            <a:avLst/>
          </a:prstGeom>
          <a:solidFill>
            <a:srgbClr val="FFFFFF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1828800"/>
            <a:ext cx="73152" cy="1417320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1956816"/>
            <a:ext cx="43891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19" b="1">
                <a:solidFill>
                  <a:srgbClr val="000000"/>
                </a:solidFill>
                <a:latin typeface="Arial"/>
              </a:rPr>
              <a:t>HEOR /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304288"/>
            <a:ext cx="3977639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880">
                <a:solidFill>
                  <a:srgbClr val="2D2D2D"/>
                </a:solidFill>
                <a:latin typeface="Arial"/>
              </a:rPr>
              <a:t>SLR / ITC</a:t>
            </a:r>
          </a:p>
          <a:p>
            <a:pPr>
              <a:spcAft>
                <a:spcPts val="400"/>
              </a:spcAft>
            </a:pPr>
            <a:r>
              <a:rPr sz="880">
                <a:solidFill>
                  <a:srgbClr val="2D2D2D"/>
                </a:solidFill>
                <a:latin typeface="Arial"/>
              </a:rPr>
              <a:t>economic model</a:t>
            </a:r>
          </a:p>
          <a:p>
            <a:pPr>
              <a:spcAft>
                <a:spcPts val="400"/>
              </a:spcAft>
            </a:pPr>
            <a:r>
              <a:rPr sz="880">
                <a:solidFill>
                  <a:srgbClr val="2D2D2D"/>
                </a:solidFill>
                <a:latin typeface="Arial"/>
              </a:rPr>
              <a:t>budget impact</a:t>
            </a:r>
          </a:p>
          <a:p>
            <a:pPr>
              <a:spcAft>
                <a:spcPts val="400"/>
              </a:spcAft>
            </a:pPr>
            <a:r>
              <a:rPr sz="880">
                <a:solidFill>
                  <a:srgbClr val="2D2D2D"/>
                </a:solidFill>
                <a:latin typeface="Arial"/>
              </a:rPr>
              <a:t>payer research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71032" y="1828800"/>
            <a:ext cx="4709160" cy="1417320"/>
          </a:xfrm>
          <a:prstGeom prst="rect">
            <a:avLst/>
          </a:prstGeom>
          <a:solidFill>
            <a:srgbClr val="FFFFFF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71032" y="1828800"/>
            <a:ext cx="73152" cy="141732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3912" y="1956816"/>
            <a:ext cx="43891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19" b="1">
                <a:solidFill>
                  <a:srgbClr val="000000"/>
                </a:solidFill>
                <a:latin typeface="Arial"/>
              </a:rPr>
              <a:t>RWE /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2304288"/>
            <a:ext cx="3977639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880">
                <a:solidFill>
                  <a:srgbClr val="2D2D2D"/>
                </a:solidFill>
                <a:latin typeface="Arial"/>
              </a:rPr>
              <a:t>retrospective database</a:t>
            </a:r>
          </a:p>
          <a:p>
            <a:pPr>
              <a:spcAft>
                <a:spcPts val="400"/>
              </a:spcAft>
            </a:pPr>
            <a:r>
              <a:rPr sz="880">
                <a:solidFill>
                  <a:srgbClr val="2D2D2D"/>
                </a:solidFill>
                <a:latin typeface="Arial"/>
              </a:rPr>
              <a:t>prospective study</a:t>
            </a:r>
          </a:p>
          <a:p>
            <a:pPr>
              <a:spcAft>
                <a:spcPts val="400"/>
              </a:spcAft>
            </a:pPr>
            <a:r>
              <a:rPr sz="880">
                <a:solidFill>
                  <a:srgbClr val="2D2D2D"/>
                </a:solidFill>
                <a:latin typeface="Arial"/>
              </a:rPr>
              <a:t>registry</a:t>
            </a:r>
          </a:p>
          <a:p>
            <a:pPr>
              <a:spcAft>
                <a:spcPts val="400"/>
              </a:spcAft>
            </a:pPr>
            <a:r>
              <a:rPr sz="880">
                <a:solidFill>
                  <a:srgbClr val="2D2D2D"/>
                </a:solidFill>
                <a:latin typeface="Arial"/>
              </a:rPr>
              <a:t>external control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703320"/>
            <a:ext cx="4709160" cy="1417320"/>
          </a:xfrm>
          <a:prstGeom prst="rect">
            <a:avLst/>
          </a:prstGeom>
          <a:solidFill>
            <a:srgbClr val="FFFFFF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3703320"/>
            <a:ext cx="73152" cy="1417320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831335"/>
            <a:ext cx="43891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19" b="1">
                <a:solidFill>
                  <a:srgbClr val="000000"/>
                </a:solidFill>
                <a:latin typeface="Arial"/>
              </a:rPr>
              <a:t>Patient-centered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178808"/>
            <a:ext cx="3977639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880">
                <a:solidFill>
                  <a:srgbClr val="2D2D2D"/>
                </a:solidFill>
                <a:latin typeface="Arial"/>
              </a:rPr>
              <a:t>COA / PRO</a:t>
            </a:r>
          </a:p>
          <a:p>
            <a:pPr>
              <a:spcAft>
                <a:spcPts val="400"/>
              </a:spcAft>
            </a:pPr>
            <a:r>
              <a:rPr sz="880">
                <a:solidFill>
                  <a:srgbClr val="2D2D2D"/>
                </a:solidFill>
                <a:latin typeface="Arial"/>
              </a:rPr>
              <a:t>HRQoL</a:t>
            </a:r>
          </a:p>
          <a:p>
            <a:pPr>
              <a:spcAft>
                <a:spcPts val="400"/>
              </a:spcAft>
            </a:pPr>
            <a:r>
              <a:rPr sz="880">
                <a:solidFill>
                  <a:srgbClr val="2D2D2D"/>
                </a:solidFill>
                <a:latin typeface="Arial"/>
              </a:rPr>
              <a:t>preference</a:t>
            </a:r>
          </a:p>
          <a:p>
            <a:pPr>
              <a:spcAft>
                <a:spcPts val="400"/>
              </a:spcAft>
            </a:pPr>
            <a:r>
              <a:rPr sz="880">
                <a:solidFill>
                  <a:srgbClr val="2D2D2D"/>
                </a:solidFill>
                <a:latin typeface="Arial"/>
              </a:rPr>
              <a:t>caregiver burden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71032" y="3703320"/>
            <a:ext cx="4709160" cy="1417320"/>
          </a:xfrm>
          <a:prstGeom prst="rect">
            <a:avLst/>
          </a:prstGeom>
          <a:solidFill>
            <a:srgbClr val="FFFFFF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71032" y="3703320"/>
            <a:ext cx="73152" cy="1417320"/>
          </a:xfrm>
          <a:prstGeom prst="rect">
            <a:avLst/>
          </a:prstGeom>
          <a:solidFill>
            <a:srgbClr val="60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3912" y="3831335"/>
            <a:ext cx="438912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19" b="1">
                <a:solidFill>
                  <a:srgbClr val="000000"/>
                </a:solidFill>
                <a:latin typeface="Arial"/>
              </a:rPr>
              <a:t>Publications / comms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0488" y="4178808"/>
            <a:ext cx="3977639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880">
                <a:solidFill>
                  <a:srgbClr val="2D2D2D"/>
                </a:solidFill>
                <a:latin typeface="Arial"/>
              </a:rPr>
              <a:t>abstract</a:t>
            </a:r>
          </a:p>
          <a:p>
            <a:pPr>
              <a:spcAft>
                <a:spcPts val="400"/>
              </a:spcAft>
            </a:pPr>
            <a:r>
              <a:rPr sz="880">
                <a:solidFill>
                  <a:srgbClr val="2D2D2D"/>
                </a:solidFill>
                <a:latin typeface="Arial"/>
              </a:rPr>
              <a:t>manuscript</a:t>
            </a:r>
          </a:p>
          <a:p>
            <a:pPr>
              <a:spcAft>
                <a:spcPts val="400"/>
              </a:spcAft>
            </a:pPr>
            <a:r>
              <a:rPr sz="880">
                <a:solidFill>
                  <a:srgbClr val="2D2D2D"/>
                </a:solidFill>
                <a:latin typeface="Arial"/>
              </a:rPr>
              <a:t>field medical</a:t>
            </a:r>
          </a:p>
          <a:p>
            <a:pPr>
              <a:spcAft>
                <a:spcPts val="400"/>
              </a:spcAft>
            </a:pPr>
            <a:r>
              <a:rPr sz="880">
                <a:solidFill>
                  <a:srgbClr val="2D2D2D"/>
                </a:solidFill>
                <a:latin typeface="Arial"/>
              </a:rPr>
              <a:t>claims matrix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58368"/>
            <a:ext cx="502920" cy="50292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9848" y="886968"/>
            <a:ext cx="571500" cy="571500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1287018"/>
            <a:ext cx="708660" cy="43434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27048" y="704088"/>
            <a:ext cx="411479" cy="845820"/>
          </a:xfrm>
          <a:prstGeom prst="rect">
            <a:avLst/>
          </a:prstGeom>
          <a:solidFill>
            <a:srgbClr val="60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67028" y="1549908"/>
            <a:ext cx="617220" cy="320040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7680960" cy="68580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4200" b="0">
                <a:solidFill>
                  <a:srgbClr val="000000"/>
                </a:solidFill>
                <a:latin typeface="Georgia"/>
              </a:rPr>
              <a:t>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788920"/>
            <a:ext cx="6309360" cy="34747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300" b="0">
                <a:solidFill>
                  <a:srgbClr val="2D2D2D"/>
                </a:solidFill>
                <a:latin typeface="Arial"/>
              </a:rPr>
              <a:t>Run the IEGP as a living governance and impact system.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3977639"/>
            <a:ext cx="5394960" cy="50292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6327648"/>
            <a:ext cx="1828800" cy="13716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20" b="1">
                <a:solidFill>
                  <a:srgbClr val="7D7D7D"/>
                </a:solidFill>
                <a:latin typeface="Arial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0">
                <a:solidFill>
                  <a:srgbClr val="7D7D7D"/>
                </a:solidFill>
                <a:latin typeface="Arial"/>
              </a:rPr>
              <a:t>IEGP | Control | [Product / indication]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5486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80" b="0">
                <a:solidFill>
                  <a:srgbClr val="7D7D7D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43891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1">
                <a:solidFill>
                  <a:srgbClr val="D04A02"/>
                </a:solidFill>
                <a:latin typeface="Arial"/>
              </a:rPr>
              <a:t>IEGP |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877824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600" b="0">
                <a:solidFill>
                  <a:srgbClr val="000000"/>
                </a:solidFill>
                <a:latin typeface="Georgia"/>
              </a:rPr>
              <a:t>Governance and refresh cadence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33856"/>
            <a:ext cx="877824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50" b="0">
                <a:solidFill>
                  <a:srgbClr val="2D2D2D"/>
                </a:solidFill>
                <a:latin typeface="Arial"/>
              </a:rPr>
              <a:t>Operate the IEGP as a living plan, not a one-time deliverable.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10835640" cy="10972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78440" y="256032"/>
            <a:ext cx="329915" cy="329915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48370" y="405993"/>
            <a:ext cx="374904" cy="374904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38424" y="668426"/>
            <a:ext cx="464880" cy="284927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48294" y="286024"/>
            <a:ext cx="269930" cy="554857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3320" y="840882"/>
            <a:ext cx="404896" cy="209946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0">
                <a:solidFill>
                  <a:srgbClr val="7D7D7D"/>
                </a:solidFill>
                <a:latin typeface="Arial"/>
              </a:rPr>
              <a:t>IEGP | Control | [Product / indication]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5486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80" b="0">
                <a:solidFill>
                  <a:srgbClr val="7D7D7D"/>
                </a:solidFill>
                <a:latin typeface="Arial"/>
              </a:rPr>
              <a:t>20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1847088"/>
          <a:ext cx="57607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240280"/>
                <a:gridCol w="1005840"/>
                <a:gridCol w="1188720"/>
              </a:tblGrid>
              <a:tr h="594360">
                <a:tc>
                  <a:txBody>
                    <a:bodyPr anchor="ctr"/>
                    <a:lstStyle/>
                    <a:p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Forum</a:t>
                      </a:r>
                    </a:p>
                  </a:txBody>
                  <a:tcPr marL="32004" marR="32004" marT="18288" marB="18288">
                    <a:solidFill>
                      <a:srgbClr val="60222B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 marL="32004" marR="32004" marT="18288" marB="18288">
                    <a:solidFill>
                      <a:srgbClr val="60222B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Cadence</a:t>
                      </a:r>
                    </a:p>
                  </a:txBody>
                  <a:tcPr marL="32004" marR="32004" marT="18288" marB="18288">
                    <a:solidFill>
                      <a:srgbClr val="60222B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80" b="1">
                          <a:solidFill>
                            <a:srgbClr val="FFFFFF"/>
                          </a:solidFill>
                          <a:latin typeface="Arial"/>
                        </a:rPr>
                        <a:t>Rights</a:t>
                      </a:r>
                    </a:p>
                  </a:txBody>
                  <a:tcPr marL="32004" marR="32004" marT="18288" marB="18288">
                    <a:solidFill>
                      <a:srgbClr val="60222B"/>
                    </a:solidFill>
                  </a:tcPr>
                </a:tc>
              </a:tr>
              <a:tr h="594360">
                <a:tc>
                  <a:txBody>
                    <a:bodyPr anchor="ctr"/>
                    <a:lstStyle/>
                    <a:p>
                      <a:r>
                        <a:t>Core team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[maintain plan]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[monthly]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[recommend]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anchor="ctr"/>
                    <a:lstStyle/>
                    <a:p>
                      <a:r>
                        <a:t>Evidence council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[prioritize/fund]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[quarterly]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[approve]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anchor="ctr"/>
                    <a:lstStyle/>
                    <a:p>
                      <a:r>
                        <a:t>Global-local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[adapt needs]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[quarterly]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[recommend]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anchor="ctr"/>
                    <a:lstStyle/>
                    <a:p>
                      <a:r>
                        <a:t>Leadership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[trade-offs]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[semiannual]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[approve]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anchor="ctr"/>
                    <a:lstStyle/>
                    <a:p>
                      <a:r>
                        <a:t>Publications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[pull-through]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[monthly]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[recommend]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anchor="ctr"/>
                    <a:lstStyle/>
                    <a:p>
                      <a:r>
                        <a:t>Other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[purpose]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[cadence]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[rights]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784848" y="1847088"/>
            <a:ext cx="4434840" cy="4160520"/>
          </a:xfrm>
          <a:prstGeom prst="rect">
            <a:avLst/>
          </a:prstGeom>
          <a:solidFill>
            <a:srgbClr val="F5F5F3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84848" y="1847088"/>
            <a:ext cx="73152" cy="4160520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67728" y="1975104"/>
            <a:ext cx="411480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19" b="1">
                <a:solidFill>
                  <a:srgbClr val="000000"/>
                </a:solidFill>
                <a:latin typeface="Arial"/>
              </a:rPr>
              <a:t>Update triggers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2377440"/>
            <a:ext cx="3657600" cy="2560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400"/>
              </a:spcAft>
            </a:pPr>
            <a:r>
              <a:rPr sz="1019">
                <a:solidFill>
                  <a:srgbClr val="2D2D2D"/>
                </a:solidFill>
                <a:latin typeface="Arial"/>
              </a:rPr>
              <a:t>Clinical readout</a:t>
            </a:r>
          </a:p>
          <a:p>
            <a:pPr>
              <a:spcAft>
                <a:spcPts val="400"/>
              </a:spcAft>
            </a:pPr>
            <a:r>
              <a:rPr sz="1019">
                <a:solidFill>
                  <a:srgbClr val="2D2D2D"/>
                </a:solidFill>
                <a:latin typeface="Arial"/>
              </a:rPr>
              <a:t>Regulatory feedback</a:t>
            </a:r>
          </a:p>
          <a:p>
            <a:pPr>
              <a:spcAft>
                <a:spcPts val="400"/>
              </a:spcAft>
            </a:pPr>
            <a:r>
              <a:rPr sz="1019">
                <a:solidFill>
                  <a:srgbClr val="2D2D2D"/>
                </a:solidFill>
                <a:latin typeface="Arial"/>
              </a:rPr>
              <a:t>HTA / payer change</a:t>
            </a:r>
          </a:p>
          <a:p>
            <a:pPr>
              <a:spcAft>
                <a:spcPts val="400"/>
              </a:spcAft>
            </a:pPr>
            <a:r>
              <a:rPr sz="1019">
                <a:solidFill>
                  <a:srgbClr val="2D2D2D"/>
                </a:solidFill>
                <a:latin typeface="Arial"/>
              </a:rPr>
              <a:t>Competitor approval or data</a:t>
            </a:r>
          </a:p>
          <a:p>
            <a:pPr>
              <a:spcAft>
                <a:spcPts val="400"/>
              </a:spcAft>
            </a:pPr>
            <a:r>
              <a:rPr sz="1019">
                <a:solidFill>
                  <a:srgbClr val="2D2D2D"/>
                </a:solidFill>
                <a:latin typeface="Arial"/>
              </a:rPr>
              <a:t>Guideline update</a:t>
            </a:r>
          </a:p>
          <a:p>
            <a:pPr>
              <a:spcAft>
                <a:spcPts val="400"/>
              </a:spcAft>
            </a:pPr>
            <a:r>
              <a:rPr sz="1019">
                <a:solidFill>
                  <a:srgbClr val="2D2D2D"/>
                </a:solidFill>
                <a:latin typeface="Arial"/>
              </a:rPr>
              <a:t>Budget or feasibility change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43891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1">
                <a:solidFill>
                  <a:srgbClr val="D04A02"/>
                </a:solidFill>
                <a:latin typeface="Arial"/>
              </a:rPr>
              <a:t>IEGP |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877824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600" b="0">
                <a:solidFill>
                  <a:srgbClr val="000000"/>
                </a:solidFill>
                <a:latin typeface="Georgia"/>
              </a:rPr>
              <a:t>Evidence impact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33856"/>
            <a:ext cx="877824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50" b="0">
                <a:solidFill>
                  <a:srgbClr val="2D2D2D"/>
                </a:solidFill>
                <a:latin typeface="Arial"/>
              </a:rPr>
              <a:t>Track plan execution and evidence impact with concise business-readable measures.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10835640" cy="10972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78440" y="256032"/>
            <a:ext cx="329915" cy="329915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48370" y="405993"/>
            <a:ext cx="374904" cy="374904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38424" y="668426"/>
            <a:ext cx="464880" cy="284927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48294" y="286024"/>
            <a:ext cx="269930" cy="554857"/>
          </a:xfrm>
          <a:prstGeom prst="rect">
            <a:avLst/>
          </a:prstGeom>
          <a:solidFill>
            <a:srgbClr val="60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3320" y="840882"/>
            <a:ext cx="404896" cy="209946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0">
                <a:solidFill>
                  <a:srgbClr val="7D7D7D"/>
                </a:solidFill>
                <a:latin typeface="Arial"/>
              </a:rPr>
              <a:t>IEGP | Control | [Product / indication]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5486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80" b="0">
                <a:solidFill>
                  <a:srgbClr val="7D7D7D"/>
                </a:solidFill>
                <a:latin typeface="Arial"/>
              </a:rPr>
              <a:t>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828800"/>
            <a:ext cx="141732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800" b="0">
                <a:solidFill>
                  <a:srgbClr val="D04A02"/>
                </a:solidFill>
                <a:latin typeface="Georgia"/>
              </a:rPr>
              <a:t>72%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395728"/>
            <a:ext cx="114300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542032"/>
            <a:ext cx="201168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80" b="0">
                <a:solidFill>
                  <a:srgbClr val="2D2D2D"/>
                </a:solidFill>
                <a:latin typeface="Arial"/>
              </a:rPr>
              <a:t>Gap closure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39" y="1828800"/>
            <a:ext cx="141732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800" b="0">
                <a:solidFill>
                  <a:srgbClr val="EB8C00"/>
                </a:solidFill>
                <a:latin typeface="Georgia"/>
              </a:rPr>
              <a:t>18/24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39" y="2395728"/>
            <a:ext cx="1143000" cy="41148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39" y="2542032"/>
            <a:ext cx="201168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80" b="0">
                <a:solidFill>
                  <a:srgbClr val="2D2D2D"/>
                </a:solidFill>
                <a:latin typeface="Arial"/>
              </a:rPr>
              <a:t>On 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59" y="1828800"/>
            <a:ext cx="141732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800" b="0">
                <a:solidFill>
                  <a:srgbClr val="FFB600"/>
                </a:solidFill>
                <a:latin typeface="Georgia"/>
              </a:rPr>
              <a:t>6 mkts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59" y="2395728"/>
            <a:ext cx="1143000" cy="41148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59" y="2542032"/>
            <a:ext cx="201168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80" b="0">
                <a:solidFill>
                  <a:srgbClr val="2D2D2D"/>
                </a:solidFill>
                <a:latin typeface="Arial"/>
              </a:rPr>
              <a:t>Evidence reuse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828800"/>
            <a:ext cx="1417320" cy="411480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800" b="0">
                <a:solidFill>
                  <a:srgbClr val="E0301E"/>
                </a:solidFill>
                <a:latin typeface="Georgia"/>
              </a:rPr>
              <a:t>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2395728"/>
            <a:ext cx="1143000" cy="41148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542032"/>
            <a:ext cx="201168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780" b="0">
                <a:solidFill>
                  <a:srgbClr val="2D2D2D"/>
                </a:solidFill>
                <a:latin typeface="Arial"/>
              </a:rPr>
              <a:t>Pull-through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58368" y="3657600"/>
          <a:ext cx="105156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931920"/>
                <a:gridCol w="1371600"/>
                <a:gridCol w="1371600"/>
                <a:gridCol w="2011680"/>
              </a:tblGrid>
              <a:tr h="448056">
                <a:tc>
                  <a:txBody>
                    <a:bodyPr anchor="ctr"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KPI</a:t>
                      </a:r>
                    </a:p>
                  </a:txBody>
                  <a:tcPr marL="32004" marR="32004" marT="18288" marB="18288">
                    <a:solidFill>
                      <a:srgbClr val="D04A0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Definition</a:t>
                      </a:r>
                    </a:p>
                  </a:txBody>
                  <a:tcPr marL="32004" marR="32004" marT="18288" marB="18288">
                    <a:solidFill>
                      <a:srgbClr val="D04A0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32004" marR="32004" marT="18288" marB="18288">
                    <a:solidFill>
                      <a:srgbClr val="D04A0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32004" marR="32004" marT="18288" marB="18288">
                    <a:solidFill>
                      <a:srgbClr val="D04A02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720" b="1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32004" marR="32004" marT="18288" marB="18288">
                    <a:solidFill>
                      <a:srgbClr val="D04A02"/>
                    </a:solidFill>
                  </a:tcPr>
                </a:tc>
              </a:tr>
              <a:tr h="448056">
                <a:tc>
                  <a:txBody>
                    <a:bodyPr anchor="ctr"/>
                    <a:lstStyle/>
                    <a:p>
                      <a:r>
                        <a:t>[KPI]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[definition]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[baseline]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[target]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anchor="ctr"/>
                    <a:lstStyle/>
                    <a:p>
                      <a:r>
                        <a:t>[KPI]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[definition]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[baseline]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[target]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anchor="ctr"/>
                    <a:lstStyle/>
                    <a:p>
                      <a:r>
                        <a:t>[KPI]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[definition]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[baseline]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[target]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anchor="ctr"/>
                    <a:lstStyle/>
                    <a:p>
                      <a:r>
                        <a:t>[KPI]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[definition]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[baseline]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[target]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43891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1">
                <a:solidFill>
                  <a:srgbClr val="D04A02"/>
                </a:solidFill>
                <a:latin typeface="Arial"/>
              </a:rPr>
              <a:t>IEGP |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877824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600" b="0">
                <a:solidFill>
                  <a:srgbClr val="000000"/>
                </a:solidFill>
                <a:latin typeface="Georgia"/>
              </a:rPr>
              <a:t>Risk and dependency register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33856"/>
            <a:ext cx="877824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50" b="0">
                <a:solidFill>
                  <a:srgbClr val="2D2D2D"/>
                </a:solidFill>
                <a:latin typeface="Arial"/>
              </a:rPr>
              <a:t>Document constraints that could reduce evidence usefulness or delay decisions.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10835640" cy="10972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78440" y="256032"/>
            <a:ext cx="329915" cy="329915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48370" y="405993"/>
            <a:ext cx="374904" cy="374904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38424" y="668426"/>
            <a:ext cx="464880" cy="284927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48294" y="286024"/>
            <a:ext cx="269930" cy="554857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3320" y="840882"/>
            <a:ext cx="404896" cy="209946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0">
                <a:solidFill>
                  <a:srgbClr val="7D7D7D"/>
                </a:solidFill>
                <a:latin typeface="Arial"/>
              </a:rPr>
              <a:t>IEGP | Control | [Product / indication]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5486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80" b="0">
                <a:solidFill>
                  <a:srgbClr val="7D7D7D"/>
                </a:solidFill>
                <a:latin typeface="Arial"/>
              </a:rPr>
              <a:t>22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6928" y="1847088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1691640"/>
                <a:gridCol w="1143000"/>
                <a:gridCol w="3291840"/>
                <a:gridCol w="2331720"/>
              </a:tblGrid>
              <a:tr h="548640">
                <a:tc>
                  <a:txBody>
                    <a:bodyPr anchor="ctr"/>
                    <a:lstStyle/>
                    <a:p>
                      <a:r>
                        <a:rPr sz="690" b="1">
                          <a:solidFill>
                            <a:srgbClr val="FFFFFF"/>
                          </a:solidFill>
                          <a:latin typeface="Arial"/>
                        </a:rPr>
                        <a:t>Risk / dependency</a:t>
                      </a:r>
                    </a:p>
                  </a:txBody>
                  <a:tcPr marL="32004" marR="32004" marT="18288" marB="18288">
                    <a:solidFill>
                      <a:srgbClr val="E0301E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90" b="1">
                          <a:solidFill>
                            <a:srgbClr val="FFFFFF"/>
                          </a:solidFill>
                          <a:latin typeface="Arial"/>
                        </a:rPr>
                        <a:t>Activity</a:t>
                      </a:r>
                    </a:p>
                  </a:txBody>
                  <a:tcPr marL="32004" marR="32004" marT="18288" marB="18288">
                    <a:solidFill>
                      <a:srgbClr val="E0301E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90" b="1">
                          <a:solidFill>
                            <a:srgbClr val="FFFFFF"/>
                          </a:solidFill>
                          <a:latin typeface="Arial"/>
                        </a:rPr>
                        <a:t>Impact</a:t>
                      </a:r>
                    </a:p>
                  </a:txBody>
                  <a:tcPr marL="32004" marR="32004" marT="18288" marB="18288">
                    <a:solidFill>
                      <a:srgbClr val="E0301E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90" b="1">
                          <a:solidFill>
                            <a:srgbClr val="FFFFFF"/>
                          </a:solidFill>
                          <a:latin typeface="Arial"/>
                        </a:rPr>
                        <a:t>Mitigation</a:t>
                      </a:r>
                    </a:p>
                  </a:txBody>
                  <a:tcPr marL="32004" marR="32004" marT="18288" marB="18288">
                    <a:solidFill>
                      <a:srgbClr val="E0301E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rPr sz="690" b="1">
                          <a:solidFill>
                            <a:srgbClr val="FFFFFF"/>
                          </a:solidFill>
                          <a:latin typeface="Arial"/>
                        </a:rPr>
                        <a:t>Decision needed</a:t>
                      </a:r>
                    </a:p>
                  </a:txBody>
                  <a:tcPr marL="32004" marR="32004" marT="18288" marB="18288">
                    <a:solidFill>
                      <a:srgbClr val="E0301E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[risk]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evidence path]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[risk]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evidence path]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[risk]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evidence path]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[risk]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evidence path]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[risk]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evidence path]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[risk]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evidence path]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r>
                        <a:t>[risk]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[activity]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[H/M/L]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[mitigation or alternate evidence path]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r>
                        <a:t>[decision / owner]</a:t>
                      </a:r>
                    </a:p>
                  </a:txBody>
                  <a:tcPr marL="32004" marR="3200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4389120" cy="15544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1">
                <a:solidFill>
                  <a:srgbClr val="D04A02"/>
                </a:solidFill>
                <a:latin typeface="Arial"/>
              </a:rPr>
              <a:t>IEGP | 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594360"/>
            <a:ext cx="8778240" cy="56692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2600" b="0">
                <a:solidFill>
                  <a:srgbClr val="000000"/>
                </a:solidFill>
                <a:latin typeface="Georgia"/>
              </a:rPr>
              <a:t>Appendix worksheets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33856"/>
            <a:ext cx="8778240" cy="292608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1050" b="0">
                <a:solidFill>
                  <a:srgbClr val="2D2D2D"/>
                </a:solidFill>
                <a:latin typeface="Arial"/>
              </a:rPr>
              <a:t>Keep source provenance, regional adaptation, methodology, and final review audit-ready.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10835640" cy="10972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78440" y="256032"/>
            <a:ext cx="329915" cy="329915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48370" y="405993"/>
            <a:ext cx="374904" cy="374904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438424" y="668426"/>
            <a:ext cx="464880" cy="284927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48294" y="286024"/>
            <a:ext cx="269930" cy="554857"/>
          </a:xfrm>
          <a:prstGeom prst="rect">
            <a:avLst/>
          </a:prstGeom>
          <a:solidFill>
            <a:srgbClr val="DB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43320" y="840882"/>
            <a:ext cx="404896" cy="209946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42062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680" b="0">
                <a:solidFill>
                  <a:srgbClr val="7D7D7D"/>
                </a:solidFill>
                <a:latin typeface="Arial"/>
              </a:rPr>
              <a:t>IEGP | Appendix | [Product / indication]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54864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pPr algn="r"/>
            <a:r>
              <a:rPr sz="680" b="0">
                <a:solidFill>
                  <a:srgbClr val="7D7D7D"/>
                </a:solidFill>
                <a:latin typeface="Arial"/>
              </a:rPr>
              <a:t>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1874519"/>
            <a:ext cx="4617720" cy="1097280"/>
          </a:xfrm>
          <a:prstGeom prst="rect">
            <a:avLst/>
          </a:prstGeom>
          <a:solidFill>
            <a:srgbClr val="FFFFFF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1874519"/>
            <a:ext cx="73152" cy="109728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002536"/>
            <a:ext cx="429768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19" b="1">
                <a:solidFill>
                  <a:srgbClr val="000000"/>
                </a:solidFill>
                <a:latin typeface="Arial"/>
              </a:rPr>
              <a:t>Regional adaptation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404872"/>
            <a:ext cx="3977639" cy="21945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19" b="0">
                <a:solidFill>
                  <a:srgbClr val="2D2D2D"/>
                </a:solidFill>
                <a:latin typeface="Arial"/>
              </a:rPr>
              <a:t>local needs, reusable global evidence, local gaps, owner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25312" y="1874519"/>
            <a:ext cx="4617720" cy="1097280"/>
          </a:xfrm>
          <a:prstGeom prst="rect">
            <a:avLst/>
          </a:prstGeom>
          <a:solidFill>
            <a:srgbClr val="FFFFFF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25312" y="1874519"/>
            <a:ext cx="73152" cy="1097280"/>
          </a:xfrm>
          <a:prstGeom prst="rect">
            <a:avLst/>
          </a:prstGeom>
          <a:solidFill>
            <a:srgbClr val="E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08192" y="2002536"/>
            <a:ext cx="429768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19" b="1">
                <a:solidFill>
                  <a:srgbClr val="000000"/>
                </a:solidFill>
                <a:latin typeface="Arial"/>
              </a:rPr>
              <a:t>Evidence source 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2404872"/>
            <a:ext cx="3977639" cy="21945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19" b="0">
                <a:solidFill>
                  <a:srgbClr val="2D2D2D"/>
                </a:solidFill>
                <a:latin typeface="Arial"/>
              </a:rPr>
              <a:t>source, date, owner, confidence, limitation, claim link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566160"/>
            <a:ext cx="4617720" cy="1097280"/>
          </a:xfrm>
          <a:prstGeom prst="rect">
            <a:avLst/>
          </a:prstGeom>
          <a:solidFill>
            <a:srgbClr val="FFFFFF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3566160"/>
            <a:ext cx="73152" cy="1097280"/>
          </a:xfrm>
          <a:prstGeom prst="rect">
            <a:avLst/>
          </a:prstGeom>
          <a:solidFill>
            <a:srgbClr val="E03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694176"/>
            <a:ext cx="429768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19" b="1">
                <a:solidFill>
                  <a:srgbClr val="000000"/>
                </a:solidFill>
                <a:latin typeface="Arial"/>
              </a:rPr>
              <a:t>Methodology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096511"/>
            <a:ext cx="3977639" cy="21945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19" b="0">
                <a:solidFill>
                  <a:srgbClr val="2D2D2D"/>
                </a:solidFill>
                <a:latin typeface="Arial"/>
              </a:rPr>
              <a:t>inputs, workshops, scoring rubric, assumptions, exclusions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25312" y="3566160"/>
            <a:ext cx="4617720" cy="1097280"/>
          </a:xfrm>
          <a:prstGeom prst="rect">
            <a:avLst/>
          </a:prstGeom>
          <a:solidFill>
            <a:srgbClr val="FFFFFF"/>
          </a:solidFill>
          <a:ln w="7620"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25312" y="3566160"/>
            <a:ext cx="73152" cy="1097280"/>
          </a:xfrm>
          <a:prstGeom prst="rect">
            <a:avLst/>
          </a:prstGeom>
          <a:solidFill>
            <a:srgbClr val="602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08192" y="3694176"/>
            <a:ext cx="4297680" cy="164592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819" b="1">
                <a:solidFill>
                  <a:srgbClr val="000000"/>
                </a:solidFill>
                <a:latin typeface="Arial"/>
              </a:rPr>
              <a:t>Glossary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4096511"/>
            <a:ext cx="3977639" cy="219456"/>
          </a:xfrm>
          <a:prstGeom prst="rect">
            <a:avLst/>
          </a:prstGeom>
          <a:noFill/>
        </p:spPr>
        <p:txBody>
          <a:bodyPr wrap="square" lIns="9144" rIns="9144" tIns="0" bIns="0">
            <a:spAutoFit/>
          </a:bodyPr>
          <a:lstStyle/>
          <a:p>
            <a:r>
              <a:rPr sz="919" b="0">
                <a:solidFill>
                  <a:srgbClr val="2D2D2D"/>
                </a:solidFill>
                <a:latin typeface="Arial"/>
              </a:rPr>
              <a:t>IEGP/IEP, ORQ, PICOT, RWE, HEOR, HTA, COA/PRO, IIR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