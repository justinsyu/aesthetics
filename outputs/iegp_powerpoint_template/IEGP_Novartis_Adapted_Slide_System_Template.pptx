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148132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920" y="148132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112" y="148132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" y="148132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496" y="148132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687" y="148132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48132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5072" y="148132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264" y="148132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148132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47" y="148132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839" y="148132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48132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224" y="148132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416" y="148132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" y="148132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48132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992" y="148132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148132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713232"/>
            <a:ext cx="292608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00" b="1">
                <a:solidFill>
                  <a:srgbClr val="181818"/>
                </a:solidFill>
                <a:latin typeface="Arial"/>
              </a:rPr>
              <a:t>Investor-style evidence planning template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2240280"/>
            <a:ext cx="111905" cy="3520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14441" y="2240280"/>
            <a:ext cx="111905" cy="3520440"/>
          </a:xfrm>
          <a:prstGeom prst="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17202" y="2240280"/>
            <a:ext cx="111905" cy="3520440"/>
          </a:xfrm>
          <a:prstGeom prst="rect">
            <a:avLst/>
          </a:prstGeom>
          <a:solidFill>
            <a:srgbClr val="E9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19963" y="2240280"/>
            <a:ext cx="111905" cy="352044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2724" y="2240280"/>
            <a:ext cx="111905" cy="352044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25485" y="2240280"/>
            <a:ext cx="111905" cy="3520440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28246" y="2240280"/>
            <a:ext cx="111905" cy="352044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31008" y="2240280"/>
            <a:ext cx="111905" cy="3520440"/>
          </a:xfrm>
          <a:prstGeom prst="rect">
            <a:avLst/>
          </a:prstGeom>
          <a:solidFill>
            <a:srgbClr val="EB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33769" y="2240280"/>
            <a:ext cx="111905" cy="3520440"/>
          </a:xfrm>
          <a:prstGeom prst="rect">
            <a:avLst/>
          </a:prstGeom>
          <a:solidFill>
            <a:srgbClr val="EC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36530" y="2240280"/>
            <a:ext cx="111905" cy="352044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39291" y="2240280"/>
            <a:ext cx="111905" cy="3520440"/>
          </a:xfrm>
          <a:prstGeom prst="rect">
            <a:avLst/>
          </a:prstGeom>
          <a:solidFill>
            <a:srgbClr val="ED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42052" y="2240280"/>
            <a:ext cx="111905" cy="3520440"/>
          </a:xfrm>
          <a:prstGeom prst="rect">
            <a:avLst/>
          </a:prstGeom>
          <a:solidFill>
            <a:srgbClr val="EEE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44813" y="2240280"/>
            <a:ext cx="111905" cy="352044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47574" y="2240280"/>
            <a:ext cx="111905" cy="3520440"/>
          </a:xfrm>
          <a:prstGeom prst="rect">
            <a:avLst/>
          </a:prstGeom>
          <a:solidFill>
            <a:srgbClr val="EF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50336" y="2240280"/>
            <a:ext cx="111905" cy="3520440"/>
          </a:xfrm>
          <a:prstGeom prst="rect">
            <a:avLst/>
          </a:prstGeom>
          <a:solidFill>
            <a:srgbClr val="EF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53097" y="2240280"/>
            <a:ext cx="111905" cy="352044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5858" y="2240280"/>
            <a:ext cx="111905" cy="3520440"/>
          </a:xfrm>
          <a:prstGeom prst="rect">
            <a:avLst/>
          </a:prstGeom>
          <a:solidFill>
            <a:srgbClr val="F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758619" y="2240280"/>
            <a:ext cx="111905" cy="352044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61380" y="2240280"/>
            <a:ext cx="111905" cy="3520440"/>
          </a:xfrm>
          <a:prstGeom prst="rect">
            <a:avLst/>
          </a:prstGeom>
          <a:solidFill>
            <a:srgbClr val="F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64141" y="2240280"/>
            <a:ext cx="111905" cy="3520440"/>
          </a:xfrm>
          <a:prstGeom prst="rect">
            <a:avLst/>
          </a:prstGeom>
          <a:solidFill>
            <a:srgbClr val="F2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66902" y="2240280"/>
            <a:ext cx="111905" cy="3520440"/>
          </a:xfrm>
          <a:prstGeom prst="rect">
            <a:avLst/>
          </a:prstGeom>
          <a:solidFill>
            <a:srgbClr val="F3D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69664" y="2240280"/>
            <a:ext cx="111905" cy="3520440"/>
          </a:xfrm>
          <a:prstGeom prst="rect">
            <a:avLst/>
          </a:prstGeom>
          <a:solidFill>
            <a:srgbClr val="F3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72425" y="2240280"/>
            <a:ext cx="111905" cy="3520440"/>
          </a:xfrm>
          <a:prstGeom prst="rect">
            <a:avLst/>
          </a:prstGeom>
          <a:solidFill>
            <a:srgbClr val="F4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75186" y="2240280"/>
            <a:ext cx="111905" cy="3520440"/>
          </a:xfrm>
          <a:prstGeom prst="rect">
            <a:avLst/>
          </a:prstGeom>
          <a:solidFill>
            <a:srgbClr val="F4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77947" y="2240280"/>
            <a:ext cx="111905" cy="352044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80708" y="2240280"/>
            <a:ext cx="111905" cy="3520440"/>
          </a:xfrm>
          <a:prstGeom prst="rect">
            <a:avLst/>
          </a:prstGeom>
          <a:solidFill>
            <a:srgbClr val="F6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83469" y="2240280"/>
            <a:ext cx="111905" cy="352044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86230" y="2240280"/>
            <a:ext cx="111905" cy="352044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88992" y="2240280"/>
            <a:ext cx="111905" cy="3520440"/>
          </a:xfrm>
          <a:prstGeom prst="rect">
            <a:avLst/>
          </a:prstGeom>
          <a:solidFill>
            <a:srgbClr val="F7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91753" y="2240280"/>
            <a:ext cx="111905" cy="352044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94514" y="2240280"/>
            <a:ext cx="111905" cy="3520440"/>
          </a:xfrm>
          <a:prstGeom prst="rect">
            <a:avLst/>
          </a:prstGeom>
          <a:solidFill>
            <a:srgbClr val="F8C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97275" y="2240280"/>
            <a:ext cx="111905" cy="3520440"/>
          </a:xfrm>
          <a:prstGeom prst="rect">
            <a:avLst/>
          </a:prstGeom>
          <a:solidFill>
            <a:srgbClr val="F9C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300036" y="2240280"/>
            <a:ext cx="111905" cy="3520440"/>
          </a:xfrm>
          <a:prstGeom prst="rect">
            <a:avLst/>
          </a:prstGeom>
          <a:solidFill>
            <a:srgbClr val="F9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02797" y="2240280"/>
            <a:ext cx="111905" cy="3520440"/>
          </a:xfrm>
          <a:prstGeom prst="rect">
            <a:avLst/>
          </a:prstGeom>
          <a:solidFill>
            <a:srgbClr val="FA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505558" y="2240280"/>
            <a:ext cx="111905" cy="3520440"/>
          </a:xfrm>
          <a:prstGeom prst="rect">
            <a:avLst/>
          </a:prstGeom>
          <a:solidFill>
            <a:srgbClr val="FB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08320" y="2240280"/>
            <a:ext cx="111905" cy="352044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711081" y="2240280"/>
            <a:ext cx="111905" cy="3520440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813842" y="2240280"/>
            <a:ext cx="111905" cy="3520440"/>
          </a:xfrm>
          <a:prstGeom prst="rect">
            <a:avLst/>
          </a:prstGeom>
          <a:solidFill>
            <a:srgbClr val="FC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916603" y="2240280"/>
            <a:ext cx="111905" cy="352044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19364" y="2240280"/>
            <a:ext cx="111905" cy="3520440"/>
          </a:xfrm>
          <a:prstGeom prst="rect">
            <a:avLst/>
          </a:prstGeom>
          <a:solidFill>
            <a:srgbClr val="FD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22125" y="2240280"/>
            <a:ext cx="111905" cy="3520440"/>
          </a:xfrm>
          <a:prstGeom prst="rect">
            <a:avLst/>
          </a:prstGeom>
          <a:solidFill>
            <a:srgbClr val="FEC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24886" y="2240280"/>
            <a:ext cx="111905" cy="352044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27648" y="2240280"/>
            <a:ext cx="196922" cy="3520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515426" y="2240280"/>
            <a:ext cx="196922" cy="3520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03205" y="2240280"/>
            <a:ext cx="196922" cy="352044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90983" y="2240280"/>
            <a:ext cx="196922" cy="352044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78762" y="2240280"/>
            <a:ext cx="196922" cy="352044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66540" y="2240280"/>
            <a:ext cx="196922" cy="352044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54319" y="2240280"/>
            <a:ext cx="196922" cy="352044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2098" y="2240280"/>
            <a:ext cx="196922" cy="352044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829876" y="2240280"/>
            <a:ext cx="196922" cy="352044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17655" y="2240280"/>
            <a:ext cx="196922" cy="352044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5433" y="2240280"/>
            <a:ext cx="196922" cy="352044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93212" y="2240280"/>
            <a:ext cx="196922" cy="352044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80990" y="2240280"/>
            <a:ext cx="196922" cy="352044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8769" y="2240280"/>
            <a:ext cx="196922" cy="352044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56548" y="2240280"/>
            <a:ext cx="196922" cy="352044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144326" y="2240280"/>
            <a:ext cx="196922" cy="352044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332105" y="2240280"/>
            <a:ext cx="196922" cy="352044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19883" y="2240280"/>
            <a:ext cx="196922" cy="352044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07662" y="2240280"/>
            <a:ext cx="196922" cy="352044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895440" y="2240280"/>
            <a:ext cx="196922" cy="352044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083219" y="2240280"/>
            <a:ext cx="196922" cy="352044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270998" y="2240280"/>
            <a:ext cx="196922" cy="352044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458776" y="2240280"/>
            <a:ext cx="196922" cy="352044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646555" y="2240280"/>
            <a:ext cx="196922" cy="352044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34333" y="2240280"/>
            <a:ext cx="196922" cy="352044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22112" y="2240280"/>
            <a:ext cx="196922" cy="352044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9890" y="2240280"/>
            <a:ext cx="196922" cy="352044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97669" y="2240280"/>
            <a:ext cx="196922" cy="352044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327648" y="2240280"/>
            <a:ext cx="5257800" cy="352044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448288" y="53218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28816" y="5376672"/>
            <a:ext cx="475488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[Insert brand-neutral hero image]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99632" y="1627632"/>
            <a:ext cx="146304" cy="10515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011680" y="3127248"/>
            <a:ext cx="4160520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600" b="1">
                <a:solidFill>
                  <a:srgbClr val="181818"/>
                </a:solidFill>
                <a:latin typeface="Arial"/>
              </a:rPr>
              <a:t>Integrated Evidence Generation Plan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48256" y="5074920"/>
            <a:ext cx="33832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1">
                <a:solidFill>
                  <a:srgbClr val="181818"/>
                </a:solidFill>
                <a:latin typeface="Arial"/>
              </a:rPr>
              <a:t>[Product] | [Indication] | [Region]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48256" y="5413248"/>
            <a:ext cx="338328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40" b="0">
                <a:solidFill>
                  <a:srgbClr val="707070"/>
                </a:solidFill>
                <a:latin typeface="Arial"/>
              </a:rPr>
              <a:t>Owner: [team]  |  Version: [v0.1]  |  Date: [date]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029968" y="6428232"/>
            <a:ext cx="18288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600" b="1">
                <a:solidFill>
                  <a:srgbClr val="181818"/>
                </a:solidFill>
                <a:latin typeface="Arial"/>
              </a:rPr>
              <a:t>[Company wordmark]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148132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920" y="148132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112" y="148132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" y="148132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496" y="148132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687" y="148132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48132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5072" y="148132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264" y="148132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148132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47" y="148132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839" y="148132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48132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224" y="148132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416" y="148132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" y="148132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48132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992" y="148132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148132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Brand adaptation controls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Swap these tokens before building a company-specific deck.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2011680"/>
            <a:ext cx="658368" cy="658368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360" y="2148840"/>
            <a:ext cx="1463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181818"/>
                </a:solidFill>
                <a:latin typeface="Arial"/>
              </a:rPr>
              <a:t>Primary blue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2404872"/>
            <a:ext cx="15544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20" b="0">
                <a:solidFill>
                  <a:srgbClr val="707070"/>
                </a:solidFill>
                <a:latin typeface="Arial"/>
              </a:rPr>
              <a:t>RGB 0, 101, 164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011680"/>
            <a:ext cx="658368" cy="658368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2148840"/>
            <a:ext cx="1463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181818"/>
                </a:solidFill>
                <a:latin typeface="Arial"/>
              </a:rPr>
              <a:t>Deep evidence blue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2404872"/>
            <a:ext cx="15544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20" b="0">
                <a:solidFill>
                  <a:srgbClr val="707070"/>
                </a:solidFill>
                <a:latin typeface="Arial"/>
              </a:rPr>
              <a:t>RGB 0, 64, 103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79" y="2011680"/>
            <a:ext cx="658368" cy="65836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2148840"/>
            <a:ext cx="1463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181818"/>
                </a:solidFill>
                <a:latin typeface="Arial"/>
              </a:rPr>
              <a:t>Signal orange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2404872"/>
            <a:ext cx="15544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20" b="0">
                <a:solidFill>
                  <a:srgbClr val="707070"/>
                </a:solidFill>
                <a:latin typeface="Arial"/>
              </a:rPr>
              <a:t>RGB 255, 82, 18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291840"/>
            <a:ext cx="658368" cy="658368"/>
          </a:xfrm>
          <a:prstGeom prst="rect">
            <a:avLst/>
          </a:prstGeom>
          <a:solidFill>
            <a:srgbClr val="529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360" y="3429000"/>
            <a:ext cx="1463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181818"/>
                </a:solidFill>
                <a:latin typeface="Arial"/>
              </a:rPr>
              <a:t>Support sky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3685032"/>
            <a:ext cx="15544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20" b="0">
                <a:solidFill>
                  <a:srgbClr val="707070"/>
                </a:solidFill>
                <a:latin typeface="Arial"/>
              </a:rPr>
              <a:t>RGB 82, 146, 223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3291840"/>
            <a:ext cx="658368" cy="65836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0" y="3429000"/>
            <a:ext cx="1463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181818"/>
                </a:solidFill>
                <a:latin typeface="Arial"/>
              </a:rPr>
              <a:t>Soft panel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685032"/>
            <a:ext cx="15544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20" b="0">
                <a:solidFill>
                  <a:srgbClr val="707070"/>
                </a:solidFill>
                <a:latin typeface="Arial"/>
              </a:rPr>
              <a:t>RGB 244, 244, 244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3291840"/>
            <a:ext cx="658368" cy="65836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06840" y="3429000"/>
            <a:ext cx="1463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181818"/>
                </a:solidFill>
                <a:latin typeface="Arial"/>
              </a:rPr>
              <a:t>Neutral ink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3685032"/>
            <a:ext cx="15544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20" b="0">
                <a:solidFill>
                  <a:srgbClr val="707070"/>
                </a:solidFill>
                <a:latin typeface="Arial"/>
              </a:rPr>
              <a:t>RGB 24, 24, 24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800600"/>
            <a:ext cx="89611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57400" y="4800600"/>
            <a:ext cx="82296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0" y="4946904"/>
            <a:ext cx="859536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Adaptation rule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20" y="5102352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19" b="1">
                <a:solidFill>
                  <a:srgbClr val="181818"/>
                </a:solidFill>
                <a:latin typeface="Arial"/>
              </a:rPr>
              <a:t>Keep the left navigation, light evidence panels, direct labels, and gradient edge accents. Replace colors, imagery, and wordmark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148132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920" y="148132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112" y="148132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" y="148132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496" y="148132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687" y="148132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48132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5072" y="148132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264" y="148132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148132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47" y="148132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839" y="148132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48132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224" y="148132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416" y="148132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" y="148132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48132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992" y="148132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148132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Click-style navigation adapted into an editable planning overview.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6543" y="1865376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66543" y="1865376"/>
            <a:ext cx="73152" cy="420624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04288" y="2002536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2002536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66543" y="2377440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66543" y="2377440"/>
            <a:ext cx="73152" cy="42062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04288" y="2514600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2514600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6543" y="2889504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66543" y="2889504"/>
            <a:ext cx="73152" cy="42062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04288" y="3026664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3026664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6543" y="3401568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66543" y="3401568"/>
            <a:ext cx="73152" cy="42062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04288" y="3538728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3538728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66543" y="3913632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066543" y="3913632"/>
            <a:ext cx="73152" cy="420624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04288" y="4050792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4050792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66543" y="4425696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66543" y="4425696"/>
            <a:ext cx="73152" cy="42062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04288" y="4562856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9160" y="4562856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66543" y="4937760"/>
            <a:ext cx="850392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66543" y="4937760"/>
            <a:ext cx="73152" cy="42062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04288" y="5074920"/>
            <a:ext cx="201168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1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9160" y="5074920"/>
            <a:ext cx="53949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707070"/>
                </a:solidFill>
                <a:latin typeface="Arial"/>
              </a:rPr>
              <a:t>[section purpose / key pages]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148132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920" y="148132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112" y="148132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" y="148132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496" y="148132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687" y="148132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48132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5072" y="148132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264" y="148132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148132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47" y="148132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839" y="148132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48132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224" y="148132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416" y="148132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" y="148132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48132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992" y="148132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148132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502920"/>
            <a:ext cx="365106" cy="2743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57914" y="502920"/>
            <a:ext cx="365106" cy="2743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3877" y="502920"/>
            <a:ext cx="365106" cy="274320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9840" y="502920"/>
            <a:ext cx="365106" cy="274320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25803" y="502920"/>
            <a:ext cx="365106" cy="274320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1766" y="502920"/>
            <a:ext cx="365106" cy="274320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7729" y="502920"/>
            <a:ext cx="365106" cy="27432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3692" y="502920"/>
            <a:ext cx="365106" cy="274320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9654" y="502920"/>
            <a:ext cx="365106" cy="274320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617" y="502920"/>
            <a:ext cx="365106" cy="274320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61580" y="502920"/>
            <a:ext cx="365106" cy="274320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7543" y="502920"/>
            <a:ext cx="365106" cy="274320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06" y="502920"/>
            <a:ext cx="365106" cy="274320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29469" y="502920"/>
            <a:ext cx="365106" cy="274320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5432" y="502920"/>
            <a:ext cx="365106" cy="274320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1394" y="502920"/>
            <a:ext cx="365106" cy="274320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97357" y="502920"/>
            <a:ext cx="365106" cy="274320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3320" y="502920"/>
            <a:ext cx="365106" cy="274320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9283" y="502920"/>
            <a:ext cx="365106" cy="274320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5246" y="502920"/>
            <a:ext cx="365106" cy="274320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1209" y="502920"/>
            <a:ext cx="365106" cy="274320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7172" y="502920"/>
            <a:ext cx="365106" cy="274320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33134" y="502920"/>
            <a:ext cx="365106" cy="274320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89097" y="502920"/>
            <a:ext cx="365106" cy="274320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5060" y="502920"/>
            <a:ext cx="365106" cy="274320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01023" y="502920"/>
            <a:ext cx="365106" cy="274320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56986" y="502920"/>
            <a:ext cx="365106" cy="274320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12949" y="502920"/>
            <a:ext cx="365106" cy="274320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901952" y="502920"/>
            <a:ext cx="99669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31752" y="28072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0" y="2862072"/>
            <a:ext cx="9464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[Optional section image]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816352"/>
            <a:ext cx="164592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93392" y="3675887"/>
            <a:ext cx="69494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40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1680" y="4434840"/>
            <a:ext cx="65836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50" b="0">
                <a:solidFill>
                  <a:srgbClr val="181818"/>
                </a:solidFill>
                <a:latin typeface="Arial"/>
              </a:rPr>
              <a:t>Set evidence priorities and decisions needed now.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148132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920" y="148132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112" y="148132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" y="148132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496" y="148132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687" y="148132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48132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5072" y="148132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264" y="148132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148132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47" y="148132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839" y="148132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48132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224" y="148132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416" y="148132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" y="148132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48132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992" y="148132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148132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BRIEFING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Executive evidence priorities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Summarize the evidence decisions leadership needs to make now.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1993392"/>
            <a:ext cx="2487168" cy="260604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57400" y="1993392"/>
            <a:ext cx="82296" cy="260604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0" y="2139696"/>
            <a:ext cx="2121408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Evidence priority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76856" y="2487168"/>
            <a:ext cx="6400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300" b="1">
                <a:solidFill>
                  <a:srgbClr val="FF5212"/>
                </a:solidFill>
                <a:latin typeface="Arial"/>
              </a:rP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76856" y="3017520"/>
            <a:ext cx="19202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Gap: [top gap]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Action: [study / analysis]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Decision use: [launch/access]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1993392"/>
            <a:ext cx="2487168" cy="260604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74920" y="1993392"/>
            <a:ext cx="82296" cy="260604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2139696"/>
            <a:ext cx="2121408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Decision impact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94376" y="2487168"/>
            <a:ext cx="6400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300" b="1">
                <a:solidFill>
                  <a:srgbClr val="0065A4"/>
                </a:solidFill>
                <a:latin typeface="Arial"/>
              </a:rPr>
              <a:t>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94376" y="3017520"/>
            <a:ext cx="19202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Gap: [top gap]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Action: [study / analysis]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Decision use: [launch/access]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1993392"/>
            <a:ext cx="2487168" cy="260604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2440" y="1993392"/>
            <a:ext cx="82296" cy="260604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2139696"/>
            <a:ext cx="2121408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Timing risk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1896" y="2487168"/>
            <a:ext cx="6400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300" b="1">
                <a:solidFill>
                  <a:srgbClr val="FF5212"/>
                </a:solidFill>
                <a:latin typeface="Arial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1896" y="3017520"/>
            <a:ext cx="19202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Gap: [top gap]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Action: [study / analysis]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181818"/>
                </a:solidFill>
                <a:latin typeface="Arial"/>
              </a:rPr>
              <a:t>Decision use: [launch/access]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5166360"/>
            <a:ext cx="90982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57400" y="5166360"/>
            <a:ext cx="82296" cy="65836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86000" y="5312664"/>
            <a:ext cx="873251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Decision ask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1720" y="5413248"/>
            <a:ext cx="83210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40" b="1">
                <a:solidFill>
                  <a:srgbClr val="181818"/>
                </a:solidFill>
                <a:latin typeface="Arial"/>
              </a:rPr>
              <a:t>[Approve roadmap]  |  [Fund priority activities]  |  [Confirm owners and refresh cadence]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148132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920" y="148132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112" y="148132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" y="148132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496" y="148132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687" y="148132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48132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5072" y="148132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264" y="148132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148132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47" y="148132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3839" y="148132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48132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224" y="148132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416" y="148132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" y="148132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48132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992" y="148132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148132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BRIEFING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Decisions needed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Move from evidence planning to accountable choices.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6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2011680" y="1828800"/>
          <a:ext cx="96469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91640"/>
                <a:gridCol w="3246120"/>
                <a:gridCol w="1234440"/>
                <a:gridCol w="1554480"/>
              </a:tblGrid>
              <a:tr h="607422"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Recommendation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Deadline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Approve priority gaps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/ revise]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[value and risk basis]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Fund activity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/ defer]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Select study design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[option A/B]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[credibility and feasibility]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Resolve local needs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[global/local split]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[reuse vs local 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Confirm governance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[RACI/cadence]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[accountability]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" y="1929384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920" y="1929384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4112" y="1929384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" y="1929384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8496" y="1929384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0687" y="1929384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1929384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5072" y="1929384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264" y="1929384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" y="1929384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647" y="1929384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839" y="1929384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1929384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8224" y="1929384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0416" y="1929384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7" y="1929384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1929384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6992" y="1929384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" y="1929384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502920"/>
            <a:ext cx="365106" cy="2743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57914" y="502920"/>
            <a:ext cx="365106" cy="2743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3877" y="502920"/>
            <a:ext cx="365106" cy="274320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9840" y="502920"/>
            <a:ext cx="365106" cy="274320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25803" y="502920"/>
            <a:ext cx="365106" cy="274320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1766" y="502920"/>
            <a:ext cx="365106" cy="274320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7729" y="502920"/>
            <a:ext cx="365106" cy="27432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3692" y="502920"/>
            <a:ext cx="365106" cy="274320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9654" y="502920"/>
            <a:ext cx="365106" cy="274320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617" y="502920"/>
            <a:ext cx="365106" cy="274320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61580" y="502920"/>
            <a:ext cx="365106" cy="274320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7543" y="502920"/>
            <a:ext cx="365106" cy="274320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06" y="502920"/>
            <a:ext cx="365106" cy="274320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29469" y="502920"/>
            <a:ext cx="365106" cy="274320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5432" y="502920"/>
            <a:ext cx="365106" cy="274320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1394" y="502920"/>
            <a:ext cx="365106" cy="274320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97357" y="502920"/>
            <a:ext cx="365106" cy="274320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3320" y="502920"/>
            <a:ext cx="365106" cy="274320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9283" y="502920"/>
            <a:ext cx="365106" cy="274320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5246" y="502920"/>
            <a:ext cx="365106" cy="274320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1209" y="502920"/>
            <a:ext cx="365106" cy="274320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7172" y="502920"/>
            <a:ext cx="365106" cy="274320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33134" y="502920"/>
            <a:ext cx="365106" cy="274320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89097" y="502920"/>
            <a:ext cx="365106" cy="274320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5060" y="502920"/>
            <a:ext cx="365106" cy="274320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01023" y="502920"/>
            <a:ext cx="365106" cy="274320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56986" y="502920"/>
            <a:ext cx="365106" cy="274320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12949" y="502920"/>
            <a:ext cx="365106" cy="274320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901952" y="502920"/>
            <a:ext cx="99669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31752" y="28072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0" y="2862072"/>
            <a:ext cx="9464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[Optional section image]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816352"/>
            <a:ext cx="164592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93392" y="3675887"/>
            <a:ext cx="69494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400" b="1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1680" y="4434840"/>
            <a:ext cx="65836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50" b="0">
                <a:solidFill>
                  <a:srgbClr val="181818"/>
                </a:solidFill>
                <a:latin typeface="Arial"/>
              </a:rPr>
              <a:t>Frame the asset, value story, and stakeholder landscape.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" y="1929384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920" y="1929384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4112" y="1929384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" y="1929384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8496" y="1929384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0687" y="1929384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1929384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5072" y="1929384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264" y="1929384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" y="1929384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647" y="1929384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839" y="1929384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1929384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8224" y="1929384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0416" y="1929384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7" y="1929384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1929384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6992" y="1929384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" y="1929384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Asset snapshot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Frame the asset before defining stakeholder evidence needs.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1874519"/>
            <a:ext cx="134874" cy="33375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69529" y="1874519"/>
            <a:ext cx="134874" cy="333756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5260" y="1874519"/>
            <a:ext cx="134874" cy="333756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20990" y="1874519"/>
            <a:ext cx="134874" cy="333756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1874519"/>
            <a:ext cx="134874" cy="333756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72450" y="1874519"/>
            <a:ext cx="134874" cy="333756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98179" y="1874519"/>
            <a:ext cx="134874" cy="333756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23910" y="1874519"/>
            <a:ext cx="134874" cy="333756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49640" y="1874519"/>
            <a:ext cx="134874" cy="333756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75370" y="1874519"/>
            <a:ext cx="134874" cy="333756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01100" y="1874519"/>
            <a:ext cx="134874" cy="333756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26830" y="1874519"/>
            <a:ext cx="134874" cy="333756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52560" y="1874519"/>
            <a:ext cx="134874" cy="333756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78290" y="1874519"/>
            <a:ext cx="134874" cy="333756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04020" y="1874519"/>
            <a:ext cx="134874" cy="333756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29750" y="1874519"/>
            <a:ext cx="134874" cy="333756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55480" y="1874519"/>
            <a:ext cx="134874" cy="333756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81210" y="1874519"/>
            <a:ext cx="134874" cy="333756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06940" y="1874519"/>
            <a:ext cx="134874" cy="333756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2670" y="1874519"/>
            <a:ext cx="134874" cy="333756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058400" y="1874519"/>
            <a:ext cx="134874" cy="333756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84130" y="1874519"/>
            <a:ext cx="134874" cy="333756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309860" y="1874519"/>
            <a:ext cx="134874" cy="333756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35590" y="1874519"/>
            <a:ext cx="134874" cy="333756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61320" y="1874519"/>
            <a:ext cx="134874" cy="333756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687050" y="1874519"/>
            <a:ext cx="134874" cy="333756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812780" y="1874519"/>
            <a:ext cx="134874" cy="333756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38510" y="1874519"/>
            <a:ext cx="134874" cy="333756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43800" y="1874519"/>
            <a:ext cx="3520440" cy="333756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927080" y="4773167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44968" y="4828031"/>
            <a:ext cx="301752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[Insert product or disease image]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1847088"/>
            <a:ext cx="4983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057400" y="1847088"/>
            <a:ext cx="82296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86000" y="1993392"/>
            <a:ext cx="461772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Asset / mechanism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43400" y="1993392"/>
            <a:ext cx="242316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181818"/>
                </a:solidFill>
                <a:latin typeface="Arial"/>
              </a:rPr>
              <a:t>[name, modality, MoA]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2468880"/>
            <a:ext cx="4983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57400" y="2468880"/>
            <a:ext cx="82296" cy="438912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86000" y="2615184"/>
            <a:ext cx="461772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Population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43400" y="2615184"/>
            <a:ext cx="242316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181818"/>
                </a:solidFill>
                <a:latin typeface="Arial"/>
              </a:rPr>
              <a:t>[indication, line, biomarker]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57400" y="3090672"/>
            <a:ext cx="4983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057400" y="3090672"/>
            <a:ext cx="82296" cy="438912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6000" y="3236976"/>
            <a:ext cx="461772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Lifecycle stage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43400" y="3236976"/>
            <a:ext cx="242316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181818"/>
                </a:solidFill>
                <a:latin typeface="Arial"/>
              </a:rPr>
              <a:t>[pre-launch / launch / post-launch]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57400" y="3712464"/>
            <a:ext cx="4983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057400" y="3712464"/>
            <a:ext cx="82296" cy="438912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86000" y="3858768"/>
            <a:ext cx="461772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Priority geographies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43400" y="3858768"/>
            <a:ext cx="242316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181818"/>
                </a:solidFill>
                <a:latin typeface="Arial"/>
              </a:rPr>
              <a:t>[global, US, EU5, JP, local markets]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334256"/>
            <a:ext cx="4983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057400" y="4334256"/>
            <a:ext cx="82296" cy="438912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86000" y="4480560"/>
            <a:ext cx="461772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TPP / TVP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43400" y="4480560"/>
            <a:ext cx="242316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181818"/>
                </a:solidFill>
                <a:latin typeface="Arial"/>
              </a:rPr>
              <a:t>[clinical and value targets]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" y="1929384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920" y="1929384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4112" y="1929384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" y="1929384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8496" y="1929384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0687" y="1929384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1929384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5072" y="1929384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264" y="1929384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" y="1929384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647" y="1929384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839" y="1929384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1929384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8224" y="1929384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0416" y="1929384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7" y="1929384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1929384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6992" y="1929384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" y="1929384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Value narrative evidence 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Link each value message to evidence required, support, gaps, and tactics.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93392" y="2057400"/>
            <a:ext cx="1444752" cy="310896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39112" y="2157984"/>
            <a:ext cx="1353312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90" b="1">
                <a:solidFill>
                  <a:srgbClr val="FFFFFF"/>
                </a:solidFill>
                <a:latin typeface="Arial"/>
              </a:rPr>
              <a:t>Value driver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93392" y="2633472"/>
            <a:ext cx="1444752" cy="1234440"/>
          </a:xfrm>
          <a:prstGeom prst="rect">
            <a:avLst/>
          </a:prstGeom>
          <a:solidFill>
            <a:srgbClr val="F4F4F4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9696" y="3090672"/>
            <a:ext cx="1133856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819" b="0">
                <a:solidFill>
                  <a:srgbClr val="707070"/>
                </a:solidFill>
                <a:latin typeface="Arial"/>
              </a:rPr>
              <a:t>[content]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74720" y="3246120"/>
            <a:ext cx="301752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3849624" y="2057400"/>
            <a:ext cx="1444752" cy="310896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95344" y="2157984"/>
            <a:ext cx="1353312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9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9624" y="2633472"/>
            <a:ext cx="1444752" cy="1234440"/>
          </a:xfrm>
          <a:prstGeom prst="rect">
            <a:avLst/>
          </a:prstGeom>
          <a:solidFill>
            <a:srgbClr val="F4F4F4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95928" y="3090672"/>
            <a:ext cx="1133856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819" b="0">
                <a:solidFill>
                  <a:srgbClr val="707070"/>
                </a:solidFill>
                <a:latin typeface="Arial"/>
              </a:rPr>
              <a:t>[content]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330952" y="3246120"/>
            <a:ext cx="301752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705856" y="2057400"/>
            <a:ext cx="1444752" cy="310896"/>
          </a:xfrm>
          <a:prstGeom prst="rect">
            <a:avLst/>
          </a:prstGeom>
          <a:solidFill>
            <a:srgbClr val="529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51576" y="2157984"/>
            <a:ext cx="1353312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90" b="1">
                <a:solidFill>
                  <a:srgbClr val="FFFFFF"/>
                </a:solidFill>
                <a:latin typeface="Arial"/>
              </a:rPr>
              <a:t>Current support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05856" y="2633472"/>
            <a:ext cx="1444752" cy="1234440"/>
          </a:xfrm>
          <a:prstGeom prst="rect">
            <a:avLst/>
          </a:prstGeom>
          <a:solidFill>
            <a:srgbClr val="F4F4F4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0" y="3090672"/>
            <a:ext cx="1133856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819" b="0">
                <a:solidFill>
                  <a:srgbClr val="707070"/>
                </a:solidFill>
                <a:latin typeface="Arial"/>
              </a:rPr>
              <a:t>[content]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87184" y="3246120"/>
            <a:ext cx="301752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562088" y="2057400"/>
            <a:ext cx="1444752" cy="31089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07808" y="2157984"/>
            <a:ext cx="1353312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9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62088" y="2633472"/>
            <a:ext cx="1444752" cy="1234440"/>
          </a:xfrm>
          <a:prstGeom prst="rect">
            <a:avLst/>
          </a:prstGeom>
          <a:solidFill>
            <a:srgbClr val="F4F4F4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08392" y="3090672"/>
            <a:ext cx="1133856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819" b="0">
                <a:solidFill>
                  <a:srgbClr val="707070"/>
                </a:solidFill>
                <a:latin typeface="Arial"/>
              </a:rPr>
              <a:t>[content]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43416" y="3246120"/>
            <a:ext cx="301751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418319" y="2057400"/>
            <a:ext cx="1444752" cy="310896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64040" y="2157984"/>
            <a:ext cx="1353312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90" b="1">
                <a:solidFill>
                  <a:srgbClr val="FFFFFF"/>
                </a:solidFill>
                <a:latin typeface="Arial"/>
              </a:rPr>
              <a:t>Planned tactic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19" y="2633472"/>
            <a:ext cx="1444752" cy="1234440"/>
          </a:xfrm>
          <a:prstGeom prst="rect">
            <a:avLst/>
          </a:prstGeom>
          <a:solidFill>
            <a:srgbClr val="F4F4F4"/>
          </a:solidFill>
          <a:ln w="444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64624" y="3090672"/>
            <a:ext cx="1133856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819" b="0">
                <a:solidFill>
                  <a:srgbClr val="707070"/>
                </a:solidFill>
                <a:latin typeface="Arial"/>
              </a:rPr>
              <a:t>[content]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4800600"/>
            <a:ext cx="914400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11680" y="4800600"/>
            <a:ext cx="82296" cy="6400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40280" y="4946904"/>
            <a:ext cx="87782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Narrative test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86000" y="5047488"/>
            <a:ext cx="822960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19" b="1">
                <a:solidFill>
                  <a:srgbClr val="181818"/>
                </a:solidFill>
                <a:latin typeface="Arial"/>
              </a:rPr>
              <a:t>Can every value message be supported by source-backed evidence or a funded evidence activity?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2377440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920" y="2377440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4112" y="2377440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" y="2377440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496" y="2377440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687" y="2377440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377440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5072" y="2377440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7264" y="2377440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2377440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647" y="2377440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3839" y="2377440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2377440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8224" y="2377440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416" y="2377440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7" y="2377440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2377440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992" y="2377440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2377440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502920"/>
            <a:ext cx="365106" cy="2743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57914" y="502920"/>
            <a:ext cx="365106" cy="2743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3877" y="502920"/>
            <a:ext cx="365106" cy="274320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9840" y="502920"/>
            <a:ext cx="365106" cy="274320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25803" y="502920"/>
            <a:ext cx="365106" cy="274320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1766" y="502920"/>
            <a:ext cx="365106" cy="274320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7729" y="502920"/>
            <a:ext cx="365106" cy="27432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3692" y="502920"/>
            <a:ext cx="365106" cy="274320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9654" y="502920"/>
            <a:ext cx="365106" cy="274320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617" y="502920"/>
            <a:ext cx="365106" cy="274320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61580" y="502920"/>
            <a:ext cx="365106" cy="274320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7543" y="502920"/>
            <a:ext cx="365106" cy="274320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06" y="502920"/>
            <a:ext cx="365106" cy="274320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29469" y="502920"/>
            <a:ext cx="365106" cy="274320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5432" y="502920"/>
            <a:ext cx="365106" cy="274320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1394" y="502920"/>
            <a:ext cx="365106" cy="274320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97357" y="502920"/>
            <a:ext cx="365106" cy="274320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3320" y="502920"/>
            <a:ext cx="365106" cy="274320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9283" y="502920"/>
            <a:ext cx="365106" cy="274320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5246" y="502920"/>
            <a:ext cx="365106" cy="274320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1209" y="502920"/>
            <a:ext cx="365106" cy="274320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7172" y="502920"/>
            <a:ext cx="365106" cy="274320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33134" y="502920"/>
            <a:ext cx="365106" cy="274320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89097" y="502920"/>
            <a:ext cx="365106" cy="274320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5060" y="502920"/>
            <a:ext cx="365106" cy="274320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01023" y="502920"/>
            <a:ext cx="365106" cy="274320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56986" y="502920"/>
            <a:ext cx="365106" cy="274320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12949" y="502920"/>
            <a:ext cx="365106" cy="274320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901952" y="502920"/>
            <a:ext cx="99669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31752" y="28072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0" y="2862072"/>
            <a:ext cx="9464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[Optional section image]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816352"/>
            <a:ext cx="164592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93392" y="3675887"/>
            <a:ext cx="69494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400" b="1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1680" y="4434840"/>
            <a:ext cx="65836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50" b="0">
                <a:solidFill>
                  <a:srgbClr val="181818"/>
                </a:solidFill>
                <a:latin typeface="Arial"/>
              </a:rPr>
              <a:t>Map decision needs before building new tactics.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2377440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920" y="2377440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4112" y="2377440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" y="2377440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496" y="2377440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687" y="2377440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377440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5072" y="2377440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7264" y="2377440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2377440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647" y="2377440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3839" y="2377440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2377440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8224" y="2377440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416" y="2377440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7" y="2377440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2377440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992" y="2377440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2377440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EVIDENCE NEEDS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Stakeholder evidence needs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Map decision makers, questions, evidence standards, and timing.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1874519"/>
            <a:ext cx="2542032" cy="11430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1680" y="1874519"/>
            <a:ext cx="82296" cy="114300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2020824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Regulators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31136" y="2331720"/>
            <a:ext cx="199339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Question: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Standard: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Timing: [ 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02352" y="1874519"/>
            <a:ext cx="2542032" cy="11430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2352" y="1874519"/>
            <a:ext cx="82296" cy="1143000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30952" y="2020824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HTA / payers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1808" y="2331720"/>
            <a:ext cx="199339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Question: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Standard: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Timing: [ 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93024" y="1874519"/>
            <a:ext cx="2542032" cy="11430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93024" y="1874519"/>
            <a:ext cx="82296" cy="1143000"/>
          </a:xfrm>
          <a:prstGeom prst="rect">
            <a:avLst/>
          </a:prstGeom>
          <a:solidFill>
            <a:srgbClr val="529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21624" y="2020824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HCPs / KOLs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2331720"/>
            <a:ext cx="199339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Question: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Standard: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Timing: [ 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0" y="3566160"/>
            <a:ext cx="2542032" cy="11430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11680" y="3566160"/>
            <a:ext cx="82296" cy="114300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40280" y="3712463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Patients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31136" y="4023360"/>
            <a:ext cx="199339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Question: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Standard: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Timing: [ 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02352" y="3566160"/>
            <a:ext cx="2542032" cy="11430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102352" y="3566160"/>
            <a:ext cx="82296" cy="114300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30952" y="3712463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Policy / systems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21808" y="4023360"/>
            <a:ext cx="199339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Question: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Standard: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Timing: [ 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93024" y="3566160"/>
            <a:ext cx="2542032" cy="11430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93024" y="3566160"/>
            <a:ext cx="82296" cy="1143000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21624" y="3712463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Internal teams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0" y="4023360"/>
            <a:ext cx="199339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Question: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Standard: [ ]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181818"/>
                </a:solidFill>
                <a:latin typeface="Arial"/>
              </a:rPr>
              <a:t>Timing: [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2377440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920" y="2377440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4112" y="2377440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" y="2377440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496" y="2377440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687" y="2377440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377440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5072" y="2377440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7264" y="2377440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2377440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647" y="2377440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3839" y="2377440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2377440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8224" y="2377440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416" y="2377440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7" y="2377440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2377440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992" y="2377440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2377440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EVIDENCE NEEDS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Patient journey evidence 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Identify where evidence changes diagnosis, access, treatment, adherence, or outcomes.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2103120"/>
            <a:ext cx="1143000" cy="384048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2240280"/>
            <a:ext cx="105156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Pre-diagnosis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743200"/>
            <a:ext cx="1143000" cy="132588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57400" y="2743200"/>
            <a:ext cx="82296" cy="13258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67128" y="3090672"/>
            <a:ext cx="9144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20" b="0">
                <a:solidFill>
                  <a:srgbClr val="707070"/>
                </a:solidFill>
                <a:latin typeface="Arial"/>
              </a:rPr>
              <a:t>[evidence need]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38728" y="2103120"/>
            <a:ext cx="1143000" cy="384048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84448" y="2240280"/>
            <a:ext cx="105156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Diagnosis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38728" y="2743200"/>
            <a:ext cx="1143000" cy="132588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38728" y="2743200"/>
            <a:ext cx="82296" cy="13258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48456" y="3090672"/>
            <a:ext cx="9144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20" b="0">
                <a:solidFill>
                  <a:srgbClr val="707070"/>
                </a:solidFill>
                <a:latin typeface="Arial"/>
              </a:rPr>
              <a:t>[evidence need]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0056" y="2103120"/>
            <a:ext cx="1143000" cy="384048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65776" y="2240280"/>
            <a:ext cx="105156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Treatment choice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0056" y="2743200"/>
            <a:ext cx="1143000" cy="132588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0056" y="2743200"/>
            <a:ext cx="82296" cy="13258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9784" y="3090672"/>
            <a:ext cx="9144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20" b="0">
                <a:solidFill>
                  <a:srgbClr val="707070"/>
                </a:solidFill>
                <a:latin typeface="Arial"/>
              </a:rPr>
              <a:t>[evidence need]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01384" y="2103120"/>
            <a:ext cx="1143000" cy="384048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47104" y="2240280"/>
            <a:ext cx="105156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Access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01384" y="2743200"/>
            <a:ext cx="1143000" cy="132588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01384" y="2743200"/>
            <a:ext cx="82296" cy="13258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112" y="3090672"/>
            <a:ext cx="9144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20" b="0">
                <a:solidFill>
                  <a:srgbClr val="707070"/>
                </a:solidFill>
                <a:latin typeface="Arial"/>
              </a:rPr>
              <a:t>[evidence need]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82712" y="2103120"/>
            <a:ext cx="1143000" cy="384048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28432" y="2240280"/>
            <a:ext cx="105156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Follow-up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82712" y="2743200"/>
            <a:ext cx="1143000" cy="132588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82712" y="2743200"/>
            <a:ext cx="82296" cy="13258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3090672"/>
            <a:ext cx="9144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20" b="0">
                <a:solidFill>
                  <a:srgbClr val="707070"/>
                </a:solidFill>
                <a:latin typeface="Arial"/>
              </a:rPr>
              <a:t>[evidence need]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4040" y="2103120"/>
            <a:ext cx="1143000" cy="384048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0" y="2240280"/>
            <a:ext cx="105156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Outcomes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464040" y="2743200"/>
            <a:ext cx="1143000" cy="132588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64040" y="2743200"/>
            <a:ext cx="82296" cy="132588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73768" y="3090672"/>
            <a:ext cx="9144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20" b="0">
                <a:solidFill>
                  <a:srgbClr val="707070"/>
                </a:solidFill>
                <a:latin typeface="Arial"/>
              </a:rPr>
              <a:t>[evidence need]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57400" y="4800600"/>
            <a:ext cx="89154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057400" y="4800600"/>
            <a:ext cx="82296" cy="5943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6000" y="4946904"/>
            <a:ext cx="85496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Patient-centered evidence focus: PRO, COA, HRQoL, preferences, burden, adherence, caregiver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" y="2377440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920" y="2377440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4112" y="2377440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" y="2377440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496" y="2377440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687" y="2377440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377440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5072" y="2377440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7264" y="2377440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2377440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647" y="2377440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3839" y="2377440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2377440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8224" y="2377440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416" y="2377440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7" y="2377440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2377440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992" y="2377440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2377440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EVIDENCE NEEDS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Current evidence 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Catalogue completed, ongoing, and planned evidence before defining new activities.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13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920240" y="1828800"/>
          <a:ext cx="9921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60120"/>
                <a:gridCol w="1600200"/>
                <a:gridCol w="2240280"/>
                <a:gridCol w="1325880"/>
                <a:gridCol w="2377440"/>
              </a:tblGrid>
              <a:tr h="497840"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Endpoint / output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Limits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Clinical trials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RWE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HEOR model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SLR / ITC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COA / PRO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Epidemiology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" y="2825496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920" y="2825496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112" y="2825496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" y="2825496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496" y="2825496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687" y="2825496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825496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072" y="2825496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7264" y="2825496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" y="2825496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647" y="2825496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3839" y="2825496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825496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8224" y="2825496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416" y="2825496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7" y="2825496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2825496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992" y="2825496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2825496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502920"/>
            <a:ext cx="365106" cy="2743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57914" y="502920"/>
            <a:ext cx="365106" cy="2743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3877" y="502920"/>
            <a:ext cx="365106" cy="274320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9840" y="502920"/>
            <a:ext cx="365106" cy="274320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25803" y="502920"/>
            <a:ext cx="365106" cy="274320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1766" y="502920"/>
            <a:ext cx="365106" cy="274320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7729" y="502920"/>
            <a:ext cx="365106" cy="27432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3692" y="502920"/>
            <a:ext cx="365106" cy="274320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9654" y="502920"/>
            <a:ext cx="365106" cy="274320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617" y="502920"/>
            <a:ext cx="365106" cy="274320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61580" y="502920"/>
            <a:ext cx="365106" cy="274320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7543" y="502920"/>
            <a:ext cx="365106" cy="274320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06" y="502920"/>
            <a:ext cx="365106" cy="274320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29469" y="502920"/>
            <a:ext cx="365106" cy="274320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5432" y="502920"/>
            <a:ext cx="365106" cy="274320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1394" y="502920"/>
            <a:ext cx="365106" cy="274320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97357" y="502920"/>
            <a:ext cx="365106" cy="274320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3320" y="502920"/>
            <a:ext cx="365106" cy="274320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9283" y="502920"/>
            <a:ext cx="365106" cy="274320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5246" y="502920"/>
            <a:ext cx="365106" cy="274320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1209" y="502920"/>
            <a:ext cx="365106" cy="274320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7172" y="502920"/>
            <a:ext cx="365106" cy="274320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33134" y="502920"/>
            <a:ext cx="365106" cy="274320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89097" y="502920"/>
            <a:ext cx="365106" cy="274320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5060" y="502920"/>
            <a:ext cx="365106" cy="274320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01023" y="502920"/>
            <a:ext cx="365106" cy="274320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56986" y="502920"/>
            <a:ext cx="365106" cy="274320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12949" y="502920"/>
            <a:ext cx="365106" cy="274320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901952" y="502920"/>
            <a:ext cx="99669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31752" y="28072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0" y="2862072"/>
            <a:ext cx="9464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[Optional section image]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816352"/>
            <a:ext cx="164592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93392" y="3675887"/>
            <a:ext cx="69494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400" b="1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1680" y="4434840"/>
            <a:ext cx="65836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50" b="0">
                <a:solidFill>
                  <a:srgbClr val="181818"/>
                </a:solidFill>
                <a:latin typeface="Arial"/>
              </a:rPr>
              <a:t>Convert needs into prioritized and researchable gaps.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" y="2825496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920" y="2825496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112" y="2825496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" y="2825496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496" y="2825496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687" y="2825496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825496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072" y="2825496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7264" y="2825496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" y="2825496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647" y="2825496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3839" y="2825496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825496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8224" y="2825496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416" y="2825496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7" y="2825496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2825496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992" y="2825496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2825496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GAP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Evidence gap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Prioritize by stakeholder decision, current coverage, consequence, and action.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15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920240" y="1828800"/>
          <a:ext cx="8321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828800"/>
                <a:gridCol w="2194560"/>
                <a:gridCol w="822960"/>
                <a:gridCol w="1783080"/>
              </a:tblGrid>
              <a:tr h="554355"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Current evidence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G5: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G6: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anchor="ctr"/>
                    <a:lstStyle/>
                    <a:p>
                      <a:r>
                        <a:t>G7: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10469880" y="1828800"/>
            <a:ext cx="1143000" cy="443484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69880" y="1828800"/>
            <a:ext cx="82296" cy="443484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0" y="1975104"/>
            <a:ext cx="7772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Consequence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61904" y="2395728"/>
            <a:ext cx="749808" cy="2560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630">
                <a:solidFill>
                  <a:srgbClr val="181818"/>
                </a:solidFill>
                <a:latin typeface="Arial"/>
              </a:rPr>
              <a:t>[label delay]</a:t>
            </a:r>
          </a:p>
          <a:p>
            <a:pPr>
              <a:spcAft>
                <a:spcPts val="400"/>
              </a:spcAft>
            </a:pPr>
            <a:r>
              <a:rPr sz="630">
                <a:solidFill>
                  <a:srgbClr val="181818"/>
                </a:solidFill>
                <a:latin typeface="Arial"/>
              </a:rPr>
              <a:t>[HTA risk]</a:t>
            </a:r>
          </a:p>
          <a:p>
            <a:pPr>
              <a:spcAft>
                <a:spcPts val="400"/>
              </a:spcAft>
            </a:pPr>
            <a:r>
              <a:rPr sz="630">
                <a:solidFill>
                  <a:srgbClr val="181818"/>
                </a:solidFill>
                <a:latin typeface="Arial"/>
              </a:rPr>
              <a:t>[slow uptake]</a:t>
            </a:r>
          </a:p>
          <a:p>
            <a:pPr>
              <a:spcAft>
                <a:spcPts val="400"/>
              </a:spcAft>
            </a:pPr>
            <a:r>
              <a:rPr sz="630">
                <a:solidFill>
                  <a:srgbClr val="181818"/>
                </a:solidFill>
                <a:latin typeface="Arial"/>
              </a:rPr>
              <a:t>[unfunded lifecycle]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" y="2825496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920" y="2825496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112" y="2825496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" y="2825496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496" y="2825496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687" y="2825496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825496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072" y="2825496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7264" y="2825496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" y="2825496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647" y="2825496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3839" y="2825496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825496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8224" y="2825496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416" y="2825496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7" y="2825496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2825496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992" y="2825496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2825496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GAP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Gap prioritization scorecard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Use a transparent rubric before converting gaps into funded activities.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FF5212"/>
                </a:solidFill>
                <a:latin typeface="Arial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Strategic impact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06040"/>
            <a:ext cx="914400" cy="32004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0065A4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Urgency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2606040"/>
            <a:ext cx="914400" cy="3200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004067"/>
                </a:solidFill>
                <a:latin typeface="Arial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Feasibility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2606040"/>
            <a:ext cx="914400" cy="32004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FF5212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Reuse potential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2606040"/>
            <a:ext cx="914400" cy="32004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2011680" y="3749039"/>
          <a:ext cx="94640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371600"/>
                <a:gridCol w="1371600"/>
                <a:gridCol w="1554480"/>
                <a:gridCol w="2651760"/>
              </a:tblGrid>
              <a:tr h="420624"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Urgency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" y="2825496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920" y="2825496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112" y="2825496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" y="2825496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496" y="2825496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687" y="2825496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825496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072" y="2825496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7264" y="2825496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" y="2825496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647" y="2825496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3839" y="2825496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825496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8224" y="2825496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416" y="2825496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7" y="2825496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2825496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992" y="2825496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2825496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GAP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Open research questions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Translate priority gaps into PICOT-ready research questions.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17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920240" y="1828800"/>
          <a:ext cx="9921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463040"/>
                <a:gridCol w="1508760"/>
                <a:gridCol w="1463040"/>
                <a:gridCol w="1600200"/>
                <a:gridCol w="1051560"/>
                <a:gridCol w="2194560"/>
              </a:tblGrid>
              <a:tr h="560070"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ORQ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Intervention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50" b="1">
                          <a:solidFill>
                            <a:srgbClr val="FFFFFF"/>
                          </a:solidFill>
                          <a:latin typeface="Arial"/>
                        </a:rPr>
                        <a:t>Decision use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Q1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Q2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Q3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Q4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Q6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Q7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[intervention]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" y="3273552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920" y="3273552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112" y="3273552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" y="3273552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8496" y="3273552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687" y="3273552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273552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072" y="3273552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264" y="3273552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" y="3273552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647" y="3273552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839" y="3273552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273552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224" y="3273552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416" y="3273552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7" y="3273552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3273552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992" y="3273552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" y="3273552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502920"/>
            <a:ext cx="365106" cy="2743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57914" y="502920"/>
            <a:ext cx="365106" cy="2743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3877" y="502920"/>
            <a:ext cx="365106" cy="274320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9840" y="502920"/>
            <a:ext cx="365106" cy="274320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25803" y="502920"/>
            <a:ext cx="365106" cy="274320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1766" y="502920"/>
            <a:ext cx="365106" cy="274320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7729" y="502920"/>
            <a:ext cx="365106" cy="27432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3692" y="502920"/>
            <a:ext cx="365106" cy="274320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9654" y="502920"/>
            <a:ext cx="365106" cy="274320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617" y="502920"/>
            <a:ext cx="365106" cy="274320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61580" y="502920"/>
            <a:ext cx="365106" cy="274320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7543" y="502920"/>
            <a:ext cx="365106" cy="274320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06" y="502920"/>
            <a:ext cx="365106" cy="274320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29469" y="502920"/>
            <a:ext cx="365106" cy="274320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5432" y="502920"/>
            <a:ext cx="365106" cy="274320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1394" y="502920"/>
            <a:ext cx="365106" cy="274320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97357" y="502920"/>
            <a:ext cx="365106" cy="274320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3320" y="502920"/>
            <a:ext cx="365106" cy="274320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9283" y="502920"/>
            <a:ext cx="365106" cy="274320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5246" y="502920"/>
            <a:ext cx="365106" cy="274320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1209" y="502920"/>
            <a:ext cx="365106" cy="274320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7172" y="502920"/>
            <a:ext cx="365106" cy="274320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33134" y="502920"/>
            <a:ext cx="365106" cy="274320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89097" y="502920"/>
            <a:ext cx="365106" cy="274320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5060" y="502920"/>
            <a:ext cx="365106" cy="274320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01023" y="502920"/>
            <a:ext cx="365106" cy="274320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56986" y="502920"/>
            <a:ext cx="365106" cy="274320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12949" y="502920"/>
            <a:ext cx="365106" cy="274320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901952" y="502920"/>
            <a:ext cx="99669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31752" y="28072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0" y="2862072"/>
            <a:ext cx="9464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[Optional section image]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816352"/>
            <a:ext cx="164592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93392" y="3675887"/>
            <a:ext cx="69494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40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1680" y="4434840"/>
            <a:ext cx="65836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50" b="0">
                <a:solidFill>
                  <a:srgbClr val="181818"/>
                </a:solidFill>
                <a:latin typeface="Arial"/>
              </a:rPr>
              <a:t>Translate priority gaps into activities, timing, and owners.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" y="3273552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920" y="3273552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112" y="3273552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" y="3273552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8496" y="3273552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687" y="3273552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273552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072" y="3273552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264" y="3273552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" y="3273552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647" y="3273552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839" y="3273552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273552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224" y="3273552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416" y="3273552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7" y="3273552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3273552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992" y="3273552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" y="3273552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Integrated evidence 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Function-level swimlanes with readouts, decisions, and pull-through milestones.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4176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Y1 Q1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5424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Q2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6672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Q3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Q4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9168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Y2 Q1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0416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Q2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41664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Q3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2" y="1828800"/>
            <a:ext cx="59436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707070"/>
                </a:solidFill>
                <a:latin typeface="Arial"/>
              </a:rPr>
              <a:t>Q4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2313432"/>
            <a:ext cx="146304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60" b="1">
                <a:solidFill>
                  <a:srgbClr val="181818"/>
                </a:solidFill>
                <a:latin typeface="Arial"/>
              </a:rPr>
              <a:t>Clinical / regulatory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11880" y="2404872"/>
            <a:ext cx="690372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49039" y="2240280"/>
            <a:ext cx="1234440" cy="292608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58768" y="2331720"/>
            <a:ext cx="960120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2203704"/>
            <a:ext cx="137160" cy="3657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0" y="2971800"/>
            <a:ext cx="146304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60" b="1">
                <a:solidFill>
                  <a:srgbClr val="181818"/>
                </a:solidFill>
                <a:latin typeface="Arial"/>
              </a:rPr>
              <a:t>RWE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11880" y="3063240"/>
            <a:ext cx="690372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51959" y="2898648"/>
            <a:ext cx="1709928" cy="292608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61688" y="2990088"/>
            <a:ext cx="960120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82512" y="2862072"/>
            <a:ext cx="137160" cy="3657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0" y="3630168"/>
            <a:ext cx="146304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60" b="1">
                <a:solidFill>
                  <a:srgbClr val="181818"/>
                </a:solidFill>
                <a:latin typeface="Arial"/>
              </a:rPr>
              <a:t>HEOR / access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11880" y="3721608"/>
            <a:ext cx="690372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54879" y="3557016"/>
            <a:ext cx="1234440" cy="292608"/>
          </a:xfrm>
          <a:prstGeom prst="rect">
            <a:avLst/>
          </a:prstGeom>
          <a:solidFill>
            <a:srgbClr val="529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64608" y="3648456"/>
            <a:ext cx="960120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04304" y="3520440"/>
            <a:ext cx="137160" cy="3657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11680" y="4288536"/>
            <a:ext cx="146304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60" b="1">
                <a:solidFill>
                  <a:srgbClr val="181818"/>
                </a:solidFill>
                <a:latin typeface="Arial"/>
              </a:rPr>
              <a:t>Patient / COA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11880" y="4379976"/>
            <a:ext cx="690372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749039" y="4215384"/>
            <a:ext cx="1709928" cy="29260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58768" y="4306824"/>
            <a:ext cx="960120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26096" y="4178808"/>
            <a:ext cx="137160" cy="3657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11680" y="4946904"/>
            <a:ext cx="1463040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60" b="1">
                <a:solidFill>
                  <a:srgbClr val="181818"/>
                </a:solidFill>
                <a:latin typeface="Arial"/>
              </a:rPr>
              <a:t>Publications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11880" y="5038344"/>
            <a:ext cx="690372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51959" y="4873752"/>
            <a:ext cx="1234440" cy="292608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1688" y="4965192"/>
            <a:ext cx="960120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47888" y="4837176"/>
            <a:ext cx="137160" cy="36576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11680" y="5806440"/>
            <a:ext cx="90525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011680" y="5806440"/>
            <a:ext cx="82296" cy="39319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40280" y="5952744"/>
            <a:ext cx="86868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Decision gates: [protocol] | [data cut] | [abstract] | [regulatory] | [HTA] | [launch]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" y="3273552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920" y="3273552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112" y="3273552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" y="3273552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8496" y="3273552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687" y="3273552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273552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072" y="3273552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264" y="3273552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" y="3273552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647" y="3273552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839" y="3273552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273552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224" y="3273552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416" y="3273552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7" y="3273552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3273552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992" y="3273552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" y="3273552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Evidence activity tracker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A single working table for studies, analyses, syntheses, and dissemination activities.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20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874519" y="1828800"/>
          <a:ext cx="88239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554480"/>
                <a:gridCol w="594360"/>
                <a:gridCol w="2148840"/>
                <a:gridCol w="868680"/>
                <a:gridCol w="1051560"/>
                <a:gridCol w="1417320"/>
                <a:gridCol w="777240"/>
              </a:tblGrid>
              <a:tr h="492760"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Method / data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A1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A2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A3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A4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A6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A7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A8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" y="3273552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920" y="3273552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112" y="3273552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" y="3273552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8496" y="3273552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687" y="3273552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273552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072" y="3273552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264" y="3273552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" y="3273552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647" y="3273552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839" y="3273552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273552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224" y="3273552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416" y="3273552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7" y="3273552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3273552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992" y="3273552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" y="3273552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Study concept one-pager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Duplicate this page for each priority evidence-generation activity.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1874519"/>
            <a:ext cx="254203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1680" y="1874519"/>
            <a:ext cx="82296" cy="96012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2020824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Study / activity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31136" y="2377439"/>
            <a:ext cx="2057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[name and ID]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02352" y="1874519"/>
            <a:ext cx="254203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2352" y="1874519"/>
            <a:ext cx="82296" cy="96012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30952" y="2020824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Gap and decision 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1808" y="2377439"/>
            <a:ext cx="2057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[gap, ORQ, stakeholder]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93024" y="1874519"/>
            <a:ext cx="254203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93024" y="1874519"/>
            <a:ext cx="82296" cy="960120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21624" y="2020824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Objective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2377439"/>
            <a:ext cx="2057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[objective and hypothesis]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0" y="3319272"/>
            <a:ext cx="254203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11680" y="3319272"/>
            <a:ext cx="82296" cy="96012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40280" y="3465576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Design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31136" y="3822191"/>
            <a:ext cx="2057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[population, comparator, endpoint, data]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02352" y="3319272"/>
            <a:ext cx="254203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102352" y="3319272"/>
            <a:ext cx="82296" cy="96012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30952" y="3465576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Feasibility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21808" y="3822191"/>
            <a:ext cx="2057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[cost, complexity, dependency]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93024" y="3319272"/>
            <a:ext cx="254203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93024" y="3319272"/>
            <a:ext cx="82296" cy="960120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21624" y="3465576"/>
            <a:ext cx="2176272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Pull-through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0" y="3822191"/>
            <a:ext cx="2057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[publication, dossier, claims]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5285232"/>
            <a:ext cx="9098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11680" y="5285232"/>
            <a:ext cx="82296" cy="47548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40280" y="5431536"/>
            <a:ext cx="873251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Decision: [approve / revise / defer]    Next step: [action]    Date: [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" y="3273552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920" y="3273552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112" y="3273552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" y="3273552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8496" y="3273552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687" y="3273552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273552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072" y="3273552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264" y="3273552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" y="3273552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647" y="3273552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839" y="3273552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273552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224" y="3273552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416" y="3273552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7" y="3273552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3273552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992" y="3273552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" y="3273552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Specialized evidence workstreams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Make HEOR, RWE, patient-centered, regulatory, and communications evidence explicit.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1874519"/>
            <a:ext cx="3977639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1680" y="1874519"/>
            <a:ext cx="82296" cy="1261872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2020824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HEOR / 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31136" y="2350008"/>
            <a:ext cx="3337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SLR / ITC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economic model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budget impact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payer research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874519"/>
            <a:ext cx="3977639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0" y="1874519"/>
            <a:ext cx="82296" cy="1261872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2020824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RWE /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3136" y="2350008"/>
            <a:ext cx="3337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retrospective database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prospective study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registry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external control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3657600"/>
            <a:ext cx="3977639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11680" y="3657600"/>
            <a:ext cx="82296" cy="126187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0280" y="3803904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Patient-centered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1136" y="4133087"/>
            <a:ext cx="3337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COA / PRO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HRQoL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preference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caregiver burden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3657600"/>
            <a:ext cx="3977639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0" y="3657600"/>
            <a:ext cx="82296" cy="1261872"/>
          </a:xfrm>
          <a:prstGeom prst="rect">
            <a:avLst/>
          </a:prstGeom>
          <a:solidFill>
            <a:srgbClr val="529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3803904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Publications / comms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4133087"/>
            <a:ext cx="3337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abstract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manuscript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field medical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181818"/>
                </a:solidFill>
                <a:latin typeface="Arial"/>
              </a:rPr>
              <a:t>claims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72160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" y="372160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1920" y="372160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4112" y="372160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" y="372160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8496" y="372160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687" y="372160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72160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072" y="372160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264" y="372160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" y="372160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1647" y="372160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3839" y="372160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72160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224" y="372160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0416" y="372160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7" y="372160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72160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992" y="372160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" y="372160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502920"/>
            <a:ext cx="365106" cy="2743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57914" y="502920"/>
            <a:ext cx="365106" cy="2743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13877" y="502920"/>
            <a:ext cx="365106" cy="2743200"/>
          </a:xfrm>
          <a:prstGeom prst="rect">
            <a:avLst/>
          </a:prstGeom>
          <a:solidFill>
            <a:srgbClr val="E9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9840" y="502920"/>
            <a:ext cx="365106" cy="2743200"/>
          </a:xfrm>
          <a:prstGeom prst="rect">
            <a:avLst/>
          </a:prstGeom>
          <a:solidFill>
            <a:srgbClr val="EA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25803" y="502920"/>
            <a:ext cx="365106" cy="2743200"/>
          </a:xfrm>
          <a:prstGeom prst="rect">
            <a:avLst/>
          </a:prstGeom>
          <a:solidFill>
            <a:srgbClr val="EB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1766" y="502920"/>
            <a:ext cx="365106" cy="2743200"/>
          </a:xfrm>
          <a:prstGeom prst="rect">
            <a:avLst/>
          </a:prstGeom>
          <a:solidFill>
            <a:srgbClr val="EC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7729" y="502920"/>
            <a:ext cx="365106" cy="27432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93692" y="502920"/>
            <a:ext cx="365106" cy="2743200"/>
          </a:xfrm>
          <a:prstGeom prst="rect">
            <a:avLst/>
          </a:prstGeom>
          <a:solidFill>
            <a:srgbClr val="ED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9654" y="502920"/>
            <a:ext cx="365106" cy="2743200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617" y="502920"/>
            <a:ext cx="365106" cy="2743200"/>
          </a:xfrm>
          <a:prstGeom prst="rect">
            <a:avLst/>
          </a:prstGeom>
          <a:solidFill>
            <a:srgbClr val="E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61580" y="502920"/>
            <a:ext cx="365106" cy="2743200"/>
          </a:xfrm>
          <a:prstGeom prst="rect">
            <a:avLst/>
          </a:prstGeom>
          <a:solidFill>
            <a:srgbClr val="F0D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7543" y="502920"/>
            <a:ext cx="365106" cy="2743200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3506" y="502920"/>
            <a:ext cx="365106" cy="2743200"/>
          </a:xfrm>
          <a:prstGeom prst="rect">
            <a:avLst/>
          </a:prstGeom>
          <a:solidFill>
            <a:srgbClr val="F2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29469" y="502920"/>
            <a:ext cx="365106" cy="2743200"/>
          </a:xfrm>
          <a:prstGeom prst="rect">
            <a:avLst/>
          </a:prstGeom>
          <a:solidFill>
            <a:srgbClr val="F3D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5432" y="502920"/>
            <a:ext cx="365106" cy="2743200"/>
          </a:xfrm>
          <a:prstGeom prst="rect">
            <a:avLst/>
          </a:prstGeom>
          <a:solidFill>
            <a:srgbClr val="F3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1394" y="502920"/>
            <a:ext cx="365106" cy="2743200"/>
          </a:xfrm>
          <a:prstGeom prst="rect">
            <a:avLst/>
          </a:prstGeom>
          <a:solidFill>
            <a:srgbClr val="F4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97357" y="502920"/>
            <a:ext cx="365106" cy="2743200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3320" y="502920"/>
            <a:ext cx="365106" cy="2743200"/>
          </a:xfrm>
          <a:prstGeom prst="rect">
            <a:avLst/>
          </a:prstGeom>
          <a:solidFill>
            <a:srgbClr val="F6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9283" y="502920"/>
            <a:ext cx="365106" cy="2743200"/>
          </a:xfrm>
          <a:prstGeom prst="rect">
            <a:avLst/>
          </a:prstGeom>
          <a:solidFill>
            <a:srgbClr val="F7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65246" y="502920"/>
            <a:ext cx="365106" cy="2743200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1209" y="502920"/>
            <a:ext cx="365106" cy="2743200"/>
          </a:xfrm>
          <a:prstGeom prst="rect">
            <a:avLst/>
          </a:prstGeom>
          <a:solidFill>
            <a:srgbClr val="F9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7172" y="502920"/>
            <a:ext cx="365106" cy="2743200"/>
          </a:xfrm>
          <a:prstGeom prst="rect">
            <a:avLst/>
          </a:prstGeom>
          <a:solidFill>
            <a:srgbClr val="F9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33134" y="502920"/>
            <a:ext cx="365106" cy="2743200"/>
          </a:xfrm>
          <a:prstGeom prst="rect">
            <a:avLst/>
          </a:prstGeom>
          <a:solidFill>
            <a:srgbClr val="FAC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89097" y="502920"/>
            <a:ext cx="365106" cy="2743200"/>
          </a:xfrm>
          <a:prstGeom prst="rect">
            <a:avLst/>
          </a:prstGeom>
          <a:solidFill>
            <a:srgbClr val="FBC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5060" y="502920"/>
            <a:ext cx="365106" cy="2743200"/>
          </a:xfrm>
          <a:prstGeom prst="rect">
            <a:avLst/>
          </a:prstGeom>
          <a:solidFill>
            <a:srgbClr val="FC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01023" y="502920"/>
            <a:ext cx="365106" cy="2743200"/>
          </a:xfrm>
          <a:prstGeom prst="rect">
            <a:avLst/>
          </a:prstGeom>
          <a:solidFill>
            <a:srgbClr val="FD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56986" y="502920"/>
            <a:ext cx="365106" cy="2743200"/>
          </a:xfrm>
          <a:prstGeom prst="rect">
            <a:avLst/>
          </a:prstGeom>
          <a:solidFill>
            <a:srgbClr val="FE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12949" y="502920"/>
            <a:ext cx="365106" cy="2743200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901952" y="502920"/>
            <a:ext cx="99669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31752" y="2807208"/>
            <a:ext cx="137160" cy="438912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0" y="2862072"/>
            <a:ext cx="94640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0">
                <a:solidFill>
                  <a:srgbClr val="707070"/>
                </a:solidFill>
                <a:latin typeface="Arial"/>
              </a:rPr>
              <a:t>[Optional section image]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1312" y="2816352"/>
            <a:ext cx="164592" cy="841248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93392" y="3675887"/>
            <a:ext cx="69494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400" b="1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1680" y="4434840"/>
            <a:ext cx="65836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50" b="0">
                <a:solidFill>
                  <a:srgbClr val="181818"/>
                </a:solidFill>
                <a:latin typeface="Arial"/>
              </a:rPr>
              <a:t>Run the plan as a living evidence system.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72160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" y="372160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1920" y="372160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4112" y="372160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" y="372160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8496" y="372160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687" y="372160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72160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072" y="372160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264" y="372160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" y="372160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1647" y="372160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3839" y="372160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72160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224" y="372160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0416" y="372160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7" y="372160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72160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992" y="372160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" y="372160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Governance and refresh cadence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Operate the IEGP as a living plan, not a one-time deliverable.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24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2011680" y="1828800"/>
          <a:ext cx="50292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914400"/>
                <a:gridCol w="1097280"/>
              </a:tblGrid>
              <a:tr h="594360"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Forum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Rights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Core team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[maintain plan]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Evidence council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[prioritize/fund]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Global-local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needs]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Leadership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[trade-offs]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[semiannual]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[pull-through]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[purpose]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[rights]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7452360" y="1828800"/>
            <a:ext cx="3429000" cy="4160520"/>
          </a:xfrm>
          <a:prstGeom prst="rect">
            <a:avLst/>
          </a:prstGeom>
          <a:solidFill>
            <a:srgbClr val="F4F4F4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0" y="1828800"/>
            <a:ext cx="82296" cy="416052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1975104"/>
            <a:ext cx="30632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Update triggers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2395728"/>
            <a:ext cx="2743200" cy="2560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181818"/>
                </a:solidFill>
                <a:latin typeface="Arial"/>
              </a:rPr>
              <a:t>Clinical readout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181818"/>
                </a:solidFill>
                <a:latin typeface="Arial"/>
              </a:rPr>
              <a:t>Regulatory feedback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181818"/>
                </a:solidFill>
                <a:latin typeface="Arial"/>
              </a:rPr>
              <a:t>HTA / payer change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181818"/>
                </a:solidFill>
                <a:latin typeface="Arial"/>
              </a:rPr>
              <a:t>Competitor approval or data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181818"/>
                </a:solidFill>
                <a:latin typeface="Arial"/>
              </a:rPr>
              <a:t>Guideline update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181818"/>
                </a:solidFill>
                <a:latin typeface="Arial"/>
              </a:rPr>
              <a:t>Budget or feasibility change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72160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" y="372160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1920" y="372160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4112" y="372160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" y="372160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8496" y="372160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687" y="372160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72160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072" y="372160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264" y="372160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" y="372160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1647" y="372160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3839" y="372160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72160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224" y="372160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0416" y="372160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7" y="372160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72160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992" y="372160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" y="372160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Evidence impact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Track execution and evidence impact with business-readable measures.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FF5212"/>
                </a:solidFill>
                <a:latin typeface="Arial"/>
              </a:rPr>
              <a:t>72%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Gap closure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06040"/>
            <a:ext cx="914400" cy="32004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33672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0065A4"/>
                </a:solidFill>
                <a:latin typeface="Arial"/>
              </a:rPr>
              <a:t>18/24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3672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On-track activities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33672" y="2606040"/>
            <a:ext cx="914400" cy="32004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004067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944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Markets reused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9944" y="2606040"/>
            <a:ext cx="914400" cy="32004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6" y="1901952"/>
            <a:ext cx="13716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FF5212"/>
                </a:solidFill>
                <a:latin typeface="Arial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6216" y="2377440"/>
            <a:ext cx="1920240" cy="1280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30" b="1">
                <a:solidFill>
                  <a:srgbClr val="181818"/>
                </a:solidFill>
                <a:latin typeface="Arial"/>
              </a:rPr>
              <a:t>Pull-through outputs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86216" y="2606040"/>
            <a:ext cx="914400" cy="32004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2011680" y="3749039"/>
          <a:ext cx="94640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657600"/>
                <a:gridCol w="1234440"/>
                <a:gridCol w="1234440"/>
                <a:gridCol w="1828800"/>
              </a:tblGrid>
              <a:tr h="420624">
                <a:tc>
                  <a:txBody>
                    <a:bodyPr anchor="ctr"/>
                    <a:lstStyle/>
                    <a:p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3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721608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" y="3721608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1920" y="3721608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4112" y="3721608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" y="3721608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8496" y="3721608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687" y="3721608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721608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072" y="3721608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264" y="3721608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" y="3721608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1647" y="3721608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3839" y="3721608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721608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224" y="3721608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0416" y="3721608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7" y="3721608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721608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992" y="3721608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" y="3721608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16966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Risk and dependency register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Document constraints that could reduce evidence usefulness or delay decisions.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26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920240" y="1828800"/>
          <a:ext cx="9921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417320"/>
                <a:gridCol w="960120"/>
                <a:gridCol w="2971800"/>
                <a:gridCol w="2423160"/>
              </a:tblGrid>
              <a:tr h="548640"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Risk / dependency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590" b="1">
                          <a:solidFill>
                            <a:srgbClr val="FFFFFF"/>
                          </a:solidFill>
                          <a:latin typeface="Arial"/>
                        </a:rPr>
                        <a:t>Decision needed</a:t>
                      </a:r>
                    </a:p>
                  </a:txBody>
                  <a:tcPr marL="32004" marR="32004" marT="18288" marB="18288">
                    <a:solidFill>
                      <a:srgbClr val="004067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AFAFA"/>
          </a:solidFill>
          <a:ln w="317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192024" cy="192024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" y="269748"/>
            <a:ext cx="109728" cy="640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50" b="0">
                <a:solidFill>
                  <a:srgbClr val="181818"/>
                </a:solidFill>
                <a:latin typeface="Arial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7315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1">
                <a:solidFill>
                  <a:srgbClr val="181818"/>
                </a:solidFill>
                <a:latin typeface="Arial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969264"/>
            <a:ext cx="914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Click below to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navigate through</a:t>
            </a:r>
          </a:p>
          <a:p>
            <a:pPr>
              <a:spcAft>
                <a:spcPts val="400"/>
              </a:spcAft>
            </a:pPr>
            <a:r>
              <a:rPr sz="570">
                <a:solidFill>
                  <a:srgbClr val="181818"/>
                </a:solidFill>
                <a:latin typeface="Arial"/>
              </a:rPr>
              <a:t>the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8132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63677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29384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8483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77440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32888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Evidence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825496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980944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Gap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273552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429000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721608"/>
            <a:ext cx="1572768" cy="448056"/>
          </a:xfrm>
          <a:prstGeom prst="rect">
            <a:avLst/>
          </a:prstGeom>
          <a:solidFill>
            <a:srgbClr val="FFFFFF"/>
          </a:solidFill>
          <a:ln w="254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3877056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50" b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169664"/>
            <a:ext cx="109728" cy="448056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" y="4169664"/>
            <a:ext cx="21335" cy="448056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1920" y="4169664"/>
            <a:ext cx="21335" cy="448056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4112" y="4169664"/>
            <a:ext cx="21335" cy="448056"/>
          </a:xfrm>
          <a:prstGeom prst="rect">
            <a:avLst/>
          </a:prstGeom>
          <a:solidFill>
            <a:srgbClr val="EA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" y="4169664"/>
            <a:ext cx="21335" cy="448056"/>
          </a:xfrm>
          <a:prstGeom prst="rect">
            <a:avLst/>
          </a:prstGeom>
          <a:solidFill>
            <a:srgbClr val="E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8496" y="4169664"/>
            <a:ext cx="21335" cy="448056"/>
          </a:xfrm>
          <a:prstGeom prst="rect">
            <a:avLst/>
          </a:prstGeom>
          <a:solidFill>
            <a:srgbClr val="E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0687" y="4169664"/>
            <a:ext cx="21335" cy="448056"/>
          </a:xfrm>
          <a:prstGeom prst="rect">
            <a:avLst/>
          </a:prstGeom>
          <a:solidFill>
            <a:srgbClr val="E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4169664"/>
            <a:ext cx="21335" cy="448056"/>
          </a:xfrm>
          <a:prstGeom prst="rect">
            <a:avLst/>
          </a:prstGeom>
          <a:solidFill>
            <a:srgbClr val="F0D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5072" y="4169664"/>
            <a:ext cx="21335" cy="448056"/>
          </a:xfrm>
          <a:prstGeom prst="rect">
            <a:avLst/>
          </a:prstGeom>
          <a:solidFill>
            <a:srgbClr val="F1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7264" y="4169664"/>
            <a:ext cx="21335" cy="448056"/>
          </a:xfrm>
          <a:prstGeom prst="rect">
            <a:avLst/>
          </a:prstGeom>
          <a:solidFill>
            <a:srgbClr val="F2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" y="4169664"/>
            <a:ext cx="21335" cy="448056"/>
          </a:xfrm>
          <a:prstGeom prst="rect">
            <a:avLst/>
          </a:prstGeom>
          <a:solidFill>
            <a:srgbClr val="F4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647" y="4169664"/>
            <a:ext cx="21335" cy="448056"/>
          </a:xfrm>
          <a:prstGeom prst="rect">
            <a:avLst/>
          </a:prstGeom>
          <a:solidFill>
            <a:srgbClr val="F5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3839" y="4169664"/>
            <a:ext cx="21335" cy="448056"/>
          </a:xfrm>
          <a:prstGeom prst="rect">
            <a:avLst/>
          </a:prstGeom>
          <a:solidFill>
            <a:srgbClr val="F6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4169664"/>
            <a:ext cx="21335" cy="448056"/>
          </a:xfrm>
          <a:prstGeom prst="rect">
            <a:avLst/>
          </a:prstGeom>
          <a:solidFill>
            <a:srgbClr val="F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8224" y="4169664"/>
            <a:ext cx="21335" cy="448056"/>
          </a:xfrm>
          <a:prstGeom prst="rect">
            <a:avLst/>
          </a:prstGeom>
          <a:solidFill>
            <a:srgbClr val="F9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0416" y="4169664"/>
            <a:ext cx="21335" cy="448056"/>
          </a:xfrm>
          <a:prstGeom prst="rect">
            <a:avLst/>
          </a:prstGeom>
          <a:solidFill>
            <a:srgbClr val="FA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7" y="4169664"/>
            <a:ext cx="21335" cy="448056"/>
          </a:xfrm>
          <a:prstGeom prst="rect">
            <a:avLst/>
          </a:prstGeom>
          <a:solidFill>
            <a:srgbClr val="FC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4169664"/>
            <a:ext cx="21335" cy="448056"/>
          </a:xfrm>
          <a:prstGeom prst="rect">
            <a:avLst/>
          </a:prstGeom>
          <a:solidFill>
            <a:srgbClr val="FD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6992" y="4169664"/>
            <a:ext cx="21335" cy="448056"/>
          </a:xfrm>
          <a:prstGeom prst="rect">
            <a:avLst/>
          </a:prstGeom>
          <a:solidFill>
            <a:srgbClr val="FF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" y="4169664"/>
            <a:ext cx="1243584" cy="4480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4325112"/>
            <a:ext cx="1078992" cy="914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570" b="1">
                <a:solidFill>
                  <a:srgbClr val="181818"/>
                </a:solidFill>
                <a:latin typeface="Arial"/>
              </a:rPr>
              <a:t>Appendix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53344" y="320040"/>
            <a:ext cx="1170432" cy="228600"/>
          </a:xfrm>
          <a:prstGeom prst="roundRect">
            <a:avLst>
              <a:gd name="adj" fmla="val 18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8" y="379476"/>
            <a:ext cx="1060704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749808"/>
            <a:ext cx="8961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400" b="1">
                <a:solidFill>
                  <a:srgbClr val="181818"/>
                </a:solidFill>
                <a:latin typeface="Arial"/>
              </a:rPr>
              <a:t>Appendix worksheets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1298448"/>
            <a:ext cx="82296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0">
                <a:solidFill>
                  <a:srgbClr val="707070"/>
                </a:solidFill>
                <a:latin typeface="Arial"/>
              </a:rPr>
              <a:t>Keep source provenance, regional adaptation, methodology, and final review audit-ready.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1572768"/>
            <a:ext cx="9875520" cy="9144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164592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550" b="0">
                <a:solidFill>
                  <a:srgbClr val="707070"/>
                </a:solidFill>
                <a:latin typeface="Arial"/>
              </a:rPr>
              <a:t>IEGP template | [date]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7392" y="6510528"/>
            <a:ext cx="228600" cy="1097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00" b="1">
                <a:solidFill>
                  <a:srgbClr val="181818"/>
                </a:solidFill>
                <a:latin typeface="Arial"/>
              </a:rPr>
              <a:t>27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1874519"/>
            <a:ext cx="3977639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1680" y="1874519"/>
            <a:ext cx="82296" cy="100584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2020824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Regional adaptation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31136" y="2404872"/>
            <a:ext cx="329184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local needs, reusable global evidence, local gaps, owner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874519"/>
            <a:ext cx="3977639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0" y="1874519"/>
            <a:ext cx="82296" cy="1005840"/>
          </a:xfrm>
          <a:prstGeom prst="rect">
            <a:avLst/>
          </a:prstGeom>
          <a:solidFill>
            <a:srgbClr val="00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2020824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Evidence source log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3136" y="2404872"/>
            <a:ext cx="329184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source, date, owner, confidence, limitation, claim link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3447287"/>
            <a:ext cx="3977639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11680" y="3447287"/>
            <a:ext cx="82296" cy="1005840"/>
          </a:xfrm>
          <a:prstGeom prst="rect">
            <a:avLst/>
          </a:prstGeom>
          <a:solidFill>
            <a:srgbClr val="FF5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0280" y="3593591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Methodology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1136" y="3977639"/>
            <a:ext cx="329184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inputs, workshops, scoring rubric, assumptions, exclusions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3447287"/>
            <a:ext cx="3977639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0" y="3447287"/>
            <a:ext cx="82296" cy="1005840"/>
          </a:xfrm>
          <a:prstGeom prst="rect">
            <a:avLst/>
          </a:prstGeom>
          <a:solidFill>
            <a:srgbClr val="529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3593591"/>
            <a:ext cx="3611879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60" b="1">
                <a:solidFill>
                  <a:srgbClr val="181818"/>
                </a:solidFill>
                <a:latin typeface="Arial"/>
              </a:rPr>
              <a:t>Glossary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3977639"/>
            <a:ext cx="329184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40" b="0">
                <a:solidFill>
                  <a:srgbClr val="707070"/>
                </a:solidFill>
                <a:latin typeface="Arial"/>
              </a:rPr>
              <a:t>IEGP/IEP, ORQ, PICOT, RWE, HEOR, HTA, COA/PRO, IIR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