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83480" cy="82296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4389120"/>
            <a:ext cx="2743200" cy="2743200"/>
          </a:xfrm>
          <a:prstGeom prst="diamond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097280" y="365760"/>
            <a:ext cx="3566160" cy="3566160"/>
          </a:xfrm>
          <a:prstGeom prst="diamond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0" y="2743200"/>
            <a:ext cx="2743200" cy="2743200"/>
          </a:xfrm>
          <a:prstGeom prst="diamond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005840"/>
            <a:ext cx="70408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3000" b="1">
                <a:solidFill>
                  <a:srgbClr val="003F3B"/>
                </a:solidFill>
                <a:latin typeface="Arial"/>
              </a:rPr>
              <a:t>Integrated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481328"/>
            <a:ext cx="6309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2800" b="0">
                <a:solidFill>
                  <a:srgbClr val="00554F"/>
                </a:solidFill>
                <a:latin typeface="Arial"/>
              </a:rPr>
              <a:t>Generation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331720"/>
            <a:ext cx="6217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250" b="0">
                <a:solidFill>
                  <a:srgbClr val="31403D"/>
                </a:solidFill>
                <a:latin typeface="Arial"/>
              </a:rPr>
              <a:t>Editable template for product, indication, and geography-specific evidence strategy.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7880" y="3383280"/>
            <a:ext cx="3154680" cy="0"/>
          </a:xfrm>
          <a:prstGeom prst="line">
            <a:avLst/>
          </a:prstGeom>
          <a:ln w="12700">
            <a:solidFill>
              <a:srgbClr val="C7D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97880" y="3474720"/>
            <a:ext cx="1371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50" b="1">
                <a:solidFill>
                  <a:srgbClr val="31403D"/>
                </a:solidFill>
                <a:latin typeface="Arial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657600"/>
            <a:ext cx="31089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30" b="0">
                <a:solidFill>
                  <a:srgbClr val="052927"/>
                </a:solidFill>
                <a:latin typeface="Arial"/>
              </a:rPr>
              <a:t>[Product / asset name]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64040" y="3383280"/>
            <a:ext cx="3154680" cy="0"/>
          </a:xfrm>
          <a:prstGeom prst="line">
            <a:avLst/>
          </a:prstGeom>
          <a:ln w="12700">
            <a:solidFill>
              <a:srgbClr val="C7D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64040" y="3474720"/>
            <a:ext cx="1371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50" b="1">
                <a:solidFill>
                  <a:srgbClr val="31403D"/>
                </a:solidFill>
                <a:latin typeface="Arial"/>
              </a:rPr>
              <a:t>Indication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657600"/>
            <a:ext cx="31089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30" b="0">
                <a:solidFill>
                  <a:srgbClr val="052927"/>
                </a:solidFill>
                <a:latin typeface="Arial"/>
              </a:rPr>
              <a:t>[Therapy area / population]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97880" y="4041648"/>
            <a:ext cx="3154680" cy="0"/>
          </a:xfrm>
          <a:prstGeom prst="line">
            <a:avLst/>
          </a:prstGeom>
          <a:ln w="12700">
            <a:solidFill>
              <a:srgbClr val="C7D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97880" y="4133087"/>
            <a:ext cx="1371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50" b="1">
                <a:solidFill>
                  <a:srgbClr val="31403D"/>
                </a:solidFill>
                <a:latin typeface="Arial"/>
              </a:rPr>
              <a:t>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315968"/>
            <a:ext cx="31089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30" b="0">
                <a:solidFill>
                  <a:srgbClr val="052927"/>
                </a:solidFill>
                <a:latin typeface="Arial"/>
              </a:rPr>
              <a:t>[Draft / final / refresh]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64040" y="4041648"/>
            <a:ext cx="3154680" cy="0"/>
          </a:xfrm>
          <a:prstGeom prst="line">
            <a:avLst/>
          </a:prstGeom>
          <a:ln w="12700">
            <a:solidFill>
              <a:srgbClr val="C7D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464040" y="4133087"/>
            <a:ext cx="1371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50" b="1">
                <a:solidFill>
                  <a:srgbClr val="31403D"/>
                </a:solidFill>
                <a:latin typeface="Arial"/>
              </a:rPr>
              <a:t>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4315968"/>
            <a:ext cx="31089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30" b="0">
                <a:solidFill>
                  <a:srgbClr val="052927"/>
                </a:solidFill>
                <a:latin typeface="Arial"/>
              </a:rPr>
              <a:t>[Function / accountable lead]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0" y="7754112"/>
            <a:ext cx="109728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Replace placeholders before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02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General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How to use this template</a:t>
            </a:r>
            <a:r>
              <a:rPr sz="2000">
                <a:solidFill>
                  <a:srgbClr val="00554F"/>
                </a:solidFill>
                <a:latin typeface="Arial"/>
              </a:rPr>
              <a:t> | Build the plan around evidence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4160520" cy="1261872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490472"/>
            <a:ext cx="383133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1. Define the decision frame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1929384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2176272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1" y="2103120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Clarify launch, access, guideline, regulatory, and lifecycle decisions.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2450591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" y="2377439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Set geography, timing, and stakeholder scope.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353312"/>
            <a:ext cx="4160520" cy="1261872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5" y="1490472"/>
            <a:ext cx="383133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2. Map evidence need vs have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8655" y="1929384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48655" y="2176272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7" y="2103120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Inventory completed, ongoing, and planned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48655" y="2450591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7" y="2377439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Classify gaps by stakeholder, market, evidence type, and urgency.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353312"/>
            <a:ext cx="4160520" cy="1261872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1490472"/>
            <a:ext cx="383133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3. Convert gaps into tactics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74352" y="1929384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74352" y="2176272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38944" y="2103120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Prioritize research questions and study concepts.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74352" y="2450591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38944" y="2377439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Assign owner, budget, timing, readout, and refresh cadence.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2834640"/>
            <a:ext cx="13304520" cy="502920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2834640"/>
            <a:ext cx="64008" cy="502920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2926080"/>
            <a:ext cx="12984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19" b="0">
                <a:solidFill>
                  <a:srgbClr val="052927"/>
                </a:solidFill>
                <a:latin typeface="Arial"/>
              </a:rPr>
              <a:t>Design note: The slide system uses a biotech clinical briefing grammar: compact teal modules, hard evidence panels, visible decision signals, and sparse section pacing. Swap color tokens for company colors without changing layout.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03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Section divider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-274320"/>
            <a:ext cx="4206240" cy="3383280"/>
          </a:xfrm>
          <a:prstGeom prst="line">
            <a:avLst/>
          </a:prstGeom>
          <a:ln w="889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46720" y="-182880"/>
            <a:ext cx="4206240" cy="3383280"/>
          </a:xfrm>
          <a:prstGeom prst="line">
            <a:avLst/>
          </a:prstGeom>
          <a:ln w="889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0" y="288036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03F3B"/>
                </a:solidFill>
                <a:latin typeface="Arial"/>
              </a:rPr>
              <a:t>Evidence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00400"/>
            <a:ext cx="45720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00554F"/>
                </a:solidFill>
                <a:latin typeface="Arial"/>
              </a:rPr>
              <a:t>and product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566160"/>
            <a:ext cx="256032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550" b="0">
                <a:solidFill>
                  <a:srgbClr val="66736F"/>
                </a:solidFill>
                <a:latin typeface="Arial"/>
              </a:rPr>
              <a:t>Section 1 of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696712"/>
            <a:ext cx="13304520" cy="105156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2971800" y="5943600"/>
            <a:ext cx="2514600" cy="621792"/>
          </a:xfrm>
          <a:prstGeom prst="parallelogram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5120640" y="5943600"/>
            <a:ext cx="2286000" cy="621792"/>
          </a:xfrm>
          <a:prstGeom prst="parallelogram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11155680" y="5696712"/>
            <a:ext cx="2377440" cy="1051560"/>
          </a:xfrm>
          <a:prstGeom prst="parallelogram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04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Executive summary</a:t>
            </a:r>
            <a:r>
              <a:rPr sz="2000">
                <a:solidFill>
                  <a:srgbClr val="00554F"/>
                </a:solidFill>
                <a:latin typeface="Arial"/>
              </a:rPr>
              <a:t> | Evidence priorities for the next planning 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80160"/>
            <a:ext cx="4160520" cy="1691640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417319"/>
            <a:ext cx="383133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Priority 1: Access-critical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1856231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210312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1" y="202996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Gap: [Comparator, outcome, or local-market evidence need].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237743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" y="230428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Tactic: [Study / analysis / synthesis].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65175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1" y="257860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Decision impact: [HTA, formulary, label, guideline].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280160"/>
            <a:ext cx="4160520" cy="1691640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5" y="1417319"/>
            <a:ext cx="383133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Priority 2: Differentiation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655" y="1856231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8655" y="210312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7" y="202996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Gap: [Value message lacks support].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48655" y="237743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3247" y="230428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Tactic: [RWE, HEOR, post-hoc, registry].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8655" y="265175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13247" y="257860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Timing: [Readout needed by milestone].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280160"/>
            <a:ext cx="4160520" cy="1691640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1417319"/>
            <a:ext cx="383133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Priority 3: Patient impact gap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4352" y="1856231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74352" y="210312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02996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Gap: [PRO, burden, preference, adherence].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74352" y="237743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38944" y="230428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Tactic: [COA / preference / qualitative study].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74352" y="265175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38944" y="257860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Owner: [Function / workstream].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456432"/>
            <a:ext cx="3063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3566160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B8678"/>
                </a:solidFill>
                <a:latin typeface="Arial"/>
              </a:rPr>
              <a:t>[x]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3913631"/>
            <a:ext cx="28437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40" b="0">
                <a:solidFill>
                  <a:srgbClr val="31403D"/>
                </a:solidFill>
                <a:latin typeface="Arial"/>
              </a:rPr>
              <a:t>Priority evidence gaps to close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456432"/>
            <a:ext cx="3063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33088" y="3566160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B8678"/>
                </a:solidFill>
                <a:latin typeface="Arial"/>
              </a:rPr>
              <a:t>[x]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3088" y="3913631"/>
            <a:ext cx="28437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40" b="0">
                <a:solidFill>
                  <a:srgbClr val="31403D"/>
                </a:solidFill>
                <a:latin typeface="Arial"/>
              </a:rPr>
              <a:t>New studies or analyses proposed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88352" y="3456432"/>
            <a:ext cx="3063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3566160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B8678"/>
                </a:solidFill>
                <a:latin typeface="Arial"/>
              </a:rPr>
              <a:t>[x]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3913631"/>
            <a:ext cx="28437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40" b="0">
                <a:solidFill>
                  <a:srgbClr val="31403D"/>
                </a:solidFill>
                <a:latin typeface="Arial"/>
              </a:rPr>
              <a:t>Decision gates supported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53344" y="3456432"/>
            <a:ext cx="3063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63072" y="3566160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B8678"/>
                </a:solidFill>
                <a:latin typeface="Arial"/>
              </a:rPr>
              <a:t>[x]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63072" y="3913631"/>
            <a:ext cx="28437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40" b="0">
                <a:solidFill>
                  <a:srgbClr val="31403D"/>
                </a:solidFill>
                <a:latin typeface="Arial"/>
              </a:rPr>
              <a:t>Markets requiring adaptation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05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Decision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Key decisions needed</a:t>
            </a:r>
            <a:r>
              <a:rPr sz="2000">
                <a:solidFill>
                  <a:srgbClr val="00554F"/>
                </a:solidFill>
                <a:latin typeface="Arial"/>
              </a:rPr>
              <a:t> | Align the evidence plan to funded choices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25880"/>
          <a:ext cx="681227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377"/>
                <a:gridCol w="936688"/>
                <a:gridCol w="2554605"/>
                <a:gridCol w="851535"/>
                <a:gridCol w="596074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Recommendation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Evidence basis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Due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580" b="1">
                          <a:solidFill>
                            <a:srgbClr val="003F3B"/>
                          </a:solidFill>
                          <a:latin typeface="Arial"/>
                        </a:rPr>
                        <a:t>[Fund study concept A]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Proceed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[Closes payer-critical comparator gap]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[HEOR]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[Qx]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580" b="1">
                          <a:solidFill>
                            <a:srgbClr val="003F3B"/>
                          </a:solidFill>
                          <a:latin typeface="Arial"/>
                        </a:rPr>
                        <a:t>[Include market X in RWE design]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Decide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[Local HTA requirement or guideline timing]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[Access]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[Qx]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580" b="1">
                          <a:solidFill>
                            <a:srgbClr val="003F3B"/>
                          </a:solidFill>
                          <a:latin typeface="Arial"/>
                        </a:rPr>
                        <a:t>[Retire low-impact tactic]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Stop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[No decision linkage or duplicate evidence]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[Medical]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[Qx]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580" b="1">
                          <a:solidFill>
                            <a:srgbClr val="003F3B"/>
                          </a:solidFill>
                          <a:latin typeface="Arial"/>
                        </a:rPr>
                        <a:t>[Adapt claim language]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Revise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[Evidence strength below desired support]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[Comms]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[Qx]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580" b="1">
                          <a:solidFill>
                            <a:srgbClr val="003F3B"/>
                          </a:solidFill>
                          <a:latin typeface="Arial"/>
                        </a:rPr>
                        <a:t>[Activate affiliate input cycle]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Proceed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[Local evidence needs not yet captured]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[Regional]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052927"/>
                          </a:solidFill>
                          <a:latin typeface="Arial"/>
                        </a:rPr>
                        <a:t>[Qx]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353312"/>
            <a:ext cx="4754880" cy="201168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8641080" y="1783080"/>
            <a:ext cx="914400" cy="914400"/>
          </a:xfrm>
          <a:prstGeom prst="diamond">
            <a:avLst/>
          </a:prstGeom>
          <a:noFill/>
          <a:ln w="25400">
            <a:solidFill>
              <a:srgbClr val="4E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9217152" y="1444752"/>
            <a:ext cx="1417320" cy="1417320"/>
          </a:xfrm>
          <a:prstGeom prst="diamond">
            <a:avLst/>
          </a:prstGeom>
          <a:noFill/>
          <a:ln w="25400">
            <a:solidFill>
              <a:srgbClr val="4E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9948672" y="1737360"/>
            <a:ext cx="914400" cy="914400"/>
          </a:xfrm>
          <a:prstGeom prst="diamond">
            <a:avLst/>
          </a:prstGeom>
          <a:noFill/>
          <a:ln w="25400">
            <a:solidFill>
              <a:srgbClr val="4E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172200"/>
            <a:ext cx="13304520" cy="201168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1280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Use this slide to make the IEGP a decision instrument, not a catalog of possible studies.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06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Asset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Asset snapshot</a:t>
            </a:r>
            <a:r>
              <a:rPr sz="2000">
                <a:solidFill>
                  <a:srgbClr val="00554F"/>
                </a:solidFill>
                <a:latin typeface="Arial"/>
              </a:rPr>
              <a:t> | Product context that shapes evidence needs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408176"/>
            <a:ext cx="4160520" cy="210312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545336"/>
            <a:ext cx="3867911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[Product / asset name]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1956816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1883664"/>
            <a:ext cx="3703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Mechanism: [MoA / platform]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2203704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130552"/>
            <a:ext cx="3703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Population: [Target patients and line of therapy]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2450592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2377440"/>
            <a:ext cx="3703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Lifecycle stage: [Pre-launch / launch / mature / expansion]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2697480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624328"/>
            <a:ext cx="3703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Current evidence base: [Pivotal, extension, RWE, HEOR]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2944368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871216"/>
            <a:ext cx="3703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Major decision windows: [Submission, HTA, guideline, launch]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1234440"/>
            <a:ext cx="8138160" cy="278892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1554480"/>
            <a:ext cx="20574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1554480"/>
            <a:ext cx="2057400" cy="4572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1700784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80" b="1">
                <a:solidFill>
                  <a:srgbClr val="003F3B"/>
                </a:solidFill>
                <a:latin typeface="Arial"/>
              </a:rPr>
              <a:t>Clinical promise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192024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80" b="0">
                <a:solidFill>
                  <a:srgbClr val="31403D"/>
                </a:solidFill>
                <a:latin typeface="Arial"/>
              </a:rPr>
              <a:t>[Efficacy, safety, unmet need, differentiation hypothesis]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14416" y="2331720"/>
            <a:ext cx="329184" cy="36576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25896" y="2331720"/>
            <a:ext cx="329184" cy="3657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37376" y="2331720"/>
            <a:ext cx="329184" cy="36576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48856" y="2331720"/>
            <a:ext cx="329184" cy="36576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09560" y="1554480"/>
            <a:ext cx="20574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9560" y="1554480"/>
            <a:ext cx="2057400" cy="4572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9288" y="1700784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80" b="1">
                <a:solidFill>
                  <a:srgbClr val="003F3B"/>
                </a:solidFill>
                <a:latin typeface="Arial"/>
              </a:rPr>
              <a:t>Access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192024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80" b="0">
                <a:solidFill>
                  <a:srgbClr val="31403D"/>
                </a:solidFill>
                <a:latin typeface="Arial"/>
              </a:rPr>
              <a:t>[Efficacy, safety, unmet need, differentiation hypothesis]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7576" y="2331720"/>
            <a:ext cx="329184" cy="36576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49056" y="2331720"/>
            <a:ext cx="329184" cy="3657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0536" y="2331720"/>
            <a:ext cx="329184" cy="36576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72016" y="2331720"/>
            <a:ext cx="329184" cy="36576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32720" y="1554480"/>
            <a:ext cx="20574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32720" y="1554480"/>
            <a:ext cx="2057400" cy="45720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42448" y="1700784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80" b="1">
                <a:solidFill>
                  <a:srgbClr val="003F3B"/>
                </a:solidFill>
                <a:latin typeface="Arial"/>
              </a:rPr>
              <a:t>Patient value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2448" y="192024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80" b="0">
                <a:solidFill>
                  <a:srgbClr val="31403D"/>
                </a:solidFill>
                <a:latin typeface="Arial"/>
              </a:rPr>
              <a:t>[Efficacy, safety, unmet need, differentiation hypothesis]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60736" y="2331720"/>
            <a:ext cx="329184" cy="36576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872216" y="2331720"/>
            <a:ext cx="329184" cy="3657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283696" y="2331720"/>
            <a:ext cx="329184" cy="36576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695176" y="2331720"/>
            <a:ext cx="329184" cy="36576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40680" y="3063240"/>
            <a:ext cx="7269480" cy="457200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40680" y="3063240"/>
            <a:ext cx="64008" cy="457200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41848" y="3154680"/>
            <a:ext cx="6949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50" b="0">
                <a:solidFill>
                  <a:srgbClr val="052927"/>
                </a:solidFill>
                <a:latin typeface="Arial"/>
              </a:rPr>
              <a:t>Replace this with the core product profile and the evidence implications that follow from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07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Strategy translation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Strategic imperatives</a:t>
            </a:r>
            <a:r>
              <a:rPr sz="2000">
                <a:solidFill>
                  <a:srgbClr val="00554F"/>
                </a:solidFill>
                <a:latin typeface="Arial"/>
              </a:rPr>
              <a:t> | Convert product strategy into evidence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25880"/>
            <a:ext cx="4160520" cy="1645920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463039"/>
            <a:ext cx="383133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Launch and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1901952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214884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1" y="2075688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Secure reimbursement in priority markets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242316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" y="2350008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Support payer value story and budget 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69747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1" y="262432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Prepare HTA dossier evidence inputs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325880"/>
            <a:ext cx="4160520" cy="1645920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5" y="1463039"/>
            <a:ext cx="383133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Differentiation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655" y="1901952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8655" y="214884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7" y="2075688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Demonstrate value vs standard of care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48655" y="242316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3247" y="2350008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Support claims in defined subpopulations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8655" y="269747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13247" y="262432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Clarify real-world positioning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325880"/>
            <a:ext cx="4160520" cy="1645920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1463039"/>
            <a:ext cx="383133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Lifecycle growth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4352" y="1901952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74352" y="214884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075688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Enable label expansion or sequencing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74352" y="242316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38944" y="2350008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Support guideline inclusion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74352" y="269747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38944" y="2624327"/>
            <a:ext cx="36667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Build patient-centered evidence 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172200"/>
            <a:ext cx="13304520" cy="256032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6199632"/>
            <a:ext cx="12893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Strategic imperative -&gt; stakeholder need -&gt; evidence gap -&gt; study tactic -&gt; decision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08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Section divider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-274320"/>
            <a:ext cx="4206240" cy="3383280"/>
          </a:xfrm>
          <a:prstGeom prst="line">
            <a:avLst/>
          </a:prstGeom>
          <a:ln w="889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46720" y="-182880"/>
            <a:ext cx="4206240" cy="3383280"/>
          </a:xfrm>
          <a:prstGeom prst="line">
            <a:avLst/>
          </a:prstGeom>
          <a:ln w="889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0" y="288036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03F3B"/>
                </a:solidFill>
                <a:latin typeface="Arial"/>
              </a:rPr>
              <a:t>Evidence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00400"/>
            <a:ext cx="45720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00554F"/>
                </a:solidFill>
                <a:latin typeface="Arial"/>
              </a:rPr>
              <a:t>and stakeholder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566160"/>
            <a:ext cx="256032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550" b="0">
                <a:solidFill>
                  <a:srgbClr val="66736F"/>
                </a:solidFill>
                <a:latin typeface="Arial"/>
              </a:rPr>
              <a:t>Section 2 of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696712"/>
            <a:ext cx="13304520" cy="105156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2971800" y="5943600"/>
            <a:ext cx="2514600" cy="621792"/>
          </a:xfrm>
          <a:prstGeom prst="parallelogram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5120640" y="5943600"/>
            <a:ext cx="2286000" cy="621792"/>
          </a:xfrm>
          <a:prstGeom prst="parallelogram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11155680" y="5696712"/>
            <a:ext cx="2377440" cy="1051560"/>
          </a:xfrm>
          <a:prstGeom prst="parallelogram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09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Stakeholder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Stakeholder evidence needs</a:t>
            </a:r>
            <a:r>
              <a:rPr sz="2000">
                <a:solidFill>
                  <a:srgbClr val="00554F"/>
                </a:solidFill>
                <a:latin typeface="Arial"/>
              </a:rPr>
              <a:t> | Map what each audience must believe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20208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31403D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1417320"/>
            <a:ext cx="20208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31403D"/>
                </a:solidFill>
                <a:latin typeface="Arial"/>
              </a:rPr>
              <a:t>Regulators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417320"/>
            <a:ext cx="20208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31403D"/>
                </a:solidFill>
                <a:latin typeface="Arial"/>
              </a:rPr>
              <a:t>HTA / payers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1417320"/>
            <a:ext cx="20208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31403D"/>
                </a:solidFill>
                <a:latin typeface="Arial"/>
              </a:rPr>
              <a:t>HCPs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1417320"/>
            <a:ext cx="20208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31403D"/>
                </a:solidFill>
                <a:latin typeface="Arial"/>
              </a:rPr>
              <a:t>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5368" y="1417320"/>
            <a:ext cx="20208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31403D"/>
                </a:solidFill>
                <a:latin typeface="Arial"/>
              </a:rPr>
              <a:t>Guidelines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764792"/>
            <a:ext cx="2057400" cy="310896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837944"/>
            <a:ext cx="1947672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50" b="1">
                <a:solidFill>
                  <a:srgbClr val="003F3B"/>
                </a:solidFill>
                <a:latin typeface="Arial"/>
              </a:rPr>
              <a:t>Clinical benefit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5768" y="1764792"/>
            <a:ext cx="2002536" cy="310896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1837944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Have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3168" y="1764792"/>
            <a:ext cx="2002536" cy="31089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1837944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1764792"/>
            <a:ext cx="2002536" cy="310896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1837944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Have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87968" y="1764792"/>
            <a:ext cx="2002536" cy="31089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1837944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45368" y="1764792"/>
            <a:ext cx="2002536" cy="31089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45368" y="1837944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157984"/>
            <a:ext cx="2057400" cy="310896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2231136"/>
            <a:ext cx="1947672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50" b="1">
                <a:solidFill>
                  <a:srgbClr val="003F3B"/>
                </a:solidFill>
                <a:latin typeface="Arial"/>
              </a:rPr>
              <a:t>Comparative 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15768" y="2157984"/>
            <a:ext cx="2002536" cy="31089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5768" y="2231136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73168" y="2157984"/>
            <a:ext cx="2002536" cy="31089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2231136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30568" y="2157984"/>
            <a:ext cx="2002536" cy="310896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0568" y="2231136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2157984"/>
            <a:ext cx="2002536" cy="31089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7968" y="2231136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45368" y="2157984"/>
            <a:ext cx="2002536" cy="31089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45368" y="2231136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2551176"/>
            <a:ext cx="2057400" cy="310896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2624328"/>
            <a:ext cx="1947672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50" b="1">
                <a:solidFill>
                  <a:srgbClr val="003F3B"/>
                </a:solidFill>
                <a:latin typeface="Arial"/>
              </a:rPr>
              <a:t>Safety in practice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15768" y="2551176"/>
            <a:ext cx="2002536" cy="310896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15768" y="2624328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Have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73168" y="2551176"/>
            <a:ext cx="2002536" cy="31089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73168" y="2624328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30568" y="2551176"/>
            <a:ext cx="2002536" cy="310896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30568" y="2624328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87968" y="2551176"/>
            <a:ext cx="2002536" cy="31089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87968" y="2624328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45368" y="2551176"/>
            <a:ext cx="2002536" cy="31089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45368" y="2624328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2944368"/>
            <a:ext cx="2057400" cy="310896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17520"/>
            <a:ext cx="1947672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50" b="1">
                <a:solidFill>
                  <a:srgbClr val="003F3B"/>
                </a:solidFill>
                <a:latin typeface="Arial"/>
              </a:rPr>
              <a:t>Quality of life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15768" y="2944368"/>
            <a:ext cx="2002536" cy="31089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15768" y="3017520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73168" y="2944368"/>
            <a:ext cx="2002536" cy="31089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73168" y="3017520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30568" y="2944368"/>
            <a:ext cx="2002536" cy="31089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30568" y="3017520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87968" y="2944368"/>
            <a:ext cx="2002536" cy="31089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87968" y="3017520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45368" y="2944368"/>
            <a:ext cx="2002536" cy="310896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45368" y="3017520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337560"/>
            <a:ext cx="2057400" cy="310896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" y="3410712"/>
            <a:ext cx="1947672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50" b="1">
                <a:solidFill>
                  <a:srgbClr val="003F3B"/>
                </a:solidFill>
                <a:latin typeface="Arial"/>
              </a:rPr>
              <a:t>Economic impact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15768" y="3337560"/>
            <a:ext cx="2002536" cy="310896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15768" y="3410712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052927"/>
                </a:solidFill>
                <a:latin typeface="Arial"/>
              </a:rPr>
              <a:t>N/A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3337560"/>
            <a:ext cx="2002536" cy="31089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73168" y="3410712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30568" y="3337560"/>
            <a:ext cx="2002536" cy="310896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0568" y="3410712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052927"/>
                </a:solidFill>
                <a:latin typeface="Arial"/>
              </a:rPr>
              <a:t>Low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87968" y="3337560"/>
            <a:ext cx="2002536" cy="310896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87968" y="3410712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052927"/>
                </a:solidFill>
                <a:latin typeface="Arial"/>
              </a:rPr>
              <a:t>Low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945368" y="3337560"/>
            <a:ext cx="2002536" cy="31089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945368" y="3410712"/>
            <a:ext cx="20025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5303520"/>
            <a:ext cx="13304520" cy="411480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8368" y="5303520"/>
            <a:ext cx="64008" cy="411480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536" y="5394959"/>
            <a:ext cx="1298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20" b="0">
                <a:solidFill>
                  <a:srgbClr val="052927"/>
                </a:solidFill>
                <a:latin typeface="Arial"/>
              </a:rPr>
              <a:t>Use color coding to separate evidence available, partial support, planned evidence, and decision-critical gaps.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10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Patient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Patient journey evidence map</a:t>
            </a:r>
            <a:r>
              <a:rPr sz="2000">
                <a:solidFill>
                  <a:srgbClr val="00554F"/>
                </a:solidFill>
                <a:latin typeface="Arial"/>
              </a:rPr>
              <a:t> | Locate evidence needs by care-stage friction</a:t>
            </a:r>
          </a:p>
        </p:txBody>
      </p:sp>
      <p:sp>
        <p:nvSpPr>
          <p:cNvPr id="9" name="Donut 8"/>
          <p:cNvSpPr/>
          <p:nvPr/>
        </p:nvSpPr>
        <p:spPr>
          <a:xfrm>
            <a:off x="1901952" y="1554480"/>
            <a:ext cx="2423160" cy="2423160"/>
          </a:xfrm>
          <a:prstGeom prst="donu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2" y="1554480"/>
            <a:ext cx="1207008" cy="1207008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240280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003F3B"/>
                </a:solidFill>
                <a:latin typeface="Arial"/>
              </a:rPr>
              <a:t>Evidence
journey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371600"/>
            <a:ext cx="7132320" cy="438912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1508760"/>
            <a:ext cx="683971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Diagnosis and referral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9864" y="1920240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34456" y="1847088"/>
            <a:ext cx="66751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[Evidence needs by care-stage friction]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965960"/>
            <a:ext cx="7132320" cy="438912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9864" y="2103120"/>
            <a:ext cx="683971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Treatment 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9864" y="2514600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34456" y="2441448"/>
            <a:ext cx="66751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[Evidence needs by care-stage friction]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2560320"/>
            <a:ext cx="7132320" cy="438912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9864" y="2697479"/>
            <a:ext cx="683971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Access and adherence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9864" y="3108960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34456" y="3035808"/>
            <a:ext cx="66751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[Evidence needs by care-stage friction]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3154680"/>
            <a:ext cx="7132320" cy="438912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9864" y="3291840"/>
            <a:ext cx="683971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Long-term outcomes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9864" y="3703320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34456" y="3630168"/>
            <a:ext cx="66751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[Evidence needs by care-stage friction]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11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Evidence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Current evidence inventory</a:t>
            </a:r>
            <a:r>
              <a:rPr sz="2000">
                <a:solidFill>
                  <a:srgbClr val="00554F"/>
                </a:solidFill>
                <a:latin typeface="Arial"/>
              </a:rPr>
              <a:t> | Completed, ongoing, and planned evidence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25880"/>
          <a:ext cx="13213075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830"/>
                <a:gridCol w="1270488"/>
                <a:gridCol w="1778683"/>
                <a:gridCol w="2668025"/>
                <a:gridCol w="1270488"/>
                <a:gridCol w="1143439"/>
                <a:gridCol w="1143439"/>
                <a:gridCol w="1778683"/>
              </a:tblGrid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Evidence source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Population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Endpoint / topic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Readout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Linked claim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</a:tr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[Pivotal study]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Clinical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[Population]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[OS, PFS, response, safety]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[Date]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Clinical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[Claim]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[Extension / follow-up]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Clinical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[Population]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[Long-term safety, durability]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[Date]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Clinical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[Claim]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[SLR / NMA]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HEOR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[Comparator set]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[Relative efficacy]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[Date]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HEOR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[Access message]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[Budget impact model]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HEOR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[Market-specific]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[Cost, utilization]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Draft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[Date]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Access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[Payer value]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[Registry analysis]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RWE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[Real-world patients]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[Treatment patterns, outcomes]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[Needed]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RWE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[Real-world value]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5404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[Patient preference study]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Patient evidence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[Patients / caregivers]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[Burden, preference, QoL]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Proposed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[Date]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Medical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[Patient value]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4617720"/>
            <a:ext cx="13213080" cy="384048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617720"/>
            <a:ext cx="64008" cy="384048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709159"/>
            <a:ext cx="128930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00" b="0">
                <a:solidFill>
                  <a:srgbClr val="052927"/>
                </a:solidFill>
                <a:latin typeface="Arial"/>
              </a:rPr>
              <a:t>Keep the evidence catalog traceable. Each row should connect to a source, owner, status, timing, evidence need, and value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12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Section divider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-274320"/>
            <a:ext cx="4206240" cy="3383280"/>
          </a:xfrm>
          <a:prstGeom prst="line">
            <a:avLst/>
          </a:prstGeom>
          <a:ln w="889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46720" y="-182880"/>
            <a:ext cx="4206240" cy="3383280"/>
          </a:xfrm>
          <a:prstGeom prst="line">
            <a:avLst/>
          </a:prstGeom>
          <a:ln w="889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0" y="288036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03F3B"/>
                </a:solidFill>
                <a:latin typeface="Arial"/>
              </a:rPr>
              <a:t>Gap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00400"/>
            <a:ext cx="45720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00554F"/>
                </a:solidFill>
                <a:latin typeface="Arial"/>
              </a:rPr>
              <a:t>and prioritization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566160"/>
            <a:ext cx="256032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550" b="0">
                <a:solidFill>
                  <a:srgbClr val="66736F"/>
                </a:solidFill>
                <a:latin typeface="Arial"/>
              </a:rPr>
              <a:t>Section 3 of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696712"/>
            <a:ext cx="13304520" cy="105156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2971800" y="5943600"/>
            <a:ext cx="2514600" cy="621792"/>
          </a:xfrm>
          <a:prstGeom prst="parallelogram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5120640" y="5943600"/>
            <a:ext cx="2286000" cy="621792"/>
          </a:xfrm>
          <a:prstGeom prst="parallelogram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11155680" y="5696712"/>
            <a:ext cx="2377440" cy="1051560"/>
          </a:xfrm>
          <a:prstGeom prst="parallelogram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13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Evidence gap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Evidence gap matrix</a:t>
            </a:r>
            <a:r>
              <a:rPr sz="2000">
                <a:solidFill>
                  <a:srgbClr val="00554F"/>
                </a:solidFill>
                <a:latin typeface="Arial"/>
              </a:rPr>
              <a:t> | Prioritize gaps by stakeholder, geography, and timing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25880"/>
          <a:ext cx="13213076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275"/>
                <a:gridCol w="1622658"/>
                <a:gridCol w="1274946"/>
                <a:gridCol w="2433988"/>
                <a:gridCol w="2318084"/>
                <a:gridCol w="1043137"/>
                <a:gridCol w="2433988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Evidence need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Geography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Current support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FFFFFF"/>
                          </a:solidFill>
                          <a:latin typeface="Arial"/>
                        </a:rPr>
                        <a:t>Decision consequence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[Comparator effectiveness]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HTA / payers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[EU5]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Indirect evidence only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No local comparator data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[May weaken reimbursement case]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[QoL and symptom burden]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Patients / HCPs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[Global]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Limited PRO collection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Insufficient patient-centered support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[Limits value story and guidelines]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[Long-term safety]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Regulators / HCPs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[US, EU]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Trial follow-up ongoing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Real-world durability unknown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[May constrain confidence]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[Economic model inputs]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HTA / payers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[Priority markets]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Partial source support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Local utility and cost inputs missing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[HTA uncertainty]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520" b="1">
                          <a:solidFill>
                            <a:srgbClr val="003F3B"/>
                          </a:solidFill>
                          <a:latin typeface="Arial"/>
                        </a:rPr>
                        <a:t>[Sequencing evidence]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HCPs / guidelines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[Global]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Emerging evidence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Clear pathway data absent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20" b="0">
                          <a:solidFill>
                            <a:srgbClr val="052927"/>
                          </a:solidFill>
                          <a:latin typeface="Arial"/>
                        </a:rPr>
                        <a:t>[May delay adoption]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6217920"/>
            <a:ext cx="13213080" cy="219456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245352"/>
            <a:ext cx="1280160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Arial"/>
              </a:rPr>
              <a:t>The right-side decision consequence column keeps the gap matrix connected to 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14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Prioritization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Gap prioritization scorecard</a:t>
            </a:r>
            <a:r>
              <a:rPr sz="2000">
                <a:solidFill>
                  <a:srgbClr val="00554F"/>
                </a:solidFill>
                <a:latin typeface="Arial"/>
              </a:rPr>
              <a:t> | Score impact, urgency, and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53312"/>
            <a:ext cx="2011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50" b="1">
                <a:solidFill>
                  <a:srgbClr val="31403D"/>
                </a:solidFill>
                <a:latin typeface="Arial"/>
              </a:rPr>
              <a:t>Gap / tactic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53312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20" b="1">
                <a:solidFill>
                  <a:srgbClr val="31403D"/>
                </a:solidFill>
                <a:latin typeface="Arial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353312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20" b="1">
                <a:solidFill>
                  <a:srgbClr val="31403D"/>
                </a:solidFill>
                <a:latin typeface="Arial"/>
              </a:rPr>
              <a:t>Urgency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353312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20" b="1">
                <a:solidFill>
                  <a:srgbClr val="31403D"/>
                </a:solidFill>
                <a:latin typeface="Arial"/>
              </a:rPr>
              <a:t>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353312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20" b="1">
                <a:solidFill>
                  <a:srgbClr val="31403D"/>
                </a:solidFill>
                <a:latin typeface="Arial"/>
              </a:rPr>
              <a:t>Decision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9" y="1353312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20" b="1">
                <a:solidFill>
                  <a:srgbClr val="31403D"/>
                </a:solidFill>
                <a:latin typeface="Arial"/>
              </a:rPr>
              <a:t>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700784"/>
            <a:ext cx="2011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00" b="0">
                <a:solidFill>
                  <a:srgbClr val="052927"/>
                </a:solidFill>
                <a:latin typeface="Arial"/>
              </a:rPr>
              <a:t>Comparator RWE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1700784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700784"/>
            <a:ext cx="868680" cy="14630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9240" y="1700784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49240" y="1700784"/>
            <a:ext cx="777240" cy="1463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1700784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1700784"/>
            <a:ext cx="411480" cy="14630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58200" y="1700784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1700784"/>
            <a:ext cx="685800" cy="146304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700784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2680" y="1700784"/>
            <a:ext cx="960120" cy="1463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121408"/>
            <a:ext cx="2011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00" b="0">
                <a:solidFill>
                  <a:srgbClr val="052927"/>
                </a:solidFill>
                <a:latin typeface="Arial"/>
              </a:rPr>
              <a:t>QoL / symptom burden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2121408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94760" y="2121408"/>
            <a:ext cx="777240" cy="1463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49240" y="2121408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49240" y="2121408"/>
            <a:ext cx="411480" cy="14630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03720" y="2121408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03720" y="2121408"/>
            <a:ext cx="685800" cy="146304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58200" y="2121408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8200" y="2121408"/>
            <a:ext cx="960120" cy="1463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12680" y="2121408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12680" y="2121408"/>
            <a:ext cx="868680" cy="14630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2542032"/>
            <a:ext cx="2011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00" b="0">
                <a:solidFill>
                  <a:srgbClr val="052927"/>
                </a:solidFill>
                <a:latin typeface="Arial"/>
              </a:rPr>
              <a:t>Local utility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94760" y="2542032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94760" y="2542032"/>
            <a:ext cx="411480" cy="14630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49240" y="2542032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9240" y="2542032"/>
            <a:ext cx="685800" cy="146304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03720" y="2542032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03720" y="2542032"/>
            <a:ext cx="960120" cy="1463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58200" y="2542032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58200" y="2542032"/>
            <a:ext cx="868680" cy="14630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12680" y="2542032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12680" y="2542032"/>
            <a:ext cx="777240" cy="1463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2962656"/>
            <a:ext cx="2011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00" b="0">
                <a:solidFill>
                  <a:srgbClr val="052927"/>
                </a:solidFill>
                <a:latin typeface="Arial"/>
              </a:rPr>
              <a:t>Publication readiness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94760" y="2962656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94760" y="2962656"/>
            <a:ext cx="685800" cy="146304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49240" y="2962656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49240" y="2962656"/>
            <a:ext cx="960120" cy="1463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03720" y="2962656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03720" y="2962656"/>
            <a:ext cx="868680" cy="14630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58200" y="2962656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58200" y="2962656"/>
            <a:ext cx="777240" cy="1463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12680" y="2962656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12680" y="2962656"/>
            <a:ext cx="411480" cy="14630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3383280"/>
            <a:ext cx="2011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00" b="0">
                <a:solidFill>
                  <a:srgbClr val="052927"/>
                </a:solidFill>
                <a:latin typeface="Arial"/>
              </a:rPr>
              <a:t>Sequencing evidence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383280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794760" y="3383280"/>
            <a:ext cx="960120" cy="1463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49240" y="3383280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49240" y="3383280"/>
            <a:ext cx="868680" cy="14630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03720" y="3383280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03720" y="3383280"/>
            <a:ext cx="777240" cy="1463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58200" y="3383280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58200" y="3383280"/>
            <a:ext cx="411480" cy="14630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12680" y="3383280"/>
            <a:ext cx="1078992" cy="146304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12680" y="3383280"/>
            <a:ext cx="685800" cy="146304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166360"/>
            <a:ext cx="4160520" cy="475488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8368" y="5166360"/>
            <a:ext cx="64008" cy="475488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9536" y="5257800"/>
            <a:ext cx="384048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70" b="0">
                <a:solidFill>
                  <a:srgbClr val="052927"/>
                </a:solidFill>
                <a:latin typeface="Arial"/>
              </a:rPr>
              <a:t>Impact: Does the gap affect access, label, adoption, or guideline decisions?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38928" y="5166360"/>
            <a:ext cx="4160520" cy="475488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138928" y="5166360"/>
            <a:ext cx="64008" cy="475488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40096" y="5257800"/>
            <a:ext cx="384048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70" b="0">
                <a:solidFill>
                  <a:srgbClr val="052927"/>
                </a:solidFill>
                <a:latin typeface="Arial"/>
              </a:rPr>
              <a:t>Urgency: Is the readout needed before a near-term decision gate?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19488" y="5166360"/>
            <a:ext cx="4160520" cy="475488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619488" y="5166360"/>
            <a:ext cx="64008" cy="475488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20656" y="5257800"/>
            <a:ext cx="384048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70" b="0">
                <a:solidFill>
                  <a:srgbClr val="052927"/>
                </a:solidFill>
                <a:latin typeface="Arial"/>
              </a:rPr>
              <a:t>Feasibility: Can evidence be generated credibly within timeline and budget?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15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Research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Open research questions</a:t>
            </a:r>
            <a:r>
              <a:rPr sz="2000">
                <a:solidFill>
                  <a:srgbClr val="00554F"/>
                </a:solidFill>
                <a:latin typeface="Arial"/>
              </a:rPr>
              <a:t> | Translate priority gaps into PICOT-ready questions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25880"/>
          <a:ext cx="13213077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454"/>
                <a:gridCol w="1635905"/>
                <a:gridCol w="1510066"/>
                <a:gridCol w="1635905"/>
                <a:gridCol w="2516777"/>
                <a:gridCol w="1258388"/>
                <a:gridCol w="1887582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ORQ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Population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Intervention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Comparator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FFFFFF"/>
                          </a:solidFill>
                          <a:latin typeface="Arial"/>
                        </a:rPr>
                        <a:t>Decision use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003F3B"/>
                          </a:solidFill>
                          <a:latin typeface="Arial"/>
                        </a:rPr>
                        <a:t>[Does product improve outcomes vs local standard of care?]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[Eligible patients]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[Product]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[SoC]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[Clinical and economic outcomes]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[Follow-up]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[HTA / reimbursement]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003F3B"/>
                          </a:solidFill>
                          <a:latin typeface="Arial"/>
                        </a:rPr>
                        <a:t>[Which patients derive the greatest value?]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[Subgroups]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[Product]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[Relevant alternatives]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[Response, discontinuation, QoL]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[Milestone]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[Positioning / guidelines]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003F3B"/>
                          </a:solidFill>
                          <a:latin typeface="Arial"/>
                        </a:rPr>
                        <a:t>[What patient outcomes matter most?]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[Patients / caregivers]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[Treatment experience]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[Current care]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[Preference, burden, HRQoL]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[Pre-launch]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[Value story / comms]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530" b="1">
                          <a:solidFill>
                            <a:srgbClr val="003F3B"/>
                          </a:solidFill>
                          <a:latin typeface="Arial"/>
                        </a:rPr>
                        <a:t>[What is the budget impact?]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[Market population]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[Product adoption]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[Current mix]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[Costs, offsets, utilization]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[1-5 years]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30" b="0">
                          <a:solidFill>
                            <a:srgbClr val="052927"/>
                          </a:solidFill>
                          <a:latin typeface="Arial"/>
                        </a:rPr>
                        <a:t>[Payer discussions]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3886200"/>
            <a:ext cx="13213080" cy="475488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886200"/>
            <a:ext cx="64008" cy="475488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977639"/>
            <a:ext cx="12893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20" b="0">
                <a:solidFill>
                  <a:srgbClr val="052927"/>
                </a:solidFill>
                <a:latin typeface="Arial"/>
              </a:rPr>
              <a:t>Use PICOT where applicable. For evidence synthesis, market access, or qualitative work, define the question, decision, stakeholder, and minimum credible evidence standard.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16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Section divider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-274320"/>
            <a:ext cx="4206240" cy="3383280"/>
          </a:xfrm>
          <a:prstGeom prst="line">
            <a:avLst/>
          </a:prstGeom>
          <a:ln w="889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46720" y="-182880"/>
            <a:ext cx="4206240" cy="3383280"/>
          </a:xfrm>
          <a:prstGeom prst="line">
            <a:avLst/>
          </a:prstGeom>
          <a:ln w="889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0" y="288036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03F3B"/>
                </a:solidFill>
                <a:latin typeface="Arial"/>
              </a:rPr>
              <a:t>Evidence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00400"/>
            <a:ext cx="45720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00554F"/>
                </a:solidFill>
                <a:latin typeface="Arial"/>
              </a:rPr>
              <a:t>tactics and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566160"/>
            <a:ext cx="256032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550" b="0">
                <a:solidFill>
                  <a:srgbClr val="66736F"/>
                </a:solidFill>
                <a:latin typeface="Arial"/>
              </a:rPr>
              <a:t>Section 4 of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696712"/>
            <a:ext cx="13304520" cy="105156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2971800" y="5943600"/>
            <a:ext cx="2514600" cy="621792"/>
          </a:xfrm>
          <a:prstGeom prst="parallelogram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5120640" y="5943600"/>
            <a:ext cx="2286000" cy="621792"/>
          </a:xfrm>
          <a:prstGeom prst="parallelogram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11155680" y="5696712"/>
            <a:ext cx="2377440" cy="1051560"/>
          </a:xfrm>
          <a:prstGeom prst="parallelogram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17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Tactic 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Evidence generation options</a:t>
            </a:r>
            <a:r>
              <a:rPr sz="2000">
                <a:solidFill>
                  <a:srgbClr val="00554F"/>
                </a:solidFill>
                <a:latin typeface="Arial"/>
              </a:rPr>
              <a:t> | Choose the right tactic for the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41605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4160520" cy="4572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499616"/>
            <a:ext cx="3840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50" b="1">
                <a:solidFill>
                  <a:srgbClr val="003F3B"/>
                </a:solidFill>
                <a:latin typeface="Arial"/>
              </a:rPr>
              <a:t>Clinical studies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1792224"/>
            <a:ext cx="3840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70" b="0">
                <a:solidFill>
                  <a:srgbClr val="31403D"/>
                </a:solidFill>
                <a:latin typeface="Arial"/>
              </a:rPr>
              <a:t>Phase IV, pragmatic trials, extension, post-hoc, subgroup analysis, investigator-initiated research.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313432"/>
            <a:ext cx="411480" cy="27432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353312"/>
            <a:ext cx="41605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4064" y="1353312"/>
            <a:ext cx="4160520" cy="4572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1499616"/>
            <a:ext cx="3840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50" b="1">
                <a:solidFill>
                  <a:srgbClr val="003F3B"/>
                </a:solidFill>
                <a:latin typeface="Arial"/>
              </a:rPr>
              <a:t>RWE and data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1792224"/>
            <a:ext cx="3840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70" b="0">
                <a:solidFill>
                  <a:srgbClr val="31403D"/>
                </a:solidFill>
                <a:latin typeface="Arial"/>
              </a:rPr>
              <a:t>Registry, claims, EHR, chart review, external control, prospective observational, site-level feasibility.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79" y="2313432"/>
            <a:ext cx="411480" cy="27432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1353312"/>
            <a:ext cx="41605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1353312"/>
            <a:ext cx="4160520" cy="45720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37776" y="1499616"/>
            <a:ext cx="3840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50" b="1">
                <a:solidFill>
                  <a:srgbClr val="003F3B"/>
                </a:solidFill>
                <a:latin typeface="Arial"/>
              </a:rPr>
              <a:t>HEOR and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1792224"/>
            <a:ext cx="3840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70" b="0">
                <a:solidFill>
                  <a:srgbClr val="31403D"/>
                </a:solidFill>
                <a:latin typeface="Arial"/>
              </a:rPr>
              <a:t>SLR, NMA, economic model, BIA, utility study, payer research, HTA package.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37776" y="2313432"/>
            <a:ext cx="411480" cy="27432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044952"/>
            <a:ext cx="41605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044952"/>
            <a:ext cx="416052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191256"/>
            <a:ext cx="3840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50" b="1">
                <a:solidFill>
                  <a:srgbClr val="003F3B"/>
                </a:solidFill>
                <a:latin typeface="Arial"/>
              </a:rPr>
              <a:t>Patient-centered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483864"/>
            <a:ext cx="3840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70" b="0">
                <a:solidFill>
                  <a:srgbClr val="31403D"/>
                </a:solidFill>
                <a:latin typeface="Arial"/>
              </a:rPr>
              <a:t>PRO, COA, preference study, qualitative interviews, caregiver burden, adherence evidence.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4005072"/>
            <a:ext cx="411480" cy="27432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84064" y="3044952"/>
            <a:ext cx="41605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84064" y="3044952"/>
            <a:ext cx="4160520" cy="45720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9" y="3191256"/>
            <a:ext cx="3840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50" b="1">
                <a:solidFill>
                  <a:srgbClr val="003F3B"/>
                </a:solidFill>
                <a:latin typeface="Arial"/>
              </a:rPr>
              <a:t>Evidence synthesis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3483864"/>
            <a:ext cx="3840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70" b="0">
                <a:solidFill>
                  <a:srgbClr val="31403D"/>
                </a:solidFill>
                <a:latin typeface="Arial"/>
              </a:rPr>
              <a:t>Living literature review, gap assessment, landscape update, comparative evidence refresh.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9" y="4005072"/>
            <a:ext cx="411480" cy="27432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9760" y="3044952"/>
            <a:ext cx="41605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9760" y="3044952"/>
            <a:ext cx="4160520" cy="45720"/>
          </a:xfrm>
          <a:prstGeom prst="rect">
            <a:avLst/>
          </a:prstGeom>
          <a:solidFill>
            <a:srgbClr val="667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37776" y="3191256"/>
            <a:ext cx="3840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50" b="1">
                <a:solidFill>
                  <a:srgbClr val="003F3B"/>
                </a:solidFill>
                <a:latin typeface="Arial"/>
              </a:rPr>
              <a:t>Communications pull-through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3483864"/>
            <a:ext cx="3840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670" b="0">
                <a:solidFill>
                  <a:srgbClr val="31403D"/>
                </a:solidFill>
                <a:latin typeface="Arial"/>
              </a:rPr>
              <a:t>Publication plan, congress plan, field medical enablement, claim readiness review.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37776" y="4005072"/>
            <a:ext cx="411480" cy="27432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18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Study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Study concept one-pager</a:t>
            </a:r>
            <a:r>
              <a:rPr sz="2000">
                <a:solidFill>
                  <a:srgbClr val="00554F"/>
                </a:solidFill>
                <a:latin typeface="Arial"/>
              </a:rPr>
              <a:t> | Convert a gap into an executable tactic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417320"/>
            <a:ext cx="4069080" cy="233172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1554480"/>
            <a:ext cx="37764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Evidence gap and research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18104" y="1965960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2696" y="1892808"/>
            <a:ext cx="36118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Gap: [Decision-critical evidence gap]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8104" y="2212848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82696" y="2139696"/>
            <a:ext cx="36118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ORQ: [Research question]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8104" y="2459736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2696" y="2386584"/>
            <a:ext cx="36118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Stakeholder: [Regulator / payer / HCP / patient]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18104" y="2706624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2696" y="2633472"/>
            <a:ext cx="36118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Decision use: [What this evidence will change]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69480" y="2606040"/>
            <a:ext cx="548640" cy="0"/>
          </a:xfrm>
          <a:prstGeom prst="line">
            <a:avLst/>
          </a:prstGeom>
          <a:ln w="25400">
            <a:solidFill>
              <a:srgbClr val="0B8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Triangle 19"/>
          <p:cNvSpPr/>
          <p:nvPr/>
        </p:nvSpPr>
        <p:spPr>
          <a:xfrm>
            <a:off x="7754112" y="2514600"/>
            <a:ext cx="164592" cy="182880"/>
          </a:xfrm>
          <a:prstGeom prst="rtTriangle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17320"/>
            <a:ext cx="4069080" cy="233172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554480"/>
            <a:ext cx="37764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Proposed design and execution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1965960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1892808"/>
            <a:ext cx="36118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Design: [Study / analysis type]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2212848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139696"/>
            <a:ext cx="36118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Data source: [Trial, registry, claims, EHR, survey]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2459736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2386584"/>
            <a:ext cx="36118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Endpoints: [Outcomes and measures]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2706624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2633472"/>
            <a:ext cx="36118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Timing / owner: [Readout, budget, accountable function]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19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3-5 year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Integrated evidence roadmap</a:t>
            </a:r>
            <a:r>
              <a:rPr sz="2000">
                <a:solidFill>
                  <a:srgbClr val="00554F"/>
                </a:solidFill>
                <a:latin typeface="Arial"/>
              </a:rPr>
              <a:t> | Sequence workstreams against decision 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25880"/>
            <a:ext cx="13213080" cy="3931920"/>
          </a:xfrm>
          <a:prstGeom prst="round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810512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30" b="1">
                <a:solidFill>
                  <a:srgbClr val="31403D"/>
                </a:solidFill>
                <a:latin typeface="Arial"/>
              </a:rPr>
              <a:t>Y1 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10512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30" b="1">
                <a:solidFill>
                  <a:srgbClr val="31403D"/>
                </a:solidFill>
                <a:latin typeface="Arial"/>
              </a:rPr>
              <a:t>Y1 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10512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30" b="1">
                <a:solidFill>
                  <a:srgbClr val="31403D"/>
                </a:solidFill>
                <a:latin typeface="Arial"/>
              </a:rPr>
              <a:t>Y2 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10512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30" b="1">
                <a:solidFill>
                  <a:srgbClr val="31403D"/>
                </a:solidFill>
                <a:latin typeface="Arial"/>
              </a:rPr>
              <a:t>Y2 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1810512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30" b="1">
                <a:solidFill>
                  <a:srgbClr val="31403D"/>
                </a:solidFill>
                <a:latin typeface="Arial"/>
              </a:rPr>
              <a:t>Y3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395728"/>
            <a:ext cx="1371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20" b="1">
                <a:solidFill>
                  <a:srgbClr val="003F3B"/>
                </a:solidFill>
                <a:latin typeface="Arial"/>
              </a:rPr>
              <a:t>Clinical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8" y="2212848"/>
            <a:ext cx="12646152" cy="0"/>
          </a:xfrm>
          <a:prstGeom prst="line">
            <a:avLst/>
          </a:prstGeom>
          <a:ln w="1270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31720" y="2395728"/>
            <a:ext cx="1691640" cy="146304"/>
          </a:xfrm>
          <a:prstGeom prst="round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2395728"/>
            <a:ext cx="1691640" cy="146304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2395728"/>
            <a:ext cx="1691640" cy="146304"/>
          </a:xfrm>
          <a:prstGeom prst="round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0" y="2395728"/>
            <a:ext cx="1691640" cy="146304"/>
          </a:xfrm>
          <a:prstGeom prst="round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27080" y="2395728"/>
            <a:ext cx="1691640" cy="146304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962656"/>
            <a:ext cx="1371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20" b="1">
                <a:solidFill>
                  <a:srgbClr val="003F3B"/>
                </a:solidFill>
                <a:latin typeface="Arial"/>
              </a:rPr>
              <a:t>RWE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2688" y="2779776"/>
            <a:ext cx="12646152" cy="0"/>
          </a:xfrm>
          <a:prstGeom prst="line">
            <a:avLst/>
          </a:prstGeom>
          <a:ln w="1270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331720" y="2962656"/>
            <a:ext cx="1691640" cy="146304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0560" y="2962656"/>
            <a:ext cx="1691640" cy="146304"/>
          </a:xfrm>
          <a:prstGeom prst="round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29400" y="2962656"/>
            <a:ext cx="1691640" cy="146304"/>
          </a:xfrm>
          <a:prstGeom prst="round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78240" y="2962656"/>
            <a:ext cx="1691640" cy="146304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927080" y="2962656"/>
            <a:ext cx="1691640" cy="146304"/>
          </a:xfrm>
          <a:prstGeom prst="round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529584"/>
            <a:ext cx="1371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20" b="1">
                <a:solidFill>
                  <a:srgbClr val="003F3B"/>
                </a:solidFill>
                <a:latin typeface="Arial"/>
              </a:rPr>
              <a:t>HEOR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2688" y="3346704"/>
            <a:ext cx="12646152" cy="0"/>
          </a:xfrm>
          <a:prstGeom prst="line">
            <a:avLst/>
          </a:prstGeom>
          <a:ln w="1270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331720" y="3529584"/>
            <a:ext cx="1691640" cy="146304"/>
          </a:xfrm>
          <a:prstGeom prst="round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80560" y="3529584"/>
            <a:ext cx="1691640" cy="146304"/>
          </a:xfrm>
          <a:prstGeom prst="round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29400" y="3529584"/>
            <a:ext cx="1691640" cy="146304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78240" y="3529584"/>
            <a:ext cx="1691640" cy="146304"/>
          </a:xfrm>
          <a:prstGeom prst="round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927080" y="3529584"/>
            <a:ext cx="1691640" cy="146304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4096512"/>
            <a:ext cx="1371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20" b="1">
                <a:solidFill>
                  <a:srgbClr val="003F3B"/>
                </a:solidFill>
                <a:latin typeface="Arial"/>
              </a:rPr>
              <a:t>Patient evidence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2688" y="3913632"/>
            <a:ext cx="12646152" cy="0"/>
          </a:xfrm>
          <a:prstGeom prst="line">
            <a:avLst/>
          </a:prstGeom>
          <a:ln w="1270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331720" y="4096512"/>
            <a:ext cx="1691640" cy="146304"/>
          </a:xfrm>
          <a:prstGeom prst="round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80560" y="4096512"/>
            <a:ext cx="1691640" cy="146304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29400" y="4096512"/>
            <a:ext cx="1691640" cy="146304"/>
          </a:xfrm>
          <a:prstGeom prst="round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778240" y="4096512"/>
            <a:ext cx="1691640" cy="146304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927080" y="4096512"/>
            <a:ext cx="1691640" cy="146304"/>
          </a:xfrm>
          <a:prstGeom prst="round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4663440"/>
            <a:ext cx="1371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20" b="1">
                <a:solidFill>
                  <a:srgbClr val="003F3B"/>
                </a:solidFill>
                <a:latin typeface="Arial"/>
              </a:rPr>
              <a:t>Communications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32688" y="4480559"/>
            <a:ext cx="12646152" cy="0"/>
          </a:xfrm>
          <a:prstGeom prst="line">
            <a:avLst/>
          </a:prstGeom>
          <a:ln w="1270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331720" y="4663440"/>
            <a:ext cx="1691640" cy="146304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80560" y="4663440"/>
            <a:ext cx="1691640" cy="146304"/>
          </a:xfrm>
          <a:prstGeom prst="round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29400" y="4663440"/>
            <a:ext cx="1691640" cy="146304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778240" y="4663440"/>
            <a:ext cx="1691640" cy="146304"/>
          </a:xfrm>
          <a:prstGeom prst="round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927080" y="4663440"/>
            <a:ext cx="1691640" cy="146304"/>
          </a:xfrm>
          <a:prstGeom prst="round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iamond 49"/>
          <p:cNvSpPr/>
          <p:nvPr/>
        </p:nvSpPr>
        <p:spPr>
          <a:xfrm>
            <a:off x="11686032" y="2377440"/>
            <a:ext cx="237744" cy="237744"/>
          </a:xfrm>
          <a:prstGeom prst="diamond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iamond 50"/>
          <p:cNvSpPr/>
          <p:nvPr/>
        </p:nvSpPr>
        <p:spPr>
          <a:xfrm>
            <a:off x="11686032" y="3520440"/>
            <a:ext cx="237744" cy="237744"/>
          </a:xfrm>
          <a:prstGeom prst="diamond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368" y="5532120"/>
            <a:ext cx="4160520" cy="384048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" y="5532120"/>
            <a:ext cx="64008" cy="384048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5623559"/>
            <a:ext cx="38404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50" b="0">
                <a:solidFill>
                  <a:srgbClr val="052927"/>
                </a:solidFill>
                <a:latin typeface="Arial"/>
              </a:rPr>
              <a:t>Teal: active workstream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84064" y="5532120"/>
            <a:ext cx="4160520" cy="384048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84064" y="5532120"/>
            <a:ext cx="64008" cy="384048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85231" y="5623559"/>
            <a:ext cx="38404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50" b="0">
                <a:solidFill>
                  <a:srgbClr val="052927"/>
                </a:solidFill>
                <a:latin typeface="Arial"/>
              </a:rPr>
              <a:t>Green: readout or synthesis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9760" y="5532120"/>
            <a:ext cx="4160520" cy="384048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0" y="5532120"/>
            <a:ext cx="64008" cy="384048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10928" y="5623559"/>
            <a:ext cx="38404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750" b="0">
                <a:solidFill>
                  <a:srgbClr val="052927"/>
                </a:solidFill>
                <a:latin typeface="Arial"/>
              </a:rPr>
              <a:t>Orange diamond: decision gate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20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Execution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Activity tracker</a:t>
            </a:r>
            <a:r>
              <a:rPr sz="2000">
                <a:solidFill>
                  <a:srgbClr val="00554F"/>
                </a:solidFill>
                <a:latin typeface="Arial"/>
              </a:rPr>
              <a:t> | Manage status, dependencies, and next actions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25880"/>
          <a:ext cx="13213077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370"/>
                <a:gridCol w="1989065"/>
                <a:gridCol w="1562837"/>
                <a:gridCol w="1562837"/>
                <a:gridCol w="1562837"/>
                <a:gridCol w="1278685"/>
                <a:gridCol w="2699446"/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FFFFFF"/>
                          </a:solidFill>
                          <a:latin typeface="Arial"/>
                        </a:rPr>
                        <a:t>Gap addressed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FFFFFF"/>
                          </a:solidFill>
                          <a:latin typeface="Arial"/>
                        </a:rPr>
                        <a:t>Next action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003F3B"/>
                          </a:solidFill>
                          <a:latin typeface="Arial"/>
                        </a:rPr>
                        <a:t>[Study / analysis A]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[Gap ID]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RWE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[Name]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In design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[Range]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[Protocol review]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003F3B"/>
                          </a:solidFill>
                          <a:latin typeface="Arial"/>
                        </a:rPr>
                        <a:t>[SLR / NMA refresh]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[Gap ID]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HEOR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[Name]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On track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[Range]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[Finalize search]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003F3B"/>
                          </a:solidFill>
                          <a:latin typeface="Arial"/>
                        </a:rPr>
                        <a:t>[Payer advisory board]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[Gap ID]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Access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[Name]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At risk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[Range]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[Confirm markets]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003F3B"/>
                          </a:solidFill>
                          <a:latin typeface="Arial"/>
                        </a:rPr>
                        <a:t>[Patient preference study]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[Gap ID]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Medical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[Name]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Proposed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[Range]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[Approve concept]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540" b="1">
                          <a:solidFill>
                            <a:srgbClr val="003F3B"/>
                          </a:solidFill>
                          <a:latin typeface="Arial"/>
                        </a:rPr>
                        <a:t>[Publication pull-through]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[Gap ID]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Comms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[Name]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On track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[Range]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052927"/>
                          </a:solidFill>
                          <a:latin typeface="Arial"/>
                        </a:rPr>
                        <a:t>[Congress target]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6217920"/>
            <a:ext cx="13213080" cy="219456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245352"/>
            <a:ext cx="1280160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Arial"/>
              </a:rPr>
              <a:t>Use the tracker as the living operating layer after the initial IEGP is approved.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21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Section divider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-274320"/>
            <a:ext cx="4206240" cy="3383280"/>
          </a:xfrm>
          <a:prstGeom prst="line">
            <a:avLst/>
          </a:prstGeom>
          <a:ln w="889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46720" y="-182880"/>
            <a:ext cx="4206240" cy="3383280"/>
          </a:xfrm>
          <a:prstGeom prst="line">
            <a:avLst/>
          </a:prstGeom>
          <a:ln w="889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0" y="288036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03F3B"/>
                </a:solidFill>
                <a:latin typeface="Arial"/>
              </a:rPr>
              <a:t>Functional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00400"/>
            <a:ext cx="45720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00554F"/>
                </a:solidFill>
                <a:latin typeface="Arial"/>
              </a:rPr>
              <a:t>and evidence pull-through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566160"/>
            <a:ext cx="256032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550" b="0">
                <a:solidFill>
                  <a:srgbClr val="66736F"/>
                </a:solidFill>
                <a:latin typeface="Arial"/>
              </a:rPr>
              <a:t>Section 5 of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696712"/>
            <a:ext cx="13304520" cy="105156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2971800" y="5943600"/>
            <a:ext cx="2514600" cy="621792"/>
          </a:xfrm>
          <a:prstGeom prst="parallelogram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5120640" y="5943600"/>
            <a:ext cx="2286000" cy="621792"/>
          </a:xfrm>
          <a:prstGeom prst="parallelogram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11155680" y="5696712"/>
            <a:ext cx="2377440" cy="1051560"/>
          </a:xfrm>
          <a:prstGeom prst="parallelogram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22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HEOR /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HEOR and market access evidence</a:t>
            </a:r>
            <a:r>
              <a:rPr sz="2000">
                <a:solidFill>
                  <a:srgbClr val="00554F"/>
                </a:solidFill>
                <a:latin typeface="Arial"/>
              </a:rPr>
              <a:t> | Prepare value, reimbursement, and HTA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25880"/>
            <a:ext cx="6355080" cy="16002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63039"/>
            <a:ext cx="60624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Core HEOR work products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1874519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1801368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SLR, targeted literature review, and evidence synthesis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2121408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048256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Network meta-analysis or indirect comparison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2368296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2295144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Cost-effectiveness and budget impact 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2615184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542032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Utility, resource use, and burden inputs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2862072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788920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Payer research and value message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325880"/>
            <a:ext cx="6355080" cy="16002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1463039"/>
            <a:ext cx="60624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Market access readiness questions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2944" y="1874519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7536" y="1801368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Which markets require local comparator data?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2944" y="2121408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2048256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Which endpoints drive uncertainty in HTA review?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52944" y="2368296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17536" y="2295144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What economic assumptions need source support?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52944" y="2615184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7536" y="2542032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What evidence is needed before launch sequencing?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52944" y="2862072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17536" y="2788920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Which gaps can be closed through synthesis vs new data?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310128"/>
            <a:ext cx="13213080" cy="347472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392424"/>
            <a:ext cx="127101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Access evidence should be planned early enough to influence submissions, not only explain outcomes after launch.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23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RWE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RWE and data strategy</a:t>
            </a:r>
            <a:r>
              <a:rPr sz="2000">
                <a:solidFill>
                  <a:srgbClr val="00554F"/>
                </a:solidFill>
                <a:latin typeface="Arial"/>
              </a:rPr>
              <a:t> | Match data sources to evidence use cases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25880"/>
          <a:ext cx="13213077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493"/>
                <a:gridCol w="1822493"/>
                <a:gridCol w="2050305"/>
                <a:gridCol w="1594682"/>
                <a:gridCol w="2392023"/>
                <a:gridCol w="1480776"/>
                <a:gridCol w="2050305"/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Use case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Candidate source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Endpoint availability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Population fit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Bias / limitations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Decision use</a:t>
                      </a:r>
                    </a:p>
                  </a:txBody>
                  <a:tcPr marL="45720" marR="45720">
                    <a:solidFill>
                      <a:srgbClr val="08726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003F3B"/>
                          </a:solidFill>
                          <a:latin typeface="Arial"/>
                        </a:rPr>
                        <a:t>[Treatment patterns]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[Claims / EHR]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Missing clinical detail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[Launch planning]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003F3B"/>
                          </a:solidFill>
                          <a:latin typeface="Arial"/>
                        </a:rPr>
                        <a:t>[Comparative outcomes]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[Registry]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Confounding, sample size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[HTA / HCP confidence]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003F3B"/>
                          </a:solidFill>
                          <a:latin typeface="Arial"/>
                        </a:rPr>
                        <a:t>[Safety in practice]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[EHR / registry]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Follow-up completeness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[Medical communication]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003F3B"/>
                          </a:solidFill>
                          <a:latin typeface="Arial"/>
                        </a:rPr>
                        <a:t>[External control]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[Registry + chart]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Eligibility alignment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Needs review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052927"/>
                          </a:solidFill>
                          <a:latin typeface="Arial"/>
                        </a:rPr>
                        <a:t>[Regulatory / access]</a:t>
                      </a:r>
                    </a:p>
                  </a:txBody>
                  <a:tcPr marL="45720" marR="45720"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3977639"/>
            <a:ext cx="13213080" cy="566928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977639"/>
            <a:ext cx="64008" cy="566928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069079"/>
            <a:ext cx="12893040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00" b="0">
                <a:solidFill>
                  <a:srgbClr val="052927"/>
                </a:solidFill>
                <a:latin typeface="Arial"/>
              </a:rPr>
              <a:t>Document data-source limitations directly in the plan so downstream users do not overstate evidence strength.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24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Patient / regulatory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Patient-centered and regulatory evidence</a:t>
            </a:r>
            <a:r>
              <a:rPr sz="2000">
                <a:solidFill>
                  <a:srgbClr val="00554F"/>
                </a:solidFill>
                <a:latin typeface="Arial"/>
              </a:rPr>
              <a:t> | Integrate outcomes that change 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6355080" cy="2788920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54480"/>
            <a:ext cx="60258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Patient-centered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1993392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224028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1" y="2167128"/>
            <a:ext cx="586130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PROs, COAs, HRQoL, symptom burden, and functional status.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251460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" y="2441448"/>
            <a:ext cx="586130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Patient preference, treatment burden, caregiver impact, adherence.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78892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1" y="2715768"/>
            <a:ext cx="586130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Qualitative interviews to contextualize outcomes and unmet need.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" y="306323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1" y="2990087"/>
            <a:ext cx="586130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Digital endpoints or passive measures where credible and validated.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417320"/>
            <a:ext cx="6355080" cy="2788920"/>
          </a:xfrm>
          <a:prstGeom prst="roundRect">
            <a:avLst/>
          </a:prstGeom>
          <a:solidFill>
            <a:srgbClr val="00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1554480"/>
            <a:ext cx="60258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Regulatory evidence considerations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71231" y="1993392"/>
            <a:ext cx="475488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71231" y="224028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35823" y="2167128"/>
            <a:ext cx="586130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Confirm commitments, safety follow-up, and real-world acceptability.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71231" y="251460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823" y="2441448"/>
            <a:ext cx="586130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Identify label-expansion, post-marketing, and evidence standards.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1231" y="2788920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35823" y="2715768"/>
            <a:ext cx="586130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Document where RWE or external controls may support decisions.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71231" y="3063239"/>
            <a:ext cx="54864" cy="5486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35823" y="2990087"/>
            <a:ext cx="586130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Keep regulatory questions separate from promotional claims.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25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Governance /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Governance and impact dashboard</a:t>
            </a:r>
            <a:r>
              <a:rPr sz="2000">
                <a:solidFill>
                  <a:srgbClr val="00554F"/>
                </a:solidFill>
                <a:latin typeface="Arial"/>
              </a:rPr>
              <a:t> | Keep the plan current and accountable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3063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463040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B8678"/>
                </a:solidFill>
                <a:latin typeface="Arial"/>
              </a:rPr>
              <a:t>[x]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810512"/>
            <a:ext cx="2843784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40" b="0">
                <a:solidFill>
                  <a:srgbClr val="31403D"/>
                </a:solidFill>
                <a:latin typeface="Arial"/>
              </a:rPr>
              <a:t>Gaps closed or downgraded this 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53312"/>
            <a:ext cx="3063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1463040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B8678"/>
                </a:solidFill>
                <a:latin typeface="Arial"/>
              </a:rPr>
              <a:t>[x%]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1810512"/>
            <a:ext cx="2843784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40" b="0">
                <a:solidFill>
                  <a:srgbClr val="31403D"/>
                </a:solidFill>
                <a:latin typeface="Arial"/>
              </a:rPr>
              <a:t>Activities on track vs planned milestones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88352" y="1353312"/>
            <a:ext cx="3063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463040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B8678"/>
                </a:solidFill>
                <a:latin typeface="Arial"/>
              </a:rPr>
              <a:t>[$x]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10512"/>
            <a:ext cx="2843784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40" b="0">
                <a:solidFill>
                  <a:srgbClr val="31403D"/>
                </a:solidFill>
                <a:latin typeface="Arial"/>
              </a:rPr>
              <a:t>Budget committed by workstream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53344" y="1353312"/>
            <a:ext cx="3063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63072" y="1463040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B8678"/>
                </a:solidFill>
                <a:latin typeface="Arial"/>
              </a:rPr>
              <a:t>[x]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63072" y="1810512"/>
            <a:ext cx="2843784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40" b="0">
                <a:solidFill>
                  <a:srgbClr val="31403D"/>
                </a:solidFill>
                <a:latin typeface="Arial"/>
              </a:rPr>
              <a:t>Decision gates supported by new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670048"/>
            <a:ext cx="6355080" cy="1572768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807208"/>
            <a:ext cx="60624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Governance cadence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3218688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3145536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Core working team: [monthly]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3465576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3392424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Cross-functional evidence council: [quarterly]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3712463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639312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Leadership decision forum: [as needed]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" y="3959352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3886200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Formal refresh: [annual or trigger-based]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670048"/>
            <a:ext cx="6355080" cy="1572768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2807208"/>
            <a:ext cx="60624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1019" b="1">
                <a:solidFill>
                  <a:srgbClr val="003F3B"/>
                </a:solidFill>
                <a:latin typeface="Arial"/>
              </a:rPr>
              <a:t>Refresh triggers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52944" y="3218688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17536" y="3145536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New clinical readout or safety signal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52944" y="3465576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17536" y="3392424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Competitor approval, label, data, or access change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52944" y="3712463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17536" y="3639312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HTA, guideline, or regulatory requirement shift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52944" y="3959352"/>
            <a:ext cx="54864" cy="54864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17536" y="3886200"/>
            <a:ext cx="5897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40" b="0">
                <a:solidFill>
                  <a:srgbClr val="052927"/>
                </a:solidFill>
                <a:latin typeface="Arial"/>
              </a:rPr>
              <a:t>Budget change, study delay, or evidence gap reprioritization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0" y="502920"/>
            <a:ext cx="22860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600" b="1">
                <a:solidFill>
                  <a:srgbClr val="0B8678"/>
                </a:solidFill>
                <a:latin typeface="Arial"/>
              </a:rPr>
              <a:t>26</a:t>
            </a:r>
          </a:p>
        </p:txBody>
      </p:sp>
      <p:sp>
        <p:nvSpPr>
          <p:cNvPr id="5" name="Diamond 4"/>
          <p:cNvSpPr/>
          <p:nvPr/>
        </p:nvSpPr>
        <p:spPr>
          <a:xfrm>
            <a:off x="658368" y="7836408"/>
            <a:ext cx="118872" cy="118872"/>
          </a:xfrm>
          <a:prstGeom prst="diamond">
            <a:avLst/>
          </a:prstGeom>
          <a:noFill/>
          <a:ln w="15240">
            <a:solidFill>
              <a:srgbClr val="0B8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90688"/>
            <a:ext cx="10972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550" b="1">
                <a:solidFill>
                  <a:srgbClr val="0B8678"/>
                </a:solidFill>
                <a:latin typeface="Arial"/>
              </a:rPr>
              <a:t>IEGP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790688"/>
            <a:ext cx="6400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520" b="0">
                <a:solidFill>
                  <a:srgbClr val="66736F"/>
                </a:solidFill>
                <a:latin typeface="Arial"/>
              </a:rPr>
              <a:t>Appendix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8368"/>
            <a:ext cx="1307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03F3B"/>
                </a:solidFill>
                <a:latin typeface="Arial"/>
              </a:rPr>
              <a:t>Appendix worksheet</a:t>
            </a:r>
            <a:r>
              <a:rPr sz="2000">
                <a:solidFill>
                  <a:srgbClr val="00554F"/>
                </a:solidFill>
                <a:latin typeface="Arial"/>
              </a:rPr>
              <a:t> | Source log, assumptions, and methods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325880"/>
            <a:ext cx="0" cy="498348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04288" y="1325880"/>
            <a:ext cx="0" cy="498348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50208" y="1325880"/>
            <a:ext cx="0" cy="498348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96128" y="1325880"/>
            <a:ext cx="0" cy="498348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42048" y="1325880"/>
            <a:ext cx="0" cy="498348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87968" y="1325880"/>
            <a:ext cx="0" cy="498348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33888" y="1325880"/>
            <a:ext cx="0" cy="498348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179808" y="1325880"/>
            <a:ext cx="0" cy="498348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825728" y="1325880"/>
            <a:ext cx="0" cy="498348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" y="1325880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" y="1824228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8368" y="2322576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" y="2820924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8368" y="3319272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8368" y="3817620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4315968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8368" y="4814316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8" y="5312664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5811012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8368" y="6309360"/>
            <a:ext cx="13149072" cy="0"/>
          </a:xfrm>
          <a:prstGeom prst="line">
            <a:avLst/>
          </a:prstGeom>
          <a:ln w="6350">
            <a:solidFill>
              <a:srgbClr val="DDE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1554480"/>
            <a:ext cx="4343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1554480"/>
            <a:ext cx="64008" cy="1005840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1700784"/>
            <a:ext cx="37033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r>
              <a:rPr sz="869" b="0">
                <a:solidFill>
                  <a:srgbClr val="052927"/>
                </a:solidFill>
                <a:latin typeface="Arial"/>
              </a:rPr>
              <a:t>Suggested appendix content:
source log, evidence-quality notes, interview list, workshop participants, scoring rubric, assumptions, limitations, excluded tactics, country adaptation notes, and glossary.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