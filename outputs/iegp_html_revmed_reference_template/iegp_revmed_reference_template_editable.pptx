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2"/>
  </p:notesMasterIdLst>
  <p:sldIdLst>
    <p:sldId id="380" r:id="rId2"/>
    <p:sldId id="454" r:id="rId3"/>
    <p:sldId id="456" r:id="rId4"/>
    <p:sldId id="462" r:id="rId5"/>
    <p:sldId id="388" r:id="rId6"/>
    <p:sldId id="447" r:id="rId7"/>
    <p:sldId id="433" r:id="rId8"/>
    <p:sldId id="426" r:id="rId9"/>
    <p:sldId id="448" r:id="rId10"/>
    <p:sldId id="389" r:id="rId11"/>
    <p:sldId id="358" r:id="rId12"/>
    <p:sldId id="378" r:id="rId13"/>
    <p:sldId id="464" r:id="rId14"/>
    <p:sldId id="466" r:id="rId15"/>
    <p:sldId id="478" r:id="rId16"/>
    <p:sldId id="434" r:id="rId17"/>
    <p:sldId id="390" r:id="rId18"/>
    <p:sldId id="435" r:id="rId19"/>
    <p:sldId id="444" r:id="rId20"/>
    <p:sldId id="436" r:id="rId21"/>
    <p:sldId id="442" r:id="rId22"/>
    <p:sldId id="407" r:id="rId23"/>
    <p:sldId id="486" r:id="rId24"/>
    <p:sldId id="488" r:id="rId25"/>
    <p:sldId id="497" r:id="rId26"/>
    <p:sldId id="509" r:id="rId27"/>
    <p:sldId id="506" r:id="rId28"/>
    <p:sldId id="508" r:id="rId29"/>
    <p:sldId id="496" r:id="rId30"/>
    <p:sldId id="432" r:id="rId31"/>
    <p:sldId id="517" r:id="rId32"/>
    <p:sldId id="519" r:id="rId33"/>
    <p:sldId id="523" r:id="rId34"/>
    <p:sldId id="529" r:id="rId35"/>
    <p:sldId id="445" r:id="rId36"/>
    <p:sldId id="437" r:id="rId37"/>
    <p:sldId id="549" r:id="rId38"/>
    <p:sldId id="551" r:id="rId39"/>
    <p:sldId id="392" r:id="rId40"/>
    <p:sldId id="429" r:id="rId41"/>
    <p:sldId id="533" r:id="rId42"/>
    <p:sldId id="438" r:id="rId43"/>
    <p:sldId id="536" r:id="rId44"/>
    <p:sldId id="538" r:id="rId45"/>
    <p:sldId id="540" r:id="rId46"/>
    <p:sldId id="545" r:id="rId47"/>
    <p:sldId id="544" r:id="rId48"/>
    <p:sldId id="547" r:id="rId49"/>
    <p:sldId id="430" r:id="rId50"/>
    <p:sldId id="441" r:id="rId51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403D"/>
    <a:srgbClr val="087267"/>
    <a:srgbClr val="003F3B"/>
    <a:srgbClr val="008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4" y="1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55E603-A8D1-445E-8BCE-BAF31B9E004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7EDFD-230A-4BE9-AE9D-91A3CE05F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391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7EDFD-230A-4BE9-AE9D-91A3CE05FD6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71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7EDFD-230A-4BE9-AE9D-91A3CE05FD6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72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7EDFD-230A-4BE9-AE9D-91A3CE05FD6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79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2088813"/>
            <a:ext cx="7040880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4800" dirty="0">
                <a:solidFill>
                  <a:srgbClr val="003F3B"/>
                </a:solidFill>
                <a:latin typeface="Georgia"/>
              </a:rPr>
              <a:t>Integrated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7" y="2751152"/>
            <a:ext cx="6309360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4800" b="0" dirty="0">
                <a:solidFill>
                  <a:srgbClr val="00554F"/>
                </a:solidFill>
                <a:latin typeface="Georgia"/>
              </a:rPr>
              <a:t>Generation Plan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4381437"/>
            <a:ext cx="3154680" cy="0"/>
          </a:xfrm>
          <a:prstGeom prst="line">
            <a:avLst/>
          </a:prstGeom>
          <a:ln w="12700">
            <a:solidFill>
              <a:srgbClr val="C7D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4472877"/>
            <a:ext cx="137160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lang="en-US" sz="1600" dirty="0">
                <a:solidFill>
                  <a:srgbClr val="31403D"/>
                </a:solidFill>
                <a:latin typeface="Aptos"/>
              </a:rPr>
              <a:t>[</a:t>
            </a:r>
            <a:r>
              <a:rPr sz="1600" dirty="0">
                <a:solidFill>
                  <a:srgbClr val="31403D"/>
                </a:solidFill>
                <a:latin typeface="Aptos"/>
              </a:rPr>
              <a:t>Product</a:t>
            </a:r>
            <a:r>
              <a:rPr lang="en-US" sz="1600" dirty="0">
                <a:solidFill>
                  <a:srgbClr val="31403D"/>
                </a:solidFill>
                <a:latin typeface="Aptos"/>
              </a:rPr>
              <a:t>]</a:t>
            </a:r>
            <a:endParaRPr sz="1600" dirty="0">
              <a:solidFill>
                <a:srgbClr val="31403D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4224528" y="4381437"/>
            <a:ext cx="3154680" cy="0"/>
          </a:xfrm>
          <a:prstGeom prst="line">
            <a:avLst/>
          </a:prstGeom>
          <a:ln w="12700">
            <a:solidFill>
              <a:srgbClr val="C7D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24528" y="4472877"/>
            <a:ext cx="137160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lang="en-US" sz="1600" dirty="0">
                <a:solidFill>
                  <a:srgbClr val="31403D"/>
                </a:solidFill>
                <a:latin typeface="Aptos"/>
              </a:rPr>
              <a:t>[Indication]</a:t>
            </a:r>
            <a:endParaRPr sz="1600" dirty="0">
              <a:solidFill>
                <a:srgbClr val="31403D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658368" y="5039805"/>
            <a:ext cx="3154680" cy="0"/>
          </a:xfrm>
          <a:prstGeom prst="line">
            <a:avLst/>
          </a:prstGeom>
          <a:ln w="12700">
            <a:solidFill>
              <a:srgbClr val="C7D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5131244"/>
            <a:ext cx="137160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lang="en-US" sz="1600" dirty="0">
                <a:solidFill>
                  <a:srgbClr val="31403D"/>
                </a:solidFill>
                <a:latin typeface="Aptos"/>
              </a:rPr>
              <a:t>[Version]</a:t>
            </a:r>
            <a:endParaRPr sz="1600" dirty="0">
              <a:solidFill>
                <a:srgbClr val="31403D"/>
              </a:solidFill>
              <a:latin typeface="Aptos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4224528" y="5039805"/>
            <a:ext cx="3154680" cy="0"/>
          </a:xfrm>
          <a:prstGeom prst="line">
            <a:avLst/>
          </a:prstGeom>
          <a:ln w="12700">
            <a:solidFill>
              <a:srgbClr val="C7D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24528" y="5131244"/>
            <a:ext cx="137160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lang="en-US" sz="1600" dirty="0">
                <a:solidFill>
                  <a:srgbClr val="31403D"/>
                </a:solidFill>
                <a:latin typeface="Aptos"/>
              </a:rPr>
              <a:t>[Owner]</a:t>
            </a:r>
            <a:endParaRPr sz="1600" dirty="0">
              <a:solidFill>
                <a:srgbClr val="31403D"/>
              </a:solidFill>
              <a:latin typeface="Apto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74D98D-0EAC-F810-AD9F-D63CFC8B5376}"/>
              </a:ext>
            </a:extLst>
          </p:cNvPr>
          <p:cNvSpPr/>
          <p:nvPr/>
        </p:nvSpPr>
        <p:spPr>
          <a:xfrm>
            <a:off x="658369" y="7189075"/>
            <a:ext cx="1998122" cy="732279"/>
          </a:xfrm>
          <a:prstGeom prst="roundRect">
            <a:avLst>
              <a:gd name="adj" fmla="val 11867"/>
            </a:avLst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Client logo</a:t>
            </a:r>
          </a:p>
        </p:txBody>
      </p:sp>
    </p:spTree>
    <p:extLst>
      <p:ext uri="{BB962C8B-B14F-4D97-AF65-F5344CB8AC3E}">
        <p14:creationId xmlns:p14="http://schemas.microsoft.com/office/powerpoint/2010/main" val="3541591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"/>
          <p:cNvSpPr/>
          <p:nvPr/>
        </p:nvSpPr>
        <p:spPr>
          <a:xfrm>
            <a:off x="1219200" y="1397000"/>
            <a:ext cx="711200" cy="508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t"/>
          <p:cNvSpPr txBox="1"/>
          <p:nvPr/>
        </p:nvSpPr>
        <p:spPr>
          <a:xfrm>
            <a:off x="1219200" y="1905000"/>
            <a:ext cx="121920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6000" dirty="0">
                <a:solidFill>
                  <a:srgbClr val="003F3B"/>
                </a:solidFill>
                <a:latin typeface="Georgia"/>
              </a:rPr>
              <a:t>Integrated Evidence</a:t>
            </a:r>
          </a:p>
          <a:p>
            <a:r>
              <a:rPr lang="en-US" sz="6000" b="0" dirty="0">
                <a:solidFill>
                  <a:srgbClr val="00554F"/>
                </a:solidFill>
                <a:latin typeface="Georgia"/>
              </a:rPr>
              <a:t>Generation Plan</a:t>
            </a:r>
          </a:p>
        </p:txBody>
      </p:sp>
      <p:sp>
        <p:nvSpPr>
          <p:cNvPr id="102" name="r"/>
          <p:cNvSpPr/>
          <p:nvPr/>
        </p:nvSpPr>
        <p:spPr>
          <a:xfrm>
            <a:off x="1219200" y="5969000"/>
            <a:ext cx="12192000" cy="12700"/>
          </a:xfrm>
          <a:prstGeom prst="rect">
            <a:avLst/>
          </a:prstGeom>
          <a:solidFill>
            <a:srgbClr val="C9D3D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t"/>
          <p:cNvSpPr txBox="1"/>
          <p:nvPr/>
        </p:nvSpPr>
        <p:spPr>
          <a:xfrm>
            <a:off x="1219200" y="62992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200" dirty="0">
                <a:solidFill>
                  <a:srgbClr val="3DBA8C"/>
                </a:solidFill>
                <a:latin typeface="Aptos"/>
              </a:rPr>
              <a:t>PRODUCT</a:t>
            </a:r>
          </a:p>
        </p:txBody>
      </p:sp>
      <p:sp>
        <p:nvSpPr>
          <p:cNvPr id="104" name="t"/>
          <p:cNvSpPr txBox="1"/>
          <p:nvPr/>
        </p:nvSpPr>
        <p:spPr>
          <a:xfrm>
            <a:off x="1219200" y="6604000"/>
            <a:ext cx="2794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 dirty="0">
                <a:solidFill>
                  <a:srgbClr val="31403D"/>
                </a:solidFill>
                <a:latin typeface="Aptos"/>
              </a:rPr>
              <a:t>[—]</a:t>
            </a:r>
          </a:p>
        </p:txBody>
      </p:sp>
      <p:sp>
        <p:nvSpPr>
          <p:cNvPr id="105" name="t"/>
          <p:cNvSpPr txBox="1"/>
          <p:nvPr/>
        </p:nvSpPr>
        <p:spPr>
          <a:xfrm>
            <a:off x="4267200" y="62992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200" dirty="0">
                <a:solidFill>
                  <a:srgbClr val="3DBA8C"/>
                </a:solidFill>
                <a:latin typeface="Aptos"/>
              </a:rPr>
              <a:t>INDICATION</a:t>
            </a:r>
          </a:p>
        </p:txBody>
      </p:sp>
      <p:sp>
        <p:nvSpPr>
          <p:cNvPr id="106" name="t"/>
          <p:cNvSpPr txBox="1"/>
          <p:nvPr/>
        </p:nvSpPr>
        <p:spPr>
          <a:xfrm>
            <a:off x="4267200" y="6604000"/>
            <a:ext cx="2794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 dirty="0">
                <a:solidFill>
                  <a:srgbClr val="31403D"/>
                </a:solidFill>
                <a:latin typeface="Aptos"/>
              </a:rPr>
              <a:t>[—]</a:t>
            </a:r>
          </a:p>
        </p:txBody>
      </p:sp>
      <p:sp>
        <p:nvSpPr>
          <p:cNvPr id="107" name="t"/>
          <p:cNvSpPr txBox="1"/>
          <p:nvPr/>
        </p:nvSpPr>
        <p:spPr>
          <a:xfrm>
            <a:off x="7315200" y="62992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200" dirty="0">
                <a:solidFill>
                  <a:srgbClr val="3DBA8C"/>
                </a:solidFill>
                <a:latin typeface="Aptos"/>
              </a:rPr>
              <a:t>VERSION</a:t>
            </a:r>
          </a:p>
        </p:txBody>
      </p:sp>
      <p:sp>
        <p:nvSpPr>
          <p:cNvPr id="108" name="t"/>
          <p:cNvSpPr txBox="1"/>
          <p:nvPr/>
        </p:nvSpPr>
        <p:spPr>
          <a:xfrm>
            <a:off x="7315200" y="6604000"/>
            <a:ext cx="2794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 dirty="0">
                <a:solidFill>
                  <a:srgbClr val="31403D"/>
                </a:solidFill>
                <a:latin typeface="Aptos"/>
              </a:rPr>
              <a:t>[—]</a:t>
            </a:r>
          </a:p>
        </p:txBody>
      </p:sp>
      <p:sp>
        <p:nvSpPr>
          <p:cNvPr id="109" name="t"/>
          <p:cNvSpPr txBox="1"/>
          <p:nvPr/>
        </p:nvSpPr>
        <p:spPr>
          <a:xfrm>
            <a:off x="10363200" y="62992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200" dirty="0">
                <a:solidFill>
                  <a:srgbClr val="3DBA8C"/>
                </a:solidFill>
                <a:latin typeface="Aptos"/>
              </a:rPr>
              <a:t>OWNER</a:t>
            </a:r>
          </a:p>
        </p:txBody>
      </p:sp>
      <p:sp>
        <p:nvSpPr>
          <p:cNvPr id="110" name="t"/>
          <p:cNvSpPr txBox="1"/>
          <p:nvPr/>
        </p:nvSpPr>
        <p:spPr>
          <a:xfrm>
            <a:off x="10363200" y="6604000"/>
            <a:ext cx="2794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 dirty="0">
                <a:solidFill>
                  <a:srgbClr val="31403D"/>
                </a:solidFill>
                <a:latin typeface="Aptos"/>
              </a:rPr>
              <a:t>[—]</a:t>
            </a:r>
          </a:p>
        </p:txBody>
      </p:sp>
      <p:sp>
        <p:nvSpPr>
          <p:cNvPr id="111" name="t"/>
          <p:cNvSpPr txBox="1"/>
          <p:nvPr/>
        </p:nvSpPr>
        <p:spPr>
          <a:xfrm>
            <a:off x="1219200" y="7493000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spc="150" dirty="0">
                <a:solidFill>
                  <a:srgbClr val="8A9794"/>
                </a:solidFill>
                <a:latin typeface="Aptos"/>
              </a:rPr>
              <a:t>CLIENT LOGO</a:t>
            </a:r>
          </a:p>
        </p:txBody>
      </p:sp>
    </p:spTree>
    <p:extLst>
      <p:ext uri="{BB962C8B-B14F-4D97-AF65-F5344CB8AC3E}">
        <p14:creationId xmlns:p14="http://schemas.microsoft.com/office/powerpoint/2010/main" val="3634572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r"/>
          <p:cNvSpPr/>
          <p:nvPr/>
        </p:nvSpPr>
        <p:spPr>
          <a:xfrm>
            <a:off x="0" y="0"/>
            <a:ext cx="14630400" cy="762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"/>
          <p:cNvSpPr txBox="1"/>
          <p:nvPr/>
        </p:nvSpPr>
        <p:spPr>
          <a:xfrm>
            <a:off x="1219200" y="1905000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300" dirty="0">
                <a:solidFill>
                  <a:srgbClr val="3DBA8C"/>
                </a:solidFill>
                <a:latin typeface="Aptos"/>
              </a:rPr>
              <a:t>STRATEGIC EVIDENCE PLANNING</a:t>
            </a:r>
          </a:p>
        </p:txBody>
      </p:sp>
      <p:sp>
        <p:nvSpPr>
          <p:cNvPr id="103" name="t"/>
          <p:cNvSpPr txBox="1"/>
          <p:nvPr/>
        </p:nvSpPr>
        <p:spPr>
          <a:xfrm>
            <a:off x="1219200" y="2438400"/>
            <a:ext cx="12192000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5400" dirty="0">
                <a:solidFill>
                  <a:srgbClr val="FFFFFF"/>
                </a:solidFill>
                <a:latin typeface="Georgia"/>
              </a:rPr>
              <a:t>Integrated Evidence</a:t>
            </a:r>
          </a:p>
          <a:p>
            <a:r>
              <a:rPr lang="en-US" sz="5400" b="0" dirty="0">
                <a:solidFill>
                  <a:srgbClr val="BFE3D6"/>
                </a:solidFill>
                <a:latin typeface="Georgia"/>
              </a:rPr>
              <a:t>Generation Plan</a:t>
            </a:r>
          </a:p>
        </p:txBody>
      </p:sp>
      <p:sp>
        <p:nvSpPr>
          <p:cNvPr id="104" name="r"/>
          <p:cNvSpPr/>
          <p:nvPr/>
        </p:nvSpPr>
        <p:spPr>
          <a:xfrm>
            <a:off x="1219200" y="6604000"/>
            <a:ext cx="12192000" cy="12700"/>
          </a:xfrm>
          <a:prstGeom prst="rect">
            <a:avLst/>
          </a:prstGeom>
          <a:solidFill>
            <a:srgbClr val="2C696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"/>
          <p:cNvSpPr txBox="1"/>
          <p:nvPr/>
        </p:nvSpPr>
        <p:spPr>
          <a:xfrm>
            <a:off x="1219200" y="6858000"/>
            <a:ext cx="279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200" dirty="0">
                <a:solidFill>
                  <a:srgbClr val="3DBA8C"/>
                </a:solidFill>
                <a:latin typeface="Aptos"/>
              </a:rPr>
              <a:t>PRODUCT</a:t>
            </a:r>
          </a:p>
        </p:txBody>
      </p:sp>
      <p:sp>
        <p:nvSpPr>
          <p:cNvPr id="106" name="t"/>
          <p:cNvSpPr txBox="1"/>
          <p:nvPr/>
        </p:nvSpPr>
        <p:spPr>
          <a:xfrm>
            <a:off x="1219200" y="7137400"/>
            <a:ext cx="2794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700" dirty="0">
                <a:solidFill>
                  <a:srgbClr val="FFFFFF"/>
                </a:solidFill>
                <a:latin typeface="Aptos"/>
              </a:rPr>
              <a:t>[—]</a:t>
            </a:r>
          </a:p>
        </p:txBody>
      </p:sp>
      <p:sp>
        <p:nvSpPr>
          <p:cNvPr id="107" name="t"/>
          <p:cNvSpPr txBox="1"/>
          <p:nvPr/>
        </p:nvSpPr>
        <p:spPr>
          <a:xfrm>
            <a:off x="4267200" y="6858000"/>
            <a:ext cx="279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200" dirty="0">
                <a:solidFill>
                  <a:srgbClr val="3DBA8C"/>
                </a:solidFill>
                <a:latin typeface="Aptos"/>
              </a:rPr>
              <a:t>INDICATION</a:t>
            </a:r>
          </a:p>
        </p:txBody>
      </p:sp>
      <p:sp>
        <p:nvSpPr>
          <p:cNvPr id="108" name="t"/>
          <p:cNvSpPr txBox="1"/>
          <p:nvPr/>
        </p:nvSpPr>
        <p:spPr>
          <a:xfrm>
            <a:off x="4267200" y="7137400"/>
            <a:ext cx="2794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700" dirty="0">
                <a:solidFill>
                  <a:srgbClr val="FFFFFF"/>
                </a:solidFill>
                <a:latin typeface="Aptos"/>
              </a:rPr>
              <a:t>[—]</a:t>
            </a:r>
          </a:p>
        </p:txBody>
      </p:sp>
      <p:sp>
        <p:nvSpPr>
          <p:cNvPr id="109" name="t"/>
          <p:cNvSpPr txBox="1"/>
          <p:nvPr/>
        </p:nvSpPr>
        <p:spPr>
          <a:xfrm>
            <a:off x="7315200" y="6858000"/>
            <a:ext cx="279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200" dirty="0">
                <a:solidFill>
                  <a:srgbClr val="3DBA8C"/>
                </a:solidFill>
                <a:latin typeface="Aptos"/>
              </a:rPr>
              <a:t>VERSION</a:t>
            </a:r>
          </a:p>
        </p:txBody>
      </p:sp>
      <p:sp>
        <p:nvSpPr>
          <p:cNvPr id="110" name="t"/>
          <p:cNvSpPr txBox="1"/>
          <p:nvPr/>
        </p:nvSpPr>
        <p:spPr>
          <a:xfrm>
            <a:off x="7315200" y="7137400"/>
            <a:ext cx="2794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700" dirty="0">
                <a:solidFill>
                  <a:srgbClr val="FFFFFF"/>
                </a:solidFill>
                <a:latin typeface="Aptos"/>
              </a:rPr>
              <a:t>[—]</a:t>
            </a:r>
          </a:p>
        </p:txBody>
      </p:sp>
      <p:sp>
        <p:nvSpPr>
          <p:cNvPr id="111" name="t"/>
          <p:cNvSpPr txBox="1"/>
          <p:nvPr/>
        </p:nvSpPr>
        <p:spPr>
          <a:xfrm>
            <a:off x="10363200" y="6858000"/>
            <a:ext cx="279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200" dirty="0">
                <a:solidFill>
                  <a:srgbClr val="3DBA8C"/>
                </a:solidFill>
                <a:latin typeface="Aptos"/>
              </a:rPr>
              <a:t>OWNER</a:t>
            </a:r>
          </a:p>
        </p:txBody>
      </p:sp>
      <p:sp>
        <p:nvSpPr>
          <p:cNvPr id="112" name="t"/>
          <p:cNvSpPr txBox="1"/>
          <p:nvPr/>
        </p:nvSpPr>
        <p:spPr>
          <a:xfrm>
            <a:off x="10363200" y="7137400"/>
            <a:ext cx="2794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700" dirty="0">
                <a:solidFill>
                  <a:srgbClr val="FFFFFF"/>
                </a:solidFill>
                <a:latin typeface="Aptos"/>
              </a:rPr>
              <a:t>[—]</a:t>
            </a:r>
          </a:p>
        </p:txBody>
      </p:sp>
      <p:sp>
        <p:nvSpPr>
          <p:cNvPr id="113" name="t"/>
          <p:cNvSpPr txBox="1"/>
          <p:nvPr/>
        </p:nvSpPr>
        <p:spPr>
          <a:xfrm>
            <a:off x="9601200" y="1905000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spc="150" dirty="0">
                <a:solidFill>
                  <a:srgbClr val="7FA8A1"/>
                </a:solidFill>
                <a:latin typeface="Aptos"/>
              </a:rPr>
              <a:t>CLIENT LOGO</a:t>
            </a:r>
          </a:p>
        </p:txBody>
      </p:sp>
    </p:spTree>
    <p:extLst>
      <p:ext uri="{BB962C8B-B14F-4D97-AF65-F5344CB8AC3E}">
        <p14:creationId xmlns:p14="http://schemas.microsoft.com/office/powerpoint/2010/main" val="3230527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t"/>
          <p:cNvSpPr txBox="1"/>
          <p:nvPr/>
        </p:nvSpPr>
        <p:spPr>
          <a:xfrm>
            <a:off x="7874000" y="508000"/>
            <a:ext cx="6858000" cy="787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40000" b="1" dirty="0">
                <a:solidFill>
                  <a:srgbClr val="EAF1EE"/>
                </a:solidFill>
                <a:latin typeface="Georgia"/>
              </a:rPr>
              <a:t>01</a:t>
            </a:r>
          </a:p>
        </p:txBody>
      </p:sp>
      <p:sp>
        <p:nvSpPr>
          <p:cNvPr id="102" name="r"/>
          <p:cNvSpPr/>
          <p:nvPr/>
        </p:nvSpPr>
        <p:spPr>
          <a:xfrm>
            <a:off x="1219200" y="1905000"/>
            <a:ext cx="711200" cy="508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t"/>
          <p:cNvSpPr txBox="1"/>
          <p:nvPr/>
        </p:nvSpPr>
        <p:spPr>
          <a:xfrm>
            <a:off x="1219200" y="2286000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280" dirty="0">
                <a:solidFill>
                  <a:srgbClr val="3DBA8C"/>
                </a:solidFill>
                <a:latin typeface="Aptos"/>
              </a:rPr>
              <a:t>STRATEGIC EVIDENCE PLANNING</a:t>
            </a:r>
          </a:p>
        </p:txBody>
      </p:sp>
      <p:sp>
        <p:nvSpPr>
          <p:cNvPr id="104" name="t"/>
          <p:cNvSpPr txBox="1"/>
          <p:nvPr/>
        </p:nvSpPr>
        <p:spPr>
          <a:xfrm>
            <a:off x="1219200" y="2717800"/>
            <a:ext cx="7874000" cy="355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5600" dirty="0">
                <a:solidFill>
                  <a:srgbClr val="003F3B"/>
                </a:solidFill>
                <a:latin typeface="Georgia"/>
              </a:rPr>
              <a:t>Integrated Evidence</a:t>
            </a:r>
          </a:p>
          <a:p>
            <a:r>
              <a:rPr lang="en-US" sz="5600" b="0" dirty="0">
                <a:solidFill>
                  <a:srgbClr val="00554F"/>
                </a:solidFill>
                <a:latin typeface="Georgia"/>
              </a:rPr>
              <a:t>Generation Plan</a:t>
            </a:r>
          </a:p>
        </p:txBody>
      </p:sp>
      <p:sp>
        <p:nvSpPr>
          <p:cNvPr id="105" name="t"/>
          <p:cNvSpPr txBox="1"/>
          <p:nvPr/>
        </p:nvSpPr>
        <p:spPr>
          <a:xfrm>
            <a:off x="1219200" y="6477000"/>
            <a:ext cx="355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50" b="1" spc="180" dirty="0">
                <a:solidFill>
                  <a:srgbClr val="3DBA8C"/>
                </a:solidFill>
                <a:latin typeface="Aptos"/>
              </a:rPr>
              <a:t>PRODUCT</a:t>
            </a:r>
            <a:r>
              <a:rPr lang="en-US" sz="1150" spc="180" dirty="0">
                <a:solidFill>
                  <a:srgbClr val="31403D"/>
                </a:solidFill>
                <a:latin typeface="Aptos"/>
              </a:rPr>
              <a:t>   [—]</a:t>
            </a:r>
          </a:p>
        </p:txBody>
      </p:sp>
      <p:sp>
        <p:nvSpPr>
          <p:cNvPr id="106" name="t"/>
          <p:cNvSpPr txBox="1"/>
          <p:nvPr/>
        </p:nvSpPr>
        <p:spPr>
          <a:xfrm>
            <a:off x="5029200" y="6477000"/>
            <a:ext cx="355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50" b="1" spc="180" dirty="0">
                <a:solidFill>
                  <a:srgbClr val="3DBA8C"/>
                </a:solidFill>
                <a:latin typeface="Aptos"/>
              </a:rPr>
              <a:t>INDICATION</a:t>
            </a:r>
            <a:r>
              <a:rPr lang="en-US" sz="1150" spc="180" dirty="0">
                <a:solidFill>
                  <a:srgbClr val="31403D"/>
                </a:solidFill>
                <a:latin typeface="Aptos"/>
              </a:rPr>
              <a:t>   [—]</a:t>
            </a:r>
          </a:p>
        </p:txBody>
      </p:sp>
      <p:sp>
        <p:nvSpPr>
          <p:cNvPr id="107" name="t"/>
          <p:cNvSpPr txBox="1"/>
          <p:nvPr/>
        </p:nvSpPr>
        <p:spPr>
          <a:xfrm>
            <a:off x="1219200" y="7162800"/>
            <a:ext cx="355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50" b="1" spc="180" dirty="0">
                <a:solidFill>
                  <a:srgbClr val="3DBA8C"/>
                </a:solidFill>
                <a:latin typeface="Aptos"/>
              </a:rPr>
              <a:t>VERSION</a:t>
            </a:r>
            <a:r>
              <a:rPr lang="en-US" sz="1150" spc="180" dirty="0">
                <a:solidFill>
                  <a:srgbClr val="31403D"/>
                </a:solidFill>
                <a:latin typeface="Aptos"/>
              </a:rPr>
              <a:t>   [—]</a:t>
            </a:r>
          </a:p>
        </p:txBody>
      </p:sp>
      <p:sp>
        <p:nvSpPr>
          <p:cNvPr id="108" name="t"/>
          <p:cNvSpPr txBox="1"/>
          <p:nvPr/>
        </p:nvSpPr>
        <p:spPr>
          <a:xfrm>
            <a:off x="5029200" y="7162800"/>
            <a:ext cx="355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50" b="1" spc="180" dirty="0">
                <a:solidFill>
                  <a:srgbClr val="3DBA8C"/>
                </a:solidFill>
                <a:latin typeface="Aptos"/>
              </a:rPr>
              <a:t>OWNER</a:t>
            </a:r>
            <a:r>
              <a:rPr lang="en-US" sz="1150" spc="180" dirty="0">
                <a:solidFill>
                  <a:srgbClr val="31403D"/>
                </a:solidFill>
                <a:latin typeface="Aptos"/>
              </a:rPr>
              <a:t>   [—]</a:t>
            </a:r>
          </a:p>
        </p:txBody>
      </p:sp>
      <p:sp>
        <p:nvSpPr>
          <p:cNvPr id="109" name="t"/>
          <p:cNvSpPr txBox="1"/>
          <p:nvPr/>
        </p:nvSpPr>
        <p:spPr>
          <a:xfrm>
            <a:off x="10007600" y="7467600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spc="150" dirty="0">
                <a:solidFill>
                  <a:srgbClr val="8A9794"/>
                </a:solidFill>
                <a:latin typeface="Aptos"/>
              </a:rPr>
              <a:t>CLIENT LOGO</a:t>
            </a:r>
          </a:p>
        </p:txBody>
      </p:sp>
    </p:spTree>
    <p:extLst>
      <p:ext uri="{BB962C8B-B14F-4D97-AF65-F5344CB8AC3E}">
        <p14:creationId xmlns:p14="http://schemas.microsoft.com/office/powerpoint/2010/main" val="3863552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2880360"/>
            <a:ext cx="457200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3600" dirty="0">
                <a:solidFill>
                  <a:srgbClr val="003F3B"/>
                </a:solidFill>
                <a:latin typeface="Georgia"/>
              </a:rPr>
              <a:t>Evidence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375329"/>
            <a:ext cx="457200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3600" b="0" dirty="0">
                <a:solidFill>
                  <a:srgbClr val="00554F"/>
                </a:solidFill>
                <a:latin typeface="Aptos"/>
              </a:rPr>
              <a:t>and product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128857"/>
            <a:ext cx="256032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b="0" dirty="0">
                <a:solidFill>
                  <a:srgbClr val="66736F"/>
                </a:solidFill>
                <a:latin typeface="Aptos"/>
              </a:rPr>
              <a:t>Section 1 of 6</a:t>
            </a:r>
          </a:p>
        </p:txBody>
      </p:sp>
      <p:cxnSp>
        <p:nvCxnSpPr>
          <p:cNvPr id="60" name="AccentRule"/>
          <p:cNvCxnSpPr/>
          <p:nvPr/>
        </p:nvCxnSpPr>
        <p:spPr>
          <a:xfrm>
            <a:off x="6553200" y="4724400"/>
            <a:ext cx="1524000" cy="0"/>
          </a:xfrm>
          <a:prstGeom prst="line">
            <a:avLst/>
          </a:prstGeom>
          <a:ln w="19050" cap="flat">
            <a:solidFill>
              <a:srgbClr val="3DDC97"/>
            </a:solidFill>
          </a:ln>
        </p:spPr>
      </p:cxnSp>
    </p:spTree>
    <p:extLst>
      <p:ext uri="{BB962C8B-B14F-4D97-AF65-F5344CB8AC3E}">
        <p14:creationId xmlns:p14="http://schemas.microsoft.com/office/powerpoint/2010/main" val="409716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584200"/>
            <a:ext cx="406400" cy="381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5700" y="584200"/>
            <a:ext cx="609600" cy="38100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400" y="812800"/>
            <a:ext cx="13081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dirty="0">
                <a:solidFill>
                  <a:srgbClr val="003F3B"/>
                </a:solidFill>
                <a:latin typeface="Georgia"/>
              </a:rPr>
              <a:t>Executive summary</a:t>
            </a:r>
            <a:endParaRPr sz="2800" dirty="0">
              <a:solidFill>
                <a:srgbClr val="00554F"/>
              </a:solidFill>
              <a:latin typeface="Georgia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0400" y="1625600"/>
            <a:ext cx="4165600" cy="3022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5500" y="1879600"/>
            <a:ext cx="383540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b="1" dirty="0">
                <a:solidFill>
                  <a:srgbClr val="087267"/>
                </a:solidFill>
                <a:latin typeface="Aptos"/>
              </a:rPr>
              <a:t>Priority 1: Access-critical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84430"/>
            <a:ext cx="3835400" cy="22225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228600" indent="-228600">
              <a:lnSpc>
                <a:spcPts val="2000"/>
              </a:lnSpc>
              <a:spcAft>
                <a:spcPts val="900"/>
              </a:spcAft>
              <a:buFont typeface="Arial"/>
              <a:buChar char="•"/>
            </a:pPr>
            <a:r>
              <a:rPr lang="en-US" sz="1600" b="0" dirty="0">
                <a:solidFill>
                  <a:srgbClr val="087267"/>
                </a:solidFill>
                <a:latin typeface="Aptos"/>
              </a:rPr>
              <a:t>Gap: [Comparator, outcome, or local-market evidence need].</a:t>
            </a:r>
          </a:p>
          <a:p>
            <a:pPr marL="228600" indent="-228600">
              <a:lnSpc>
                <a:spcPts val="2000"/>
              </a:lnSpc>
              <a:spcAft>
                <a:spcPts val="900"/>
              </a:spcAft>
              <a:buFont typeface="Arial"/>
              <a:buChar char="•"/>
            </a:pPr>
            <a:r>
              <a:rPr lang="en-US" sz="1600" b="0" dirty="0">
                <a:solidFill>
                  <a:srgbClr val="087267"/>
                </a:solidFill>
                <a:latin typeface="Aptos"/>
              </a:rPr>
              <a:t>Tactic: [Study / analysis / synthesis].</a:t>
            </a:r>
          </a:p>
          <a:p>
            <a:pPr marL="228600" indent="-228600">
              <a:lnSpc>
                <a:spcPts val="2000"/>
              </a:lnSpc>
              <a:buFont typeface="Arial"/>
              <a:buChar char="•"/>
            </a:pPr>
            <a:r>
              <a:rPr lang="en-US" sz="1600" b="0" dirty="0">
                <a:solidFill>
                  <a:srgbClr val="087267"/>
                </a:solidFill>
                <a:latin typeface="Aptos"/>
              </a:rPr>
              <a:t>Decision impact: [HTA, formulary, label, guideline].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0000" y="1625600"/>
            <a:ext cx="4165600" cy="3022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5100" y="1879600"/>
            <a:ext cx="383540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b="1">
                <a:solidFill>
                  <a:srgbClr val="087267"/>
                </a:solidFill>
                <a:latin typeface="Aptos"/>
              </a:rPr>
              <a:t>Priority 2: Differentiation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2560" y="2384430"/>
            <a:ext cx="3835400" cy="22225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228600" indent="-228600">
              <a:lnSpc>
                <a:spcPts val="2000"/>
              </a:lnSpc>
              <a:spcAft>
                <a:spcPts val="900"/>
              </a:spcAft>
              <a:buFont typeface="Arial"/>
              <a:buChar char="•"/>
            </a:pPr>
            <a:r>
              <a:rPr lang="en-US" sz="1600" b="0" dirty="0">
                <a:solidFill>
                  <a:srgbClr val="087267"/>
                </a:solidFill>
                <a:latin typeface="Aptos"/>
              </a:rPr>
              <a:t>Gap: [Value message lacks support].</a:t>
            </a:r>
          </a:p>
          <a:p>
            <a:pPr marL="228600" indent="-228600">
              <a:lnSpc>
                <a:spcPts val="2000"/>
              </a:lnSpc>
              <a:spcAft>
                <a:spcPts val="900"/>
              </a:spcAft>
              <a:buFont typeface="Arial"/>
              <a:buChar char="•"/>
            </a:pPr>
            <a:r>
              <a:rPr lang="en-US" sz="1600" b="0" dirty="0">
                <a:solidFill>
                  <a:srgbClr val="087267"/>
                </a:solidFill>
                <a:latin typeface="Aptos"/>
              </a:rPr>
              <a:t>Tactic: [RWE, HEOR, post-hoc, registry].</a:t>
            </a:r>
          </a:p>
          <a:p>
            <a:pPr marL="228600" indent="-228600">
              <a:lnSpc>
                <a:spcPts val="2000"/>
              </a:lnSpc>
              <a:buFont typeface="Arial"/>
              <a:buChar char="•"/>
            </a:pPr>
            <a:r>
              <a:rPr lang="en-US" sz="1600" b="0" dirty="0">
                <a:solidFill>
                  <a:srgbClr val="087267"/>
                </a:solidFill>
                <a:latin typeface="Aptos"/>
              </a:rPr>
              <a:t>Timing: [Readout needed by milestone].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12300" y="1625600"/>
            <a:ext cx="4165600" cy="3022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77400" y="1879600"/>
            <a:ext cx="383540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b="1">
                <a:solidFill>
                  <a:srgbClr val="087267"/>
                </a:solidFill>
                <a:latin typeface="Aptos"/>
              </a:rPr>
              <a:t>Priority 3: Patient impact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860" y="2384430"/>
            <a:ext cx="3835400" cy="22225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228600" indent="-228600">
              <a:lnSpc>
                <a:spcPts val="2000"/>
              </a:lnSpc>
              <a:spcAft>
                <a:spcPts val="900"/>
              </a:spcAft>
              <a:buFont typeface="Arial"/>
              <a:buChar char="•"/>
            </a:pPr>
            <a:r>
              <a:rPr lang="en-US" sz="1600" b="0" dirty="0">
                <a:solidFill>
                  <a:srgbClr val="087267"/>
                </a:solidFill>
                <a:latin typeface="Aptos"/>
              </a:rPr>
              <a:t>Gap: [PRO, burden, preference, adherence].</a:t>
            </a:r>
          </a:p>
          <a:p>
            <a:pPr marL="228600" indent="-228600">
              <a:lnSpc>
                <a:spcPts val="2000"/>
              </a:lnSpc>
              <a:spcAft>
                <a:spcPts val="900"/>
              </a:spcAft>
              <a:buFont typeface="Arial"/>
              <a:buChar char="•"/>
            </a:pPr>
            <a:r>
              <a:rPr lang="en-US" sz="1600" b="0" dirty="0">
                <a:solidFill>
                  <a:srgbClr val="087267"/>
                </a:solidFill>
                <a:latin typeface="Aptos"/>
              </a:rPr>
              <a:t>Tactic: [COA / preference / qualitative study].</a:t>
            </a:r>
          </a:p>
          <a:p>
            <a:pPr marL="228600" indent="-228600">
              <a:lnSpc>
                <a:spcPts val="2000"/>
              </a:lnSpc>
              <a:buFont typeface="Arial"/>
              <a:buChar char="•"/>
            </a:pPr>
            <a:r>
              <a:rPr lang="en-US" sz="1600" b="0" dirty="0">
                <a:solidFill>
                  <a:srgbClr val="087267"/>
                </a:solidFill>
                <a:latin typeface="Aptos"/>
              </a:rPr>
              <a:t>Owner: [Function / workstream].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0400" y="4968494"/>
            <a:ext cx="2921000" cy="190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TextBox 36"/>
          <p:cNvSpPr txBox="1"/>
          <p:nvPr/>
        </p:nvSpPr>
        <p:spPr>
          <a:xfrm>
            <a:off x="768096" y="5285994"/>
            <a:ext cx="2713985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400" b="1">
                <a:solidFill>
                  <a:srgbClr val="0B8678"/>
                </a:solidFill>
                <a:latin typeface="Aptos"/>
              </a:rPr>
              <a:t>[x]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6073394"/>
            <a:ext cx="2713985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0">
                <a:solidFill>
                  <a:srgbClr val="31403D"/>
                </a:solidFill>
                <a:latin typeface="Aptos"/>
              </a:rPr>
              <a:t>Priority evidence gaps to close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25900" y="4968494"/>
            <a:ext cx="2921000" cy="190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0" name="TextBox 39"/>
          <p:cNvSpPr txBox="1"/>
          <p:nvPr/>
        </p:nvSpPr>
        <p:spPr>
          <a:xfrm>
            <a:off x="4133088" y="5285994"/>
            <a:ext cx="2713985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400" b="1">
                <a:solidFill>
                  <a:srgbClr val="0B8678"/>
                </a:solidFill>
                <a:latin typeface="Aptos"/>
              </a:rPr>
              <a:t>[x]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33088" y="6073394"/>
            <a:ext cx="2713985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0">
                <a:solidFill>
                  <a:srgbClr val="31403D"/>
                </a:solidFill>
                <a:latin typeface="Aptos"/>
              </a:rPr>
              <a:t>New studies or analyses proposed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91400" y="4968494"/>
            <a:ext cx="2921000" cy="190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3" name="TextBox 42"/>
          <p:cNvSpPr txBox="1"/>
          <p:nvPr/>
        </p:nvSpPr>
        <p:spPr>
          <a:xfrm>
            <a:off x="7498079" y="5285994"/>
            <a:ext cx="2713985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400" b="1">
                <a:solidFill>
                  <a:srgbClr val="0B8678"/>
                </a:solidFill>
                <a:latin typeface="Aptos"/>
              </a:rPr>
              <a:t>[x]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6073394"/>
            <a:ext cx="2713985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0">
                <a:solidFill>
                  <a:srgbClr val="31403D"/>
                </a:solidFill>
                <a:latin typeface="Aptos"/>
              </a:rPr>
              <a:t>Decision gates supported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756900" y="4968494"/>
            <a:ext cx="2921000" cy="190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6" name="TextBox 45"/>
          <p:cNvSpPr txBox="1"/>
          <p:nvPr/>
        </p:nvSpPr>
        <p:spPr>
          <a:xfrm>
            <a:off x="10863072" y="5285994"/>
            <a:ext cx="2713985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400" b="1">
                <a:solidFill>
                  <a:srgbClr val="0B8678"/>
                </a:solidFill>
                <a:latin typeface="Aptos"/>
              </a:rPr>
              <a:t>[x]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63072" y="6073394"/>
            <a:ext cx="2713985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0">
                <a:solidFill>
                  <a:srgbClr val="31403D"/>
                </a:solidFill>
                <a:latin typeface="Aptos"/>
              </a:rPr>
              <a:t>Markets requiring adaptation</a:t>
            </a:r>
          </a:p>
        </p:txBody>
      </p:sp>
    </p:spTree>
    <p:extLst>
      <p:ext uri="{BB962C8B-B14F-4D97-AF65-F5344CB8AC3E}">
        <p14:creationId xmlns:p14="http://schemas.microsoft.com/office/powerpoint/2010/main" val="1611986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584200"/>
            <a:ext cx="406400" cy="381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5700" y="584200"/>
            <a:ext cx="609600" cy="38100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400" y="812800"/>
            <a:ext cx="13081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dirty="0">
                <a:solidFill>
                  <a:srgbClr val="003F3B"/>
                </a:solidFill>
                <a:latin typeface="Georgia"/>
              </a:rPr>
              <a:t>Key decisions needed</a:t>
            </a:r>
            <a:endParaRPr sz="2800" dirty="0">
              <a:solidFill>
                <a:srgbClr val="00554F"/>
              </a:solidFill>
              <a:latin typeface="Georgia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0400" y="1320800"/>
          <a:ext cx="12649200" cy="530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8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9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3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8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087267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87267"/>
                          </a:solidFill>
                          <a:latin typeface="Aptos"/>
                        </a:rPr>
                        <a:t>Recommendation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87267"/>
                          </a:solidFill>
                          <a:latin typeface="Aptos"/>
                        </a:rPr>
                        <a:t>Evidence basis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87267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87267"/>
                          </a:solidFill>
                          <a:latin typeface="Aptos"/>
                        </a:rPr>
                        <a:t>Due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003F3B"/>
                          </a:solidFill>
                          <a:latin typeface="Aptos"/>
                        </a:rPr>
                        <a:t>[Fund study concept A]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Proceed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[Closes payer-critical comparator gap]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[HEOR]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[Qx]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003F3B"/>
                          </a:solidFill>
                          <a:latin typeface="Aptos"/>
                        </a:rPr>
                        <a:t>[Include market X in RWE design]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Decide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[Local HTA requirement or guideline timing]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[Access]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[Qx]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F3B"/>
                          </a:solidFill>
                          <a:latin typeface="Aptos"/>
                        </a:rPr>
                        <a:t>[Retire low-impact tactic]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Stop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[No decision linkage or duplicate evidence]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[Medical]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[Qx]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F3B"/>
                          </a:solidFill>
                          <a:latin typeface="Aptos"/>
                        </a:rPr>
                        <a:t>[Adapt claim language]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Revise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[Evidence strength below desired support]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[Comms]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[Qx]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003F3B"/>
                          </a:solidFill>
                          <a:latin typeface="Aptos"/>
                        </a:rPr>
                        <a:t>[Activate affiliate input cycle]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Proceed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[Local evidence needs not yet captured]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[Regional]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</a:t>
                      </a:r>
                      <a:r>
                        <a:rPr sz="1400" b="0" dirty="0" err="1">
                          <a:solidFill>
                            <a:srgbClr val="052927"/>
                          </a:solidFill>
                          <a:latin typeface="Aptos"/>
                        </a:rPr>
                        <a:t>Qx</a:t>
                      </a:r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7C12086-1899-50EC-9C2A-427E8BC3C7EB}"/>
              </a:ext>
            </a:extLst>
          </p:cNvPr>
          <p:cNvSpPr/>
          <p:nvPr/>
        </p:nvSpPr>
        <p:spPr>
          <a:xfrm>
            <a:off x="658368" y="7061200"/>
            <a:ext cx="1321308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3981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584200"/>
            <a:ext cx="406400" cy="381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5700" y="584200"/>
            <a:ext cx="609600" cy="38100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400" y="812800"/>
            <a:ext cx="13081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dirty="0">
                <a:solidFill>
                  <a:srgbClr val="003F3B"/>
                </a:solidFill>
                <a:latin typeface="Georgia"/>
              </a:rPr>
              <a:t>Asset snapshot</a:t>
            </a:r>
            <a:endParaRPr sz="2800" dirty="0">
              <a:solidFill>
                <a:srgbClr val="00554F"/>
              </a:solidFill>
              <a:latin typeface="Georgi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8368" y="1625600"/>
            <a:ext cx="4160520" cy="533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828800"/>
            <a:ext cx="3867911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800" b="1">
                <a:solidFill>
                  <a:srgbClr val="003F3B"/>
                </a:solidFill>
                <a:latin typeface="Aptos"/>
              </a:rPr>
              <a:t>[Product / asset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35200"/>
            <a:ext cx="3708400" cy="4419600"/>
          </a:xfrm>
          <a:prstGeom prst="rect">
            <a:avLst/>
          </a:prstGeom>
          <a:noFill/>
        </p:spPr>
        <p:txBody>
          <a:bodyPr wrap="square" lIns="27432" tIns="27432" rIns="27432" bIns="27432" anchor="t" anchorCtr="0">
            <a:spAutoFit/>
          </a:bodyPr>
          <a:lstStyle/>
          <a:p>
            <a:pPr marL="228600" indent="-228600">
              <a:lnSpc>
                <a:spcPts val="2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600" b="0" dirty="0">
                <a:solidFill>
                  <a:srgbClr val="052927"/>
                </a:solidFill>
                <a:latin typeface="Aptos"/>
              </a:rPr>
              <a:t>Mechanism: [MoA / platform]</a:t>
            </a:r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600" b="0" dirty="0">
                <a:solidFill>
                  <a:srgbClr val="052927"/>
                </a:solidFill>
                <a:latin typeface="Aptos"/>
              </a:rPr>
              <a:t>Population: [Target patients and line of therapy]</a:t>
            </a:r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600" b="0" dirty="0">
                <a:solidFill>
                  <a:srgbClr val="052927"/>
                </a:solidFill>
                <a:latin typeface="Aptos"/>
              </a:rPr>
              <a:t>Lifecycle stage: [Pre-launch / launch / mature / expansion]</a:t>
            </a:r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600" b="0" dirty="0">
                <a:solidFill>
                  <a:srgbClr val="052927"/>
                </a:solidFill>
                <a:latin typeface="Aptos"/>
              </a:rPr>
              <a:t>Current evidence base: [Pivotal, extension, RWE, HEOR]</a:t>
            </a:r>
          </a:p>
          <a:p>
            <a:pPr marL="228600" indent="-228600">
              <a:lnSpc>
                <a:spcPts val="2000"/>
              </a:lnSpc>
              <a:buFont typeface="Arial"/>
              <a:buChar char="•"/>
            </a:pPr>
            <a:r>
              <a:rPr lang="en-US" sz="1600" b="0" dirty="0">
                <a:solidFill>
                  <a:srgbClr val="052927"/>
                </a:solidFill>
                <a:latin typeface="Aptos"/>
              </a:rPr>
              <a:t>Major decision windows: [Submission, HTA, guideline, launch]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60" y="1625600"/>
            <a:ext cx="8138160" cy="533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0" y="1955800"/>
            <a:ext cx="2057400" cy="292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96128" y="2159000"/>
            <a:ext cx="1828800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800" b="1">
                <a:solidFill>
                  <a:srgbClr val="003F3B"/>
                </a:solidFill>
                <a:latin typeface="Aptos"/>
              </a:rPr>
              <a:t>Clinical promise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128" y="2540000"/>
            <a:ext cx="1828800" cy="1524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b="0">
                <a:solidFill>
                  <a:srgbClr val="31403D"/>
                </a:solidFill>
                <a:latin typeface="Aptos"/>
              </a:rPr>
              <a:t>[Efficacy, safety, unmet need, differentiation hypothesis]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14416" y="4572000"/>
            <a:ext cx="329184" cy="36576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25896" y="4572000"/>
            <a:ext cx="329184" cy="36576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37376" y="4572000"/>
            <a:ext cx="329184" cy="36576"/>
          </a:xfrm>
          <a:prstGeom prst="rect">
            <a:avLst/>
          </a:prstGeom>
          <a:solidFill>
            <a:srgbClr val="C7D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48856" y="4572000"/>
            <a:ext cx="329184" cy="36576"/>
          </a:xfrm>
          <a:prstGeom prst="rect">
            <a:avLst/>
          </a:prstGeom>
          <a:solidFill>
            <a:srgbClr val="9A2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09560" y="1955800"/>
            <a:ext cx="2057400" cy="292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19288" y="2159000"/>
            <a:ext cx="1828800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800" b="1">
                <a:solidFill>
                  <a:srgbClr val="003F3B"/>
                </a:solidFill>
                <a:latin typeface="Aptos"/>
              </a:rPr>
              <a:t>Access 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9288" y="2540000"/>
            <a:ext cx="1828800" cy="1524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b="0">
                <a:solidFill>
                  <a:srgbClr val="31403D"/>
                </a:solidFill>
                <a:latin typeface="Aptos"/>
              </a:rPr>
              <a:t>[Efficacy, safety, unmet need, differentiation hypothesis]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37576" y="4572000"/>
            <a:ext cx="329184" cy="36576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449056" y="4572000"/>
            <a:ext cx="329184" cy="36576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860536" y="4572000"/>
            <a:ext cx="329184" cy="36576"/>
          </a:xfrm>
          <a:prstGeom prst="rect">
            <a:avLst/>
          </a:prstGeom>
          <a:solidFill>
            <a:srgbClr val="C7D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272016" y="4572000"/>
            <a:ext cx="329184" cy="36576"/>
          </a:xfrm>
          <a:prstGeom prst="rect">
            <a:avLst/>
          </a:prstGeom>
          <a:solidFill>
            <a:srgbClr val="9A2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332720" y="1955800"/>
            <a:ext cx="2057400" cy="292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442448" y="2159000"/>
            <a:ext cx="1828800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800" b="1">
                <a:solidFill>
                  <a:srgbClr val="003F3B"/>
                </a:solidFill>
                <a:latin typeface="Aptos"/>
              </a:rPr>
              <a:t>Patient value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42448" y="2540000"/>
            <a:ext cx="1828800" cy="1524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b="0">
                <a:solidFill>
                  <a:srgbClr val="31403D"/>
                </a:solidFill>
                <a:latin typeface="Aptos"/>
              </a:rPr>
              <a:t>[Efficacy, safety, unmet need, differentiation hypothesis]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60736" y="4572000"/>
            <a:ext cx="329184" cy="36576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872216" y="4572000"/>
            <a:ext cx="329184" cy="36576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1283696" y="4572000"/>
            <a:ext cx="329184" cy="36576"/>
          </a:xfrm>
          <a:prstGeom prst="rect">
            <a:avLst/>
          </a:prstGeom>
          <a:solidFill>
            <a:srgbClr val="C7D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1695176" y="4572000"/>
            <a:ext cx="329184" cy="36576"/>
          </a:xfrm>
          <a:prstGeom prst="rect">
            <a:avLst/>
          </a:prstGeom>
          <a:solidFill>
            <a:srgbClr val="9A2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440680" y="5511800"/>
            <a:ext cx="726948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6023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584200"/>
            <a:ext cx="406400" cy="381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5700" y="584200"/>
            <a:ext cx="609600" cy="38100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400" y="812800"/>
            <a:ext cx="13081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dirty="0">
                <a:solidFill>
                  <a:srgbClr val="003F3B"/>
                </a:solidFill>
                <a:latin typeface="Georgia"/>
              </a:rPr>
              <a:t>Strategic imperatives</a:t>
            </a:r>
            <a:endParaRPr sz="2800" dirty="0">
              <a:solidFill>
                <a:srgbClr val="00554F"/>
              </a:solidFill>
              <a:latin typeface="Georgia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0400" y="1625600"/>
            <a:ext cx="4165600" cy="381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905000"/>
            <a:ext cx="3831335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800" b="1">
                <a:solidFill>
                  <a:srgbClr val="087267"/>
                </a:solidFill>
                <a:latin typeface="Aptos"/>
              </a:rPr>
              <a:t>Launch and access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" y="2463800"/>
            <a:ext cx="475488" cy="32004"/>
          </a:xfrm>
          <a:prstGeom prst="rect">
            <a:avLst/>
          </a:prstGeom>
          <a:solidFill>
            <a:srgbClr val="15D2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0600" y="3022600"/>
            <a:ext cx="3670300" cy="2159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228600" indent="-228600">
              <a:lnSpc>
                <a:spcPts val="2000"/>
              </a:lnSpc>
              <a:spcAft>
                <a:spcPts val="1400"/>
              </a:spcAft>
              <a:buFont typeface="Arial"/>
              <a:buChar char="•"/>
            </a:pPr>
            <a:r>
              <a:rPr lang="en-US" sz="1600" b="0" dirty="0">
                <a:solidFill>
                  <a:srgbClr val="087267"/>
                </a:solidFill>
                <a:latin typeface="Aptos"/>
              </a:rPr>
              <a:t>Secure reimbursement in priority markets</a:t>
            </a:r>
          </a:p>
          <a:p>
            <a:pPr marL="228600" indent="-228600">
              <a:lnSpc>
                <a:spcPts val="2000"/>
              </a:lnSpc>
              <a:spcAft>
                <a:spcPts val="1400"/>
              </a:spcAft>
              <a:buFont typeface="Arial"/>
              <a:buChar char="•"/>
            </a:pPr>
            <a:r>
              <a:rPr lang="en-US" sz="1600" b="0" dirty="0">
                <a:solidFill>
                  <a:srgbClr val="087267"/>
                </a:solidFill>
                <a:latin typeface="Aptos"/>
              </a:rPr>
              <a:t>Support payer value story and budget impact</a:t>
            </a:r>
          </a:p>
          <a:p>
            <a:pPr marL="228600" indent="-228600">
              <a:lnSpc>
                <a:spcPts val="2000"/>
              </a:lnSpc>
              <a:buFont typeface="Arial"/>
              <a:buChar char="•"/>
            </a:pPr>
            <a:r>
              <a:rPr lang="en-US" sz="1600" b="0" dirty="0">
                <a:solidFill>
                  <a:srgbClr val="087267"/>
                </a:solidFill>
                <a:latin typeface="Aptos"/>
              </a:rPr>
              <a:t>Prepare HTA dossier evidence inputs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0000" y="1625600"/>
            <a:ext cx="4165600" cy="381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655" y="1905000"/>
            <a:ext cx="3831335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800" b="1">
                <a:solidFill>
                  <a:srgbClr val="087267"/>
                </a:solidFill>
                <a:latin typeface="Aptos"/>
              </a:rPr>
              <a:t>Differentiation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8655" y="2463800"/>
            <a:ext cx="475488" cy="32004"/>
          </a:xfrm>
          <a:prstGeom prst="rect">
            <a:avLst/>
          </a:prstGeom>
          <a:solidFill>
            <a:srgbClr val="15D2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10200" y="3022600"/>
            <a:ext cx="3670300" cy="2159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228600" indent="-228600">
              <a:lnSpc>
                <a:spcPts val="2000"/>
              </a:lnSpc>
              <a:spcAft>
                <a:spcPts val="1400"/>
              </a:spcAft>
              <a:buFont typeface="Arial"/>
              <a:buChar char="•"/>
            </a:pPr>
            <a:r>
              <a:rPr lang="en-US" sz="1600" b="0" dirty="0">
                <a:solidFill>
                  <a:srgbClr val="087267"/>
                </a:solidFill>
                <a:latin typeface="Aptos"/>
              </a:rPr>
              <a:t>Demonstrate value vs standard of care</a:t>
            </a:r>
          </a:p>
          <a:p>
            <a:pPr marL="228600" indent="-228600">
              <a:lnSpc>
                <a:spcPts val="2000"/>
              </a:lnSpc>
              <a:spcAft>
                <a:spcPts val="1400"/>
              </a:spcAft>
              <a:buFont typeface="Arial"/>
              <a:buChar char="•"/>
            </a:pPr>
            <a:r>
              <a:rPr lang="en-US" sz="1600" b="0" dirty="0">
                <a:solidFill>
                  <a:srgbClr val="087267"/>
                </a:solidFill>
                <a:latin typeface="Aptos"/>
              </a:rPr>
              <a:t>Support claims in defined subpopulations</a:t>
            </a:r>
          </a:p>
          <a:p>
            <a:pPr marL="228600" indent="-228600">
              <a:lnSpc>
                <a:spcPts val="2000"/>
              </a:lnSpc>
              <a:buFont typeface="Arial"/>
              <a:buChar char="•"/>
            </a:pPr>
            <a:r>
              <a:rPr lang="en-US" sz="1600" b="0" dirty="0">
                <a:solidFill>
                  <a:srgbClr val="087267"/>
                </a:solidFill>
                <a:latin typeface="Aptos"/>
              </a:rPr>
              <a:t>Clarify real-world positioning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12300" y="1625600"/>
            <a:ext cx="4165600" cy="381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74352" y="1905000"/>
            <a:ext cx="3831335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800" b="1">
                <a:solidFill>
                  <a:srgbClr val="087267"/>
                </a:solidFill>
                <a:latin typeface="Aptos"/>
              </a:rPr>
              <a:t>Lifecycle growth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74352" y="2463800"/>
            <a:ext cx="475488" cy="32004"/>
          </a:xfrm>
          <a:prstGeom prst="rect">
            <a:avLst/>
          </a:prstGeom>
          <a:solidFill>
            <a:srgbClr val="15D2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42500" y="3022600"/>
            <a:ext cx="3670300" cy="2159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228600" indent="-228600">
              <a:lnSpc>
                <a:spcPts val="2000"/>
              </a:lnSpc>
              <a:spcAft>
                <a:spcPts val="1400"/>
              </a:spcAft>
              <a:buFont typeface="Arial"/>
              <a:buChar char="•"/>
            </a:pPr>
            <a:r>
              <a:rPr lang="en-US" sz="1600" b="0" dirty="0">
                <a:solidFill>
                  <a:srgbClr val="087267"/>
                </a:solidFill>
                <a:latin typeface="Aptos"/>
              </a:rPr>
              <a:t>Enable label expansion or sequencing</a:t>
            </a:r>
          </a:p>
          <a:p>
            <a:pPr marL="228600" indent="-228600">
              <a:lnSpc>
                <a:spcPts val="2000"/>
              </a:lnSpc>
              <a:spcAft>
                <a:spcPts val="1400"/>
              </a:spcAft>
              <a:buFont typeface="Arial"/>
              <a:buChar char="•"/>
            </a:pPr>
            <a:r>
              <a:rPr lang="en-US" sz="1600" b="0" dirty="0">
                <a:solidFill>
                  <a:srgbClr val="087267"/>
                </a:solidFill>
                <a:latin typeface="Aptos"/>
              </a:rPr>
              <a:t>Support guideline inclusion</a:t>
            </a:r>
          </a:p>
          <a:p>
            <a:pPr marL="228600" indent="-228600">
              <a:lnSpc>
                <a:spcPts val="2000"/>
              </a:lnSpc>
              <a:buFont typeface="Arial"/>
              <a:buChar char="•"/>
            </a:pPr>
            <a:r>
              <a:rPr lang="en-US" sz="1600" b="0" dirty="0">
                <a:solidFill>
                  <a:srgbClr val="087267"/>
                </a:solidFill>
                <a:latin typeface="Aptos"/>
              </a:rPr>
              <a:t>Build patient-centered evidence base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0400" y="7162800"/>
            <a:ext cx="13309600" cy="55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8" y="7315200"/>
            <a:ext cx="12893040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087267"/>
                </a:solidFill>
                <a:latin typeface="Aptos"/>
              </a:rPr>
              <a:t>Strategic imperative -&gt; stakeholder need -&gt; evidence gap -&gt; study tactic -&gt; decision impact</a:t>
            </a:r>
          </a:p>
        </p:txBody>
      </p:sp>
    </p:spTree>
    <p:extLst>
      <p:ext uri="{BB962C8B-B14F-4D97-AF65-F5344CB8AC3E}">
        <p14:creationId xmlns:p14="http://schemas.microsoft.com/office/powerpoint/2010/main" val="2297660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54200" y="2286000"/>
            <a:ext cx="1092200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en-US" sz="3600" dirty="0">
                <a:solidFill>
                  <a:srgbClr val="003F3B"/>
                </a:solidFill>
                <a:latin typeface="Georgia"/>
              </a:rPr>
              <a:t>Evidence 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4200" y="3149600"/>
            <a:ext cx="1092200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en-US" sz="3600" b="0" dirty="0">
                <a:solidFill>
                  <a:srgbClr val="00554F"/>
                </a:solidFill>
                <a:latin typeface="Aptos"/>
              </a:rPr>
              <a:t>and stakeholder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4200" y="4140200"/>
            <a:ext cx="1092200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en-US" sz="1800" b="0" dirty="0">
                <a:solidFill>
                  <a:srgbClr val="66736F"/>
                </a:solidFill>
                <a:latin typeface="Aptos"/>
              </a:rPr>
              <a:t>Section 2 of 6</a:t>
            </a:r>
          </a:p>
        </p:txBody>
      </p:sp>
      <p:cxnSp>
        <p:nvCxnSpPr>
          <p:cNvPr id="60" name="AccentRule"/>
          <p:cNvCxnSpPr/>
          <p:nvPr/>
        </p:nvCxnSpPr>
        <p:spPr>
          <a:xfrm>
            <a:off x="6553200" y="4726599"/>
            <a:ext cx="1524000" cy="0"/>
          </a:xfrm>
          <a:prstGeom prst="line">
            <a:avLst/>
          </a:prstGeom>
          <a:ln w="19050" cap="flat">
            <a:solidFill>
              <a:srgbClr val="3DDC97"/>
            </a:solidFill>
          </a:ln>
        </p:spPr>
      </p:cxnSp>
    </p:spTree>
    <p:extLst>
      <p:ext uri="{BB962C8B-B14F-4D97-AF65-F5344CB8AC3E}">
        <p14:creationId xmlns:p14="http://schemas.microsoft.com/office/powerpoint/2010/main" val="2689851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584200"/>
            <a:ext cx="406400" cy="381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5700" y="584200"/>
            <a:ext cx="609600" cy="38100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400" y="812800"/>
            <a:ext cx="13081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dirty="0">
                <a:solidFill>
                  <a:srgbClr val="003F3B"/>
                </a:solidFill>
                <a:latin typeface="Georgia"/>
              </a:rPr>
              <a:t>Stakeholder evidence needs</a:t>
            </a:r>
            <a:endParaRPr sz="2800" dirty="0">
              <a:solidFill>
                <a:srgbClr val="00554F"/>
              </a:solidFill>
              <a:latin typeface="Georgi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1722120"/>
            <a:ext cx="2020824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15768" y="1828800"/>
            <a:ext cx="2020824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31403D"/>
                </a:solidFill>
                <a:latin typeface="Aptos"/>
              </a:rPr>
              <a:t>Regulators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1828800"/>
            <a:ext cx="2020824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31403D"/>
                </a:solidFill>
                <a:latin typeface="Aptos"/>
              </a:rPr>
              <a:t>HTA / payers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0568" y="1828800"/>
            <a:ext cx="2020824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31403D"/>
                </a:solidFill>
                <a:latin typeface="Aptos"/>
              </a:rPr>
              <a:t>HCPs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1828800"/>
            <a:ext cx="2020824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31403D"/>
                </a:solidFill>
                <a:latin typeface="Aptos"/>
              </a:rPr>
              <a:t>Patients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45368" y="1828800"/>
            <a:ext cx="2020824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31403D"/>
                </a:solidFill>
                <a:latin typeface="Aptos"/>
              </a:rPr>
              <a:t>Guidelines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235200"/>
            <a:ext cx="2057400" cy="711200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600" y="2286000"/>
            <a:ext cx="1905000" cy="609600"/>
          </a:xfrm>
          <a:prstGeom prst="rect">
            <a:avLst/>
          </a:prstGeom>
          <a:noFill/>
        </p:spPr>
        <p:txBody>
          <a:bodyPr wrap="square" lIns="27432" tIns="27432" rIns="27432" bIns="27432" anchor="ctr" anchorCtr="0">
            <a:spAutoFit/>
          </a:bodyPr>
          <a:lstStyle/>
          <a:p>
            <a:r>
              <a:rPr sz="1800" b="1" dirty="0">
                <a:solidFill>
                  <a:srgbClr val="003F3B"/>
                </a:solidFill>
                <a:latin typeface="Aptos"/>
              </a:rPr>
              <a:t>Clinical benefit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15768" y="2235200"/>
            <a:ext cx="2002536" cy="711200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15768" y="24765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Have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73168" y="2235200"/>
            <a:ext cx="2002536" cy="7112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73168" y="24765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30568" y="2235200"/>
            <a:ext cx="2002536" cy="711200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30568" y="24765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Have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87968" y="2235200"/>
            <a:ext cx="2002536" cy="7112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87968" y="24765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45368" y="2235200"/>
            <a:ext cx="2002536" cy="711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45368" y="24765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Gap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022600"/>
            <a:ext cx="2057400" cy="711200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6600" y="3073400"/>
            <a:ext cx="1905000" cy="609600"/>
          </a:xfrm>
          <a:prstGeom prst="rect">
            <a:avLst/>
          </a:prstGeom>
          <a:noFill/>
        </p:spPr>
        <p:txBody>
          <a:bodyPr wrap="square" lIns="27432" tIns="27432" rIns="27432" bIns="27432" anchor="ctr" anchorCtr="0">
            <a:spAutoFit/>
          </a:bodyPr>
          <a:lstStyle/>
          <a:p>
            <a:r>
              <a:rPr sz="1800" b="1" dirty="0">
                <a:solidFill>
                  <a:srgbClr val="003F3B"/>
                </a:solidFill>
                <a:latin typeface="Aptos"/>
              </a:rPr>
              <a:t>Comparative value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15768" y="3022600"/>
            <a:ext cx="2002536" cy="7112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15768" y="32639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73168" y="3022600"/>
            <a:ext cx="2002536" cy="711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73168" y="32639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Gap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30568" y="3022600"/>
            <a:ext cx="2002536" cy="711200"/>
          </a:xfrm>
          <a:prstGeom prst="rect">
            <a:avLst/>
          </a:prstGeom>
          <a:solidFill>
            <a:srgbClr val="9A2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30568" y="32639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Planned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3022600"/>
            <a:ext cx="2002536" cy="7112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87968" y="32639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945368" y="3022600"/>
            <a:ext cx="2002536" cy="711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945368" y="32639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Gap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3810000"/>
            <a:ext cx="2057400" cy="711200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6600" y="3860800"/>
            <a:ext cx="1905000" cy="609600"/>
          </a:xfrm>
          <a:prstGeom prst="rect">
            <a:avLst/>
          </a:prstGeom>
          <a:noFill/>
        </p:spPr>
        <p:txBody>
          <a:bodyPr wrap="square" lIns="27432" tIns="27432" rIns="27432" bIns="27432" anchor="ctr" anchorCtr="0">
            <a:spAutoFit/>
          </a:bodyPr>
          <a:lstStyle/>
          <a:p>
            <a:r>
              <a:rPr sz="1800" b="1">
                <a:solidFill>
                  <a:srgbClr val="003F3B"/>
                </a:solidFill>
                <a:latin typeface="Aptos"/>
              </a:rPr>
              <a:t>Safety in practice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15768" y="3810000"/>
            <a:ext cx="2002536" cy="711200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15768" y="40513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Have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73168" y="3810000"/>
            <a:ext cx="2002536" cy="7112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773168" y="40513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30568" y="3810000"/>
            <a:ext cx="2002536" cy="711200"/>
          </a:xfrm>
          <a:prstGeom prst="rect">
            <a:avLst/>
          </a:prstGeom>
          <a:solidFill>
            <a:srgbClr val="9A2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30568" y="40513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Planned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87968" y="3810000"/>
            <a:ext cx="2002536" cy="7112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887968" y="40513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945368" y="3810000"/>
            <a:ext cx="2002536" cy="7112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945368" y="40513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4597400"/>
            <a:ext cx="2057400" cy="711200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6600" y="4648200"/>
            <a:ext cx="1905000" cy="609600"/>
          </a:xfrm>
          <a:prstGeom prst="rect">
            <a:avLst/>
          </a:prstGeom>
          <a:noFill/>
        </p:spPr>
        <p:txBody>
          <a:bodyPr wrap="square" lIns="27432" tIns="27432" rIns="27432" bIns="27432" anchor="ctr" anchorCtr="0">
            <a:spAutoFit/>
          </a:bodyPr>
          <a:lstStyle/>
          <a:p>
            <a:r>
              <a:rPr sz="1800" b="1">
                <a:solidFill>
                  <a:srgbClr val="003F3B"/>
                </a:solidFill>
                <a:latin typeface="Aptos"/>
              </a:rPr>
              <a:t>Quality of life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15768" y="4597400"/>
            <a:ext cx="2002536" cy="7112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715768" y="48387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73168" y="4597400"/>
            <a:ext cx="2002536" cy="711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773168" y="48387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Gap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30568" y="4597400"/>
            <a:ext cx="2002536" cy="7112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830568" y="48387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87968" y="4597400"/>
            <a:ext cx="2002536" cy="711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887968" y="48387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Gap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45368" y="4597400"/>
            <a:ext cx="2002536" cy="711200"/>
          </a:xfrm>
          <a:prstGeom prst="rect">
            <a:avLst/>
          </a:prstGeom>
          <a:solidFill>
            <a:srgbClr val="9A2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945368" y="48387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Planned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5384800"/>
            <a:ext cx="2057400" cy="711200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6600" y="5435600"/>
            <a:ext cx="1905000" cy="609600"/>
          </a:xfrm>
          <a:prstGeom prst="rect">
            <a:avLst/>
          </a:prstGeom>
          <a:noFill/>
        </p:spPr>
        <p:txBody>
          <a:bodyPr wrap="square" lIns="27432" tIns="27432" rIns="27432" bIns="27432" anchor="ctr" anchorCtr="0">
            <a:spAutoFit/>
          </a:bodyPr>
          <a:lstStyle/>
          <a:p>
            <a:r>
              <a:rPr sz="1800" b="1">
                <a:solidFill>
                  <a:srgbClr val="003F3B"/>
                </a:solidFill>
                <a:latin typeface="Aptos"/>
              </a:rPr>
              <a:t>Economic impact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15768" y="5384800"/>
            <a:ext cx="2002536" cy="711200"/>
          </a:xfrm>
          <a:prstGeom prst="rect">
            <a:avLst/>
          </a:prstGeom>
          <a:solidFill>
            <a:srgbClr val="C7D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715768" y="56261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052927"/>
                </a:solidFill>
                <a:latin typeface="Aptos"/>
              </a:rPr>
              <a:t>N/A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73168" y="5384800"/>
            <a:ext cx="2002536" cy="711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773168" y="56261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Gap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30568" y="5384800"/>
            <a:ext cx="2002536" cy="711200"/>
          </a:xfrm>
          <a:prstGeom prst="rect">
            <a:avLst/>
          </a:prstGeom>
          <a:solidFill>
            <a:srgbClr val="C7D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830568" y="56261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052927"/>
                </a:solidFill>
                <a:latin typeface="Aptos"/>
              </a:rPr>
              <a:t>Low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887968" y="5384800"/>
            <a:ext cx="2002536" cy="711200"/>
          </a:xfrm>
          <a:prstGeom prst="rect">
            <a:avLst/>
          </a:prstGeom>
          <a:solidFill>
            <a:srgbClr val="C7D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887968" y="56261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052927"/>
                </a:solidFill>
                <a:latin typeface="Aptos"/>
              </a:rPr>
              <a:t>Low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945368" y="5384800"/>
            <a:ext cx="2002536" cy="7112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945368" y="5626100"/>
            <a:ext cx="2002536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8368" y="7162800"/>
            <a:ext cx="13304520" cy="558800"/>
          </a:xfrm>
          <a:prstGeom prst="rect">
            <a:avLst/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58368" y="7162800"/>
            <a:ext cx="64008" cy="558800"/>
          </a:xfrm>
          <a:prstGeom prst="rec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63600" y="7281378"/>
            <a:ext cx="12984480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b="0" dirty="0">
                <a:solidFill>
                  <a:srgbClr val="052927"/>
                </a:solidFill>
                <a:latin typeface="Aptos"/>
              </a:rPr>
              <a:t>Use color coding to separate evidence available, partial support, planned evidence, and decision-critical gaps.</a:t>
            </a:r>
          </a:p>
        </p:txBody>
      </p:sp>
    </p:spTree>
    <p:extLst>
      <p:ext uri="{BB962C8B-B14F-4D97-AF65-F5344CB8AC3E}">
        <p14:creationId xmlns:p14="http://schemas.microsoft.com/office/powerpoint/2010/main" val="3171903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603500" y="3670300"/>
            <a:ext cx="1397000" cy="1397000"/>
          </a:xfrm>
          <a:prstGeom prst="rect">
            <a:avLst/>
          </a:prstGeom>
          <a:solidFill>
            <a:srgbClr val="DDE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660400" y="584200"/>
            <a:ext cx="406400" cy="381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5700" y="584200"/>
            <a:ext cx="609600" cy="38100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400" y="812800"/>
            <a:ext cx="13081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dirty="0">
                <a:solidFill>
                  <a:srgbClr val="003F3B"/>
                </a:solidFill>
                <a:latin typeface="Georgia"/>
              </a:rPr>
              <a:t>Patient journey evidence map</a:t>
            </a:r>
            <a:endParaRPr sz="2800" dirty="0">
              <a:solidFill>
                <a:srgbClr val="00554F"/>
              </a:solidFill>
              <a:latin typeface="Georgia"/>
            </a:endParaRPr>
          </a:p>
        </p:txBody>
      </p:sp>
      <p:sp>
        <p:nvSpPr>
          <p:cNvPr id="9" name="Donut 8"/>
          <p:cNvSpPr/>
          <p:nvPr/>
        </p:nvSpPr>
        <p:spPr>
          <a:xfrm>
            <a:off x="1778000" y="2844800"/>
            <a:ext cx="3048000" cy="3048000"/>
          </a:xfrm>
          <a:prstGeom prst="donut">
            <a:avLst/>
          </a:prstGeom>
          <a:solidFill>
            <a:srgbClr val="0B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03500" y="4025900"/>
            <a:ext cx="1397000" cy="508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003F3B"/>
                </a:solidFill>
                <a:latin typeface="Aptos"/>
              </a:rPr>
              <a:t>Evidence
journey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6100" y="1701800"/>
            <a:ext cx="7137400" cy="508000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5800" y="1803400"/>
            <a:ext cx="6845300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800" b="1">
                <a:solidFill>
                  <a:srgbClr val="003F3B"/>
                </a:solidFill>
                <a:latin typeface="Aptos"/>
              </a:rPr>
              <a:t>Diagnosis and referral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0900" y="2387600"/>
            <a:ext cx="668020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en-US" sz="1600" b="0" dirty="0">
                <a:solidFill>
                  <a:srgbClr val="052927"/>
                </a:solidFill>
                <a:latin typeface="Aptos"/>
              </a:rPr>
              <a:t>[Evidence needs by care-stage friction]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6100" y="3073400"/>
            <a:ext cx="7137400" cy="508000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65800" y="3175000"/>
            <a:ext cx="6845300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800" b="1">
                <a:solidFill>
                  <a:srgbClr val="003F3B"/>
                </a:solidFill>
                <a:latin typeface="Aptos"/>
              </a:rPr>
              <a:t>Treatment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0900" y="3759200"/>
            <a:ext cx="668020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en-US" sz="1600" b="0" dirty="0">
                <a:solidFill>
                  <a:srgbClr val="052927"/>
                </a:solidFill>
                <a:latin typeface="Aptos"/>
              </a:rPr>
              <a:t>[Evidence needs by care-stage friction]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26100" y="4445000"/>
            <a:ext cx="7137400" cy="508000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65800" y="4546600"/>
            <a:ext cx="6845300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800" b="1">
                <a:solidFill>
                  <a:srgbClr val="003F3B"/>
                </a:solidFill>
                <a:latin typeface="Aptos"/>
              </a:rPr>
              <a:t>Access and adherence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30900" y="5130800"/>
            <a:ext cx="668020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en-US" sz="1600" b="0" dirty="0">
                <a:solidFill>
                  <a:srgbClr val="052927"/>
                </a:solidFill>
                <a:latin typeface="Aptos"/>
              </a:rPr>
              <a:t>[Evidence needs by care-stage friction]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26100" y="5816600"/>
            <a:ext cx="7137400" cy="508000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65800" y="5918200"/>
            <a:ext cx="6845300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800" b="1">
                <a:solidFill>
                  <a:srgbClr val="003F3B"/>
                </a:solidFill>
                <a:latin typeface="Aptos"/>
              </a:rPr>
              <a:t>Long-term outcomes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0900" y="6502400"/>
            <a:ext cx="668020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en-US" sz="1600" b="0" dirty="0">
                <a:solidFill>
                  <a:srgbClr val="052927"/>
                </a:solidFill>
                <a:latin typeface="Aptos"/>
              </a:rPr>
              <a:t>[Evidence needs by care-stage friction]</a:t>
            </a:r>
          </a:p>
        </p:txBody>
      </p:sp>
    </p:spTree>
    <p:extLst>
      <p:ext uri="{BB962C8B-B14F-4D97-AF65-F5344CB8AC3E}">
        <p14:creationId xmlns:p14="http://schemas.microsoft.com/office/powerpoint/2010/main" val="102569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r"/>
          <p:cNvSpPr/>
          <p:nvPr/>
        </p:nvSpPr>
        <p:spPr>
          <a:xfrm>
            <a:off x="660400" y="584200"/>
            <a:ext cx="406400" cy="381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r"/>
          <p:cNvSpPr/>
          <p:nvPr/>
        </p:nvSpPr>
        <p:spPr>
          <a:xfrm>
            <a:off x="1155700" y="584200"/>
            <a:ext cx="609600" cy="381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t"/>
          <p:cNvSpPr txBox="1"/>
          <p:nvPr/>
        </p:nvSpPr>
        <p:spPr>
          <a:xfrm>
            <a:off x="660400" y="812800"/>
            <a:ext cx="13081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800" dirty="0">
                <a:solidFill>
                  <a:srgbClr val="003F3B"/>
                </a:solidFill>
                <a:latin typeface="Georgia"/>
              </a:rPr>
              <a:t>Patient journey evidence map</a:t>
            </a:r>
          </a:p>
        </p:txBody>
      </p:sp>
      <p:sp>
        <p:nvSpPr>
          <p:cNvPr id="104" name="r"/>
          <p:cNvSpPr/>
          <p:nvPr/>
        </p:nvSpPr>
        <p:spPr>
          <a:xfrm>
            <a:off x="1422400" y="3810000"/>
            <a:ext cx="11785600" cy="38100"/>
          </a:xfrm>
          <a:prstGeom prst="rect">
            <a:avLst/>
          </a:prstGeom>
          <a:solidFill>
            <a:srgbClr val="C9D9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c"/>
          <p:cNvSpPr/>
          <p:nvPr/>
        </p:nvSpPr>
        <p:spPr>
          <a:xfrm>
            <a:off x="1866900" y="3371850"/>
            <a:ext cx="914400" cy="914400"/>
          </a:xfrm>
          <a:prstGeom prst="ellipse">
            <a:avLst/>
          </a:prstGeom>
          <a:solidFill>
            <a:srgbClr val="003F3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6" name="t"/>
          <p:cNvSpPr txBox="1"/>
          <p:nvPr/>
        </p:nvSpPr>
        <p:spPr>
          <a:xfrm>
            <a:off x="787400" y="1905000"/>
            <a:ext cx="3073400" cy="1016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lang="en-US" sz="1700" b="1" dirty="0">
                <a:solidFill>
                  <a:srgbClr val="003F3B"/>
                </a:solidFill>
                <a:latin typeface="Aptos"/>
              </a:rPr>
              <a:t>Diagnosis and referral</a:t>
            </a:r>
          </a:p>
        </p:txBody>
      </p:sp>
      <p:sp>
        <p:nvSpPr>
          <p:cNvPr id="107" name="t"/>
          <p:cNvSpPr txBox="1"/>
          <p:nvPr/>
        </p:nvSpPr>
        <p:spPr>
          <a:xfrm>
            <a:off x="889000" y="4699000"/>
            <a:ext cx="2870200" cy="177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500" dirty="0">
                <a:solidFill>
                  <a:srgbClr val="052927"/>
                </a:solidFill>
                <a:latin typeface="Aptos"/>
              </a:rPr>
              <a:t>[Evidence needs by care-stage friction]</a:t>
            </a:r>
          </a:p>
        </p:txBody>
      </p:sp>
      <p:sp>
        <p:nvSpPr>
          <p:cNvPr id="108" name="c"/>
          <p:cNvSpPr/>
          <p:nvPr/>
        </p:nvSpPr>
        <p:spPr>
          <a:xfrm>
            <a:off x="5194300" y="3371850"/>
            <a:ext cx="914400" cy="914400"/>
          </a:xfrm>
          <a:prstGeom prst="ellipse">
            <a:avLst/>
          </a:prstGeom>
          <a:solidFill>
            <a:srgbClr val="00554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09" name="t"/>
          <p:cNvSpPr txBox="1"/>
          <p:nvPr/>
        </p:nvSpPr>
        <p:spPr>
          <a:xfrm>
            <a:off x="4114800" y="1905000"/>
            <a:ext cx="3073400" cy="1016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lang="en-US" sz="1700" b="1" dirty="0">
                <a:solidFill>
                  <a:srgbClr val="003F3B"/>
                </a:solidFill>
                <a:latin typeface="Aptos"/>
              </a:rPr>
              <a:t>Treatment selection</a:t>
            </a:r>
          </a:p>
        </p:txBody>
      </p:sp>
      <p:sp>
        <p:nvSpPr>
          <p:cNvPr id="110" name="t"/>
          <p:cNvSpPr txBox="1"/>
          <p:nvPr/>
        </p:nvSpPr>
        <p:spPr>
          <a:xfrm>
            <a:off x="4216400" y="4699000"/>
            <a:ext cx="2870200" cy="177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500" dirty="0">
                <a:solidFill>
                  <a:srgbClr val="052927"/>
                </a:solidFill>
                <a:latin typeface="Aptos"/>
              </a:rPr>
              <a:t>[Evidence needs by care-stage friction]</a:t>
            </a:r>
          </a:p>
        </p:txBody>
      </p:sp>
      <p:sp>
        <p:nvSpPr>
          <p:cNvPr id="111" name="c"/>
          <p:cNvSpPr/>
          <p:nvPr/>
        </p:nvSpPr>
        <p:spPr>
          <a:xfrm>
            <a:off x="8521700" y="3371850"/>
            <a:ext cx="914400" cy="914400"/>
          </a:xfrm>
          <a:prstGeom prst="ellipse">
            <a:avLst/>
          </a:prstGeom>
          <a:solidFill>
            <a:srgbClr val="2C8074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12" name="t"/>
          <p:cNvSpPr txBox="1"/>
          <p:nvPr/>
        </p:nvSpPr>
        <p:spPr>
          <a:xfrm>
            <a:off x="7442200" y="1905000"/>
            <a:ext cx="3073400" cy="1016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lang="en-US" sz="1700" b="1" dirty="0">
                <a:solidFill>
                  <a:srgbClr val="003F3B"/>
                </a:solidFill>
                <a:latin typeface="Aptos"/>
              </a:rPr>
              <a:t>Access and adherence</a:t>
            </a:r>
          </a:p>
        </p:txBody>
      </p:sp>
      <p:sp>
        <p:nvSpPr>
          <p:cNvPr id="113" name="t"/>
          <p:cNvSpPr txBox="1"/>
          <p:nvPr/>
        </p:nvSpPr>
        <p:spPr>
          <a:xfrm>
            <a:off x="7543800" y="4699000"/>
            <a:ext cx="2870200" cy="177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500" dirty="0">
                <a:solidFill>
                  <a:srgbClr val="052927"/>
                </a:solidFill>
                <a:latin typeface="Aptos"/>
              </a:rPr>
              <a:t>[Evidence needs by care-stage friction]</a:t>
            </a:r>
          </a:p>
        </p:txBody>
      </p:sp>
      <p:sp>
        <p:nvSpPr>
          <p:cNvPr id="114" name="c"/>
          <p:cNvSpPr/>
          <p:nvPr/>
        </p:nvSpPr>
        <p:spPr>
          <a:xfrm>
            <a:off x="11849100" y="3371850"/>
            <a:ext cx="914400" cy="914400"/>
          </a:xfrm>
          <a:prstGeom prst="ellipse">
            <a:avLst/>
          </a:prstGeom>
          <a:solidFill>
            <a:srgbClr val="3DBA8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15" name="t"/>
          <p:cNvSpPr txBox="1"/>
          <p:nvPr/>
        </p:nvSpPr>
        <p:spPr>
          <a:xfrm>
            <a:off x="10769600" y="1905000"/>
            <a:ext cx="3073400" cy="1016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lang="en-US" sz="1700" b="1" dirty="0">
                <a:solidFill>
                  <a:srgbClr val="003F3B"/>
                </a:solidFill>
                <a:latin typeface="Aptos"/>
              </a:rPr>
              <a:t>Long-term outcomes</a:t>
            </a:r>
          </a:p>
        </p:txBody>
      </p:sp>
      <p:sp>
        <p:nvSpPr>
          <p:cNvPr id="116" name="t"/>
          <p:cNvSpPr txBox="1"/>
          <p:nvPr/>
        </p:nvSpPr>
        <p:spPr>
          <a:xfrm>
            <a:off x="10871200" y="4699000"/>
            <a:ext cx="2870200" cy="177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500" dirty="0">
                <a:solidFill>
                  <a:srgbClr val="052927"/>
                </a:solidFill>
                <a:latin typeface="Aptos"/>
              </a:rPr>
              <a:t>[Evidence needs by care-stage friction]</a:t>
            </a:r>
          </a:p>
        </p:txBody>
      </p:sp>
    </p:spTree>
    <p:extLst>
      <p:ext uri="{BB962C8B-B14F-4D97-AF65-F5344CB8AC3E}">
        <p14:creationId xmlns:p14="http://schemas.microsoft.com/office/powerpoint/2010/main" val="1142293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r"/>
          <p:cNvSpPr/>
          <p:nvPr/>
        </p:nvSpPr>
        <p:spPr>
          <a:xfrm>
            <a:off x="0" y="0"/>
            <a:ext cx="14630400" cy="762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"/>
          <p:cNvSpPr txBox="1"/>
          <p:nvPr/>
        </p:nvSpPr>
        <p:spPr>
          <a:xfrm>
            <a:off x="914400" y="685800"/>
            <a:ext cx="12700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Georgia"/>
              </a:rPr>
              <a:t>Patient journey evidence map</a:t>
            </a:r>
          </a:p>
        </p:txBody>
      </p:sp>
      <p:sp>
        <p:nvSpPr>
          <p:cNvPr id="103" name="r"/>
          <p:cNvSpPr/>
          <p:nvPr/>
        </p:nvSpPr>
        <p:spPr>
          <a:xfrm>
            <a:off x="914400" y="1651000"/>
            <a:ext cx="12801600" cy="1422400"/>
          </a:xfrm>
          <a:prstGeom prst="rect">
            <a:avLst/>
          </a:prstGeom>
          <a:solidFill>
            <a:srgbClr val="0A4A4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r"/>
          <p:cNvSpPr/>
          <p:nvPr/>
        </p:nvSpPr>
        <p:spPr>
          <a:xfrm>
            <a:off x="914400" y="1651000"/>
            <a:ext cx="76200" cy="14224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"/>
          <p:cNvSpPr txBox="1"/>
          <p:nvPr/>
        </p:nvSpPr>
        <p:spPr>
          <a:xfrm>
            <a:off x="1219200" y="1651000"/>
            <a:ext cx="1524000" cy="142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5400" b="1" dirty="0">
                <a:solidFill>
                  <a:srgbClr val="3DBA8C"/>
                </a:solidFill>
                <a:latin typeface="Georgia"/>
              </a:rPr>
              <a:t>1</a:t>
            </a:r>
          </a:p>
        </p:txBody>
      </p:sp>
      <p:sp>
        <p:nvSpPr>
          <p:cNvPr id="106" name="r"/>
          <p:cNvSpPr/>
          <p:nvPr/>
        </p:nvSpPr>
        <p:spPr>
          <a:xfrm>
            <a:off x="2946400" y="1955800"/>
            <a:ext cx="12700" cy="812800"/>
          </a:xfrm>
          <a:prstGeom prst="rect">
            <a:avLst/>
          </a:prstGeom>
          <a:solidFill>
            <a:srgbClr val="2C696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"/>
          <p:cNvSpPr txBox="1"/>
          <p:nvPr/>
        </p:nvSpPr>
        <p:spPr>
          <a:xfrm>
            <a:off x="3327400" y="1981200"/>
            <a:ext cx="100076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Aptos"/>
              </a:rPr>
              <a:t>Diagnosis and referral</a:t>
            </a:r>
          </a:p>
        </p:txBody>
      </p:sp>
      <p:sp>
        <p:nvSpPr>
          <p:cNvPr id="108" name="t"/>
          <p:cNvSpPr txBox="1"/>
          <p:nvPr/>
        </p:nvSpPr>
        <p:spPr>
          <a:xfrm>
            <a:off x="3327400" y="2463800"/>
            <a:ext cx="10007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BFE3D6"/>
                </a:solidFill>
                <a:latin typeface="Aptos"/>
              </a:rPr>
              <a:t>[Evidence needs by care-stage friction]</a:t>
            </a:r>
          </a:p>
        </p:txBody>
      </p:sp>
      <p:sp>
        <p:nvSpPr>
          <p:cNvPr id="109" name="r"/>
          <p:cNvSpPr/>
          <p:nvPr/>
        </p:nvSpPr>
        <p:spPr>
          <a:xfrm>
            <a:off x="914400" y="3200400"/>
            <a:ext cx="12801600" cy="1422400"/>
          </a:xfrm>
          <a:prstGeom prst="rect">
            <a:avLst/>
          </a:prstGeom>
          <a:solidFill>
            <a:srgbClr val="0842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r"/>
          <p:cNvSpPr/>
          <p:nvPr/>
        </p:nvSpPr>
        <p:spPr>
          <a:xfrm>
            <a:off x="914400" y="3200400"/>
            <a:ext cx="76200" cy="14224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t"/>
          <p:cNvSpPr txBox="1"/>
          <p:nvPr/>
        </p:nvSpPr>
        <p:spPr>
          <a:xfrm>
            <a:off x="1219200" y="3200400"/>
            <a:ext cx="1524000" cy="142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5400" b="1" dirty="0">
                <a:solidFill>
                  <a:srgbClr val="3DBA8C"/>
                </a:solidFill>
                <a:latin typeface="Georgia"/>
              </a:rPr>
              <a:t>2</a:t>
            </a:r>
          </a:p>
        </p:txBody>
      </p:sp>
      <p:sp>
        <p:nvSpPr>
          <p:cNvPr id="112" name="r"/>
          <p:cNvSpPr/>
          <p:nvPr/>
        </p:nvSpPr>
        <p:spPr>
          <a:xfrm>
            <a:off x="2946400" y="3505200"/>
            <a:ext cx="12700" cy="812800"/>
          </a:xfrm>
          <a:prstGeom prst="rect">
            <a:avLst/>
          </a:prstGeom>
          <a:solidFill>
            <a:srgbClr val="2C696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t"/>
          <p:cNvSpPr txBox="1"/>
          <p:nvPr/>
        </p:nvSpPr>
        <p:spPr>
          <a:xfrm>
            <a:off x="3327400" y="3530600"/>
            <a:ext cx="100076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Aptos"/>
              </a:rPr>
              <a:t>Treatment selection</a:t>
            </a:r>
          </a:p>
        </p:txBody>
      </p:sp>
      <p:sp>
        <p:nvSpPr>
          <p:cNvPr id="114" name="t"/>
          <p:cNvSpPr txBox="1"/>
          <p:nvPr/>
        </p:nvSpPr>
        <p:spPr>
          <a:xfrm>
            <a:off x="3327400" y="4013200"/>
            <a:ext cx="10007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BFE3D6"/>
                </a:solidFill>
                <a:latin typeface="Aptos"/>
              </a:rPr>
              <a:t>[Evidence needs by care-stage friction]</a:t>
            </a:r>
          </a:p>
        </p:txBody>
      </p:sp>
      <p:sp>
        <p:nvSpPr>
          <p:cNvPr id="115" name="r"/>
          <p:cNvSpPr/>
          <p:nvPr/>
        </p:nvSpPr>
        <p:spPr>
          <a:xfrm>
            <a:off x="914400" y="4749800"/>
            <a:ext cx="12801600" cy="1422400"/>
          </a:xfrm>
          <a:prstGeom prst="rect">
            <a:avLst/>
          </a:prstGeom>
          <a:solidFill>
            <a:srgbClr val="0A4A4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r"/>
          <p:cNvSpPr/>
          <p:nvPr/>
        </p:nvSpPr>
        <p:spPr>
          <a:xfrm>
            <a:off x="914400" y="4749800"/>
            <a:ext cx="76200" cy="14224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t"/>
          <p:cNvSpPr txBox="1"/>
          <p:nvPr/>
        </p:nvSpPr>
        <p:spPr>
          <a:xfrm>
            <a:off x="1219200" y="4749800"/>
            <a:ext cx="1524000" cy="142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5400" b="1" dirty="0">
                <a:solidFill>
                  <a:srgbClr val="3DBA8C"/>
                </a:solidFill>
                <a:latin typeface="Georgia"/>
              </a:rPr>
              <a:t>3</a:t>
            </a:r>
          </a:p>
        </p:txBody>
      </p:sp>
      <p:sp>
        <p:nvSpPr>
          <p:cNvPr id="118" name="r"/>
          <p:cNvSpPr/>
          <p:nvPr/>
        </p:nvSpPr>
        <p:spPr>
          <a:xfrm>
            <a:off x="2946400" y="5054600"/>
            <a:ext cx="12700" cy="812800"/>
          </a:xfrm>
          <a:prstGeom prst="rect">
            <a:avLst/>
          </a:prstGeom>
          <a:solidFill>
            <a:srgbClr val="2C696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t"/>
          <p:cNvSpPr txBox="1"/>
          <p:nvPr/>
        </p:nvSpPr>
        <p:spPr>
          <a:xfrm>
            <a:off x="3327400" y="5080000"/>
            <a:ext cx="100076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Aptos"/>
              </a:rPr>
              <a:t>Access and adherence</a:t>
            </a:r>
          </a:p>
        </p:txBody>
      </p:sp>
      <p:sp>
        <p:nvSpPr>
          <p:cNvPr id="120" name="t"/>
          <p:cNvSpPr txBox="1"/>
          <p:nvPr/>
        </p:nvSpPr>
        <p:spPr>
          <a:xfrm>
            <a:off x="3327400" y="5562600"/>
            <a:ext cx="10007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BFE3D6"/>
                </a:solidFill>
                <a:latin typeface="Aptos"/>
              </a:rPr>
              <a:t>[Evidence needs by care-stage friction]</a:t>
            </a:r>
          </a:p>
        </p:txBody>
      </p:sp>
      <p:sp>
        <p:nvSpPr>
          <p:cNvPr id="121" name="r"/>
          <p:cNvSpPr/>
          <p:nvPr/>
        </p:nvSpPr>
        <p:spPr>
          <a:xfrm>
            <a:off x="914400" y="6299200"/>
            <a:ext cx="12801600" cy="1422400"/>
          </a:xfrm>
          <a:prstGeom prst="rect">
            <a:avLst/>
          </a:prstGeom>
          <a:solidFill>
            <a:srgbClr val="0842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" name="r"/>
          <p:cNvSpPr/>
          <p:nvPr/>
        </p:nvSpPr>
        <p:spPr>
          <a:xfrm>
            <a:off x="914400" y="6299200"/>
            <a:ext cx="76200" cy="14224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t"/>
          <p:cNvSpPr txBox="1"/>
          <p:nvPr/>
        </p:nvSpPr>
        <p:spPr>
          <a:xfrm>
            <a:off x="1219200" y="6299200"/>
            <a:ext cx="1524000" cy="142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5400" b="1" dirty="0">
                <a:solidFill>
                  <a:srgbClr val="3DBA8C"/>
                </a:solidFill>
                <a:latin typeface="Georgia"/>
              </a:rPr>
              <a:t>4</a:t>
            </a:r>
          </a:p>
        </p:txBody>
      </p:sp>
      <p:sp>
        <p:nvSpPr>
          <p:cNvPr id="124" name="r"/>
          <p:cNvSpPr/>
          <p:nvPr/>
        </p:nvSpPr>
        <p:spPr>
          <a:xfrm>
            <a:off x="2946400" y="6604000"/>
            <a:ext cx="12700" cy="812800"/>
          </a:xfrm>
          <a:prstGeom prst="rect">
            <a:avLst/>
          </a:prstGeom>
          <a:solidFill>
            <a:srgbClr val="2C696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5" name="t"/>
          <p:cNvSpPr txBox="1"/>
          <p:nvPr/>
        </p:nvSpPr>
        <p:spPr>
          <a:xfrm>
            <a:off x="3327400" y="6629400"/>
            <a:ext cx="100076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Aptos"/>
              </a:rPr>
              <a:t>Long-term outcomes</a:t>
            </a:r>
          </a:p>
        </p:txBody>
      </p:sp>
      <p:sp>
        <p:nvSpPr>
          <p:cNvPr id="126" name="t"/>
          <p:cNvSpPr txBox="1"/>
          <p:nvPr/>
        </p:nvSpPr>
        <p:spPr>
          <a:xfrm>
            <a:off x="3327400" y="7112000"/>
            <a:ext cx="10007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BFE3D6"/>
                </a:solidFill>
                <a:latin typeface="Aptos"/>
              </a:rPr>
              <a:t>[Evidence needs by care-stage friction]</a:t>
            </a:r>
          </a:p>
        </p:txBody>
      </p:sp>
    </p:spTree>
    <p:extLst>
      <p:ext uri="{BB962C8B-B14F-4D97-AF65-F5344CB8AC3E}">
        <p14:creationId xmlns:p14="http://schemas.microsoft.com/office/powerpoint/2010/main" val="4186069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r"/>
          <p:cNvSpPr/>
          <p:nvPr/>
        </p:nvSpPr>
        <p:spPr>
          <a:xfrm>
            <a:off x="0" y="0"/>
            <a:ext cx="5334000" cy="82296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r"/>
          <p:cNvSpPr/>
          <p:nvPr/>
        </p:nvSpPr>
        <p:spPr>
          <a:xfrm>
            <a:off x="0" y="0"/>
            <a:ext cx="5334000" cy="762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r"/>
          <p:cNvSpPr/>
          <p:nvPr/>
        </p:nvSpPr>
        <p:spPr>
          <a:xfrm>
            <a:off x="711200" y="1143000"/>
            <a:ext cx="406400" cy="381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r"/>
          <p:cNvSpPr/>
          <p:nvPr/>
        </p:nvSpPr>
        <p:spPr>
          <a:xfrm>
            <a:off x="1206500" y="1143000"/>
            <a:ext cx="609600" cy="38100"/>
          </a:xfrm>
          <a:prstGeom prst="rect">
            <a:avLst/>
          </a:prstGeom>
          <a:solidFill>
            <a:srgbClr val="BFE3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"/>
          <p:cNvSpPr txBox="1"/>
          <p:nvPr/>
        </p:nvSpPr>
        <p:spPr>
          <a:xfrm>
            <a:off x="711200" y="1498600"/>
            <a:ext cx="40640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Georgia"/>
              </a:rPr>
              <a:t>Patient journey evidence map</a:t>
            </a:r>
          </a:p>
        </p:txBody>
      </p:sp>
      <p:sp>
        <p:nvSpPr>
          <p:cNvPr id="106" name="t"/>
          <p:cNvSpPr txBox="1"/>
          <p:nvPr/>
        </p:nvSpPr>
        <p:spPr>
          <a:xfrm>
            <a:off x="711200" y="4572000"/>
            <a:ext cx="4064000" cy="20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BFE3D6"/>
                </a:solidFill>
                <a:latin typeface="Aptos"/>
              </a:rPr>
              <a:t>Evidence needs mapped to friction points across four care stages.</a:t>
            </a:r>
          </a:p>
        </p:txBody>
      </p:sp>
      <p:sp>
        <p:nvSpPr>
          <p:cNvPr id="107" name="r"/>
          <p:cNvSpPr/>
          <p:nvPr/>
        </p:nvSpPr>
        <p:spPr>
          <a:xfrm>
            <a:off x="6362700" y="2311400"/>
            <a:ext cx="25400" cy="914400"/>
          </a:xfrm>
          <a:prstGeom prst="rect">
            <a:avLst/>
          </a:prstGeom>
          <a:solidFill>
            <a:srgbClr val="D6E3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r"/>
          <p:cNvSpPr/>
          <p:nvPr/>
        </p:nvSpPr>
        <p:spPr>
          <a:xfrm>
            <a:off x="6045200" y="1651000"/>
            <a:ext cx="660400" cy="660400"/>
          </a:xfrm>
          <a:prstGeom prst="ellipse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t"/>
          <p:cNvSpPr txBox="1"/>
          <p:nvPr/>
        </p:nvSpPr>
        <p:spPr>
          <a:xfrm>
            <a:off x="6045200" y="1651000"/>
            <a:ext cx="6604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10" name="t"/>
          <p:cNvSpPr txBox="1"/>
          <p:nvPr/>
        </p:nvSpPr>
        <p:spPr>
          <a:xfrm>
            <a:off x="7010400" y="1625600"/>
            <a:ext cx="69088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000" b="1" dirty="0">
                <a:solidFill>
                  <a:srgbClr val="003F3B"/>
                </a:solidFill>
                <a:latin typeface="Aptos"/>
              </a:rPr>
              <a:t>Diagnosis and referral</a:t>
            </a:r>
          </a:p>
        </p:txBody>
      </p:sp>
      <p:sp>
        <p:nvSpPr>
          <p:cNvPr id="111" name="t"/>
          <p:cNvSpPr txBox="1"/>
          <p:nvPr/>
        </p:nvSpPr>
        <p:spPr>
          <a:xfrm>
            <a:off x="7010400" y="2082800"/>
            <a:ext cx="69088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[Evidence needs by care-stage friction]</a:t>
            </a:r>
          </a:p>
        </p:txBody>
      </p:sp>
      <p:sp>
        <p:nvSpPr>
          <p:cNvPr id="112" name="r"/>
          <p:cNvSpPr/>
          <p:nvPr/>
        </p:nvSpPr>
        <p:spPr>
          <a:xfrm>
            <a:off x="6362700" y="3886200"/>
            <a:ext cx="25400" cy="914400"/>
          </a:xfrm>
          <a:prstGeom prst="rect">
            <a:avLst/>
          </a:prstGeom>
          <a:solidFill>
            <a:srgbClr val="D6E3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r"/>
          <p:cNvSpPr/>
          <p:nvPr/>
        </p:nvSpPr>
        <p:spPr>
          <a:xfrm>
            <a:off x="6045200" y="3225800"/>
            <a:ext cx="660400" cy="660400"/>
          </a:xfrm>
          <a:prstGeom prst="ellipse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t"/>
          <p:cNvSpPr txBox="1"/>
          <p:nvPr/>
        </p:nvSpPr>
        <p:spPr>
          <a:xfrm>
            <a:off x="6045200" y="3225800"/>
            <a:ext cx="6604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15" name="t"/>
          <p:cNvSpPr txBox="1"/>
          <p:nvPr/>
        </p:nvSpPr>
        <p:spPr>
          <a:xfrm>
            <a:off x="7010400" y="3200400"/>
            <a:ext cx="69088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000" b="1" dirty="0">
                <a:solidFill>
                  <a:srgbClr val="003F3B"/>
                </a:solidFill>
                <a:latin typeface="Aptos"/>
              </a:rPr>
              <a:t>Treatment selection</a:t>
            </a:r>
          </a:p>
        </p:txBody>
      </p:sp>
      <p:sp>
        <p:nvSpPr>
          <p:cNvPr id="116" name="t"/>
          <p:cNvSpPr txBox="1"/>
          <p:nvPr/>
        </p:nvSpPr>
        <p:spPr>
          <a:xfrm>
            <a:off x="7010400" y="3657600"/>
            <a:ext cx="69088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[Evidence needs by care-stage friction]</a:t>
            </a:r>
          </a:p>
        </p:txBody>
      </p:sp>
      <p:sp>
        <p:nvSpPr>
          <p:cNvPr id="117" name="r"/>
          <p:cNvSpPr/>
          <p:nvPr/>
        </p:nvSpPr>
        <p:spPr>
          <a:xfrm>
            <a:off x="6362700" y="5461000"/>
            <a:ext cx="25400" cy="914400"/>
          </a:xfrm>
          <a:prstGeom prst="rect">
            <a:avLst/>
          </a:prstGeom>
          <a:solidFill>
            <a:srgbClr val="D6E3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r"/>
          <p:cNvSpPr/>
          <p:nvPr/>
        </p:nvSpPr>
        <p:spPr>
          <a:xfrm>
            <a:off x="6045200" y="4800600"/>
            <a:ext cx="660400" cy="660400"/>
          </a:xfrm>
          <a:prstGeom prst="ellipse">
            <a:avLst/>
          </a:prstGeom>
          <a:solidFill>
            <a:srgbClr val="2C80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t"/>
          <p:cNvSpPr txBox="1"/>
          <p:nvPr/>
        </p:nvSpPr>
        <p:spPr>
          <a:xfrm>
            <a:off x="6045200" y="4800600"/>
            <a:ext cx="6604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20" name="t"/>
          <p:cNvSpPr txBox="1"/>
          <p:nvPr/>
        </p:nvSpPr>
        <p:spPr>
          <a:xfrm>
            <a:off x="7010400" y="4775200"/>
            <a:ext cx="69088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000" b="1" dirty="0">
                <a:solidFill>
                  <a:srgbClr val="003F3B"/>
                </a:solidFill>
                <a:latin typeface="Aptos"/>
              </a:rPr>
              <a:t>Access and adherence</a:t>
            </a:r>
          </a:p>
        </p:txBody>
      </p:sp>
      <p:sp>
        <p:nvSpPr>
          <p:cNvPr id="121" name="t"/>
          <p:cNvSpPr txBox="1"/>
          <p:nvPr/>
        </p:nvSpPr>
        <p:spPr>
          <a:xfrm>
            <a:off x="7010400" y="5232400"/>
            <a:ext cx="69088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[Evidence needs by care-stage friction]</a:t>
            </a:r>
          </a:p>
        </p:txBody>
      </p:sp>
      <p:sp>
        <p:nvSpPr>
          <p:cNvPr id="122" name="r"/>
          <p:cNvSpPr/>
          <p:nvPr/>
        </p:nvSpPr>
        <p:spPr>
          <a:xfrm>
            <a:off x="6045200" y="6375400"/>
            <a:ext cx="660400" cy="660400"/>
          </a:xfrm>
          <a:prstGeom prst="ellipse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t"/>
          <p:cNvSpPr txBox="1"/>
          <p:nvPr/>
        </p:nvSpPr>
        <p:spPr>
          <a:xfrm>
            <a:off x="6045200" y="6375400"/>
            <a:ext cx="6604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24" name="t"/>
          <p:cNvSpPr txBox="1"/>
          <p:nvPr/>
        </p:nvSpPr>
        <p:spPr>
          <a:xfrm>
            <a:off x="7010400" y="6350000"/>
            <a:ext cx="69088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000" b="1" dirty="0">
                <a:solidFill>
                  <a:srgbClr val="003F3B"/>
                </a:solidFill>
                <a:latin typeface="Aptos"/>
              </a:rPr>
              <a:t>Long-term outcomes</a:t>
            </a:r>
          </a:p>
        </p:txBody>
      </p:sp>
      <p:sp>
        <p:nvSpPr>
          <p:cNvPr id="125" name="t"/>
          <p:cNvSpPr txBox="1"/>
          <p:nvPr/>
        </p:nvSpPr>
        <p:spPr>
          <a:xfrm>
            <a:off x="7010400" y="6807200"/>
            <a:ext cx="69088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[Evidence needs by care-stage friction]</a:t>
            </a:r>
          </a:p>
        </p:txBody>
      </p:sp>
    </p:spTree>
    <p:extLst>
      <p:ext uri="{BB962C8B-B14F-4D97-AF65-F5344CB8AC3E}">
        <p14:creationId xmlns:p14="http://schemas.microsoft.com/office/powerpoint/2010/main" val="949345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584200"/>
            <a:ext cx="406400" cy="381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5700" y="584200"/>
            <a:ext cx="609600" cy="38100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400" y="812800"/>
            <a:ext cx="13081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dirty="0">
                <a:solidFill>
                  <a:srgbClr val="003F3B"/>
                </a:solidFill>
                <a:latin typeface="Georgia"/>
              </a:rPr>
              <a:t>Current evidence inventory</a:t>
            </a:r>
            <a:endParaRPr sz="2800" dirty="0">
              <a:solidFill>
                <a:srgbClr val="00554F"/>
              </a:solidFill>
              <a:latin typeface="Georgia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630680"/>
          <a:ext cx="13213075" cy="5207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8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4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4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786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5707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87267"/>
                          </a:solidFill>
                          <a:latin typeface="Aptos"/>
                        </a:rPr>
                        <a:t>Evidence source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87267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87267"/>
                          </a:solidFill>
                          <a:latin typeface="Aptos"/>
                        </a:rPr>
                        <a:t>Population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87267"/>
                          </a:solidFill>
                          <a:latin typeface="Aptos"/>
                        </a:rPr>
                        <a:t>Endpoint / topic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87267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87267"/>
                          </a:solidFill>
                          <a:latin typeface="Aptos"/>
                        </a:rPr>
                        <a:t>Readout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87267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87267"/>
                          </a:solidFill>
                          <a:latin typeface="Aptos"/>
                        </a:rPr>
                        <a:t>Linked claim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5061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F3B"/>
                          </a:solidFill>
                          <a:latin typeface="Aptos"/>
                        </a:rPr>
                        <a:t>[Pivotal study]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Clinical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[Population]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[OS, PFS, response, safety]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Completed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[Date]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Clinical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[Claim]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5061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F3B"/>
                          </a:solidFill>
                          <a:latin typeface="Aptos"/>
                        </a:rPr>
                        <a:t>[Extension / follow-up]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Clinical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[Population]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[Long-term safety, durability]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Ongoing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[Date]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Clinical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[Claim]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5061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F3B"/>
                          </a:solidFill>
                          <a:latin typeface="Aptos"/>
                        </a:rPr>
                        <a:t>[SLR / NMA]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HEOR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[Comparator set]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[Relative efficacy]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Completed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[Date]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HEOR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[Access message]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5061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F3B"/>
                          </a:solidFill>
                          <a:latin typeface="Aptos"/>
                        </a:rPr>
                        <a:t>[Budget impact model]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HEOR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[Market-specific]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[Cost, utilization]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Draft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[Date]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Access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[Payer value]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5061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F3B"/>
                          </a:solidFill>
                          <a:latin typeface="Aptos"/>
                        </a:rPr>
                        <a:t>[Registry analysis]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RWE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[Real-world patients]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[Treatment patterns, outcomes]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Gap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[Needed]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RWE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[Real-world value]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5061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F3B"/>
                          </a:solidFill>
                          <a:latin typeface="Aptos"/>
                        </a:rPr>
                        <a:t>[Patient preference study]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Patient evidence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[Patients / caregivers]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[Burden, preference, QoL]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Proposed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[Date]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Medical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[Patient value]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7061200"/>
            <a:ext cx="1321308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7137400"/>
            <a:ext cx="12893040" cy="2554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lang="en-US" sz="1600" b="0" dirty="0">
                <a:solidFill>
                  <a:srgbClr val="052927"/>
                </a:solidFill>
                <a:latin typeface="Aptos"/>
              </a:rPr>
              <a:t>Keep the evidence catalog traceable. Each row should connect to a source, owner, status, timing, evidence need, and value claim.</a:t>
            </a:r>
          </a:p>
        </p:txBody>
      </p:sp>
    </p:spTree>
    <p:extLst>
      <p:ext uri="{BB962C8B-B14F-4D97-AF65-F5344CB8AC3E}">
        <p14:creationId xmlns:p14="http://schemas.microsoft.com/office/powerpoint/2010/main" val="250742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54200" y="2286000"/>
            <a:ext cx="1092200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en-US" sz="3600" dirty="0">
                <a:solidFill>
                  <a:srgbClr val="003F3B"/>
                </a:solidFill>
                <a:latin typeface="Georgia"/>
              </a:rPr>
              <a:t>Gap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4200" y="3149600"/>
            <a:ext cx="1092200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en-US" sz="3600" b="0" dirty="0">
                <a:solidFill>
                  <a:srgbClr val="00554F"/>
                </a:solidFill>
                <a:latin typeface="Aptos"/>
              </a:rPr>
              <a:t>and prioritization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4200" y="4140200"/>
            <a:ext cx="1092200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en-US" sz="1800" b="0" dirty="0">
                <a:solidFill>
                  <a:srgbClr val="66736F"/>
                </a:solidFill>
                <a:latin typeface="Aptos"/>
              </a:rPr>
              <a:t>Section 3 of 6</a:t>
            </a:r>
          </a:p>
        </p:txBody>
      </p:sp>
      <p:cxnSp>
        <p:nvCxnSpPr>
          <p:cNvPr id="60" name="AccentRule"/>
          <p:cNvCxnSpPr/>
          <p:nvPr/>
        </p:nvCxnSpPr>
        <p:spPr>
          <a:xfrm>
            <a:off x="6553200" y="4726599"/>
            <a:ext cx="1524000" cy="0"/>
          </a:xfrm>
          <a:prstGeom prst="line">
            <a:avLst/>
          </a:prstGeom>
          <a:ln w="19050" cap="flat">
            <a:solidFill>
              <a:srgbClr val="3DDC97"/>
            </a:solidFill>
          </a:ln>
        </p:spPr>
      </p:cxnSp>
    </p:spTree>
    <p:extLst>
      <p:ext uri="{BB962C8B-B14F-4D97-AF65-F5344CB8AC3E}">
        <p14:creationId xmlns:p14="http://schemas.microsoft.com/office/powerpoint/2010/main" val="2824881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584200"/>
            <a:ext cx="406400" cy="381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5700" y="584200"/>
            <a:ext cx="609600" cy="38100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400" y="812800"/>
            <a:ext cx="13081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dirty="0">
                <a:solidFill>
                  <a:srgbClr val="003F3B"/>
                </a:solidFill>
                <a:latin typeface="Georgia"/>
              </a:rPr>
              <a:t>Evidence gap matrix</a:t>
            </a:r>
            <a:endParaRPr sz="2800" dirty="0">
              <a:solidFill>
                <a:srgbClr val="00554F"/>
              </a:solidFill>
              <a:latin typeface="Georgia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878382"/>
              </p:ext>
            </p:extLst>
          </p:nvPr>
        </p:nvGraphicFramePr>
        <p:xfrm>
          <a:off x="658368" y="1630680"/>
          <a:ext cx="13213076" cy="464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4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39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80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31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339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087267"/>
                          </a:solidFill>
                          <a:latin typeface="Aptos"/>
                        </a:rPr>
                        <a:t>Evidence need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87267"/>
                          </a:solidFill>
                          <a:latin typeface="Aptos"/>
                        </a:rPr>
                        <a:t>Stakeholder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87267"/>
                          </a:solidFill>
                          <a:latin typeface="Aptos"/>
                        </a:rPr>
                        <a:t>Geography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87267"/>
                          </a:solidFill>
                          <a:latin typeface="Aptos"/>
                        </a:rPr>
                        <a:t>Current support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87267"/>
                          </a:solidFill>
                          <a:latin typeface="Aptos"/>
                        </a:rPr>
                        <a:t>Gap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87267"/>
                          </a:solidFill>
                          <a:latin typeface="Aptos"/>
                        </a:rPr>
                        <a:t>Priority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87267"/>
                          </a:solidFill>
                          <a:latin typeface="Aptos"/>
                        </a:rPr>
                        <a:t>Decision consequence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3F3B"/>
                          </a:solidFill>
                          <a:latin typeface="Aptos"/>
                        </a:rPr>
                        <a:t>[Comparator effectiveness]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HTA / payers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[EU5]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Indirect evidence only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No local comparator data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[May weaken reimbursement case]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3F3B"/>
                          </a:solidFill>
                          <a:latin typeface="Aptos"/>
                        </a:rPr>
                        <a:t>[QoL and symptom burden]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Patients / HCPs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[Global]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Limited PRO collection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Insufficient patient-centered support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[Limits value story and guidelines]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3F3B"/>
                          </a:solidFill>
                          <a:latin typeface="Aptos"/>
                        </a:rPr>
                        <a:t>[Long-term safety]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Regulators / HCPs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[US, EU]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Trial follow-up ongoing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Real-world durability unknown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Medium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[May constrain confidence]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3F3B"/>
                          </a:solidFill>
                          <a:latin typeface="Aptos"/>
                        </a:rPr>
                        <a:t>[Economic model inputs]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HTA / payers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[Priority markets]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Partial source support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Local utility and cost inputs missing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Medium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[HTA uncertainty]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3F3B"/>
                          </a:solidFill>
                          <a:latin typeface="Aptos"/>
                        </a:rPr>
                        <a:t>[Sequencing evidence]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HCPs / guidelines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[Global]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Emerging evidence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Clear pathway data absent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[May delay adoption]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31389F2A-9BA8-15B3-02A4-3341C593B729}"/>
              </a:ext>
            </a:extLst>
          </p:cNvPr>
          <p:cNvSpPr/>
          <p:nvPr/>
        </p:nvSpPr>
        <p:spPr>
          <a:xfrm>
            <a:off x="658368" y="7061200"/>
            <a:ext cx="13213080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379674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584200"/>
            <a:ext cx="406400" cy="381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5700" y="584200"/>
            <a:ext cx="609600" cy="38100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400" y="812800"/>
            <a:ext cx="13081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dirty="0">
                <a:solidFill>
                  <a:srgbClr val="003F3B"/>
                </a:solidFill>
                <a:latin typeface="Georgia"/>
              </a:rPr>
              <a:t>Gap prioritization scorecard</a:t>
            </a:r>
            <a:r>
              <a:rPr sz="2800" dirty="0">
                <a:solidFill>
                  <a:srgbClr val="00554F"/>
                </a:solidFill>
                <a:latin typeface="Georgia"/>
              </a:rPr>
              <a:t> | Rank gaps by impact, urgency, and feasibility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32F198-1B69-44A6-B0C4-8602E65E1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318970"/>
              </p:ext>
            </p:extLst>
          </p:nvPr>
        </p:nvGraphicFramePr>
        <p:xfrm>
          <a:off x="660400" y="1778000"/>
          <a:ext cx="13208000" cy="375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3980731068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74559011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334319180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495751107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637447139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564720620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087267"/>
                          </a:solidFill>
                          <a:latin typeface="Aptos"/>
                        </a:rPr>
                        <a:t>Gap / tactic</a:t>
                      </a:r>
                    </a:p>
                  </a:txBody>
                  <a:tcPr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087267"/>
                          </a:solidFill>
                          <a:latin typeface="Aptos"/>
                        </a:rPr>
                        <a:t>Impact</a:t>
                      </a:r>
                    </a:p>
                  </a:txBody>
                  <a:tcPr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087267"/>
                          </a:solidFill>
                          <a:latin typeface="Aptos"/>
                        </a:rPr>
                        <a:t>Urgency</a:t>
                      </a:r>
                    </a:p>
                  </a:txBody>
                  <a:tcPr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087267"/>
                          </a:solidFill>
                          <a:latin typeface="Aptos"/>
                        </a:rPr>
                        <a:t>Feasibility</a:t>
                      </a:r>
                    </a:p>
                  </a:txBody>
                  <a:tcPr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087267"/>
                          </a:solidFill>
                          <a:latin typeface="Aptos"/>
                        </a:rPr>
                        <a:t>Decision value</a:t>
                      </a:r>
                    </a:p>
                  </a:txBody>
                  <a:tcPr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087267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879398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Comparator RWE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003F3B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754367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QoL / symptom burden</a:t>
                      </a:r>
                    </a:p>
                  </a:txBody>
                  <a:tcPr anchor="ctr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anchor="ctr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anchor="ctr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anchor="ctr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003F3B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 anchor="ctr">
                    <a:solidFill>
                      <a:srgbClr val="F1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361848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Local utility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003F3B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42771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Publication readiness</a:t>
                      </a:r>
                    </a:p>
                  </a:txBody>
                  <a:tcPr anchor="ctr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anchor="ctr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anchor="ctr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003F3B"/>
                          </a:solidFill>
                          <a:latin typeface="Aptos"/>
                        </a:rPr>
                        <a:t>16</a:t>
                      </a:r>
                    </a:p>
                  </a:txBody>
                  <a:tcPr anchor="ctr">
                    <a:solidFill>
                      <a:srgbClr val="F1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117568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Sequencing evidence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052927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003F3B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957374"/>
                  </a:ext>
                </a:extLst>
              </a:tr>
            </a:tbl>
          </a:graphicData>
        </a:graphic>
      </p:graphicFrame>
      <p:sp>
        <p:nvSpPr>
          <p:cNvPr id="6" name="FooterBand">
            <a:extLst>
              <a:ext uri="{FF2B5EF4-FFF2-40B4-BE49-F238E27FC236}">
                <a16:creationId xmlns:a16="http://schemas.microsoft.com/office/drawing/2014/main" id="{15A13BA0-3AFB-4EED-BB2B-33225DB33BD0}"/>
              </a:ext>
            </a:extLst>
          </p:cNvPr>
          <p:cNvSpPr/>
          <p:nvPr/>
        </p:nvSpPr>
        <p:spPr>
          <a:xfrm>
            <a:off x="660400" y="7061200"/>
            <a:ext cx="13208000" cy="431800"/>
          </a:xfrm>
          <a:prstGeom prst="rect">
            <a:avLst/>
          </a:prstGeom>
          <a:solidFill>
            <a:srgbClr val="003F3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Aptos"/>
              </a:rPr>
              <a:t>Scores rated 1–5; prioritize gaps with the highest total against near-term decision gates.</a:t>
            </a:r>
          </a:p>
        </p:txBody>
      </p:sp>
    </p:spTree>
    <p:extLst>
      <p:ext uri="{BB962C8B-B14F-4D97-AF65-F5344CB8AC3E}">
        <p14:creationId xmlns:p14="http://schemas.microsoft.com/office/powerpoint/2010/main" val="3288613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584200"/>
            <a:ext cx="406400" cy="381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5700" y="584200"/>
            <a:ext cx="609600" cy="38100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400" y="812800"/>
            <a:ext cx="13081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dirty="0">
                <a:solidFill>
                  <a:srgbClr val="003F3B"/>
                </a:solidFill>
                <a:latin typeface="Georgia"/>
              </a:rPr>
              <a:t>Open research questions</a:t>
            </a:r>
            <a:endParaRPr sz="2800" dirty="0">
              <a:solidFill>
                <a:srgbClr val="00554F"/>
              </a:solidFill>
              <a:latin typeface="Georgia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588874"/>
              </p:ext>
            </p:extLst>
          </p:nvPr>
        </p:nvGraphicFramePr>
        <p:xfrm>
          <a:off x="658368" y="1630680"/>
          <a:ext cx="13213077" cy="383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8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0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5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67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8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875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087267"/>
                          </a:solidFill>
                          <a:latin typeface="Aptos"/>
                        </a:rPr>
                        <a:t>ORQ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087267"/>
                          </a:solidFill>
                          <a:latin typeface="Aptos"/>
                        </a:rPr>
                        <a:t>Population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87267"/>
                          </a:solidFill>
                          <a:latin typeface="Aptos"/>
                        </a:rPr>
                        <a:t>Intervention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87267"/>
                          </a:solidFill>
                          <a:latin typeface="Aptos"/>
                        </a:rPr>
                        <a:t>Comparator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87267"/>
                          </a:solidFill>
                          <a:latin typeface="Aptos"/>
                        </a:rPr>
                        <a:t>Outcome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87267"/>
                          </a:solidFill>
                          <a:latin typeface="Aptos"/>
                        </a:rPr>
                        <a:t>Timing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87267"/>
                          </a:solidFill>
                          <a:latin typeface="Aptos"/>
                        </a:rPr>
                        <a:t>Decision use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3F3B"/>
                          </a:solidFill>
                          <a:latin typeface="Aptos"/>
                        </a:rPr>
                        <a:t>[Does product improve outcomes vs local standard of care?]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[Eligible patients]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[Product]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[SoC]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[Clinical and economic outcomes]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[Follow-up]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[HTA / reimbursement]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3F3B"/>
                          </a:solidFill>
                          <a:latin typeface="Aptos"/>
                        </a:rPr>
                        <a:t>[Which patients derive the greatest value?]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[Subgroups]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[Product]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[Relevant alternatives]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[Response, discontinuation, QoL]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[Milestone]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[Positioning / guidelines]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3F3B"/>
                          </a:solidFill>
                          <a:latin typeface="Aptos"/>
                        </a:rPr>
                        <a:t>[What patient outcomes matter most?]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[Patients / caregivers]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[Treatment experience]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[Current care]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[Preference, burden, HRQoL]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[Pre-launch]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[Value story / comms]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3F3B"/>
                          </a:solidFill>
                          <a:latin typeface="Aptos"/>
                        </a:rPr>
                        <a:t>[What is the budget impact?]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[Market population]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[Product adoption]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[Current mix]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[Costs, offsets, utilization]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[1-5 years]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[Payer discussions]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7061200"/>
            <a:ext cx="13213080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70547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DF9D8-A358-3AC4-20B7-9664B1F31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D35D84-F969-0B9E-D891-6A6BEB3A0830}"/>
              </a:ext>
            </a:extLst>
          </p:cNvPr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FC629C-BA93-B3A4-3FF9-A1DA385A1408}"/>
              </a:ext>
            </a:extLst>
          </p:cNvPr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A0E1EE-1B58-2CCC-1F28-4597A8E78775}"/>
              </a:ext>
            </a:extLst>
          </p:cNvPr>
          <p:cNvSpPr txBox="1"/>
          <p:nvPr/>
        </p:nvSpPr>
        <p:spPr>
          <a:xfrm>
            <a:off x="1854200" y="2946501"/>
            <a:ext cx="1092200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en-US" sz="3600" dirty="0">
                <a:solidFill>
                  <a:srgbClr val="003F3B"/>
                </a:solidFill>
                <a:latin typeface="Georgia"/>
              </a:rPr>
              <a:t>Evidence generation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E3E2D2-E7F9-26AF-A759-49E858B97605}"/>
              </a:ext>
            </a:extLst>
          </p:cNvPr>
          <p:cNvSpPr txBox="1"/>
          <p:nvPr/>
        </p:nvSpPr>
        <p:spPr>
          <a:xfrm>
            <a:off x="1854200" y="3810101"/>
            <a:ext cx="1092200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en-US" sz="3600" dirty="0">
                <a:solidFill>
                  <a:srgbClr val="00554F"/>
                </a:solidFill>
              </a:rPr>
              <a:t>tactics and roadmap</a:t>
            </a:r>
          </a:p>
        </p:txBody>
      </p:sp>
      <p:cxnSp>
        <p:nvCxnSpPr>
          <p:cNvPr id="60" name="AccentRule">
            <a:extLst>
              <a:ext uri="{FF2B5EF4-FFF2-40B4-BE49-F238E27FC236}">
                <a16:creationId xmlns:a16="http://schemas.microsoft.com/office/drawing/2014/main" id="{CEC2CF3A-AF25-E623-857B-DBB5AAAF047F}"/>
              </a:ext>
            </a:extLst>
          </p:cNvPr>
          <p:cNvCxnSpPr/>
          <p:nvPr/>
        </p:nvCxnSpPr>
        <p:spPr>
          <a:xfrm>
            <a:off x="6553200" y="4726599"/>
            <a:ext cx="1524000" cy="0"/>
          </a:xfrm>
          <a:prstGeom prst="line">
            <a:avLst/>
          </a:prstGeom>
          <a:ln w="19050" cap="flat">
            <a:solidFill>
              <a:srgbClr val="3DDC97"/>
            </a:solidFill>
          </a:ln>
        </p:spPr>
      </p:cxnSp>
    </p:spTree>
    <p:extLst>
      <p:ext uri="{BB962C8B-B14F-4D97-AF65-F5344CB8AC3E}">
        <p14:creationId xmlns:p14="http://schemas.microsoft.com/office/powerpoint/2010/main" val="8698476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584200"/>
            <a:ext cx="406400" cy="381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5700" y="584200"/>
            <a:ext cx="609600" cy="38100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400" y="812800"/>
            <a:ext cx="130810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dirty="0">
                <a:solidFill>
                  <a:srgbClr val="003F3B"/>
                </a:solidFill>
                <a:latin typeface="Georgia"/>
              </a:rPr>
              <a:t>Evidence generation options</a:t>
            </a:r>
            <a:r>
              <a:rPr sz="2800" dirty="0">
                <a:solidFill>
                  <a:srgbClr val="00554F"/>
                </a:solidFill>
                <a:latin typeface="Georgia"/>
              </a:rPr>
              <a:t> | Choose the right tactic for the decision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4D07021-51CB-226E-5DE5-9A69B786DD84}"/>
              </a:ext>
            </a:extLst>
          </p:cNvPr>
          <p:cNvGrpSpPr/>
          <p:nvPr/>
        </p:nvGrpSpPr>
        <p:grpSpPr>
          <a:xfrm>
            <a:off x="660400" y="1854200"/>
            <a:ext cx="3835400" cy="2032000"/>
            <a:chOff x="660400" y="1854200"/>
            <a:chExt cx="3835400" cy="2032000"/>
          </a:xfrm>
        </p:grpSpPr>
        <p:sp>
          <p:nvSpPr>
            <p:cNvPr id="11" name="TextBox 10"/>
            <p:cNvSpPr txBox="1"/>
            <p:nvPr/>
          </p:nvSpPr>
          <p:spPr>
            <a:xfrm>
              <a:off x="660400" y="1854200"/>
              <a:ext cx="3835400" cy="304800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r>
                <a:rPr sz="1800" b="1" dirty="0">
                  <a:solidFill>
                    <a:srgbClr val="003F3B"/>
                  </a:solidFill>
                  <a:latin typeface="Aptos"/>
                </a:rPr>
                <a:t>Clinical studies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60400" y="2362200"/>
              <a:ext cx="3835400" cy="1524000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r>
                <a:rPr sz="1600" b="0">
                  <a:solidFill>
                    <a:srgbClr val="31403D"/>
                  </a:solidFill>
                  <a:latin typeface="Aptos"/>
                </a:rPr>
                <a:t>Phase IV, pragmatic trials, extension, post-hoc, subgroup analysis, investigator-initiated research.</a:t>
              </a:r>
            </a:p>
          </p:txBody>
        </p:sp>
        <p:cxnSp>
          <p:nvCxnSpPr>
            <p:cNvPr id="500" name="LabelRule"/>
            <p:cNvCxnSpPr/>
            <p:nvPr/>
          </p:nvCxnSpPr>
          <p:spPr>
            <a:xfrm>
              <a:off x="660400" y="2235200"/>
              <a:ext cx="508000" cy="0"/>
            </a:xfrm>
            <a:prstGeom prst="line">
              <a:avLst/>
            </a:prstGeom>
            <a:ln w="19050" cap="flat">
              <a:solidFill>
                <a:srgbClr val="3DDC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D198A14-FD96-5E61-E6D8-399C56A4FD12}"/>
              </a:ext>
            </a:extLst>
          </p:cNvPr>
          <p:cNvGrpSpPr/>
          <p:nvPr/>
        </p:nvGrpSpPr>
        <p:grpSpPr>
          <a:xfrm>
            <a:off x="5080000" y="1854200"/>
            <a:ext cx="3835400" cy="2032000"/>
            <a:chOff x="5080000" y="1854200"/>
            <a:chExt cx="3835400" cy="2032000"/>
          </a:xfrm>
        </p:grpSpPr>
        <p:sp>
          <p:nvSpPr>
            <p:cNvPr id="16" name="TextBox 15"/>
            <p:cNvSpPr txBox="1"/>
            <p:nvPr/>
          </p:nvSpPr>
          <p:spPr>
            <a:xfrm>
              <a:off x="5080000" y="1854200"/>
              <a:ext cx="3835400" cy="304800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r>
                <a:rPr sz="1800" b="1" dirty="0">
                  <a:solidFill>
                    <a:srgbClr val="003F3B"/>
                  </a:solidFill>
                  <a:latin typeface="Aptos"/>
                </a:rPr>
                <a:t>RWE and data strategy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080000" y="2362200"/>
              <a:ext cx="3835400" cy="1524000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r>
                <a:rPr sz="1600" b="0">
                  <a:solidFill>
                    <a:srgbClr val="31403D"/>
                  </a:solidFill>
                  <a:latin typeface="Aptos"/>
                </a:rPr>
                <a:t>Registry, claims, EHR, chart review, external control, prospective observational, site-level feasibility.</a:t>
              </a:r>
            </a:p>
          </p:txBody>
        </p:sp>
        <p:cxnSp>
          <p:nvCxnSpPr>
            <p:cNvPr id="501" name="LabelRule"/>
            <p:cNvCxnSpPr/>
            <p:nvPr/>
          </p:nvCxnSpPr>
          <p:spPr>
            <a:xfrm>
              <a:off x="5080000" y="2235200"/>
              <a:ext cx="508000" cy="0"/>
            </a:xfrm>
            <a:prstGeom prst="line">
              <a:avLst/>
            </a:prstGeom>
            <a:ln w="19050" cap="flat">
              <a:solidFill>
                <a:srgbClr val="3DDC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DBA9FA8-740B-0D47-CA97-03A0C240C794}"/>
              </a:ext>
            </a:extLst>
          </p:cNvPr>
          <p:cNvGrpSpPr/>
          <p:nvPr/>
        </p:nvGrpSpPr>
        <p:grpSpPr>
          <a:xfrm>
            <a:off x="9512300" y="1854200"/>
            <a:ext cx="3835400" cy="2032000"/>
            <a:chOff x="9512300" y="1854200"/>
            <a:chExt cx="3835400" cy="2032000"/>
          </a:xfrm>
        </p:grpSpPr>
        <p:sp>
          <p:nvSpPr>
            <p:cNvPr id="21" name="TextBox 20"/>
            <p:cNvSpPr txBox="1"/>
            <p:nvPr/>
          </p:nvSpPr>
          <p:spPr>
            <a:xfrm>
              <a:off x="9512300" y="1854200"/>
              <a:ext cx="3835400" cy="304800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r>
                <a:rPr sz="1800" b="1" dirty="0">
                  <a:solidFill>
                    <a:srgbClr val="003F3B"/>
                  </a:solidFill>
                  <a:latin typeface="Aptos"/>
                </a:rPr>
                <a:t>HEOR and access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512300" y="2362200"/>
              <a:ext cx="3835400" cy="1524000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r>
                <a:rPr sz="1600" b="0">
                  <a:solidFill>
                    <a:srgbClr val="31403D"/>
                  </a:solidFill>
                  <a:latin typeface="Aptos"/>
                </a:rPr>
                <a:t>SLR, NMA, economic model, BIA, utility study, payer research, HTA package.</a:t>
              </a:r>
            </a:p>
          </p:txBody>
        </p:sp>
        <p:cxnSp>
          <p:nvCxnSpPr>
            <p:cNvPr id="502" name="LabelRule"/>
            <p:cNvCxnSpPr/>
            <p:nvPr/>
          </p:nvCxnSpPr>
          <p:spPr>
            <a:xfrm>
              <a:off x="9512300" y="2235200"/>
              <a:ext cx="508000" cy="0"/>
            </a:xfrm>
            <a:prstGeom prst="line">
              <a:avLst/>
            </a:prstGeom>
            <a:ln w="19050" cap="flat">
              <a:solidFill>
                <a:srgbClr val="3DDC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A4E9A62-9B06-0D68-8DD3-1514E67E1EFC}"/>
              </a:ext>
            </a:extLst>
          </p:cNvPr>
          <p:cNvGrpSpPr/>
          <p:nvPr/>
        </p:nvGrpSpPr>
        <p:grpSpPr>
          <a:xfrm>
            <a:off x="660400" y="4660900"/>
            <a:ext cx="3835400" cy="2032000"/>
            <a:chOff x="660400" y="4660900"/>
            <a:chExt cx="3835400" cy="2032000"/>
          </a:xfrm>
        </p:grpSpPr>
        <p:sp>
          <p:nvSpPr>
            <p:cNvPr id="26" name="TextBox 25"/>
            <p:cNvSpPr txBox="1"/>
            <p:nvPr/>
          </p:nvSpPr>
          <p:spPr>
            <a:xfrm>
              <a:off x="660400" y="4660900"/>
              <a:ext cx="3835400" cy="304800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r>
                <a:rPr sz="1800" b="1" dirty="0">
                  <a:solidFill>
                    <a:srgbClr val="003F3B"/>
                  </a:solidFill>
                  <a:latin typeface="Aptos"/>
                </a:rPr>
                <a:t>Patient-centered evidence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60400" y="5168900"/>
              <a:ext cx="3835400" cy="1524000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r>
                <a:rPr sz="1600" b="0">
                  <a:solidFill>
                    <a:srgbClr val="31403D"/>
                  </a:solidFill>
                  <a:latin typeface="Aptos"/>
                </a:rPr>
                <a:t>PRO, COA, preference study, qualitative interviews, caregiver burden, adherence evidence.</a:t>
              </a:r>
            </a:p>
          </p:txBody>
        </p:sp>
        <p:cxnSp>
          <p:nvCxnSpPr>
            <p:cNvPr id="503" name="LabelRule"/>
            <p:cNvCxnSpPr/>
            <p:nvPr/>
          </p:nvCxnSpPr>
          <p:spPr>
            <a:xfrm>
              <a:off x="660400" y="5041900"/>
              <a:ext cx="508000" cy="0"/>
            </a:xfrm>
            <a:prstGeom prst="line">
              <a:avLst/>
            </a:prstGeom>
            <a:ln w="19050" cap="flat">
              <a:solidFill>
                <a:srgbClr val="3DDC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57FB13C-FA2B-2CC1-4C9A-147BE80BCCEE}"/>
              </a:ext>
            </a:extLst>
          </p:cNvPr>
          <p:cNvGrpSpPr/>
          <p:nvPr/>
        </p:nvGrpSpPr>
        <p:grpSpPr>
          <a:xfrm>
            <a:off x="5080000" y="4660900"/>
            <a:ext cx="3835400" cy="2032000"/>
            <a:chOff x="5080000" y="4660900"/>
            <a:chExt cx="3835400" cy="2032000"/>
          </a:xfrm>
        </p:grpSpPr>
        <p:sp>
          <p:nvSpPr>
            <p:cNvPr id="31" name="TextBox 30"/>
            <p:cNvSpPr txBox="1"/>
            <p:nvPr/>
          </p:nvSpPr>
          <p:spPr>
            <a:xfrm>
              <a:off x="5080000" y="4660900"/>
              <a:ext cx="3835400" cy="304800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r>
                <a:rPr sz="1800" b="1" dirty="0">
                  <a:solidFill>
                    <a:srgbClr val="003F3B"/>
                  </a:solidFill>
                  <a:latin typeface="Aptos"/>
                </a:rPr>
                <a:t>Evidence synthesis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080000" y="5168900"/>
              <a:ext cx="3835400" cy="1524000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r>
                <a:rPr sz="1600" b="0">
                  <a:solidFill>
                    <a:srgbClr val="31403D"/>
                  </a:solidFill>
                  <a:latin typeface="Aptos"/>
                </a:rPr>
                <a:t>Living literature review, gap assessment, landscape update, comparative evidence refresh.</a:t>
              </a:r>
            </a:p>
          </p:txBody>
        </p:sp>
        <p:cxnSp>
          <p:nvCxnSpPr>
            <p:cNvPr id="504" name="LabelRule"/>
            <p:cNvCxnSpPr/>
            <p:nvPr/>
          </p:nvCxnSpPr>
          <p:spPr>
            <a:xfrm>
              <a:off x="5080000" y="5041900"/>
              <a:ext cx="508000" cy="0"/>
            </a:xfrm>
            <a:prstGeom prst="line">
              <a:avLst/>
            </a:prstGeom>
            <a:ln w="19050" cap="flat">
              <a:solidFill>
                <a:srgbClr val="3DDC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3B3E2E5-88DF-2BE5-F270-E03AF93F0CB0}"/>
              </a:ext>
            </a:extLst>
          </p:cNvPr>
          <p:cNvGrpSpPr/>
          <p:nvPr/>
        </p:nvGrpSpPr>
        <p:grpSpPr>
          <a:xfrm>
            <a:off x="9512300" y="4660900"/>
            <a:ext cx="3835400" cy="2032000"/>
            <a:chOff x="9512300" y="4660900"/>
            <a:chExt cx="3835400" cy="2032000"/>
          </a:xfrm>
        </p:grpSpPr>
        <p:sp>
          <p:nvSpPr>
            <p:cNvPr id="36" name="TextBox 35"/>
            <p:cNvSpPr txBox="1"/>
            <p:nvPr/>
          </p:nvSpPr>
          <p:spPr>
            <a:xfrm>
              <a:off x="9512300" y="4660900"/>
              <a:ext cx="3835400" cy="304800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r>
                <a:rPr sz="1800" b="1" dirty="0">
                  <a:solidFill>
                    <a:srgbClr val="003F3B"/>
                  </a:solidFill>
                  <a:latin typeface="Aptos"/>
                </a:rPr>
                <a:t>Communications pull-through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512300" y="5168900"/>
              <a:ext cx="3835400" cy="1524000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r>
                <a:rPr sz="1600" b="0">
                  <a:solidFill>
                    <a:srgbClr val="31403D"/>
                  </a:solidFill>
                  <a:latin typeface="Aptos"/>
                </a:rPr>
                <a:t>Publication plan, congress plan, field medical enablement, claim readiness review.</a:t>
              </a:r>
            </a:p>
          </p:txBody>
        </p:sp>
        <p:cxnSp>
          <p:nvCxnSpPr>
            <p:cNvPr id="505" name="LabelRule"/>
            <p:cNvCxnSpPr/>
            <p:nvPr/>
          </p:nvCxnSpPr>
          <p:spPr>
            <a:xfrm>
              <a:off x="9512300" y="5041900"/>
              <a:ext cx="508000" cy="0"/>
            </a:xfrm>
            <a:prstGeom prst="line">
              <a:avLst/>
            </a:prstGeom>
            <a:ln w="19050" cap="flat">
              <a:solidFill>
                <a:srgbClr val="3DDC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cxnSp>
      </p:grpSp>
    </p:spTree>
    <p:extLst>
      <p:ext uri="{BB962C8B-B14F-4D97-AF65-F5344CB8AC3E}">
        <p14:creationId xmlns:p14="http://schemas.microsoft.com/office/powerpoint/2010/main" val="2963411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"/>
          <p:cNvSpPr/>
          <p:nvPr/>
        </p:nvSpPr>
        <p:spPr>
          <a:xfrm>
            <a:off x="0" y="-2540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r"/>
          <p:cNvSpPr/>
          <p:nvPr/>
        </p:nvSpPr>
        <p:spPr>
          <a:xfrm>
            <a:off x="660400" y="508000"/>
            <a:ext cx="406400" cy="381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r"/>
          <p:cNvSpPr/>
          <p:nvPr/>
        </p:nvSpPr>
        <p:spPr>
          <a:xfrm>
            <a:off x="1155700" y="508000"/>
            <a:ext cx="609600" cy="381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t"/>
          <p:cNvSpPr txBox="1"/>
          <p:nvPr/>
        </p:nvSpPr>
        <p:spPr>
          <a:xfrm>
            <a:off x="660400" y="711200"/>
            <a:ext cx="130810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800" dirty="0">
                <a:solidFill>
                  <a:srgbClr val="003F3B"/>
                </a:solidFill>
                <a:latin typeface="Georgia"/>
              </a:rPr>
              <a:t>Evidence generation options</a:t>
            </a:r>
          </a:p>
        </p:txBody>
      </p:sp>
      <p:sp>
        <p:nvSpPr>
          <p:cNvPr id="104" name="t"/>
          <p:cNvSpPr txBox="1"/>
          <p:nvPr/>
        </p:nvSpPr>
        <p:spPr>
          <a:xfrm>
            <a:off x="660400" y="1244600"/>
            <a:ext cx="13081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 i="1" dirty="0">
                <a:solidFill>
                  <a:srgbClr val="00554F"/>
                </a:solidFill>
                <a:latin typeface="Georgia"/>
              </a:rPr>
              <a:t>Choose the right tactic for the decision</a:t>
            </a:r>
          </a:p>
        </p:txBody>
      </p:sp>
      <p:sp>
        <p:nvSpPr>
          <p:cNvPr id="107" name="r"/>
          <p:cNvSpPr/>
          <p:nvPr/>
        </p:nvSpPr>
        <p:spPr>
          <a:xfrm>
            <a:off x="965200" y="2159000"/>
            <a:ext cx="660400" cy="660400"/>
          </a:xfrm>
          <a:prstGeom prst="ellipse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"/>
          <p:cNvSpPr txBox="1"/>
          <p:nvPr/>
        </p:nvSpPr>
        <p:spPr>
          <a:xfrm>
            <a:off x="965200" y="2997200"/>
            <a:ext cx="3657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 b="1" dirty="0">
                <a:solidFill>
                  <a:srgbClr val="003F3B"/>
                </a:solidFill>
                <a:latin typeface="Aptos"/>
              </a:rPr>
              <a:t>Clinical studies</a:t>
            </a:r>
          </a:p>
        </p:txBody>
      </p:sp>
      <p:sp>
        <p:nvSpPr>
          <p:cNvPr id="109" name="r"/>
          <p:cNvSpPr/>
          <p:nvPr/>
        </p:nvSpPr>
        <p:spPr>
          <a:xfrm>
            <a:off x="965200" y="3429000"/>
            <a:ext cx="3657600" cy="12700"/>
          </a:xfrm>
          <a:prstGeom prst="rect">
            <a:avLst/>
          </a:prstGeom>
          <a:solidFill>
            <a:srgbClr val="D6E3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t"/>
          <p:cNvSpPr txBox="1"/>
          <p:nvPr/>
        </p:nvSpPr>
        <p:spPr>
          <a:xfrm>
            <a:off x="965200" y="3556000"/>
            <a:ext cx="3657600" cy="901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dirty="0">
                <a:solidFill>
                  <a:srgbClr val="052927"/>
                </a:solidFill>
                <a:latin typeface="Aptos"/>
              </a:rPr>
              <a:t>Phase IV, pragmatic trials, extension, post-hoc, subgroup analysis, investigator-initiated research.</a:t>
            </a:r>
          </a:p>
        </p:txBody>
      </p:sp>
      <p:sp>
        <p:nvSpPr>
          <p:cNvPr id="113" name="r"/>
          <p:cNvSpPr/>
          <p:nvPr/>
        </p:nvSpPr>
        <p:spPr>
          <a:xfrm>
            <a:off x="5486400" y="2159000"/>
            <a:ext cx="660400" cy="660400"/>
          </a:xfrm>
          <a:prstGeom prst="ellipse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t"/>
          <p:cNvSpPr txBox="1"/>
          <p:nvPr/>
        </p:nvSpPr>
        <p:spPr>
          <a:xfrm>
            <a:off x="5486400" y="2997200"/>
            <a:ext cx="3657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 b="1" dirty="0">
                <a:solidFill>
                  <a:srgbClr val="003F3B"/>
                </a:solidFill>
                <a:latin typeface="Aptos"/>
              </a:rPr>
              <a:t>RWE and data strategy</a:t>
            </a:r>
          </a:p>
        </p:txBody>
      </p:sp>
      <p:sp>
        <p:nvSpPr>
          <p:cNvPr id="115" name="r"/>
          <p:cNvSpPr/>
          <p:nvPr/>
        </p:nvSpPr>
        <p:spPr>
          <a:xfrm>
            <a:off x="5486400" y="3429000"/>
            <a:ext cx="3657600" cy="12700"/>
          </a:xfrm>
          <a:prstGeom prst="rect">
            <a:avLst/>
          </a:prstGeom>
          <a:solidFill>
            <a:srgbClr val="D6E3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t"/>
          <p:cNvSpPr txBox="1"/>
          <p:nvPr/>
        </p:nvSpPr>
        <p:spPr>
          <a:xfrm>
            <a:off x="5486400" y="3556000"/>
            <a:ext cx="3657600" cy="901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dirty="0">
                <a:solidFill>
                  <a:srgbClr val="052927"/>
                </a:solidFill>
                <a:latin typeface="Aptos"/>
              </a:rPr>
              <a:t>Registry, claims, EHR, chart review, external control, prospective observational, site-level feasibility.</a:t>
            </a:r>
          </a:p>
        </p:txBody>
      </p:sp>
      <p:sp>
        <p:nvSpPr>
          <p:cNvPr id="119" name="r"/>
          <p:cNvSpPr/>
          <p:nvPr/>
        </p:nvSpPr>
        <p:spPr>
          <a:xfrm>
            <a:off x="10007600" y="2159000"/>
            <a:ext cx="660400" cy="660400"/>
          </a:xfrm>
          <a:prstGeom prst="ellipse">
            <a:avLst/>
          </a:prstGeom>
          <a:solidFill>
            <a:srgbClr val="2C80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t"/>
          <p:cNvSpPr txBox="1"/>
          <p:nvPr/>
        </p:nvSpPr>
        <p:spPr>
          <a:xfrm>
            <a:off x="10007600" y="2997200"/>
            <a:ext cx="3657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 b="1" dirty="0">
                <a:solidFill>
                  <a:srgbClr val="003F3B"/>
                </a:solidFill>
                <a:latin typeface="Aptos"/>
              </a:rPr>
              <a:t>HEOR and access</a:t>
            </a:r>
          </a:p>
        </p:txBody>
      </p:sp>
      <p:sp>
        <p:nvSpPr>
          <p:cNvPr id="121" name="r"/>
          <p:cNvSpPr/>
          <p:nvPr/>
        </p:nvSpPr>
        <p:spPr>
          <a:xfrm>
            <a:off x="10007600" y="3429000"/>
            <a:ext cx="3657600" cy="12700"/>
          </a:xfrm>
          <a:prstGeom prst="rect">
            <a:avLst/>
          </a:prstGeom>
          <a:solidFill>
            <a:srgbClr val="D6E3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" name="t"/>
          <p:cNvSpPr txBox="1"/>
          <p:nvPr/>
        </p:nvSpPr>
        <p:spPr>
          <a:xfrm>
            <a:off x="10007600" y="3556000"/>
            <a:ext cx="3657600" cy="901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dirty="0">
                <a:solidFill>
                  <a:srgbClr val="052927"/>
                </a:solidFill>
                <a:latin typeface="Aptos"/>
              </a:rPr>
              <a:t>SLR, NMA, economic model, BIA, utility study, payer research, HTA package.</a:t>
            </a:r>
          </a:p>
        </p:txBody>
      </p:sp>
      <p:sp>
        <p:nvSpPr>
          <p:cNvPr id="125" name="r"/>
          <p:cNvSpPr/>
          <p:nvPr/>
        </p:nvSpPr>
        <p:spPr>
          <a:xfrm>
            <a:off x="965200" y="5219700"/>
            <a:ext cx="660400" cy="660400"/>
          </a:xfrm>
          <a:prstGeom prst="ellipse">
            <a:avLst/>
          </a:prstGeom>
          <a:solidFill>
            <a:srgbClr val="1E6B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6" name="t"/>
          <p:cNvSpPr txBox="1"/>
          <p:nvPr/>
        </p:nvSpPr>
        <p:spPr>
          <a:xfrm>
            <a:off x="965200" y="6057900"/>
            <a:ext cx="3657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 b="1" dirty="0">
                <a:solidFill>
                  <a:srgbClr val="003F3B"/>
                </a:solidFill>
                <a:latin typeface="Aptos"/>
              </a:rPr>
              <a:t>Patient-centered evidence</a:t>
            </a:r>
          </a:p>
        </p:txBody>
      </p:sp>
      <p:sp>
        <p:nvSpPr>
          <p:cNvPr id="127" name="r"/>
          <p:cNvSpPr/>
          <p:nvPr/>
        </p:nvSpPr>
        <p:spPr>
          <a:xfrm>
            <a:off x="965200" y="6489700"/>
            <a:ext cx="3657600" cy="12700"/>
          </a:xfrm>
          <a:prstGeom prst="rect">
            <a:avLst/>
          </a:prstGeom>
          <a:solidFill>
            <a:srgbClr val="D6E3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8" name="t"/>
          <p:cNvSpPr txBox="1"/>
          <p:nvPr/>
        </p:nvSpPr>
        <p:spPr>
          <a:xfrm>
            <a:off x="965200" y="6616700"/>
            <a:ext cx="3657600" cy="901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dirty="0">
                <a:solidFill>
                  <a:srgbClr val="052927"/>
                </a:solidFill>
                <a:latin typeface="Aptos"/>
              </a:rPr>
              <a:t>PRO, COA, preference study, qualitative interviews, caregiver burden, adherence evidence.</a:t>
            </a:r>
          </a:p>
        </p:txBody>
      </p:sp>
      <p:sp>
        <p:nvSpPr>
          <p:cNvPr id="131" name="r"/>
          <p:cNvSpPr/>
          <p:nvPr/>
        </p:nvSpPr>
        <p:spPr>
          <a:xfrm>
            <a:off x="5486400" y="5219700"/>
            <a:ext cx="660400" cy="660400"/>
          </a:xfrm>
          <a:prstGeom prst="ellipse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2" name="t"/>
          <p:cNvSpPr txBox="1"/>
          <p:nvPr/>
        </p:nvSpPr>
        <p:spPr>
          <a:xfrm>
            <a:off x="5486400" y="6057900"/>
            <a:ext cx="3657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 b="1" dirty="0">
                <a:solidFill>
                  <a:srgbClr val="003F3B"/>
                </a:solidFill>
                <a:latin typeface="Aptos"/>
              </a:rPr>
              <a:t>Evidence synthesis</a:t>
            </a:r>
          </a:p>
        </p:txBody>
      </p:sp>
      <p:sp>
        <p:nvSpPr>
          <p:cNvPr id="133" name="r"/>
          <p:cNvSpPr/>
          <p:nvPr/>
        </p:nvSpPr>
        <p:spPr>
          <a:xfrm>
            <a:off x="5486400" y="6489700"/>
            <a:ext cx="3657600" cy="12700"/>
          </a:xfrm>
          <a:prstGeom prst="rect">
            <a:avLst/>
          </a:prstGeom>
          <a:solidFill>
            <a:srgbClr val="D6E3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4" name="t"/>
          <p:cNvSpPr txBox="1"/>
          <p:nvPr/>
        </p:nvSpPr>
        <p:spPr>
          <a:xfrm>
            <a:off x="5486400" y="6616700"/>
            <a:ext cx="3657600" cy="901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dirty="0">
                <a:solidFill>
                  <a:srgbClr val="052927"/>
                </a:solidFill>
                <a:latin typeface="Aptos"/>
              </a:rPr>
              <a:t>Living literature review, gap assessment, landscape update, comparative evidence refresh.</a:t>
            </a:r>
          </a:p>
        </p:txBody>
      </p:sp>
      <p:sp>
        <p:nvSpPr>
          <p:cNvPr id="137" name="r"/>
          <p:cNvSpPr/>
          <p:nvPr/>
        </p:nvSpPr>
        <p:spPr>
          <a:xfrm>
            <a:off x="10007600" y="5219700"/>
            <a:ext cx="660400" cy="660400"/>
          </a:xfrm>
          <a:prstGeom prst="ellipse">
            <a:avLst/>
          </a:prstGeom>
          <a:solidFill>
            <a:srgbClr val="1E6B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8" name="t"/>
          <p:cNvSpPr txBox="1"/>
          <p:nvPr/>
        </p:nvSpPr>
        <p:spPr>
          <a:xfrm>
            <a:off x="10007600" y="6057900"/>
            <a:ext cx="3657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 b="1" dirty="0">
                <a:solidFill>
                  <a:srgbClr val="003F3B"/>
                </a:solidFill>
                <a:latin typeface="Aptos"/>
              </a:rPr>
              <a:t>Communications pull-through</a:t>
            </a:r>
          </a:p>
        </p:txBody>
      </p:sp>
      <p:sp>
        <p:nvSpPr>
          <p:cNvPr id="139" name="r"/>
          <p:cNvSpPr/>
          <p:nvPr/>
        </p:nvSpPr>
        <p:spPr>
          <a:xfrm>
            <a:off x="10007600" y="6489700"/>
            <a:ext cx="3657600" cy="12700"/>
          </a:xfrm>
          <a:prstGeom prst="rect">
            <a:avLst/>
          </a:prstGeom>
          <a:solidFill>
            <a:srgbClr val="D6E3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0" name="t"/>
          <p:cNvSpPr txBox="1"/>
          <p:nvPr/>
        </p:nvSpPr>
        <p:spPr>
          <a:xfrm>
            <a:off x="10007600" y="6616700"/>
            <a:ext cx="3657600" cy="901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dirty="0">
                <a:solidFill>
                  <a:srgbClr val="052927"/>
                </a:solidFill>
                <a:latin typeface="Aptos"/>
              </a:rPr>
              <a:t>Publication plan, congress plan, field medical enablement, claim readiness review.</a:t>
            </a:r>
          </a:p>
        </p:txBody>
      </p:sp>
      <p:pic>
        <p:nvPicPr>
          <p:cNvPr id="141" name="Graphic 141" descr="Clinical studies flas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4900" y="2298700"/>
            <a:ext cx="381000" cy="381000"/>
          </a:xfrm>
          <a:prstGeom prst="rect">
            <a:avLst/>
          </a:prstGeom>
        </p:spPr>
      </p:pic>
      <p:pic>
        <p:nvPicPr>
          <p:cNvPr id="142" name="Graphic 142" descr="RWE datab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26100" y="2298700"/>
            <a:ext cx="381000" cy="381000"/>
          </a:xfrm>
          <a:prstGeom prst="rect">
            <a:avLst/>
          </a:prstGeom>
        </p:spPr>
      </p:pic>
      <p:pic>
        <p:nvPicPr>
          <p:cNvPr id="143" name="Graphic 143" descr="HEOR calculat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47300" y="2298700"/>
            <a:ext cx="381000" cy="381000"/>
          </a:xfrm>
          <a:prstGeom prst="rect">
            <a:avLst/>
          </a:prstGeom>
        </p:spPr>
      </p:pic>
      <p:pic>
        <p:nvPicPr>
          <p:cNvPr id="144" name="Graphic 144" descr="Patient-centered peop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5359400"/>
            <a:ext cx="381000" cy="381000"/>
          </a:xfrm>
          <a:prstGeom prst="rect">
            <a:avLst/>
          </a:prstGeom>
        </p:spPr>
      </p:pic>
      <p:pic>
        <p:nvPicPr>
          <p:cNvPr id="145" name="Graphic 145" descr="Evidence synthesis folder sear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6100" y="5359400"/>
            <a:ext cx="381000" cy="381000"/>
          </a:xfrm>
          <a:prstGeom prst="rect">
            <a:avLst/>
          </a:prstGeom>
        </p:spPr>
      </p:pic>
      <p:pic>
        <p:nvPicPr>
          <p:cNvPr id="146" name="Graphic 146" descr="Communications megaphon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47300" y="53594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723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r"/>
          <p:cNvSpPr/>
          <p:nvPr/>
        </p:nvSpPr>
        <p:spPr>
          <a:xfrm>
            <a:off x="0" y="0"/>
            <a:ext cx="14630400" cy="762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"/>
          <p:cNvSpPr txBox="1"/>
          <p:nvPr/>
        </p:nvSpPr>
        <p:spPr>
          <a:xfrm>
            <a:off x="812800" y="584200"/>
            <a:ext cx="127000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Georgia"/>
              </a:rPr>
              <a:t>Evidence generation options</a:t>
            </a:r>
          </a:p>
        </p:txBody>
      </p:sp>
      <p:sp>
        <p:nvSpPr>
          <p:cNvPr id="103" name="t"/>
          <p:cNvSpPr txBox="1"/>
          <p:nvPr/>
        </p:nvSpPr>
        <p:spPr>
          <a:xfrm>
            <a:off x="812800" y="1092200"/>
            <a:ext cx="12700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 i="1" dirty="0">
                <a:solidFill>
                  <a:srgbClr val="9DD9C6"/>
                </a:solidFill>
                <a:latin typeface="Georgia"/>
              </a:rPr>
              <a:t>Choose the right tactic for the decision</a:t>
            </a:r>
          </a:p>
        </p:txBody>
      </p:sp>
      <p:sp>
        <p:nvSpPr>
          <p:cNvPr id="104" name="t"/>
          <p:cNvSpPr txBox="1"/>
          <p:nvPr/>
        </p:nvSpPr>
        <p:spPr>
          <a:xfrm>
            <a:off x="812800" y="1701800"/>
            <a:ext cx="889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4000" b="1" dirty="0">
                <a:solidFill>
                  <a:srgbClr val="3DBA8C"/>
                </a:solidFill>
                <a:latin typeface="Georgia"/>
              </a:rPr>
              <a:t>1</a:t>
            </a:r>
          </a:p>
        </p:txBody>
      </p:sp>
      <p:sp>
        <p:nvSpPr>
          <p:cNvPr id="105" name="t"/>
          <p:cNvSpPr txBox="1"/>
          <p:nvPr/>
        </p:nvSpPr>
        <p:spPr>
          <a:xfrm>
            <a:off x="1803400" y="1803400"/>
            <a:ext cx="52578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900" b="1" dirty="0">
                <a:solidFill>
                  <a:srgbClr val="FFFFFF"/>
                </a:solidFill>
                <a:latin typeface="Aptos"/>
              </a:rPr>
              <a:t>Clinical studies</a:t>
            </a:r>
          </a:p>
        </p:txBody>
      </p:sp>
      <p:sp>
        <p:nvSpPr>
          <p:cNvPr id="106" name="r"/>
          <p:cNvSpPr/>
          <p:nvPr/>
        </p:nvSpPr>
        <p:spPr>
          <a:xfrm>
            <a:off x="1803400" y="2235200"/>
            <a:ext cx="5257800" cy="12700"/>
          </a:xfrm>
          <a:prstGeom prst="rect">
            <a:avLst/>
          </a:prstGeom>
          <a:solidFill>
            <a:srgbClr val="2C696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"/>
          <p:cNvSpPr txBox="1"/>
          <p:nvPr/>
        </p:nvSpPr>
        <p:spPr>
          <a:xfrm>
            <a:off x="1803400" y="2362200"/>
            <a:ext cx="525780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dirty="0">
                <a:solidFill>
                  <a:srgbClr val="C7E5DA"/>
                </a:solidFill>
                <a:latin typeface="Aptos"/>
              </a:rPr>
              <a:t>Phase IV, pragmatic trials, extension, post-hoc, subgroup analysis, investigator-initiated research.</a:t>
            </a:r>
          </a:p>
        </p:txBody>
      </p:sp>
      <p:sp>
        <p:nvSpPr>
          <p:cNvPr id="108" name="t"/>
          <p:cNvSpPr txBox="1"/>
          <p:nvPr/>
        </p:nvSpPr>
        <p:spPr>
          <a:xfrm>
            <a:off x="812800" y="3733800"/>
            <a:ext cx="889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4000" b="1" dirty="0">
                <a:solidFill>
                  <a:srgbClr val="3DBA8C"/>
                </a:solidFill>
                <a:latin typeface="Georgia"/>
              </a:rPr>
              <a:t>2</a:t>
            </a:r>
          </a:p>
        </p:txBody>
      </p:sp>
      <p:sp>
        <p:nvSpPr>
          <p:cNvPr id="109" name="t"/>
          <p:cNvSpPr txBox="1"/>
          <p:nvPr/>
        </p:nvSpPr>
        <p:spPr>
          <a:xfrm>
            <a:off x="1803400" y="3835400"/>
            <a:ext cx="52578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900" b="1" dirty="0">
                <a:solidFill>
                  <a:srgbClr val="FFFFFF"/>
                </a:solidFill>
                <a:latin typeface="Aptos"/>
              </a:rPr>
              <a:t>RWE and data strategy</a:t>
            </a:r>
          </a:p>
        </p:txBody>
      </p:sp>
      <p:sp>
        <p:nvSpPr>
          <p:cNvPr id="110" name="r"/>
          <p:cNvSpPr/>
          <p:nvPr/>
        </p:nvSpPr>
        <p:spPr>
          <a:xfrm>
            <a:off x="1803400" y="4267200"/>
            <a:ext cx="5257800" cy="12700"/>
          </a:xfrm>
          <a:prstGeom prst="rect">
            <a:avLst/>
          </a:prstGeom>
          <a:solidFill>
            <a:srgbClr val="2C696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t"/>
          <p:cNvSpPr txBox="1"/>
          <p:nvPr/>
        </p:nvSpPr>
        <p:spPr>
          <a:xfrm>
            <a:off x="1803400" y="4394200"/>
            <a:ext cx="525780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dirty="0">
                <a:solidFill>
                  <a:srgbClr val="C7E5DA"/>
                </a:solidFill>
                <a:latin typeface="Aptos"/>
              </a:rPr>
              <a:t>Registry, claims, EHR, chart review, external control, prospective observational, site-level feasibility.</a:t>
            </a:r>
          </a:p>
        </p:txBody>
      </p:sp>
      <p:sp>
        <p:nvSpPr>
          <p:cNvPr id="112" name="t"/>
          <p:cNvSpPr txBox="1"/>
          <p:nvPr/>
        </p:nvSpPr>
        <p:spPr>
          <a:xfrm>
            <a:off x="812800" y="5765800"/>
            <a:ext cx="889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4000" b="1" dirty="0">
                <a:solidFill>
                  <a:srgbClr val="3DBA8C"/>
                </a:solidFill>
                <a:latin typeface="Georgia"/>
              </a:rPr>
              <a:t>3</a:t>
            </a:r>
          </a:p>
        </p:txBody>
      </p:sp>
      <p:sp>
        <p:nvSpPr>
          <p:cNvPr id="113" name="t"/>
          <p:cNvSpPr txBox="1"/>
          <p:nvPr/>
        </p:nvSpPr>
        <p:spPr>
          <a:xfrm>
            <a:off x="1803400" y="5867400"/>
            <a:ext cx="52578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900" b="1" dirty="0">
                <a:solidFill>
                  <a:srgbClr val="FFFFFF"/>
                </a:solidFill>
                <a:latin typeface="Aptos"/>
              </a:rPr>
              <a:t>HEOR and access</a:t>
            </a:r>
          </a:p>
        </p:txBody>
      </p:sp>
      <p:sp>
        <p:nvSpPr>
          <p:cNvPr id="114" name="r"/>
          <p:cNvSpPr/>
          <p:nvPr/>
        </p:nvSpPr>
        <p:spPr>
          <a:xfrm>
            <a:off x="1803400" y="6299200"/>
            <a:ext cx="5257800" cy="12700"/>
          </a:xfrm>
          <a:prstGeom prst="rect">
            <a:avLst/>
          </a:prstGeom>
          <a:solidFill>
            <a:srgbClr val="2C696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t"/>
          <p:cNvSpPr txBox="1"/>
          <p:nvPr/>
        </p:nvSpPr>
        <p:spPr>
          <a:xfrm>
            <a:off x="1803400" y="6426200"/>
            <a:ext cx="525780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dirty="0">
                <a:solidFill>
                  <a:srgbClr val="C7E5DA"/>
                </a:solidFill>
                <a:latin typeface="Aptos"/>
              </a:rPr>
              <a:t>SLR, NMA, economic model, BIA, utility study, payer research, HTA package.</a:t>
            </a:r>
          </a:p>
        </p:txBody>
      </p:sp>
      <p:sp>
        <p:nvSpPr>
          <p:cNvPr id="116" name="t"/>
          <p:cNvSpPr txBox="1"/>
          <p:nvPr/>
        </p:nvSpPr>
        <p:spPr>
          <a:xfrm>
            <a:off x="7569200" y="1701800"/>
            <a:ext cx="889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4000" b="1" dirty="0">
                <a:solidFill>
                  <a:srgbClr val="3DBA8C"/>
                </a:solidFill>
                <a:latin typeface="Georgia"/>
              </a:rPr>
              <a:t>4</a:t>
            </a:r>
          </a:p>
        </p:txBody>
      </p:sp>
      <p:sp>
        <p:nvSpPr>
          <p:cNvPr id="117" name="t"/>
          <p:cNvSpPr txBox="1"/>
          <p:nvPr/>
        </p:nvSpPr>
        <p:spPr>
          <a:xfrm>
            <a:off x="8559800" y="1803400"/>
            <a:ext cx="52578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900" b="1" dirty="0">
                <a:solidFill>
                  <a:srgbClr val="FFFFFF"/>
                </a:solidFill>
                <a:latin typeface="Aptos"/>
              </a:rPr>
              <a:t>Patient-centered evidence</a:t>
            </a:r>
          </a:p>
        </p:txBody>
      </p:sp>
      <p:sp>
        <p:nvSpPr>
          <p:cNvPr id="118" name="r"/>
          <p:cNvSpPr/>
          <p:nvPr/>
        </p:nvSpPr>
        <p:spPr>
          <a:xfrm>
            <a:off x="8559800" y="2235200"/>
            <a:ext cx="5257800" cy="12700"/>
          </a:xfrm>
          <a:prstGeom prst="rect">
            <a:avLst/>
          </a:prstGeom>
          <a:solidFill>
            <a:srgbClr val="2C696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t"/>
          <p:cNvSpPr txBox="1"/>
          <p:nvPr/>
        </p:nvSpPr>
        <p:spPr>
          <a:xfrm>
            <a:off x="8559800" y="2362200"/>
            <a:ext cx="525780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dirty="0">
                <a:solidFill>
                  <a:srgbClr val="C7E5DA"/>
                </a:solidFill>
                <a:latin typeface="Aptos"/>
              </a:rPr>
              <a:t>PRO, COA, preference study, qualitative interviews, caregiver burden, adherence evidence.</a:t>
            </a:r>
          </a:p>
        </p:txBody>
      </p:sp>
      <p:sp>
        <p:nvSpPr>
          <p:cNvPr id="120" name="t"/>
          <p:cNvSpPr txBox="1"/>
          <p:nvPr/>
        </p:nvSpPr>
        <p:spPr>
          <a:xfrm>
            <a:off x="7569200" y="3733800"/>
            <a:ext cx="889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4000" b="1" dirty="0">
                <a:solidFill>
                  <a:srgbClr val="3DBA8C"/>
                </a:solidFill>
                <a:latin typeface="Georgia"/>
              </a:rPr>
              <a:t>5</a:t>
            </a:r>
          </a:p>
        </p:txBody>
      </p:sp>
      <p:sp>
        <p:nvSpPr>
          <p:cNvPr id="121" name="t"/>
          <p:cNvSpPr txBox="1"/>
          <p:nvPr/>
        </p:nvSpPr>
        <p:spPr>
          <a:xfrm>
            <a:off x="8559800" y="3835400"/>
            <a:ext cx="52578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900" b="1" dirty="0">
                <a:solidFill>
                  <a:srgbClr val="FFFFFF"/>
                </a:solidFill>
                <a:latin typeface="Aptos"/>
              </a:rPr>
              <a:t>Evidence synthesis</a:t>
            </a:r>
          </a:p>
        </p:txBody>
      </p:sp>
      <p:sp>
        <p:nvSpPr>
          <p:cNvPr id="122" name="r"/>
          <p:cNvSpPr/>
          <p:nvPr/>
        </p:nvSpPr>
        <p:spPr>
          <a:xfrm>
            <a:off x="8559800" y="4267200"/>
            <a:ext cx="5257800" cy="12700"/>
          </a:xfrm>
          <a:prstGeom prst="rect">
            <a:avLst/>
          </a:prstGeom>
          <a:solidFill>
            <a:srgbClr val="2C696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t"/>
          <p:cNvSpPr txBox="1"/>
          <p:nvPr/>
        </p:nvSpPr>
        <p:spPr>
          <a:xfrm>
            <a:off x="8559800" y="4394200"/>
            <a:ext cx="525780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dirty="0">
                <a:solidFill>
                  <a:srgbClr val="C7E5DA"/>
                </a:solidFill>
                <a:latin typeface="Aptos"/>
              </a:rPr>
              <a:t>Living literature review, gap assessment, landscape update, comparative evidence refresh.</a:t>
            </a:r>
          </a:p>
        </p:txBody>
      </p:sp>
      <p:sp>
        <p:nvSpPr>
          <p:cNvPr id="124" name="t"/>
          <p:cNvSpPr txBox="1"/>
          <p:nvPr/>
        </p:nvSpPr>
        <p:spPr>
          <a:xfrm>
            <a:off x="7569200" y="5765800"/>
            <a:ext cx="889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4000" b="1" dirty="0">
                <a:solidFill>
                  <a:srgbClr val="3DBA8C"/>
                </a:solidFill>
                <a:latin typeface="Georgia"/>
              </a:rPr>
              <a:t>6</a:t>
            </a:r>
          </a:p>
        </p:txBody>
      </p:sp>
      <p:sp>
        <p:nvSpPr>
          <p:cNvPr id="125" name="t"/>
          <p:cNvSpPr txBox="1"/>
          <p:nvPr/>
        </p:nvSpPr>
        <p:spPr>
          <a:xfrm>
            <a:off x="8559800" y="5867400"/>
            <a:ext cx="52578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900" b="1" dirty="0">
                <a:solidFill>
                  <a:srgbClr val="FFFFFF"/>
                </a:solidFill>
                <a:latin typeface="Aptos"/>
              </a:rPr>
              <a:t>Communications pull-through</a:t>
            </a:r>
          </a:p>
        </p:txBody>
      </p:sp>
      <p:sp>
        <p:nvSpPr>
          <p:cNvPr id="126" name="r"/>
          <p:cNvSpPr/>
          <p:nvPr/>
        </p:nvSpPr>
        <p:spPr>
          <a:xfrm>
            <a:off x="8559800" y="6299200"/>
            <a:ext cx="5257800" cy="12700"/>
          </a:xfrm>
          <a:prstGeom prst="rect">
            <a:avLst/>
          </a:prstGeom>
          <a:solidFill>
            <a:srgbClr val="2C696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7" name="t"/>
          <p:cNvSpPr txBox="1"/>
          <p:nvPr/>
        </p:nvSpPr>
        <p:spPr>
          <a:xfrm>
            <a:off x="8559800" y="6426200"/>
            <a:ext cx="525780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dirty="0">
                <a:solidFill>
                  <a:srgbClr val="C7E5DA"/>
                </a:solidFill>
                <a:latin typeface="Aptos"/>
              </a:rPr>
              <a:t>Publication plan, congress plan, field medical enablement, claim readiness review.</a:t>
            </a:r>
          </a:p>
        </p:txBody>
      </p:sp>
    </p:spTree>
    <p:extLst>
      <p:ext uri="{BB962C8B-B14F-4D97-AF65-F5344CB8AC3E}">
        <p14:creationId xmlns:p14="http://schemas.microsoft.com/office/powerpoint/2010/main" val="4463423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r"/>
          <p:cNvSpPr/>
          <p:nvPr/>
        </p:nvSpPr>
        <p:spPr>
          <a:xfrm>
            <a:off x="812800" y="685800"/>
            <a:ext cx="406400" cy="381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r"/>
          <p:cNvSpPr/>
          <p:nvPr/>
        </p:nvSpPr>
        <p:spPr>
          <a:xfrm>
            <a:off x="1308100" y="685800"/>
            <a:ext cx="609600" cy="381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"/>
          <p:cNvSpPr txBox="1"/>
          <p:nvPr/>
        </p:nvSpPr>
        <p:spPr>
          <a:xfrm>
            <a:off x="812800" y="914400"/>
            <a:ext cx="81280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800" dirty="0">
                <a:solidFill>
                  <a:srgbClr val="003F3B"/>
                </a:solidFill>
                <a:latin typeface="Georgia"/>
              </a:rPr>
              <a:t>Evidence generation options</a:t>
            </a:r>
          </a:p>
        </p:txBody>
      </p:sp>
      <p:sp>
        <p:nvSpPr>
          <p:cNvPr id="204" name="t"/>
          <p:cNvSpPr txBox="1"/>
          <p:nvPr/>
        </p:nvSpPr>
        <p:spPr>
          <a:xfrm>
            <a:off x="812800" y="1422400"/>
            <a:ext cx="8128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700" i="1" dirty="0">
                <a:solidFill>
                  <a:srgbClr val="00554F"/>
                </a:solidFill>
                <a:latin typeface="Georgia"/>
              </a:rPr>
              <a:t>A maturing evidence story — from data to decision</a:t>
            </a:r>
          </a:p>
        </p:txBody>
      </p:sp>
      <p:sp>
        <p:nvSpPr>
          <p:cNvPr id="205" name="r"/>
          <p:cNvSpPr/>
          <p:nvPr/>
        </p:nvSpPr>
        <p:spPr>
          <a:xfrm rot="-628150">
            <a:off x="1552101" y="4864100"/>
            <a:ext cx="11881799" cy="50800"/>
          </a:xfrm>
          <a:prstGeom prst="rect">
            <a:avLst/>
          </a:prstGeom>
          <a:solidFill>
            <a:srgbClr val="C9D9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r"/>
          <p:cNvSpPr/>
          <p:nvPr/>
        </p:nvSpPr>
        <p:spPr>
          <a:xfrm>
            <a:off x="2222500" y="5391150"/>
            <a:ext cx="25400" cy="2540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r"/>
          <p:cNvSpPr/>
          <p:nvPr/>
        </p:nvSpPr>
        <p:spPr>
          <a:xfrm>
            <a:off x="2019300" y="5645150"/>
            <a:ext cx="431800" cy="431800"/>
          </a:xfrm>
          <a:prstGeom prst="ellipse">
            <a:avLst/>
          </a:prstGeom>
          <a:solidFill>
            <a:srgbClr val="003F3B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8" name="t"/>
          <p:cNvSpPr txBox="1"/>
          <p:nvPr/>
        </p:nvSpPr>
        <p:spPr>
          <a:xfrm>
            <a:off x="2019300" y="5645150"/>
            <a:ext cx="4318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209" name="t"/>
          <p:cNvSpPr txBox="1"/>
          <p:nvPr/>
        </p:nvSpPr>
        <p:spPr>
          <a:xfrm>
            <a:off x="1854200" y="4349750"/>
            <a:ext cx="2844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b="1" dirty="0">
                <a:solidFill>
                  <a:srgbClr val="003F3B"/>
                </a:solidFill>
                <a:latin typeface="Aptos"/>
              </a:rPr>
              <a:t>Clinical studies</a:t>
            </a:r>
          </a:p>
        </p:txBody>
      </p:sp>
      <p:sp>
        <p:nvSpPr>
          <p:cNvPr id="210" name="t"/>
          <p:cNvSpPr txBox="1"/>
          <p:nvPr/>
        </p:nvSpPr>
        <p:spPr>
          <a:xfrm>
            <a:off x="1854200" y="4705350"/>
            <a:ext cx="2844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052927"/>
                </a:solidFill>
                <a:latin typeface="Aptos"/>
              </a:rPr>
              <a:t>Phase IV, pragmatic trials, post-hoc, subgroup analysis.</a:t>
            </a:r>
          </a:p>
        </p:txBody>
      </p:sp>
      <p:sp>
        <p:nvSpPr>
          <p:cNvPr id="211" name="r"/>
          <p:cNvSpPr/>
          <p:nvPr/>
        </p:nvSpPr>
        <p:spPr>
          <a:xfrm>
            <a:off x="4442460" y="5628640"/>
            <a:ext cx="25400" cy="2540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r"/>
          <p:cNvSpPr/>
          <p:nvPr/>
        </p:nvSpPr>
        <p:spPr>
          <a:xfrm>
            <a:off x="4277360" y="5273040"/>
            <a:ext cx="355600" cy="355600"/>
          </a:xfrm>
          <a:prstGeom prst="ellipse">
            <a:avLst/>
          </a:prstGeom>
          <a:solidFill>
            <a:srgbClr val="00554F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3" name="t"/>
          <p:cNvSpPr txBox="1"/>
          <p:nvPr/>
        </p:nvSpPr>
        <p:spPr>
          <a:xfrm>
            <a:off x="4277360" y="5273040"/>
            <a:ext cx="3556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214" name="t"/>
          <p:cNvSpPr txBox="1"/>
          <p:nvPr/>
        </p:nvSpPr>
        <p:spPr>
          <a:xfrm>
            <a:off x="4074160" y="5882640"/>
            <a:ext cx="2844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b="1" dirty="0">
                <a:solidFill>
                  <a:srgbClr val="00554F"/>
                </a:solidFill>
                <a:latin typeface="Aptos"/>
              </a:rPr>
              <a:t>RWE and data strategy</a:t>
            </a:r>
          </a:p>
        </p:txBody>
      </p:sp>
      <p:sp>
        <p:nvSpPr>
          <p:cNvPr id="215" name="t"/>
          <p:cNvSpPr txBox="1"/>
          <p:nvPr/>
        </p:nvSpPr>
        <p:spPr>
          <a:xfrm>
            <a:off x="4074160" y="6238240"/>
            <a:ext cx="2844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052927"/>
                </a:solidFill>
                <a:latin typeface="Aptos"/>
              </a:rPr>
              <a:t>Registry, claims, EHR, external control, observational.</a:t>
            </a:r>
          </a:p>
        </p:txBody>
      </p:sp>
      <p:sp>
        <p:nvSpPr>
          <p:cNvPr id="216" name="r"/>
          <p:cNvSpPr/>
          <p:nvPr/>
        </p:nvSpPr>
        <p:spPr>
          <a:xfrm>
            <a:off x="6662420" y="4570730"/>
            <a:ext cx="25400" cy="254000"/>
          </a:xfrm>
          <a:prstGeom prst="rect">
            <a:avLst/>
          </a:prstGeom>
          <a:solidFill>
            <a:srgbClr val="2C80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7" name="r"/>
          <p:cNvSpPr/>
          <p:nvPr/>
        </p:nvSpPr>
        <p:spPr>
          <a:xfrm>
            <a:off x="6459220" y="4824730"/>
            <a:ext cx="431800" cy="431800"/>
          </a:xfrm>
          <a:prstGeom prst="ellipse">
            <a:avLst/>
          </a:prstGeom>
          <a:solidFill>
            <a:srgbClr val="2C8074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8" name="t"/>
          <p:cNvSpPr txBox="1"/>
          <p:nvPr/>
        </p:nvSpPr>
        <p:spPr>
          <a:xfrm>
            <a:off x="6459220" y="4824730"/>
            <a:ext cx="4318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19" name="t"/>
          <p:cNvSpPr txBox="1"/>
          <p:nvPr/>
        </p:nvSpPr>
        <p:spPr>
          <a:xfrm>
            <a:off x="6294120" y="3529330"/>
            <a:ext cx="2844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b="1" dirty="0">
                <a:solidFill>
                  <a:srgbClr val="2C8074"/>
                </a:solidFill>
                <a:latin typeface="Aptos"/>
              </a:rPr>
              <a:t>HEOR and access</a:t>
            </a:r>
          </a:p>
        </p:txBody>
      </p:sp>
      <p:sp>
        <p:nvSpPr>
          <p:cNvPr id="220" name="t"/>
          <p:cNvSpPr txBox="1"/>
          <p:nvPr/>
        </p:nvSpPr>
        <p:spPr>
          <a:xfrm>
            <a:off x="6294120" y="3884930"/>
            <a:ext cx="2844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052927"/>
                </a:solidFill>
                <a:latin typeface="Aptos"/>
              </a:rPr>
              <a:t>SLR, NMA, economic model, BIA, payer research, HTA.</a:t>
            </a:r>
          </a:p>
        </p:txBody>
      </p:sp>
      <p:sp>
        <p:nvSpPr>
          <p:cNvPr id="221" name="r"/>
          <p:cNvSpPr/>
          <p:nvPr/>
        </p:nvSpPr>
        <p:spPr>
          <a:xfrm>
            <a:off x="8882380" y="4808220"/>
            <a:ext cx="25400" cy="254000"/>
          </a:xfrm>
          <a:prstGeom prst="rect">
            <a:avLst/>
          </a:prstGeom>
          <a:solidFill>
            <a:srgbClr val="1E6B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r"/>
          <p:cNvSpPr/>
          <p:nvPr/>
        </p:nvSpPr>
        <p:spPr>
          <a:xfrm>
            <a:off x="8717280" y="4452620"/>
            <a:ext cx="355600" cy="355600"/>
          </a:xfrm>
          <a:prstGeom prst="ellipse">
            <a:avLst/>
          </a:prstGeom>
          <a:solidFill>
            <a:srgbClr val="1E6B60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3" name="t"/>
          <p:cNvSpPr txBox="1"/>
          <p:nvPr/>
        </p:nvSpPr>
        <p:spPr>
          <a:xfrm>
            <a:off x="8717280" y="4452620"/>
            <a:ext cx="3556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24" name="t"/>
          <p:cNvSpPr txBox="1"/>
          <p:nvPr/>
        </p:nvSpPr>
        <p:spPr>
          <a:xfrm>
            <a:off x="8514080" y="5062220"/>
            <a:ext cx="2844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b="1" dirty="0">
                <a:solidFill>
                  <a:srgbClr val="1E6B60"/>
                </a:solidFill>
                <a:latin typeface="Aptos"/>
              </a:rPr>
              <a:t>Patient-centered evidence</a:t>
            </a:r>
          </a:p>
        </p:txBody>
      </p:sp>
      <p:sp>
        <p:nvSpPr>
          <p:cNvPr id="225" name="t"/>
          <p:cNvSpPr txBox="1"/>
          <p:nvPr/>
        </p:nvSpPr>
        <p:spPr>
          <a:xfrm>
            <a:off x="8514080" y="5417820"/>
            <a:ext cx="2844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052927"/>
                </a:solidFill>
                <a:latin typeface="Aptos"/>
              </a:rPr>
              <a:t>PRO, COA, preference study, qualitative, adherence.</a:t>
            </a:r>
          </a:p>
        </p:txBody>
      </p:sp>
      <p:sp>
        <p:nvSpPr>
          <p:cNvPr id="226" name="r"/>
          <p:cNvSpPr/>
          <p:nvPr/>
        </p:nvSpPr>
        <p:spPr>
          <a:xfrm>
            <a:off x="11102340" y="3750310"/>
            <a:ext cx="25400" cy="254000"/>
          </a:xfrm>
          <a:prstGeom prst="rect">
            <a:avLst/>
          </a:prstGeom>
          <a:solidFill>
            <a:srgbClr val="1255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7" name="r"/>
          <p:cNvSpPr/>
          <p:nvPr/>
        </p:nvSpPr>
        <p:spPr>
          <a:xfrm>
            <a:off x="10899140" y="4004310"/>
            <a:ext cx="431800" cy="431800"/>
          </a:xfrm>
          <a:prstGeom prst="ellipse">
            <a:avLst/>
          </a:prstGeom>
          <a:solidFill>
            <a:srgbClr val="12554C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8" name="t"/>
          <p:cNvSpPr txBox="1"/>
          <p:nvPr/>
        </p:nvSpPr>
        <p:spPr>
          <a:xfrm>
            <a:off x="10899140" y="4004310"/>
            <a:ext cx="4318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29" name="t"/>
          <p:cNvSpPr txBox="1"/>
          <p:nvPr/>
        </p:nvSpPr>
        <p:spPr>
          <a:xfrm>
            <a:off x="10734040" y="2708910"/>
            <a:ext cx="2844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b="1" dirty="0">
                <a:solidFill>
                  <a:srgbClr val="12554C"/>
                </a:solidFill>
                <a:latin typeface="Aptos"/>
              </a:rPr>
              <a:t>Evidence synthesis</a:t>
            </a:r>
          </a:p>
        </p:txBody>
      </p:sp>
      <p:sp>
        <p:nvSpPr>
          <p:cNvPr id="230" name="t"/>
          <p:cNvSpPr txBox="1"/>
          <p:nvPr/>
        </p:nvSpPr>
        <p:spPr>
          <a:xfrm>
            <a:off x="10734040" y="3064510"/>
            <a:ext cx="2844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052927"/>
                </a:solidFill>
                <a:latin typeface="Aptos"/>
              </a:rPr>
              <a:t>Living literature review, gap assessment, landscape update.</a:t>
            </a:r>
          </a:p>
        </p:txBody>
      </p:sp>
      <p:sp>
        <p:nvSpPr>
          <p:cNvPr id="231" name="r"/>
          <p:cNvSpPr/>
          <p:nvPr/>
        </p:nvSpPr>
        <p:spPr>
          <a:xfrm>
            <a:off x="12971780" y="4052570"/>
            <a:ext cx="25400" cy="2540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r"/>
          <p:cNvSpPr/>
          <p:nvPr/>
        </p:nvSpPr>
        <p:spPr>
          <a:xfrm>
            <a:off x="12806680" y="3696970"/>
            <a:ext cx="355600" cy="355600"/>
          </a:xfrm>
          <a:prstGeom prst="ellipse">
            <a:avLst/>
          </a:prstGeom>
          <a:solidFill>
            <a:srgbClr val="3DBA8C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3" name="t"/>
          <p:cNvSpPr txBox="1"/>
          <p:nvPr/>
        </p:nvSpPr>
        <p:spPr>
          <a:xfrm>
            <a:off x="12806680" y="3696970"/>
            <a:ext cx="3556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34" name="t"/>
          <p:cNvSpPr txBox="1"/>
          <p:nvPr/>
        </p:nvSpPr>
        <p:spPr>
          <a:xfrm>
            <a:off x="11531600" y="4306570"/>
            <a:ext cx="2844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b="1" dirty="0">
                <a:solidFill>
                  <a:srgbClr val="3DBA8C"/>
                </a:solidFill>
                <a:latin typeface="Aptos"/>
              </a:rPr>
              <a:t>Communications pull-through</a:t>
            </a:r>
          </a:p>
        </p:txBody>
      </p:sp>
      <p:sp>
        <p:nvSpPr>
          <p:cNvPr id="235" name="t"/>
          <p:cNvSpPr txBox="1"/>
          <p:nvPr/>
        </p:nvSpPr>
        <p:spPr>
          <a:xfrm>
            <a:off x="11531600" y="4662170"/>
            <a:ext cx="2844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052927"/>
                </a:solidFill>
                <a:latin typeface="Aptos"/>
              </a:rPr>
              <a:t>Publication plan, congress plan, field enablement.</a:t>
            </a:r>
          </a:p>
        </p:txBody>
      </p:sp>
      <p:sp>
        <p:nvSpPr>
          <p:cNvPr id="236" name="t"/>
          <p:cNvSpPr txBox="1"/>
          <p:nvPr/>
        </p:nvSpPr>
        <p:spPr>
          <a:xfrm>
            <a:off x="812800" y="63500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50" dirty="0">
                <a:solidFill>
                  <a:srgbClr val="8A9794"/>
                </a:solidFill>
                <a:latin typeface="Aptos"/>
              </a:rPr>
              <a:t>FOUNDATION</a:t>
            </a:r>
          </a:p>
        </p:txBody>
      </p:sp>
    </p:spTree>
    <p:extLst>
      <p:ext uri="{BB962C8B-B14F-4D97-AF65-F5344CB8AC3E}">
        <p14:creationId xmlns:p14="http://schemas.microsoft.com/office/powerpoint/2010/main" val="1409255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r"/>
          <p:cNvSpPr/>
          <p:nvPr/>
        </p:nvSpPr>
        <p:spPr>
          <a:xfrm>
            <a:off x="812800" y="584200"/>
            <a:ext cx="406400" cy="381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r"/>
          <p:cNvSpPr/>
          <p:nvPr/>
        </p:nvSpPr>
        <p:spPr>
          <a:xfrm>
            <a:off x="1308100" y="584200"/>
            <a:ext cx="609600" cy="381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t"/>
          <p:cNvSpPr txBox="1"/>
          <p:nvPr/>
        </p:nvSpPr>
        <p:spPr>
          <a:xfrm>
            <a:off x="812800" y="812800"/>
            <a:ext cx="101600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800" dirty="0">
                <a:solidFill>
                  <a:srgbClr val="003F3B"/>
                </a:solidFill>
                <a:latin typeface="Georgia"/>
              </a:rPr>
              <a:t>Evidence generation options</a:t>
            </a:r>
          </a:p>
        </p:txBody>
      </p:sp>
      <p:sp>
        <p:nvSpPr>
          <p:cNvPr id="104" name="t"/>
          <p:cNvSpPr txBox="1"/>
          <p:nvPr/>
        </p:nvSpPr>
        <p:spPr>
          <a:xfrm>
            <a:off x="812800" y="1320800"/>
            <a:ext cx="1016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0554F"/>
                </a:solidFill>
                <a:latin typeface="Aptos"/>
              </a:rPr>
              <a:t>Choose the right tactic for the decision</a:t>
            </a:r>
          </a:p>
        </p:txBody>
      </p:sp>
      <p:sp>
        <p:nvSpPr>
          <p:cNvPr id="105" name="r"/>
          <p:cNvSpPr/>
          <p:nvPr/>
        </p:nvSpPr>
        <p:spPr>
          <a:xfrm>
            <a:off x="812800" y="1905000"/>
            <a:ext cx="5334000" cy="5461000"/>
          </a:xfrm>
          <a:prstGeom prst="roundRect">
            <a:avLst>
              <a:gd name="adj" fmla="val 8170"/>
            </a:avLst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"/>
          <p:cNvSpPr txBox="1"/>
          <p:nvPr/>
        </p:nvSpPr>
        <p:spPr>
          <a:xfrm>
            <a:off x="1244600" y="2489200"/>
            <a:ext cx="44704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200" dirty="0">
                <a:solidFill>
                  <a:srgbClr val="3DBA8C"/>
                </a:solidFill>
                <a:latin typeface="Aptos"/>
              </a:rPr>
              <a:t>FOUNDATIONAL</a:t>
            </a:r>
          </a:p>
        </p:txBody>
      </p:sp>
      <p:sp>
        <p:nvSpPr>
          <p:cNvPr id="108" name="t"/>
          <p:cNvSpPr txBox="1"/>
          <p:nvPr/>
        </p:nvSpPr>
        <p:spPr>
          <a:xfrm>
            <a:off x="1244600" y="2997200"/>
            <a:ext cx="447040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Georgia"/>
              </a:rPr>
              <a:t>Clinical studies</a:t>
            </a:r>
          </a:p>
        </p:txBody>
      </p:sp>
      <p:sp>
        <p:nvSpPr>
          <p:cNvPr id="109" name="r"/>
          <p:cNvSpPr/>
          <p:nvPr/>
        </p:nvSpPr>
        <p:spPr>
          <a:xfrm>
            <a:off x="1244600" y="4267200"/>
            <a:ext cx="812800" cy="381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t"/>
          <p:cNvSpPr txBox="1"/>
          <p:nvPr/>
        </p:nvSpPr>
        <p:spPr>
          <a:xfrm>
            <a:off x="1244600" y="4546600"/>
            <a:ext cx="44704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700" dirty="0">
                <a:solidFill>
                  <a:srgbClr val="BFE3D6"/>
                </a:solidFill>
                <a:latin typeface="Aptos"/>
              </a:rPr>
              <a:t>Phase IV, pragmatic trials, extension, post-hoc, subgroup analysis, investigator-initiated research.</a:t>
            </a:r>
          </a:p>
        </p:txBody>
      </p:sp>
      <p:sp>
        <p:nvSpPr>
          <p:cNvPr id="111" name="r"/>
          <p:cNvSpPr/>
          <p:nvPr/>
        </p:nvSpPr>
        <p:spPr>
          <a:xfrm>
            <a:off x="6502400" y="1905000"/>
            <a:ext cx="3530600" cy="1714500"/>
          </a:xfrm>
          <a:custGeom>
            <a:avLst/>
            <a:gdLst/>
            <a:ahLst/>
            <a:cxnLst/>
            <a:rect l="0" t="0" r="3530600" b="1714500"/>
            <a:pathLst>
              <a:path w="3530600" h="1714500">
                <a:moveTo>
                  <a:pt x="0" y="0"/>
                </a:moveTo>
                <a:lnTo>
                  <a:pt x="3290570" y="0"/>
                </a:lnTo>
                <a:arcTo wR="240030" hR="240030" stAng="16200000" swAng="5400000"/>
                <a:lnTo>
                  <a:pt x="3530600" y="1474470"/>
                </a:lnTo>
                <a:arcTo wR="240030" hR="240030" stAng="0" swAng="5400000"/>
                <a:lnTo>
                  <a:pt x="0" y="1714500"/>
                </a:lnTo>
                <a:close/>
              </a:path>
            </a:pathLst>
          </a:custGeom>
          <a:solidFill>
            <a:srgbClr val="F7FAF9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2" name="r"/>
          <p:cNvSpPr/>
          <p:nvPr/>
        </p:nvSpPr>
        <p:spPr>
          <a:xfrm>
            <a:off x="6502400" y="1905000"/>
            <a:ext cx="76200" cy="17145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t"/>
          <p:cNvSpPr txBox="1"/>
          <p:nvPr/>
        </p:nvSpPr>
        <p:spPr>
          <a:xfrm>
            <a:off x="6781800" y="2133600"/>
            <a:ext cx="29718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 b="1" dirty="0">
                <a:solidFill>
                  <a:srgbClr val="003F3B"/>
                </a:solidFill>
                <a:latin typeface="Aptos"/>
              </a:rPr>
              <a:t>RWE and data strategy</a:t>
            </a:r>
          </a:p>
        </p:txBody>
      </p:sp>
      <p:sp>
        <p:nvSpPr>
          <p:cNvPr id="114" name="r"/>
          <p:cNvSpPr/>
          <p:nvPr/>
        </p:nvSpPr>
        <p:spPr>
          <a:xfrm>
            <a:off x="6781800" y="2540000"/>
            <a:ext cx="508000" cy="254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t"/>
          <p:cNvSpPr txBox="1"/>
          <p:nvPr/>
        </p:nvSpPr>
        <p:spPr>
          <a:xfrm>
            <a:off x="6781800" y="2667000"/>
            <a:ext cx="29718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052927"/>
                </a:solidFill>
                <a:latin typeface="Aptos"/>
              </a:rPr>
              <a:t>Registry, claims, EHR, external control, prospective observational, site feasibility.</a:t>
            </a:r>
          </a:p>
        </p:txBody>
      </p:sp>
      <p:sp>
        <p:nvSpPr>
          <p:cNvPr id="116" name="r"/>
          <p:cNvSpPr/>
          <p:nvPr/>
        </p:nvSpPr>
        <p:spPr>
          <a:xfrm>
            <a:off x="10287000" y="1905000"/>
            <a:ext cx="3530600" cy="1714500"/>
          </a:xfrm>
          <a:custGeom>
            <a:avLst/>
            <a:gdLst/>
            <a:ahLst/>
            <a:cxnLst/>
            <a:rect l="0" t="0" r="3530600" b="1714500"/>
            <a:pathLst>
              <a:path w="3530600" h="1714500">
                <a:moveTo>
                  <a:pt x="0" y="0"/>
                </a:moveTo>
                <a:lnTo>
                  <a:pt x="3290570" y="0"/>
                </a:lnTo>
                <a:arcTo wR="240030" hR="240030" stAng="16200000" swAng="5400000"/>
                <a:lnTo>
                  <a:pt x="3530600" y="1474470"/>
                </a:lnTo>
                <a:arcTo wR="240030" hR="240030" stAng="0" swAng="5400000"/>
                <a:lnTo>
                  <a:pt x="0" y="1714500"/>
                </a:lnTo>
                <a:close/>
              </a:path>
            </a:pathLst>
          </a:custGeom>
          <a:solidFill>
            <a:srgbClr val="F7FAF9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7" name="r"/>
          <p:cNvSpPr/>
          <p:nvPr/>
        </p:nvSpPr>
        <p:spPr>
          <a:xfrm>
            <a:off x="10287000" y="1905000"/>
            <a:ext cx="76200" cy="1714500"/>
          </a:xfrm>
          <a:prstGeom prst="rect">
            <a:avLst/>
          </a:prstGeom>
          <a:solidFill>
            <a:srgbClr val="2C80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t"/>
          <p:cNvSpPr txBox="1"/>
          <p:nvPr/>
        </p:nvSpPr>
        <p:spPr>
          <a:xfrm>
            <a:off x="10566400" y="2133600"/>
            <a:ext cx="29718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 b="1" dirty="0">
                <a:solidFill>
                  <a:srgbClr val="003F3B"/>
                </a:solidFill>
                <a:latin typeface="Aptos"/>
              </a:rPr>
              <a:t>HEOR and access</a:t>
            </a:r>
          </a:p>
        </p:txBody>
      </p:sp>
      <p:sp>
        <p:nvSpPr>
          <p:cNvPr id="119" name="r"/>
          <p:cNvSpPr/>
          <p:nvPr/>
        </p:nvSpPr>
        <p:spPr>
          <a:xfrm>
            <a:off x="10566400" y="2540000"/>
            <a:ext cx="508000" cy="25400"/>
          </a:xfrm>
          <a:prstGeom prst="rect">
            <a:avLst/>
          </a:prstGeom>
          <a:solidFill>
            <a:srgbClr val="2C80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t"/>
          <p:cNvSpPr txBox="1"/>
          <p:nvPr/>
        </p:nvSpPr>
        <p:spPr>
          <a:xfrm>
            <a:off x="10566400" y="2667000"/>
            <a:ext cx="29718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052927"/>
                </a:solidFill>
                <a:latin typeface="Aptos"/>
              </a:rPr>
              <a:t>SLR, NMA, economic model, BIA, utility study, payer research, HTA package.</a:t>
            </a:r>
          </a:p>
        </p:txBody>
      </p:sp>
      <p:sp>
        <p:nvSpPr>
          <p:cNvPr id="121" name="r"/>
          <p:cNvSpPr/>
          <p:nvPr/>
        </p:nvSpPr>
        <p:spPr>
          <a:xfrm>
            <a:off x="6502400" y="3771900"/>
            <a:ext cx="3530600" cy="1714500"/>
          </a:xfrm>
          <a:custGeom>
            <a:avLst/>
            <a:gdLst/>
            <a:ahLst/>
            <a:cxnLst/>
            <a:rect l="0" t="0" r="3530600" b="1714500"/>
            <a:pathLst>
              <a:path w="3530600" h="1714500">
                <a:moveTo>
                  <a:pt x="0" y="0"/>
                </a:moveTo>
                <a:lnTo>
                  <a:pt x="3290570" y="0"/>
                </a:lnTo>
                <a:arcTo wR="240030" hR="240030" stAng="16200000" swAng="5400000"/>
                <a:lnTo>
                  <a:pt x="3530600" y="1474470"/>
                </a:lnTo>
                <a:arcTo wR="240030" hR="240030" stAng="0" swAng="5400000"/>
                <a:lnTo>
                  <a:pt x="0" y="1714500"/>
                </a:lnTo>
                <a:close/>
              </a:path>
            </a:pathLst>
          </a:custGeom>
          <a:solidFill>
            <a:srgbClr val="F7FAF9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2" name="r"/>
          <p:cNvSpPr/>
          <p:nvPr/>
        </p:nvSpPr>
        <p:spPr>
          <a:xfrm>
            <a:off x="6502400" y="3771900"/>
            <a:ext cx="76200" cy="1714500"/>
          </a:xfrm>
          <a:prstGeom prst="rect">
            <a:avLst/>
          </a:prstGeom>
          <a:solidFill>
            <a:srgbClr val="1E6B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t"/>
          <p:cNvSpPr txBox="1"/>
          <p:nvPr/>
        </p:nvSpPr>
        <p:spPr>
          <a:xfrm>
            <a:off x="6781800" y="4000500"/>
            <a:ext cx="29718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 b="1" dirty="0">
                <a:solidFill>
                  <a:srgbClr val="003F3B"/>
                </a:solidFill>
                <a:latin typeface="Aptos"/>
              </a:rPr>
              <a:t>Patient-centered evidence</a:t>
            </a:r>
          </a:p>
        </p:txBody>
      </p:sp>
      <p:sp>
        <p:nvSpPr>
          <p:cNvPr id="124" name="r"/>
          <p:cNvSpPr/>
          <p:nvPr/>
        </p:nvSpPr>
        <p:spPr>
          <a:xfrm>
            <a:off x="6781800" y="4406900"/>
            <a:ext cx="508000" cy="25400"/>
          </a:xfrm>
          <a:prstGeom prst="rect">
            <a:avLst/>
          </a:prstGeom>
          <a:solidFill>
            <a:srgbClr val="1E6B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5" name="t"/>
          <p:cNvSpPr txBox="1"/>
          <p:nvPr/>
        </p:nvSpPr>
        <p:spPr>
          <a:xfrm>
            <a:off x="6781800" y="4533900"/>
            <a:ext cx="29718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052927"/>
                </a:solidFill>
                <a:latin typeface="Aptos"/>
              </a:rPr>
              <a:t>PRO, COA, preference study, qualitative interviews, adherence evidence.</a:t>
            </a:r>
          </a:p>
        </p:txBody>
      </p:sp>
      <p:sp>
        <p:nvSpPr>
          <p:cNvPr id="126" name="r"/>
          <p:cNvSpPr/>
          <p:nvPr/>
        </p:nvSpPr>
        <p:spPr>
          <a:xfrm>
            <a:off x="10287000" y="3771900"/>
            <a:ext cx="3530600" cy="1714500"/>
          </a:xfrm>
          <a:custGeom>
            <a:avLst/>
            <a:gdLst/>
            <a:ahLst/>
            <a:cxnLst/>
            <a:rect l="0" t="0" r="3530600" b="1714500"/>
            <a:pathLst>
              <a:path w="3530600" h="1714500">
                <a:moveTo>
                  <a:pt x="0" y="0"/>
                </a:moveTo>
                <a:lnTo>
                  <a:pt x="3290570" y="0"/>
                </a:lnTo>
                <a:arcTo wR="240030" hR="240030" stAng="16200000" swAng="5400000"/>
                <a:lnTo>
                  <a:pt x="3530600" y="1474470"/>
                </a:lnTo>
                <a:arcTo wR="240030" hR="240030" stAng="0" swAng="5400000"/>
                <a:lnTo>
                  <a:pt x="0" y="1714500"/>
                </a:lnTo>
                <a:close/>
              </a:path>
            </a:pathLst>
          </a:custGeom>
          <a:solidFill>
            <a:srgbClr val="F7FAF9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7" name="r"/>
          <p:cNvSpPr/>
          <p:nvPr/>
        </p:nvSpPr>
        <p:spPr>
          <a:xfrm>
            <a:off x="10287000" y="3771900"/>
            <a:ext cx="76200" cy="1714500"/>
          </a:xfrm>
          <a:prstGeom prst="rect">
            <a:avLst/>
          </a:prstGeom>
          <a:solidFill>
            <a:srgbClr val="1255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8" name="t"/>
          <p:cNvSpPr txBox="1"/>
          <p:nvPr/>
        </p:nvSpPr>
        <p:spPr>
          <a:xfrm>
            <a:off x="10566400" y="4000500"/>
            <a:ext cx="29718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 b="1" dirty="0">
                <a:solidFill>
                  <a:srgbClr val="003F3B"/>
                </a:solidFill>
                <a:latin typeface="Aptos"/>
              </a:rPr>
              <a:t>Evidence synthesis</a:t>
            </a:r>
          </a:p>
        </p:txBody>
      </p:sp>
      <p:sp>
        <p:nvSpPr>
          <p:cNvPr id="129" name="r"/>
          <p:cNvSpPr/>
          <p:nvPr/>
        </p:nvSpPr>
        <p:spPr>
          <a:xfrm>
            <a:off x="10566400" y="4406900"/>
            <a:ext cx="508000" cy="25400"/>
          </a:xfrm>
          <a:prstGeom prst="rect">
            <a:avLst/>
          </a:prstGeom>
          <a:solidFill>
            <a:srgbClr val="1255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0" name="t"/>
          <p:cNvSpPr txBox="1"/>
          <p:nvPr/>
        </p:nvSpPr>
        <p:spPr>
          <a:xfrm>
            <a:off x="10566400" y="4533900"/>
            <a:ext cx="29718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052927"/>
                </a:solidFill>
                <a:latin typeface="Aptos"/>
              </a:rPr>
              <a:t>Living literature review, gap assessment, landscape update.</a:t>
            </a:r>
          </a:p>
        </p:txBody>
      </p:sp>
      <p:sp>
        <p:nvSpPr>
          <p:cNvPr id="131" name="r"/>
          <p:cNvSpPr/>
          <p:nvPr/>
        </p:nvSpPr>
        <p:spPr>
          <a:xfrm>
            <a:off x="6502400" y="5638800"/>
            <a:ext cx="7315200" cy="1714500"/>
          </a:xfrm>
          <a:custGeom>
            <a:avLst/>
            <a:gdLst/>
            <a:ahLst/>
            <a:cxnLst/>
            <a:rect l="0" t="0" r="7315200" b="1714500"/>
            <a:pathLst>
              <a:path w="7315200" h="1714500">
                <a:moveTo>
                  <a:pt x="0" y="0"/>
                </a:moveTo>
                <a:lnTo>
                  <a:pt x="7075170" y="0"/>
                </a:lnTo>
                <a:arcTo wR="240030" hR="240030" stAng="16200000" swAng="5400000"/>
                <a:lnTo>
                  <a:pt x="7315200" y="1474470"/>
                </a:lnTo>
                <a:arcTo wR="240030" hR="240030" stAng="0" swAng="5400000"/>
                <a:lnTo>
                  <a:pt x="0" y="1714500"/>
                </a:lnTo>
                <a:close/>
              </a:path>
            </a:pathLst>
          </a:custGeom>
          <a:solidFill>
            <a:srgbClr val="F7FAF9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2" name="r"/>
          <p:cNvSpPr/>
          <p:nvPr/>
        </p:nvSpPr>
        <p:spPr>
          <a:xfrm>
            <a:off x="6502400" y="5638800"/>
            <a:ext cx="76200" cy="17145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3" name="t"/>
          <p:cNvSpPr txBox="1"/>
          <p:nvPr/>
        </p:nvSpPr>
        <p:spPr>
          <a:xfrm>
            <a:off x="6781800" y="5867400"/>
            <a:ext cx="6756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 b="1" dirty="0">
                <a:solidFill>
                  <a:srgbClr val="003F3B"/>
                </a:solidFill>
                <a:latin typeface="Aptos"/>
              </a:rPr>
              <a:t>Communications pull-through</a:t>
            </a:r>
          </a:p>
        </p:txBody>
      </p:sp>
      <p:sp>
        <p:nvSpPr>
          <p:cNvPr id="134" name="r"/>
          <p:cNvSpPr/>
          <p:nvPr/>
        </p:nvSpPr>
        <p:spPr>
          <a:xfrm>
            <a:off x="6781800" y="6273800"/>
            <a:ext cx="508000" cy="254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5" name="t"/>
          <p:cNvSpPr txBox="1"/>
          <p:nvPr/>
        </p:nvSpPr>
        <p:spPr>
          <a:xfrm>
            <a:off x="6781800" y="6400800"/>
            <a:ext cx="67564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052927"/>
                </a:solidFill>
                <a:latin typeface="Aptos"/>
              </a:rPr>
              <a:t>Publication plan, congress plan, field enablement, claim readiness.</a:t>
            </a:r>
          </a:p>
        </p:txBody>
      </p:sp>
    </p:spTree>
    <p:extLst>
      <p:ext uri="{BB962C8B-B14F-4D97-AF65-F5344CB8AC3E}">
        <p14:creationId xmlns:p14="http://schemas.microsoft.com/office/powerpoint/2010/main" val="13140536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2"/>
          <p:cNvSpPr/>
          <p:nvPr/>
        </p:nvSpPr>
        <p:spPr>
          <a:xfrm>
            <a:off x="812800" y="584200"/>
            <a:ext cx="406400" cy="381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s103"/>
          <p:cNvSpPr/>
          <p:nvPr/>
        </p:nvSpPr>
        <p:spPr>
          <a:xfrm>
            <a:off x="1308100" y="584200"/>
            <a:ext cx="609600" cy="381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t104"/>
          <p:cNvSpPr txBox="1"/>
          <p:nvPr/>
        </p:nvSpPr>
        <p:spPr>
          <a:xfrm>
            <a:off x="812800" y="812800"/>
            <a:ext cx="127000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800" dirty="0">
                <a:solidFill>
                  <a:srgbClr val="003F3B"/>
                </a:solidFill>
                <a:latin typeface="Georgia"/>
              </a:rPr>
              <a:t>Evidence generation options</a:t>
            </a:r>
          </a:p>
        </p:txBody>
      </p:sp>
      <p:sp>
        <p:nvSpPr>
          <p:cNvPr id="104" name="t105"/>
          <p:cNvSpPr txBox="1"/>
          <p:nvPr/>
        </p:nvSpPr>
        <p:spPr>
          <a:xfrm>
            <a:off x="812800" y="1320800"/>
            <a:ext cx="1270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0554F"/>
                </a:solidFill>
                <a:latin typeface="Aptos"/>
              </a:rPr>
              <a:t>Six connected capabilities</a:t>
            </a:r>
          </a:p>
        </p:txBody>
      </p:sp>
      <p:sp>
        <p:nvSpPr>
          <p:cNvPr id="105" name="hex106"/>
          <p:cNvSpPr/>
          <p:nvPr/>
        </p:nvSpPr>
        <p:spPr>
          <a:xfrm>
            <a:off x="1651000" y="1702682"/>
            <a:ext cx="1905000" cy="1676400"/>
          </a:xfrm>
          <a:prstGeom prst="hexagon">
            <a:avLst/>
          </a:prstGeom>
          <a:solidFill>
            <a:srgbClr val="003F3B"/>
          </a:solidFill>
          <a:ln w="38100">
            <a:solidFill>
              <a:srgbClr val="FFFFFF"/>
            </a:solidFill>
          </a:ln>
        </p:spPr>
        <p:txBody>
          <a:bodyPr wrap="square" lIns="101600" tIns="0" rIns="101600" bIns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Georgia"/>
              </a:rPr>
              <a:t>1</a:t>
            </a:r>
          </a:p>
          <a:p>
            <a:pPr algn="ctr"/>
            <a:r>
              <a:rPr lang="en-US" sz="1300" b="1" dirty="0">
                <a:solidFill>
                  <a:srgbClr val="FFFFFF"/>
                </a:solidFill>
                <a:latin typeface="Aptos"/>
              </a:rPr>
              <a:t>Clinical studies</a:t>
            </a:r>
          </a:p>
        </p:txBody>
      </p:sp>
      <p:sp>
        <p:nvSpPr>
          <p:cNvPr id="106" name="hex107"/>
          <p:cNvSpPr/>
          <p:nvPr/>
        </p:nvSpPr>
        <p:spPr>
          <a:xfrm>
            <a:off x="3079750" y="2540882"/>
            <a:ext cx="1905000" cy="1676400"/>
          </a:xfrm>
          <a:prstGeom prst="hexagon">
            <a:avLst/>
          </a:prstGeom>
          <a:solidFill>
            <a:srgbClr val="00554F"/>
          </a:solidFill>
          <a:ln w="38100">
            <a:solidFill>
              <a:srgbClr val="FFFFFF"/>
            </a:solidFill>
          </a:ln>
        </p:spPr>
        <p:txBody>
          <a:bodyPr wrap="square" lIns="101600" tIns="0" rIns="101600" bIns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Georgia"/>
              </a:rPr>
              <a:t>2</a:t>
            </a:r>
          </a:p>
          <a:p>
            <a:pPr algn="ctr"/>
            <a:r>
              <a:rPr lang="en-US" sz="1300" b="1" dirty="0">
                <a:solidFill>
                  <a:srgbClr val="FFFFFF"/>
                </a:solidFill>
              </a:rPr>
              <a:t>RWE and data strategy</a:t>
            </a:r>
            <a:endParaRPr lang="en-US" sz="1300" b="1" dirty="0">
              <a:solidFill>
                <a:srgbClr val="FFFFFF"/>
              </a:solidFill>
              <a:latin typeface="Georgia"/>
            </a:endParaRPr>
          </a:p>
          <a:p>
            <a:pPr algn="ctr"/>
            <a:endParaRPr lang="en-US" sz="2400" b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07" name="hex108"/>
          <p:cNvSpPr/>
          <p:nvPr/>
        </p:nvSpPr>
        <p:spPr>
          <a:xfrm>
            <a:off x="1651000" y="3379082"/>
            <a:ext cx="1905000" cy="1676400"/>
          </a:xfrm>
          <a:prstGeom prst="hexagon">
            <a:avLst/>
          </a:prstGeom>
          <a:solidFill>
            <a:srgbClr val="2C8074"/>
          </a:solidFill>
          <a:ln w="38100">
            <a:solidFill>
              <a:srgbClr val="FFFFFF"/>
            </a:solidFill>
          </a:ln>
        </p:spPr>
        <p:txBody>
          <a:bodyPr wrap="square" lIns="101600" tIns="0" rIns="101600" bIns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Georgia"/>
              </a:rPr>
              <a:t>3</a:t>
            </a:r>
          </a:p>
          <a:p>
            <a:pPr algn="ctr"/>
            <a:r>
              <a:rPr lang="en-US" sz="1300" b="1" dirty="0">
                <a:solidFill>
                  <a:srgbClr val="FFFFFF"/>
                </a:solidFill>
                <a:latin typeface="Georgia"/>
              </a:rPr>
              <a:t>HEOR and access</a:t>
            </a:r>
          </a:p>
          <a:p>
            <a:pPr algn="ctr"/>
            <a:endParaRPr lang="en-US" sz="2400" b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08" name="hex109"/>
          <p:cNvSpPr/>
          <p:nvPr/>
        </p:nvSpPr>
        <p:spPr>
          <a:xfrm>
            <a:off x="3079750" y="4217282"/>
            <a:ext cx="1905000" cy="1676400"/>
          </a:xfrm>
          <a:prstGeom prst="hexagon">
            <a:avLst/>
          </a:prstGeom>
          <a:solidFill>
            <a:srgbClr val="1E6B60"/>
          </a:solidFill>
          <a:ln w="38100">
            <a:solidFill>
              <a:srgbClr val="FFFFFF"/>
            </a:solidFill>
          </a:ln>
        </p:spPr>
        <p:txBody>
          <a:bodyPr wrap="square" lIns="101600" tIns="0" rIns="101600" bIns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Georgia"/>
              </a:rPr>
              <a:t>4</a:t>
            </a:r>
          </a:p>
          <a:p>
            <a:pPr algn="ctr"/>
            <a:r>
              <a:rPr lang="en-US" sz="1300" b="1" dirty="0">
                <a:solidFill>
                  <a:srgbClr val="FFFFFF"/>
                </a:solidFill>
                <a:latin typeface="Aptos"/>
              </a:rPr>
              <a:t>Patient-centered</a:t>
            </a:r>
          </a:p>
        </p:txBody>
      </p:sp>
      <p:sp>
        <p:nvSpPr>
          <p:cNvPr id="109" name="hex110"/>
          <p:cNvSpPr/>
          <p:nvPr/>
        </p:nvSpPr>
        <p:spPr>
          <a:xfrm>
            <a:off x="1651000" y="5055482"/>
            <a:ext cx="1905000" cy="1676400"/>
          </a:xfrm>
          <a:prstGeom prst="hexagon">
            <a:avLst/>
          </a:prstGeom>
          <a:solidFill>
            <a:srgbClr val="17665C"/>
          </a:solidFill>
          <a:ln w="38100">
            <a:solidFill>
              <a:srgbClr val="FFFFFF"/>
            </a:solidFill>
          </a:ln>
        </p:spPr>
        <p:txBody>
          <a:bodyPr wrap="square" lIns="101600" tIns="0" rIns="101600" bIns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Georgia"/>
              </a:rPr>
              <a:t>5</a:t>
            </a:r>
          </a:p>
          <a:p>
            <a:pPr algn="ctr"/>
            <a:r>
              <a:rPr lang="en-US" sz="1300" b="1" dirty="0">
                <a:solidFill>
                  <a:srgbClr val="FFFFFF"/>
                </a:solidFill>
                <a:latin typeface="Aptos"/>
              </a:rPr>
              <a:t>Evidence synthesis</a:t>
            </a:r>
          </a:p>
        </p:txBody>
      </p:sp>
      <p:sp>
        <p:nvSpPr>
          <p:cNvPr id="110" name="hex111"/>
          <p:cNvSpPr/>
          <p:nvPr/>
        </p:nvSpPr>
        <p:spPr>
          <a:xfrm>
            <a:off x="3079750" y="5893682"/>
            <a:ext cx="1905000" cy="1676400"/>
          </a:xfrm>
          <a:prstGeom prst="hexagon">
            <a:avLst/>
          </a:prstGeom>
          <a:solidFill>
            <a:srgbClr val="3DBA8C"/>
          </a:solidFill>
          <a:ln w="38100">
            <a:solidFill>
              <a:srgbClr val="FFFFFF"/>
            </a:solidFill>
          </a:ln>
        </p:spPr>
        <p:txBody>
          <a:bodyPr wrap="square" lIns="101600" tIns="0" rIns="101600" bIns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Georgia"/>
              </a:rPr>
              <a:t>6</a:t>
            </a:r>
          </a:p>
          <a:p>
            <a:pPr algn="ctr"/>
            <a:r>
              <a:rPr lang="en-US" sz="1300" b="1" dirty="0">
                <a:solidFill>
                  <a:srgbClr val="FFFFFF"/>
                </a:solidFill>
                <a:latin typeface="Aptos"/>
              </a:rPr>
              <a:t>Comms pull-through</a:t>
            </a:r>
          </a:p>
        </p:txBody>
      </p:sp>
      <p:sp>
        <p:nvSpPr>
          <p:cNvPr id="111" name="s112"/>
          <p:cNvSpPr/>
          <p:nvPr/>
        </p:nvSpPr>
        <p:spPr>
          <a:xfrm>
            <a:off x="7112000" y="1753482"/>
            <a:ext cx="6705600" cy="914400"/>
          </a:xfrm>
          <a:prstGeom prst="roundRect">
            <a:avLst/>
          </a:prstGeom>
          <a:solidFill>
            <a:srgbClr val="F7FAF9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2" name="s113"/>
          <p:cNvSpPr/>
          <p:nvPr/>
        </p:nvSpPr>
        <p:spPr>
          <a:xfrm>
            <a:off x="7112000" y="1753482"/>
            <a:ext cx="76200" cy="9144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s114"/>
          <p:cNvSpPr/>
          <p:nvPr/>
        </p:nvSpPr>
        <p:spPr>
          <a:xfrm>
            <a:off x="7340600" y="2007482"/>
            <a:ext cx="406400" cy="406400"/>
          </a:xfrm>
          <a:prstGeom prst="ellipse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t115"/>
          <p:cNvSpPr txBox="1"/>
          <p:nvPr/>
        </p:nvSpPr>
        <p:spPr>
          <a:xfrm>
            <a:off x="7340600" y="2007482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15" name="t116"/>
          <p:cNvSpPr txBox="1"/>
          <p:nvPr/>
        </p:nvSpPr>
        <p:spPr>
          <a:xfrm>
            <a:off x="7899400" y="1905882"/>
            <a:ext cx="571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b="1" dirty="0">
                <a:solidFill>
                  <a:srgbClr val="003F3B"/>
                </a:solidFill>
                <a:latin typeface="Aptos"/>
              </a:rPr>
              <a:t>Clinical studies</a:t>
            </a:r>
          </a:p>
        </p:txBody>
      </p:sp>
      <p:sp>
        <p:nvSpPr>
          <p:cNvPr id="116" name="t117"/>
          <p:cNvSpPr txBox="1"/>
          <p:nvPr/>
        </p:nvSpPr>
        <p:spPr>
          <a:xfrm>
            <a:off x="7899400" y="2236082"/>
            <a:ext cx="5715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052927"/>
                </a:solidFill>
                <a:latin typeface="Aptos"/>
              </a:rPr>
              <a:t>Phase IV, pragmatic trials, post-hoc, subgroup analysis.</a:t>
            </a:r>
          </a:p>
        </p:txBody>
      </p:sp>
      <p:sp>
        <p:nvSpPr>
          <p:cNvPr id="117" name="s118"/>
          <p:cNvSpPr/>
          <p:nvPr/>
        </p:nvSpPr>
        <p:spPr>
          <a:xfrm>
            <a:off x="7112000" y="2769482"/>
            <a:ext cx="6705600" cy="914400"/>
          </a:xfrm>
          <a:prstGeom prst="roundRect">
            <a:avLst/>
          </a:prstGeom>
          <a:solidFill>
            <a:srgbClr val="F7FAF9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8" name="s119"/>
          <p:cNvSpPr/>
          <p:nvPr/>
        </p:nvSpPr>
        <p:spPr>
          <a:xfrm>
            <a:off x="7112000" y="2769482"/>
            <a:ext cx="76200" cy="9144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120"/>
          <p:cNvSpPr/>
          <p:nvPr/>
        </p:nvSpPr>
        <p:spPr>
          <a:xfrm>
            <a:off x="7340600" y="3023482"/>
            <a:ext cx="406400" cy="406400"/>
          </a:xfrm>
          <a:prstGeom prst="ellipse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t121"/>
          <p:cNvSpPr txBox="1"/>
          <p:nvPr/>
        </p:nvSpPr>
        <p:spPr>
          <a:xfrm>
            <a:off x="7340600" y="3023482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1" name="t122"/>
          <p:cNvSpPr txBox="1"/>
          <p:nvPr/>
        </p:nvSpPr>
        <p:spPr>
          <a:xfrm>
            <a:off x="7899400" y="2921882"/>
            <a:ext cx="571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b="1" dirty="0">
                <a:solidFill>
                  <a:srgbClr val="003F3B"/>
                </a:solidFill>
                <a:latin typeface="Aptos"/>
              </a:rPr>
              <a:t>RWE and data strategy</a:t>
            </a:r>
          </a:p>
        </p:txBody>
      </p:sp>
      <p:sp>
        <p:nvSpPr>
          <p:cNvPr id="122" name="t123"/>
          <p:cNvSpPr txBox="1"/>
          <p:nvPr/>
        </p:nvSpPr>
        <p:spPr>
          <a:xfrm>
            <a:off x="7899400" y="3252082"/>
            <a:ext cx="5715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052927"/>
                </a:solidFill>
                <a:latin typeface="Aptos"/>
              </a:rPr>
              <a:t>Registry, claims, EHR, external control, observational.</a:t>
            </a:r>
          </a:p>
        </p:txBody>
      </p:sp>
      <p:sp>
        <p:nvSpPr>
          <p:cNvPr id="123" name="s124"/>
          <p:cNvSpPr/>
          <p:nvPr/>
        </p:nvSpPr>
        <p:spPr>
          <a:xfrm>
            <a:off x="7112000" y="3785482"/>
            <a:ext cx="6705600" cy="914400"/>
          </a:xfrm>
          <a:prstGeom prst="roundRect">
            <a:avLst/>
          </a:prstGeom>
          <a:solidFill>
            <a:srgbClr val="F7FAF9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4" name="s125"/>
          <p:cNvSpPr/>
          <p:nvPr/>
        </p:nvSpPr>
        <p:spPr>
          <a:xfrm>
            <a:off x="7112000" y="3785482"/>
            <a:ext cx="76200" cy="914400"/>
          </a:xfrm>
          <a:prstGeom prst="rect">
            <a:avLst/>
          </a:prstGeom>
          <a:solidFill>
            <a:srgbClr val="2C80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5" name="s126"/>
          <p:cNvSpPr/>
          <p:nvPr/>
        </p:nvSpPr>
        <p:spPr>
          <a:xfrm>
            <a:off x="7340600" y="4039482"/>
            <a:ext cx="406400" cy="406400"/>
          </a:xfrm>
          <a:prstGeom prst="ellipse">
            <a:avLst/>
          </a:prstGeom>
          <a:solidFill>
            <a:srgbClr val="2C80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6" name="t127"/>
          <p:cNvSpPr txBox="1"/>
          <p:nvPr/>
        </p:nvSpPr>
        <p:spPr>
          <a:xfrm>
            <a:off x="7340600" y="4039482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27" name="t128"/>
          <p:cNvSpPr txBox="1"/>
          <p:nvPr/>
        </p:nvSpPr>
        <p:spPr>
          <a:xfrm>
            <a:off x="7899400" y="3937882"/>
            <a:ext cx="571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b="1" dirty="0">
                <a:solidFill>
                  <a:srgbClr val="003F3B"/>
                </a:solidFill>
                <a:latin typeface="Aptos"/>
              </a:rPr>
              <a:t>HEOR and access</a:t>
            </a:r>
          </a:p>
        </p:txBody>
      </p:sp>
      <p:sp>
        <p:nvSpPr>
          <p:cNvPr id="128" name="t129"/>
          <p:cNvSpPr txBox="1"/>
          <p:nvPr/>
        </p:nvSpPr>
        <p:spPr>
          <a:xfrm>
            <a:off x="7899400" y="4268082"/>
            <a:ext cx="5715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052927"/>
                </a:solidFill>
                <a:latin typeface="Aptos"/>
              </a:rPr>
              <a:t>SLR, NMA, economic model, BIA, payer research, HTA.</a:t>
            </a:r>
          </a:p>
        </p:txBody>
      </p:sp>
      <p:sp>
        <p:nvSpPr>
          <p:cNvPr id="129" name="s130"/>
          <p:cNvSpPr/>
          <p:nvPr/>
        </p:nvSpPr>
        <p:spPr>
          <a:xfrm>
            <a:off x="7112000" y="4801482"/>
            <a:ext cx="6705600" cy="914400"/>
          </a:xfrm>
          <a:prstGeom prst="roundRect">
            <a:avLst/>
          </a:prstGeom>
          <a:solidFill>
            <a:srgbClr val="F7FAF9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0" name="s131"/>
          <p:cNvSpPr/>
          <p:nvPr/>
        </p:nvSpPr>
        <p:spPr>
          <a:xfrm>
            <a:off x="7112000" y="4801482"/>
            <a:ext cx="76200" cy="914400"/>
          </a:xfrm>
          <a:prstGeom prst="rect">
            <a:avLst/>
          </a:prstGeom>
          <a:solidFill>
            <a:srgbClr val="1E6B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1" name="s132"/>
          <p:cNvSpPr/>
          <p:nvPr/>
        </p:nvSpPr>
        <p:spPr>
          <a:xfrm>
            <a:off x="7340600" y="5055482"/>
            <a:ext cx="406400" cy="406400"/>
          </a:xfrm>
          <a:prstGeom prst="ellipse">
            <a:avLst/>
          </a:prstGeom>
          <a:solidFill>
            <a:srgbClr val="1E6B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2" name="t133"/>
          <p:cNvSpPr txBox="1"/>
          <p:nvPr/>
        </p:nvSpPr>
        <p:spPr>
          <a:xfrm>
            <a:off x="7340600" y="5055482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33" name="t134"/>
          <p:cNvSpPr txBox="1"/>
          <p:nvPr/>
        </p:nvSpPr>
        <p:spPr>
          <a:xfrm>
            <a:off x="7899400" y="4953882"/>
            <a:ext cx="571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b="1" dirty="0">
                <a:solidFill>
                  <a:srgbClr val="003F3B"/>
                </a:solidFill>
                <a:latin typeface="Aptos"/>
              </a:rPr>
              <a:t>Patient-centered evidence</a:t>
            </a:r>
          </a:p>
        </p:txBody>
      </p:sp>
      <p:sp>
        <p:nvSpPr>
          <p:cNvPr id="134" name="t135"/>
          <p:cNvSpPr txBox="1"/>
          <p:nvPr/>
        </p:nvSpPr>
        <p:spPr>
          <a:xfrm>
            <a:off x="7899400" y="5284082"/>
            <a:ext cx="5715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052927"/>
                </a:solidFill>
                <a:latin typeface="Aptos"/>
              </a:rPr>
              <a:t>PRO, COA, preference study, qualitative, adherence.</a:t>
            </a:r>
          </a:p>
        </p:txBody>
      </p:sp>
      <p:sp>
        <p:nvSpPr>
          <p:cNvPr id="135" name="s136"/>
          <p:cNvSpPr/>
          <p:nvPr/>
        </p:nvSpPr>
        <p:spPr>
          <a:xfrm>
            <a:off x="7112000" y="5817482"/>
            <a:ext cx="6705600" cy="914400"/>
          </a:xfrm>
          <a:prstGeom prst="roundRect">
            <a:avLst/>
          </a:prstGeom>
          <a:solidFill>
            <a:srgbClr val="F7FAF9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6" name="s137"/>
          <p:cNvSpPr/>
          <p:nvPr/>
        </p:nvSpPr>
        <p:spPr>
          <a:xfrm>
            <a:off x="7112000" y="5817482"/>
            <a:ext cx="76200" cy="914400"/>
          </a:xfrm>
          <a:prstGeom prst="rect">
            <a:avLst/>
          </a:prstGeom>
          <a:solidFill>
            <a:srgbClr val="1766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7" name="s138"/>
          <p:cNvSpPr/>
          <p:nvPr/>
        </p:nvSpPr>
        <p:spPr>
          <a:xfrm>
            <a:off x="7340600" y="6071482"/>
            <a:ext cx="406400" cy="406400"/>
          </a:xfrm>
          <a:prstGeom prst="ellipse">
            <a:avLst/>
          </a:prstGeom>
          <a:solidFill>
            <a:srgbClr val="1766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8" name="t139"/>
          <p:cNvSpPr txBox="1"/>
          <p:nvPr/>
        </p:nvSpPr>
        <p:spPr>
          <a:xfrm>
            <a:off x="7340600" y="6071482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139" name="t140"/>
          <p:cNvSpPr txBox="1"/>
          <p:nvPr/>
        </p:nvSpPr>
        <p:spPr>
          <a:xfrm>
            <a:off x="7899400" y="5969882"/>
            <a:ext cx="571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b="1" dirty="0">
                <a:solidFill>
                  <a:srgbClr val="003F3B"/>
                </a:solidFill>
                <a:latin typeface="Aptos"/>
              </a:rPr>
              <a:t>Evidence synthesis</a:t>
            </a:r>
          </a:p>
        </p:txBody>
      </p:sp>
      <p:sp>
        <p:nvSpPr>
          <p:cNvPr id="140" name="t141"/>
          <p:cNvSpPr txBox="1"/>
          <p:nvPr/>
        </p:nvSpPr>
        <p:spPr>
          <a:xfrm>
            <a:off x="7899400" y="6300082"/>
            <a:ext cx="5715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052927"/>
                </a:solidFill>
                <a:latin typeface="Aptos"/>
              </a:rPr>
              <a:t>Living review, gap assessment, landscape update.</a:t>
            </a:r>
          </a:p>
        </p:txBody>
      </p:sp>
      <p:sp>
        <p:nvSpPr>
          <p:cNvPr id="141" name="s142"/>
          <p:cNvSpPr/>
          <p:nvPr/>
        </p:nvSpPr>
        <p:spPr>
          <a:xfrm>
            <a:off x="7112000" y="6833482"/>
            <a:ext cx="6705600" cy="914400"/>
          </a:xfrm>
          <a:prstGeom prst="roundRect">
            <a:avLst/>
          </a:prstGeom>
          <a:solidFill>
            <a:srgbClr val="F7FAF9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2" name="s143"/>
          <p:cNvSpPr/>
          <p:nvPr/>
        </p:nvSpPr>
        <p:spPr>
          <a:xfrm>
            <a:off x="7112000" y="6833482"/>
            <a:ext cx="76200" cy="9144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3" name="s144"/>
          <p:cNvSpPr/>
          <p:nvPr/>
        </p:nvSpPr>
        <p:spPr>
          <a:xfrm>
            <a:off x="7340600" y="7087482"/>
            <a:ext cx="406400" cy="406400"/>
          </a:xfrm>
          <a:prstGeom prst="ellipse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4" name="t145"/>
          <p:cNvSpPr txBox="1"/>
          <p:nvPr/>
        </p:nvSpPr>
        <p:spPr>
          <a:xfrm>
            <a:off x="7340600" y="7087482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145" name="t146"/>
          <p:cNvSpPr txBox="1"/>
          <p:nvPr/>
        </p:nvSpPr>
        <p:spPr>
          <a:xfrm>
            <a:off x="7899400" y="6985882"/>
            <a:ext cx="571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b="1" dirty="0">
                <a:solidFill>
                  <a:srgbClr val="003F3B"/>
                </a:solidFill>
                <a:latin typeface="Aptos"/>
              </a:rPr>
              <a:t>Communications pull-through</a:t>
            </a:r>
          </a:p>
        </p:txBody>
      </p:sp>
      <p:sp>
        <p:nvSpPr>
          <p:cNvPr id="146" name="t147"/>
          <p:cNvSpPr txBox="1"/>
          <p:nvPr/>
        </p:nvSpPr>
        <p:spPr>
          <a:xfrm>
            <a:off x="7899400" y="7316082"/>
            <a:ext cx="5715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052927"/>
                </a:solidFill>
                <a:latin typeface="Aptos"/>
              </a:rPr>
              <a:t>Publication, congress, field enablement, claims.</a:t>
            </a:r>
          </a:p>
        </p:txBody>
      </p:sp>
    </p:spTree>
    <p:extLst>
      <p:ext uri="{BB962C8B-B14F-4D97-AF65-F5344CB8AC3E}">
        <p14:creationId xmlns:p14="http://schemas.microsoft.com/office/powerpoint/2010/main" val="6927316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m10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m102"/>
          <p:cNvSpPr/>
          <p:nvPr/>
        </p:nvSpPr>
        <p:spPr>
          <a:xfrm>
            <a:off x="812800" y="508000"/>
            <a:ext cx="406400" cy="381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m103"/>
          <p:cNvSpPr/>
          <p:nvPr/>
        </p:nvSpPr>
        <p:spPr>
          <a:xfrm>
            <a:off x="1308100" y="508000"/>
            <a:ext cx="609600" cy="381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t104"/>
          <p:cNvSpPr txBox="1"/>
          <p:nvPr/>
        </p:nvSpPr>
        <p:spPr>
          <a:xfrm>
            <a:off x="812800" y="711200"/>
            <a:ext cx="130048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600" dirty="0">
                <a:solidFill>
                  <a:srgbClr val="003F3B"/>
                </a:solidFill>
                <a:latin typeface="Georgia"/>
              </a:rPr>
              <a:t>Evidence generation options</a:t>
            </a:r>
          </a:p>
        </p:txBody>
      </p:sp>
      <p:sp>
        <p:nvSpPr>
          <p:cNvPr id="104" name="m105"/>
          <p:cNvSpPr/>
          <p:nvPr/>
        </p:nvSpPr>
        <p:spPr>
          <a:xfrm>
            <a:off x="812800" y="1320800"/>
            <a:ext cx="4233333" cy="65024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106"/>
          <p:cNvSpPr txBox="1"/>
          <p:nvPr/>
        </p:nvSpPr>
        <p:spPr>
          <a:xfrm>
            <a:off x="1041400" y="1447800"/>
            <a:ext cx="3852333" cy="15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7200" b="1" dirty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6" name="t107"/>
          <p:cNvSpPr txBox="1"/>
          <p:nvPr/>
        </p:nvSpPr>
        <p:spPr>
          <a:xfrm>
            <a:off x="1041400" y="5918200"/>
            <a:ext cx="3826933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200" b="1" dirty="0">
                <a:solidFill>
                  <a:srgbClr val="FFFFFF"/>
                </a:solidFill>
                <a:latin typeface="Aptos"/>
              </a:rPr>
              <a:t>Clinical studies</a:t>
            </a:r>
          </a:p>
        </p:txBody>
      </p:sp>
      <p:sp>
        <p:nvSpPr>
          <p:cNvPr id="107" name="t108"/>
          <p:cNvSpPr txBox="1"/>
          <p:nvPr/>
        </p:nvSpPr>
        <p:spPr>
          <a:xfrm>
            <a:off x="1041400" y="6375400"/>
            <a:ext cx="3826933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dirty="0">
                <a:solidFill>
                  <a:srgbClr val="BFE3D6"/>
                </a:solidFill>
                <a:latin typeface="Aptos"/>
              </a:rPr>
              <a:t>Phase IV, pragmatic trials, post-hoc, subgroup analysis.</a:t>
            </a:r>
          </a:p>
        </p:txBody>
      </p:sp>
      <p:sp>
        <p:nvSpPr>
          <p:cNvPr id="108" name="m109"/>
          <p:cNvSpPr/>
          <p:nvPr/>
        </p:nvSpPr>
        <p:spPr>
          <a:xfrm>
            <a:off x="5198533" y="1320800"/>
            <a:ext cx="4233333" cy="31750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t110"/>
          <p:cNvSpPr txBox="1"/>
          <p:nvPr/>
        </p:nvSpPr>
        <p:spPr>
          <a:xfrm>
            <a:off x="5427133" y="1447800"/>
            <a:ext cx="3852333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10" name="t111"/>
          <p:cNvSpPr txBox="1"/>
          <p:nvPr/>
        </p:nvSpPr>
        <p:spPr>
          <a:xfrm>
            <a:off x="5427133" y="3327400"/>
            <a:ext cx="3826933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Aptos"/>
              </a:rPr>
              <a:t>RWE and data strategy</a:t>
            </a:r>
          </a:p>
        </p:txBody>
      </p:sp>
      <p:sp>
        <p:nvSpPr>
          <p:cNvPr id="111" name="t112"/>
          <p:cNvSpPr txBox="1"/>
          <p:nvPr/>
        </p:nvSpPr>
        <p:spPr>
          <a:xfrm>
            <a:off x="5427133" y="3733800"/>
            <a:ext cx="3826933" cy="66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D9EEE6"/>
                </a:solidFill>
                <a:latin typeface="Aptos"/>
              </a:rPr>
              <a:t>Registry, claims, EHR, external control, observational.</a:t>
            </a:r>
          </a:p>
        </p:txBody>
      </p:sp>
      <p:sp>
        <p:nvSpPr>
          <p:cNvPr id="112" name="m113"/>
          <p:cNvSpPr/>
          <p:nvPr/>
        </p:nvSpPr>
        <p:spPr>
          <a:xfrm>
            <a:off x="9584267" y="1320800"/>
            <a:ext cx="4233333" cy="3175000"/>
          </a:xfrm>
          <a:prstGeom prst="rect">
            <a:avLst/>
          </a:prstGeom>
          <a:solidFill>
            <a:srgbClr val="2C80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t114"/>
          <p:cNvSpPr txBox="1"/>
          <p:nvPr/>
        </p:nvSpPr>
        <p:spPr>
          <a:xfrm>
            <a:off x="9812867" y="1447800"/>
            <a:ext cx="3852333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14" name="t115"/>
          <p:cNvSpPr txBox="1"/>
          <p:nvPr/>
        </p:nvSpPr>
        <p:spPr>
          <a:xfrm>
            <a:off x="9812867" y="3327400"/>
            <a:ext cx="3826933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Aptos"/>
              </a:rPr>
              <a:t>HEOR and access</a:t>
            </a:r>
          </a:p>
        </p:txBody>
      </p:sp>
      <p:sp>
        <p:nvSpPr>
          <p:cNvPr id="115" name="t116"/>
          <p:cNvSpPr txBox="1"/>
          <p:nvPr/>
        </p:nvSpPr>
        <p:spPr>
          <a:xfrm>
            <a:off x="9812867" y="3733800"/>
            <a:ext cx="3826933" cy="66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D9EEE6"/>
                </a:solidFill>
                <a:latin typeface="Aptos"/>
              </a:rPr>
              <a:t>SLR, NMA, economic model, BIA, payer research, HTA.</a:t>
            </a:r>
          </a:p>
        </p:txBody>
      </p:sp>
      <p:sp>
        <p:nvSpPr>
          <p:cNvPr id="116" name="m117"/>
          <p:cNvSpPr/>
          <p:nvPr/>
        </p:nvSpPr>
        <p:spPr>
          <a:xfrm>
            <a:off x="5198533" y="4648200"/>
            <a:ext cx="4233333" cy="3175000"/>
          </a:xfrm>
          <a:prstGeom prst="rect">
            <a:avLst/>
          </a:prstGeom>
          <a:solidFill>
            <a:srgbClr val="1E6B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t118"/>
          <p:cNvSpPr txBox="1"/>
          <p:nvPr/>
        </p:nvSpPr>
        <p:spPr>
          <a:xfrm>
            <a:off x="5427133" y="4775200"/>
            <a:ext cx="3852333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18" name="t119"/>
          <p:cNvSpPr txBox="1"/>
          <p:nvPr/>
        </p:nvSpPr>
        <p:spPr>
          <a:xfrm>
            <a:off x="5427133" y="6654800"/>
            <a:ext cx="3826933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Aptos"/>
              </a:rPr>
              <a:t>Patient-centered evidence</a:t>
            </a:r>
          </a:p>
        </p:txBody>
      </p:sp>
      <p:sp>
        <p:nvSpPr>
          <p:cNvPr id="119" name="t120"/>
          <p:cNvSpPr txBox="1"/>
          <p:nvPr/>
        </p:nvSpPr>
        <p:spPr>
          <a:xfrm>
            <a:off x="5427133" y="7061200"/>
            <a:ext cx="3826933" cy="66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D9EEE6"/>
                </a:solidFill>
                <a:latin typeface="Aptos"/>
              </a:rPr>
              <a:t>PRO, COA, preference study, qualitative, adherence.</a:t>
            </a:r>
          </a:p>
        </p:txBody>
      </p:sp>
      <p:sp>
        <p:nvSpPr>
          <p:cNvPr id="120" name="m121"/>
          <p:cNvSpPr/>
          <p:nvPr/>
        </p:nvSpPr>
        <p:spPr>
          <a:xfrm>
            <a:off x="9584267" y="4648200"/>
            <a:ext cx="4233333" cy="1511300"/>
          </a:xfrm>
          <a:prstGeom prst="rect">
            <a:avLst/>
          </a:prstGeom>
          <a:solidFill>
            <a:srgbClr val="1766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" name="t122"/>
          <p:cNvSpPr txBox="1"/>
          <p:nvPr/>
        </p:nvSpPr>
        <p:spPr>
          <a:xfrm>
            <a:off x="9812867" y="4775200"/>
            <a:ext cx="3852333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122" name="t123"/>
          <p:cNvSpPr txBox="1"/>
          <p:nvPr/>
        </p:nvSpPr>
        <p:spPr>
          <a:xfrm>
            <a:off x="10574867" y="4800600"/>
            <a:ext cx="3090333" cy="1257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ptos"/>
              </a:rPr>
              <a:t>Evidence synthesis</a:t>
            </a:r>
          </a:p>
        </p:txBody>
      </p:sp>
      <p:sp>
        <p:nvSpPr>
          <p:cNvPr id="123" name="m124"/>
          <p:cNvSpPr/>
          <p:nvPr/>
        </p:nvSpPr>
        <p:spPr>
          <a:xfrm>
            <a:off x="9584267" y="6311900"/>
            <a:ext cx="4233333" cy="15113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4" name="t125"/>
          <p:cNvSpPr txBox="1"/>
          <p:nvPr/>
        </p:nvSpPr>
        <p:spPr>
          <a:xfrm>
            <a:off x="9812867" y="6438900"/>
            <a:ext cx="3852333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125" name="t126"/>
          <p:cNvSpPr txBox="1"/>
          <p:nvPr/>
        </p:nvSpPr>
        <p:spPr>
          <a:xfrm>
            <a:off x="10574867" y="6464300"/>
            <a:ext cx="3090333" cy="1257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ptos"/>
              </a:rPr>
              <a:t>Communications pull-through</a:t>
            </a:r>
          </a:p>
        </p:txBody>
      </p:sp>
    </p:spTree>
    <p:extLst>
      <p:ext uri="{BB962C8B-B14F-4D97-AF65-F5344CB8AC3E}">
        <p14:creationId xmlns:p14="http://schemas.microsoft.com/office/powerpoint/2010/main" val="41010491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r"/>
          <p:cNvSpPr/>
          <p:nvPr/>
        </p:nvSpPr>
        <p:spPr>
          <a:xfrm>
            <a:off x="812800" y="584200"/>
            <a:ext cx="406400" cy="381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r"/>
          <p:cNvSpPr/>
          <p:nvPr/>
        </p:nvSpPr>
        <p:spPr>
          <a:xfrm>
            <a:off x="1308100" y="584200"/>
            <a:ext cx="609600" cy="381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t"/>
          <p:cNvSpPr txBox="1"/>
          <p:nvPr/>
        </p:nvSpPr>
        <p:spPr>
          <a:xfrm>
            <a:off x="812800" y="812800"/>
            <a:ext cx="114300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800" dirty="0">
                <a:solidFill>
                  <a:srgbClr val="003F3B"/>
                </a:solidFill>
                <a:latin typeface="Georgia"/>
              </a:rPr>
              <a:t>Evidence generation options</a:t>
            </a:r>
          </a:p>
        </p:txBody>
      </p:sp>
      <p:sp>
        <p:nvSpPr>
          <p:cNvPr id="104" name="t"/>
          <p:cNvSpPr txBox="1"/>
          <p:nvPr/>
        </p:nvSpPr>
        <p:spPr>
          <a:xfrm>
            <a:off x="812800" y="1625600"/>
            <a:ext cx="130048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200" i="1" dirty="0">
                <a:solidFill>
                  <a:srgbClr val="00554F"/>
                </a:solidFill>
                <a:latin typeface="Georgia"/>
              </a:rPr>
              <a:t>Six connected disciplines move the product story from first data to durable impact.</a:t>
            </a:r>
          </a:p>
        </p:txBody>
      </p:sp>
      <p:sp>
        <p:nvSpPr>
          <p:cNvPr id="105" name="r"/>
          <p:cNvSpPr/>
          <p:nvPr/>
        </p:nvSpPr>
        <p:spPr>
          <a:xfrm>
            <a:off x="711200" y="3175000"/>
            <a:ext cx="2201333" cy="889000"/>
          </a:xfrm>
          <a:prstGeom prst="homePlate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t"/>
          <p:cNvSpPr txBox="1"/>
          <p:nvPr/>
        </p:nvSpPr>
        <p:spPr>
          <a:xfrm>
            <a:off x="939800" y="3175000"/>
            <a:ext cx="1820333" cy="889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ptos"/>
              </a:rPr>
              <a:t>1  Clinical studies</a:t>
            </a:r>
          </a:p>
        </p:txBody>
      </p:sp>
      <p:sp>
        <p:nvSpPr>
          <p:cNvPr id="107" name="r"/>
          <p:cNvSpPr/>
          <p:nvPr/>
        </p:nvSpPr>
        <p:spPr>
          <a:xfrm>
            <a:off x="2912533" y="3175000"/>
            <a:ext cx="2201333" cy="889000"/>
          </a:xfrm>
          <a:prstGeom prst="homePlate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"/>
          <p:cNvSpPr txBox="1"/>
          <p:nvPr/>
        </p:nvSpPr>
        <p:spPr>
          <a:xfrm>
            <a:off x="3141133" y="3175000"/>
            <a:ext cx="1820333" cy="889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ptos"/>
              </a:rPr>
              <a:t>2  RWE and data strategy</a:t>
            </a:r>
          </a:p>
        </p:txBody>
      </p:sp>
      <p:sp>
        <p:nvSpPr>
          <p:cNvPr id="109" name="r"/>
          <p:cNvSpPr/>
          <p:nvPr/>
        </p:nvSpPr>
        <p:spPr>
          <a:xfrm>
            <a:off x="5113867" y="3175000"/>
            <a:ext cx="2201333" cy="889000"/>
          </a:xfrm>
          <a:prstGeom prst="homePlate">
            <a:avLst/>
          </a:prstGeom>
          <a:solidFill>
            <a:srgbClr val="2C80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t"/>
          <p:cNvSpPr txBox="1"/>
          <p:nvPr/>
        </p:nvSpPr>
        <p:spPr>
          <a:xfrm>
            <a:off x="5342467" y="3175000"/>
            <a:ext cx="1820333" cy="889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ptos"/>
              </a:rPr>
              <a:t>3  HEOR and access</a:t>
            </a:r>
          </a:p>
        </p:txBody>
      </p:sp>
      <p:sp>
        <p:nvSpPr>
          <p:cNvPr id="111" name="r"/>
          <p:cNvSpPr/>
          <p:nvPr/>
        </p:nvSpPr>
        <p:spPr>
          <a:xfrm>
            <a:off x="7315200" y="3175000"/>
            <a:ext cx="2201333" cy="889000"/>
          </a:xfrm>
          <a:prstGeom prst="homePlate">
            <a:avLst/>
          </a:prstGeom>
          <a:solidFill>
            <a:srgbClr val="1E6B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"/>
          <p:cNvSpPr txBox="1"/>
          <p:nvPr/>
        </p:nvSpPr>
        <p:spPr>
          <a:xfrm>
            <a:off x="7543800" y="3175000"/>
            <a:ext cx="1820333" cy="889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ptos"/>
              </a:rPr>
              <a:t>4  Patient-centered evidence</a:t>
            </a:r>
          </a:p>
        </p:txBody>
      </p:sp>
      <p:sp>
        <p:nvSpPr>
          <p:cNvPr id="113" name="r"/>
          <p:cNvSpPr/>
          <p:nvPr/>
        </p:nvSpPr>
        <p:spPr>
          <a:xfrm>
            <a:off x="9516533" y="3175000"/>
            <a:ext cx="2201333" cy="889000"/>
          </a:xfrm>
          <a:prstGeom prst="homePlate">
            <a:avLst/>
          </a:prstGeom>
          <a:solidFill>
            <a:srgbClr val="1255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t"/>
          <p:cNvSpPr txBox="1"/>
          <p:nvPr/>
        </p:nvSpPr>
        <p:spPr>
          <a:xfrm>
            <a:off x="9745133" y="3175000"/>
            <a:ext cx="1820333" cy="889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ptos"/>
              </a:rPr>
              <a:t>5  Evidence synthesis</a:t>
            </a:r>
          </a:p>
        </p:txBody>
      </p:sp>
      <p:sp>
        <p:nvSpPr>
          <p:cNvPr id="115" name="r"/>
          <p:cNvSpPr/>
          <p:nvPr/>
        </p:nvSpPr>
        <p:spPr>
          <a:xfrm>
            <a:off x="11717867" y="3175000"/>
            <a:ext cx="2201333" cy="8890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t"/>
          <p:cNvSpPr txBox="1"/>
          <p:nvPr/>
        </p:nvSpPr>
        <p:spPr>
          <a:xfrm>
            <a:off x="11946467" y="3175000"/>
            <a:ext cx="1820333" cy="889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ptos"/>
              </a:rPr>
              <a:t>6  Communications pull-through</a:t>
            </a:r>
          </a:p>
        </p:txBody>
      </p:sp>
      <p:sp>
        <p:nvSpPr>
          <p:cNvPr id="117" name="r"/>
          <p:cNvSpPr/>
          <p:nvPr/>
        </p:nvSpPr>
        <p:spPr>
          <a:xfrm>
            <a:off x="1799167" y="4064000"/>
            <a:ext cx="25400" cy="3302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t"/>
          <p:cNvSpPr txBox="1"/>
          <p:nvPr/>
        </p:nvSpPr>
        <p:spPr>
          <a:xfrm>
            <a:off x="838200" y="4445000"/>
            <a:ext cx="1947333" cy="15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dirty="0">
                <a:solidFill>
                  <a:srgbClr val="052927"/>
                </a:solidFill>
                <a:latin typeface="Aptos"/>
              </a:rPr>
              <a:t>Phase IV, pragmatic trials, post-hoc, subgroup analysis.</a:t>
            </a:r>
          </a:p>
        </p:txBody>
      </p:sp>
      <p:sp>
        <p:nvSpPr>
          <p:cNvPr id="119" name="r"/>
          <p:cNvSpPr/>
          <p:nvPr/>
        </p:nvSpPr>
        <p:spPr>
          <a:xfrm>
            <a:off x="4000500" y="4064000"/>
            <a:ext cx="25400" cy="3302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t"/>
          <p:cNvSpPr txBox="1"/>
          <p:nvPr/>
        </p:nvSpPr>
        <p:spPr>
          <a:xfrm>
            <a:off x="3039533" y="4445000"/>
            <a:ext cx="1947333" cy="15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dirty="0">
                <a:solidFill>
                  <a:srgbClr val="052927"/>
                </a:solidFill>
                <a:latin typeface="Aptos"/>
              </a:rPr>
              <a:t>Registry, claims, EHR, external control, observational.</a:t>
            </a:r>
          </a:p>
        </p:txBody>
      </p:sp>
      <p:sp>
        <p:nvSpPr>
          <p:cNvPr id="121" name="r"/>
          <p:cNvSpPr/>
          <p:nvPr/>
        </p:nvSpPr>
        <p:spPr>
          <a:xfrm>
            <a:off x="6201833" y="4064000"/>
            <a:ext cx="25400" cy="330200"/>
          </a:xfrm>
          <a:prstGeom prst="rect">
            <a:avLst/>
          </a:prstGeom>
          <a:solidFill>
            <a:srgbClr val="2C80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" name="t"/>
          <p:cNvSpPr txBox="1"/>
          <p:nvPr/>
        </p:nvSpPr>
        <p:spPr>
          <a:xfrm>
            <a:off x="5240867" y="4445000"/>
            <a:ext cx="1947333" cy="15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dirty="0">
                <a:solidFill>
                  <a:srgbClr val="052927"/>
                </a:solidFill>
                <a:latin typeface="Aptos"/>
              </a:rPr>
              <a:t>SLR, NMA, economic model, BIA, payer research, HTA.</a:t>
            </a:r>
          </a:p>
        </p:txBody>
      </p:sp>
      <p:sp>
        <p:nvSpPr>
          <p:cNvPr id="123" name="r"/>
          <p:cNvSpPr/>
          <p:nvPr/>
        </p:nvSpPr>
        <p:spPr>
          <a:xfrm>
            <a:off x="8403167" y="4064000"/>
            <a:ext cx="25400" cy="330200"/>
          </a:xfrm>
          <a:prstGeom prst="rect">
            <a:avLst/>
          </a:prstGeom>
          <a:solidFill>
            <a:srgbClr val="1E6B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4" name="t"/>
          <p:cNvSpPr txBox="1"/>
          <p:nvPr/>
        </p:nvSpPr>
        <p:spPr>
          <a:xfrm>
            <a:off x="7442200" y="4445000"/>
            <a:ext cx="1947333" cy="15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dirty="0">
                <a:solidFill>
                  <a:srgbClr val="052927"/>
                </a:solidFill>
                <a:latin typeface="Aptos"/>
              </a:rPr>
              <a:t>PRO, COA, preference study, qualitative, adherence.</a:t>
            </a:r>
          </a:p>
        </p:txBody>
      </p:sp>
      <p:sp>
        <p:nvSpPr>
          <p:cNvPr id="125" name="r"/>
          <p:cNvSpPr/>
          <p:nvPr/>
        </p:nvSpPr>
        <p:spPr>
          <a:xfrm>
            <a:off x="10604500" y="4064000"/>
            <a:ext cx="25400" cy="330200"/>
          </a:xfrm>
          <a:prstGeom prst="rect">
            <a:avLst/>
          </a:prstGeom>
          <a:solidFill>
            <a:srgbClr val="1255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6" name="t"/>
          <p:cNvSpPr txBox="1"/>
          <p:nvPr/>
        </p:nvSpPr>
        <p:spPr>
          <a:xfrm>
            <a:off x="9643533" y="4445000"/>
            <a:ext cx="1947333" cy="15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dirty="0">
                <a:solidFill>
                  <a:srgbClr val="052927"/>
                </a:solidFill>
                <a:latin typeface="Aptos"/>
              </a:rPr>
              <a:t>Living review, gap assessment, landscape update.</a:t>
            </a:r>
          </a:p>
        </p:txBody>
      </p:sp>
      <p:sp>
        <p:nvSpPr>
          <p:cNvPr id="127" name="r"/>
          <p:cNvSpPr/>
          <p:nvPr/>
        </p:nvSpPr>
        <p:spPr>
          <a:xfrm>
            <a:off x="12805833" y="4064000"/>
            <a:ext cx="25400" cy="3302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8" name="t"/>
          <p:cNvSpPr txBox="1"/>
          <p:nvPr/>
        </p:nvSpPr>
        <p:spPr>
          <a:xfrm>
            <a:off x="11844867" y="4445000"/>
            <a:ext cx="1947333" cy="15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dirty="0">
                <a:solidFill>
                  <a:srgbClr val="052927"/>
                </a:solidFill>
                <a:latin typeface="Aptos"/>
              </a:rPr>
              <a:t>Publication, congress, field enablement, claims.</a:t>
            </a:r>
          </a:p>
        </p:txBody>
      </p:sp>
      <p:sp>
        <p:nvSpPr>
          <p:cNvPr id="129" name="r"/>
          <p:cNvSpPr/>
          <p:nvPr/>
        </p:nvSpPr>
        <p:spPr>
          <a:xfrm>
            <a:off x="711200" y="7061200"/>
            <a:ext cx="13208000" cy="711200"/>
          </a:xfrm>
          <a:prstGeom prst="roundRect">
            <a:avLst/>
          </a:prstGeom>
          <a:solidFill>
            <a:srgbClr val="EFF5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0" name="r"/>
          <p:cNvSpPr/>
          <p:nvPr/>
        </p:nvSpPr>
        <p:spPr>
          <a:xfrm>
            <a:off x="711200" y="7061200"/>
            <a:ext cx="76200" cy="7112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1" name="t"/>
          <p:cNvSpPr txBox="1"/>
          <p:nvPr/>
        </p:nvSpPr>
        <p:spPr>
          <a:xfrm>
            <a:off x="1016000" y="7061200"/>
            <a:ext cx="12598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600" b="1" dirty="0">
                <a:solidFill>
                  <a:srgbClr val="003F3B"/>
                </a:solidFill>
                <a:latin typeface="Aptos"/>
              </a:rPr>
              <a:t>Sequence the mix to the decision at hand — not every tactic, every time.</a:t>
            </a:r>
          </a:p>
        </p:txBody>
      </p:sp>
    </p:spTree>
    <p:extLst>
      <p:ext uri="{BB962C8B-B14F-4D97-AF65-F5344CB8AC3E}">
        <p14:creationId xmlns:p14="http://schemas.microsoft.com/office/powerpoint/2010/main" val="22141123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584200"/>
            <a:ext cx="406400" cy="381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5700" y="584200"/>
            <a:ext cx="609600" cy="38100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400" y="812800"/>
            <a:ext cx="13081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dirty="0">
                <a:solidFill>
                  <a:srgbClr val="003F3B"/>
                </a:solidFill>
                <a:latin typeface="Georgia"/>
              </a:rPr>
              <a:t>Study concept one-pager</a:t>
            </a:r>
            <a:endParaRPr sz="2800" dirty="0">
              <a:solidFill>
                <a:srgbClr val="00554F"/>
              </a:solidFill>
              <a:latin typeface="Georgi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86000" y="1701800"/>
            <a:ext cx="5080000" cy="495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16200" y="1930400"/>
            <a:ext cx="4572000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800" b="1">
                <a:solidFill>
                  <a:srgbClr val="003F3B"/>
                </a:solidFill>
                <a:latin typeface="Aptos"/>
              </a:rPr>
              <a:t>Evidence gap and research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0000" y="2463800"/>
            <a:ext cx="4572000" cy="3810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228600" indent="-228600">
              <a:lnSpc>
                <a:spcPts val="2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600" b="0" dirty="0">
                <a:solidFill>
                  <a:srgbClr val="052927"/>
                </a:solidFill>
                <a:latin typeface="Aptos"/>
              </a:rPr>
              <a:t>Gap: [Decision-critical evidence gap]</a:t>
            </a:r>
          </a:p>
          <a:p>
            <a:pPr marL="228600" indent="-228600">
              <a:lnSpc>
                <a:spcPts val="2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600" b="0" dirty="0">
                <a:solidFill>
                  <a:srgbClr val="052927"/>
                </a:solidFill>
                <a:latin typeface="Aptos"/>
              </a:rPr>
              <a:t>ORQ: [Research question]</a:t>
            </a:r>
          </a:p>
          <a:p>
            <a:pPr marL="228600" indent="-228600">
              <a:lnSpc>
                <a:spcPts val="2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600" b="0" dirty="0">
                <a:solidFill>
                  <a:srgbClr val="052927"/>
                </a:solidFill>
                <a:latin typeface="Aptos"/>
              </a:rPr>
              <a:t>Stakeholder: [Regulator / payer / HCP / patient]</a:t>
            </a:r>
          </a:p>
          <a:p>
            <a:pPr marL="228600" indent="-228600">
              <a:lnSpc>
                <a:spcPts val="2000"/>
              </a:lnSpc>
              <a:buFont typeface="Arial"/>
              <a:buChar char="•"/>
            </a:pPr>
            <a:r>
              <a:rPr lang="en-US" sz="1600" b="0" dirty="0">
                <a:solidFill>
                  <a:srgbClr val="052927"/>
                </a:solidFill>
                <a:latin typeface="Aptos"/>
              </a:rPr>
              <a:t>Decision use: [What this evidence will change]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74000" y="1701800"/>
            <a:ext cx="5080000" cy="495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04200" y="1930400"/>
            <a:ext cx="4572000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800" b="1">
                <a:solidFill>
                  <a:srgbClr val="003F3B"/>
                </a:solidFill>
                <a:latin typeface="Aptos"/>
              </a:rPr>
              <a:t>Proposed design and execution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0" y="2463800"/>
            <a:ext cx="4572000" cy="3810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228600" indent="-228600">
              <a:lnSpc>
                <a:spcPts val="2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600" b="0" dirty="0">
                <a:solidFill>
                  <a:srgbClr val="052927"/>
                </a:solidFill>
                <a:latin typeface="Aptos"/>
              </a:rPr>
              <a:t>Design: [Study / analysis type]</a:t>
            </a:r>
          </a:p>
          <a:p>
            <a:pPr marL="228600" indent="-228600">
              <a:lnSpc>
                <a:spcPts val="2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600" b="0" dirty="0">
                <a:solidFill>
                  <a:srgbClr val="052927"/>
                </a:solidFill>
                <a:latin typeface="Aptos"/>
              </a:rPr>
              <a:t>Data source: [Trial, registry, claims, EHR, survey]</a:t>
            </a:r>
          </a:p>
          <a:p>
            <a:pPr marL="228600" indent="-228600">
              <a:lnSpc>
                <a:spcPts val="2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600" b="0" dirty="0">
                <a:solidFill>
                  <a:srgbClr val="052927"/>
                </a:solidFill>
                <a:latin typeface="Aptos"/>
              </a:rPr>
              <a:t>Endpoints: [Outcomes and measures]</a:t>
            </a:r>
          </a:p>
          <a:p>
            <a:pPr marL="228600" indent="-228600">
              <a:lnSpc>
                <a:spcPts val="2000"/>
              </a:lnSpc>
              <a:buFont typeface="Arial"/>
              <a:buChar char="•"/>
            </a:pPr>
            <a:r>
              <a:rPr lang="en-US" sz="1600" b="0" dirty="0">
                <a:solidFill>
                  <a:srgbClr val="052927"/>
                </a:solidFill>
                <a:latin typeface="Aptos"/>
              </a:rPr>
              <a:t>Timing / owner: [Readout, budget, accountable function]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971E7970-8A90-FE23-D326-EC61666D281F}"/>
              </a:ext>
            </a:extLst>
          </p:cNvPr>
          <p:cNvSpPr/>
          <p:nvPr/>
        </p:nvSpPr>
        <p:spPr>
          <a:xfrm>
            <a:off x="7297089" y="2925969"/>
            <a:ext cx="391823" cy="198783"/>
          </a:xfrm>
          <a:prstGeom prst="rightArrow">
            <a:avLst/>
          </a:prstGeom>
          <a:solidFill>
            <a:srgbClr val="00807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7367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20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202"/>
          <p:cNvSpPr/>
          <p:nvPr/>
        </p:nvSpPr>
        <p:spPr>
          <a:xfrm>
            <a:off x="812800" y="584200"/>
            <a:ext cx="406400" cy="381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s203"/>
          <p:cNvSpPr/>
          <p:nvPr/>
        </p:nvSpPr>
        <p:spPr>
          <a:xfrm>
            <a:off x="1308100" y="584200"/>
            <a:ext cx="609600" cy="381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204"/>
          <p:cNvSpPr txBox="1"/>
          <p:nvPr/>
        </p:nvSpPr>
        <p:spPr>
          <a:xfrm>
            <a:off x="812800" y="812800"/>
            <a:ext cx="114300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800" dirty="0">
                <a:solidFill>
                  <a:srgbClr val="003F3B"/>
                </a:solidFill>
                <a:latin typeface="Georgia"/>
              </a:rPr>
              <a:t>Study concept one-pager</a:t>
            </a:r>
          </a:p>
        </p:txBody>
      </p:sp>
      <p:sp>
        <p:nvSpPr>
          <p:cNvPr id="204" name="s205"/>
          <p:cNvSpPr/>
          <p:nvPr/>
        </p:nvSpPr>
        <p:spPr>
          <a:xfrm>
            <a:off x="812800" y="1828800"/>
            <a:ext cx="6502400" cy="568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s206"/>
          <p:cNvSpPr/>
          <p:nvPr/>
        </p:nvSpPr>
        <p:spPr>
          <a:xfrm>
            <a:off x="812800" y="1828800"/>
            <a:ext cx="6502400" cy="889000"/>
          </a:xfrm>
          <a:prstGeom prst="rect">
            <a:avLst/>
          </a:prstGeom>
          <a:solidFill>
            <a:srgbClr val="F0F6F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s207"/>
          <p:cNvSpPr/>
          <p:nvPr/>
        </p:nvSpPr>
        <p:spPr>
          <a:xfrm>
            <a:off x="812800" y="1828800"/>
            <a:ext cx="76200" cy="8890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s208"/>
          <p:cNvSpPr/>
          <p:nvPr/>
        </p:nvSpPr>
        <p:spPr>
          <a:xfrm>
            <a:off x="1092200" y="2019300"/>
            <a:ext cx="508000" cy="508000"/>
          </a:xfrm>
          <a:prstGeom prst="ellipse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t209"/>
          <p:cNvSpPr txBox="1"/>
          <p:nvPr/>
        </p:nvSpPr>
        <p:spPr>
          <a:xfrm>
            <a:off x="1092200" y="2019300"/>
            <a:ext cx="508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209" name="t210"/>
          <p:cNvSpPr txBox="1"/>
          <p:nvPr/>
        </p:nvSpPr>
        <p:spPr>
          <a:xfrm>
            <a:off x="1778000" y="2006600"/>
            <a:ext cx="53594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800" b="1" dirty="0">
                <a:solidFill>
                  <a:srgbClr val="003F3B"/>
                </a:solidFill>
                <a:latin typeface="Aptos"/>
              </a:rPr>
              <a:t>Evidence gap &amp; research question</a:t>
            </a:r>
          </a:p>
        </p:txBody>
      </p:sp>
      <p:sp>
        <p:nvSpPr>
          <p:cNvPr id="210" name="t211"/>
          <p:cNvSpPr txBox="1"/>
          <p:nvPr/>
        </p:nvSpPr>
        <p:spPr>
          <a:xfrm>
            <a:off x="1117600" y="2895600"/>
            <a:ext cx="58928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50" dirty="0">
                <a:solidFill>
                  <a:srgbClr val="2C8074"/>
                </a:solidFill>
                <a:latin typeface="Aptos"/>
              </a:rPr>
              <a:t>GAP</a:t>
            </a:r>
          </a:p>
        </p:txBody>
      </p:sp>
      <p:sp>
        <p:nvSpPr>
          <p:cNvPr id="211" name="t212"/>
          <p:cNvSpPr txBox="1"/>
          <p:nvPr/>
        </p:nvSpPr>
        <p:spPr>
          <a:xfrm>
            <a:off x="1117600" y="3200400"/>
            <a:ext cx="5892800" cy="565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[Decision-critical evidence gap]</a:t>
            </a:r>
          </a:p>
        </p:txBody>
      </p:sp>
      <p:sp>
        <p:nvSpPr>
          <p:cNvPr id="212" name="s213"/>
          <p:cNvSpPr/>
          <p:nvPr/>
        </p:nvSpPr>
        <p:spPr>
          <a:xfrm>
            <a:off x="1066800" y="3917950"/>
            <a:ext cx="5994400" cy="12700"/>
          </a:xfrm>
          <a:prstGeom prst="rect">
            <a:avLst/>
          </a:prstGeom>
          <a:solidFill>
            <a:srgbClr val="EAF0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t214"/>
          <p:cNvSpPr txBox="1"/>
          <p:nvPr/>
        </p:nvSpPr>
        <p:spPr>
          <a:xfrm>
            <a:off x="1117600" y="4095750"/>
            <a:ext cx="58928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50" dirty="0">
                <a:solidFill>
                  <a:srgbClr val="2C8074"/>
                </a:solidFill>
                <a:latin typeface="Aptos"/>
              </a:rPr>
              <a:t>OBJECTIVE / RESEARCH QUESTION</a:t>
            </a:r>
          </a:p>
        </p:txBody>
      </p:sp>
      <p:sp>
        <p:nvSpPr>
          <p:cNvPr id="214" name="t215"/>
          <p:cNvSpPr txBox="1"/>
          <p:nvPr/>
        </p:nvSpPr>
        <p:spPr>
          <a:xfrm>
            <a:off x="1117600" y="4400550"/>
            <a:ext cx="5892800" cy="565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[Research question]</a:t>
            </a:r>
          </a:p>
        </p:txBody>
      </p:sp>
      <p:sp>
        <p:nvSpPr>
          <p:cNvPr id="215" name="s216"/>
          <p:cNvSpPr/>
          <p:nvPr/>
        </p:nvSpPr>
        <p:spPr>
          <a:xfrm>
            <a:off x="1066800" y="5118100"/>
            <a:ext cx="5994400" cy="12700"/>
          </a:xfrm>
          <a:prstGeom prst="rect">
            <a:avLst/>
          </a:prstGeom>
          <a:solidFill>
            <a:srgbClr val="EAF0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6" name="t217"/>
          <p:cNvSpPr txBox="1"/>
          <p:nvPr/>
        </p:nvSpPr>
        <p:spPr>
          <a:xfrm>
            <a:off x="1117600" y="5295900"/>
            <a:ext cx="58928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50" dirty="0">
                <a:solidFill>
                  <a:srgbClr val="2C8074"/>
                </a:solidFill>
                <a:latin typeface="Aptos"/>
              </a:rPr>
              <a:t>STAKEHOLDER</a:t>
            </a:r>
          </a:p>
        </p:txBody>
      </p:sp>
      <p:sp>
        <p:nvSpPr>
          <p:cNvPr id="217" name="t218"/>
          <p:cNvSpPr txBox="1"/>
          <p:nvPr/>
        </p:nvSpPr>
        <p:spPr>
          <a:xfrm>
            <a:off x="1117600" y="5600700"/>
            <a:ext cx="5892800" cy="565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[Regulator / payer / HCP / patient]</a:t>
            </a:r>
          </a:p>
        </p:txBody>
      </p:sp>
      <p:sp>
        <p:nvSpPr>
          <p:cNvPr id="218" name="s219"/>
          <p:cNvSpPr/>
          <p:nvPr/>
        </p:nvSpPr>
        <p:spPr>
          <a:xfrm>
            <a:off x="1066800" y="6318250"/>
            <a:ext cx="5994400" cy="12700"/>
          </a:xfrm>
          <a:prstGeom prst="rect">
            <a:avLst/>
          </a:prstGeom>
          <a:solidFill>
            <a:srgbClr val="EAF0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9" name="t220"/>
          <p:cNvSpPr txBox="1"/>
          <p:nvPr/>
        </p:nvSpPr>
        <p:spPr>
          <a:xfrm>
            <a:off x="1117600" y="6496050"/>
            <a:ext cx="58928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50" dirty="0">
                <a:solidFill>
                  <a:srgbClr val="2C8074"/>
                </a:solidFill>
                <a:latin typeface="Aptos"/>
              </a:rPr>
              <a:t>DECISION USE</a:t>
            </a:r>
          </a:p>
        </p:txBody>
      </p:sp>
      <p:sp>
        <p:nvSpPr>
          <p:cNvPr id="220" name="t221"/>
          <p:cNvSpPr txBox="1"/>
          <p:nvPr/>
        </p:nvSpPr>
        <p:spPr>
          <a:xfrm>
            <a:off x="1117600" y="6800850"/>
            <a:ext cx="5892800" cy="565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[What this evidence will change]</a:t>
            </a:r>
          </a:p>
        </p:txBody>
      </p:sp>
      <p:sp>
        <p:nvSpPr>
          <p:cNvPr id="221" name="s222"/>
          <p:cNvSpPr/>
          <p:nvPr/>
        </p:nvSpPr>
        <p:spPr>
          <a:xfrm>
            <a:off x="7620000" y="1828800"/>
            <a:ext cx="6502400" cy="568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2" name="s223"/>
          <p:cNvSpPr/>
          <p:nvPr/>
        </p:nvSpPr>
        <p:spPr>
          <a:xfrm>
            <a:off x="7620000" y="1828800"/>
            <a:ext cx="6502400" cy="889000"/>
          </a:xfrm>
          <a:prstGeom prst="rect">
            <a:avLst/>
          </a:prstGeom>
          <a:solidFill>
            <a:srgbClr val="F0F6F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s224"/>
          <p:cNvSpPr/>
          <p:nvPr/>
        </p:nvSpPr>
        <p:spPr>
          <a:xfrm>
            <a:off x="7620000" y="1828800"/>
            <a:ext cx="76200" cy="889000"/>
          </a:xfrm>
          <a:prstGeom prst="rect">
            <a:avLst/>
          </a:prstGeom>
          <a:solidFill>
            <a:srgbClr val="2C80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4" name="s225"/>
          <p:cNvSpPr/>
          <p:nvPr/>
        </p:nvSpPr>
        <p:spPr>
          <a:xfrm>
            <a:off x="7899400" y="2019300"/>
            <a:ext cx="508000" cy="508000"/>
          </a:xfrm>
          <a:prstGeom prst="ellipse">
            <a:avLst/>
          </a:prstGeom>
          <a:solidFill>
            <a:srgbClr val="2C80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5" name="t226"/>
          <p:cNvSpPr txBox="1"/>
          <p:nvPr/>
        </p:nvSpPr>
        <p:spPr>
          <a:xfrm>
            <a:off x="7899400" y="2019300"/>
            <a:ext cx="508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226" name="t227"/>
          <p:cNvSpPr txBox="1"/>
          <p:nvPr/>
        </p:nvSpPr>
        <p:spPr>
          <a:xfrm>
            <a:off x="8585200" y="2006600"/>
            <a:ext cx="53594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800" b="1" dirty="0">
                <a:solidFill>
                  <a:srgbClr val="003F3B"/>
                </a:solidFill>
                <a:latin typeface="Aptos"/>
              </a:rPr>
              <a:t>Proposed design &amp; execution</a:t>
            </a:r>
          </a:p>
        </p:txBody>
      </p:sp>
      <p:sp>
        <p:nvSpPr>
          <p:cNvPr id="227" name="t228"/>
          <p:cNvSpPr txBox="1"/>
          <p:nvPr/>
        </p:nvSpPr>
        <p:spPr>
          <a:xfrm>
            <a:off x="7924800" y="2895600"/>
            <a:ext cx="58928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50" dirty="0">
                <a:solidFill>
                  <a:srgbClr val="2C8074"/>
                </a:solidFill>
                <a:latin typeface="Aptos"/>
              </a:rPr>
              <a:t>DESIGN</a:t>
            </a:r>
          </a:p>
        </p:txBody>
      </p:sp>
      <p:sp>
        <p:nvSpPr>
          <p:cNvPr id="228" name="t229"/>
          <p:cNvSpPr txBox="1"/>
          <p:nvPr/>
        </p:nvSpPr>
        <p:spPr>
          <a:xfrm>
            <a:off x="7924800" y="3200400"/>
            <a:ext cx="5892800" cy="565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[Study / analysis type]</a:t>
            </a:r>
          </a:p>
        </p:txBody>
      </p:sp>
      <p:sp>
        <p:nvSpPr>
          <p:cNvPr id="229" name="s230"/>
          <p:cNvSpPr/>
          <p:nvPr/>
        </p:nvSpPr>
        <p:spPr>
          <a:xfrm>
            <a:off x="7874000" y="3917950"/>
            <a:ext cx="5994400" cy="12700"/>
          </a:xfrm>
          <a:prstGeom prst="rect">
            <a:avLst/>
          </a:prstGeom>
          <a:solidFill>
            <a:srgbClr val="EAF0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0" name="t231"/>
          <p:cNvSpPr txBox="1"/>
          <p:nvPr/>
        </p:nvSpPr>
        <p:spPr>
          <a:xfrm>
            <a:off x="7924800" y="4095750"/>
            <a:ext cx="58928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50" dirty="0">
                <a:solidFill>
                  <a:srgbClr val="2C8074"/>
                </a:solidFill>
                <a:latin typeface="Aptos"/>
              </a:rPr>
              <a:t>DATA SOURCE</a:t>
            </a:r>
          </a:p>
        </p:txBody>
      </p:sp>
      <p:sp>
        <p:nvSpPr>
          <p:cNvPr id="231" name="t232"/>
          <p:cNvSpPr txBox="1"/>
          <p:nvPr/>
        </p:nvSpPr>
        <p:spPr>
          <a:xfrm>
            <a:off x="7924800" y="4400550"/>
            <a:ext cx="5892800" cy="565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[Trial, registry, claims, EHR, survey]</a:t>
            </a:r>
          </a:p>
        </p:txBody>
      </p:sp>
      <p:sp>
        <p:nvSpPr>
          <p:cNvPr id="232" name="s233"/>
          <p:cNvSpPr/>
          <p:nvPr/>
        </p:nvSpPr>
        <p:spPr>
          <a:xfrm>
            <a:off x="7874000" y="5118100"/>
            <a:ext cx="5994400" cy="12700"/>
          </a:xfrm>
          <a:prstGeom prst="rect">
            <a:avLst/>
          </a:prstGeom>
          <a:solidFill>
            <a:srgbClr val="EAF0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3" name="t234"/>
          <p:cNvSpPr txBox="1"/>
          <p:nvPr/>
        </p:nvSpPr>
        <p:spPr>
          <a:xfrm>
            <a:off x="7924800" y="5295900"/>
            <a:ext cx="58928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50" dirty="0">
                <a:solidFill>
                  <a:srgbClr val="2C8074"/>
                </a:solidFill>
                <a:latin typeface="Aptos"/>
              </a:rPr>
              <a:t>ENDPOINTS</a:t>
            </a:r>
          </a:p>
        </p:txBody>
      </p:sp>
      <p:sp>
        <p:nvSpPr>
          <p:cNvPr id="234" name="t235"/>
          <p:cNvSpPr txBox="1"/>
          <p:nvPr/>
        </p:nvSpPr>
        <p:spPr>
          <a:xfrm>
            <a:off x="7924800" y="5600700"/>
            <a:ext cx="5892800" cy="565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[Outcomes and measures]</a:t>
            </a:r>
          </a:p>
        </p:txBody>
      </p:sp>
      <p:sp>
        <p:nvSpPr>
          <p:cNvPr id="235" name="s236"/>
          <p:cNvSpPr/>
          <p:nvPr/>
        </p:nvSpPr>
        <p:spPr>
          <a:xfrm>
            <a:off x="7874000" y="6318250"/>
            <a:ext cx="5994400" cy="12700"/>
          </a:xfrm>
          <a:prstGeom prst="rect">
            <a:avLst/>
          </a:prstGeom>
          <a:solidFill>
            <a:srgbClr val="EAF0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6" name="t237"/>
          <p:cNvSpPr txBox="1"/>
          <p:nvPr/>
        </p:nvSpPr>
        <p:spPr>
          <a:xfrm>
            <a:off x="7924800" y="6496050"/>
            <a:ext cx="58928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50" dirty="0">
                <a:solidFill>
                  <a:srgbClr val="2C8074"/>
                </a:solidFill>
                <a:latin typeface="Aptos"/>
              </a:rPr>
              <a:t>TIMING / OWNER</a:t>
            </a:r>
          </a:p>
        </p:txBody>
      </p:sp>
      <p:sp>
        <p:nvSpPr>
          <p:cNvPr id="237" name="t238"/>
          <p:cNvSpPr txBox="1"/>
          <p:nvPr/>
        </p:nvSpPr>
        <p:spPr>
          <a:xfrm>
            <a:off x="7924800" y="6800850"/>
            <a:ext cx="5892800" cy="565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[Readout, budget, accountable function]</a:t>
            </a:r>
          </a:p>
        </p:txBody>
      </p:sp>
    </p:spTree>
    <p:extLst>
      <p:ext uri="{BB962C8B-B14F-4D97-AF65-F5344CB8AC3E}">
        <p14:creationId xmlns:p14="http://schemas.microsoft.com/office/powerpoint/2010/main" val="857250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20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202"/>
          <p:cNvSpPr/>
          <p:nvPr/>
        </p:nvSpPr>
        <p:spPr>
          <a:xfrm>
            <a:off x="812800" y="584200"/>
            <a:ext cx="406400" cy="381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s203"/>
          <p:cNvSpPr/>
          <p:nvPr/>
        </p:nvSpPr>
        <p:spPr>
          <a:xfrm>
            <a:off x="1308100" y="584200"/>
            <a:ext cx="609600" cy="381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204"/>
          <p:cNvSpPr txBox="1"/>
          <p:nvPr/>
        </p:nvSpPr>
        <p:spPr>
          <a:xfrm>
            <a:off x="812800" y="812800"/>
            <a:ext cx="114300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800" dirty="0">
                <a:solidFill>
                  <a:srgbClr val="003F3B"/>
                </a:solidFill>
                <a:latin typeface="Georgia"/>
              </a:rPr>
              <a:t>Study concept one-pager</a:t>
            </a:r>
          </a:p>
        </p:txBody>
      </p:sp>
      <p:sp>
        <p:nvSpPr>
          <p:cNvPr id="204" name="s205"/>
          <p:cNvSpPr/>
          <p:nvPr/>
        </p:nvSpPr>
        <p:spPr>
          <a:xfrm>
            <a:off x="812800" y="1905000"/>
            <a:ext cx="6324600" cy="5740400"/>
          </a:xfrm>
          <a:prstGeom prst="roundRect">
            <a:avLst>
              <a:gd name="adj" fmla="val 9464"/>
            </a:avLst>
          </a:prstGeom>
          <a:solidFill>
            <a:srgbClr val="FFFFFF"/>
          </a:solidFill>
          <a:ln w="12700">
            <a:solidFill>
              <a:srgbClr val="D8E4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s206"/>
          <p:cNvSpPr/>
          <p:nvPr/>
        </p:nvSpPr>
        <p:spPr>
          <a:xfrm>
            <a:off x="812800" y="1905000"/>
            <a:ext cx="6324600" cy="8128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t207"/>
          <p:cNvSpPr txBox="1"/>
          <p:nvPr/>
        </p:nvSpPr>
        <p:spPr>
          <a:xfrm>
            <a:off x="1117600" y="1905000"/>
            <a:ext cx="57150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Aptos"/>
              </a:rPr>
              <a:t>Evidence gap &amp; research question</a:t>
            </a:r>
          </a:p>
        </p:txBody>
      </p:sp>
      <p:sp>
        <p:nvSpPr>
          <p:cNvPr id="207" name="t208"/>
          <p:cNvSpPr txBox="1"/>
          <p:nvPr/>
        </p:nvSpPr>
        <p:spPr>
          <a:xfrm>
            <a:off x="1117600" y="2971800"/>
            <a:ext cx="571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50" dirty="0">
                <a:solidFill>
                  <a:srgbClr val="2C8074"/>
                </a:solidFill>
                <a:latin typeface="Aptos"/>
              </a:rPr>
              <a:t>GAP</a:t>
            </a:r>
          </a:p>
        </p:txBody>
      </p:sp>
      <p:sp>
        <p:nvSpPr>
          <p:cNvPr id="208" name="t209"/>
          <p:cNvSpPr txBox="1"/>
          <p:nvPr/>
        </p:nvSpPr>
        <p:spPr>
          <a:xfrm>
            <a:off x="1117600" y="3276600"/>
            <a:ext cx="5715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[Decision-critical evidence gap]</a:t>
            </a:r>
          </a:p>
        </p:txBody>
      </p:sp>
      <p:sp>
        <p:nvSpPr>
          <p:cNvPr id="209" name="s210"/>
          <p:cNvSpPr/>
          <p:nvPr/>
        </p:nvSpPr>
        <p:spPr>
          <a:xfrm>
            <a:off x="1117600" y="3911600"/>
            <a:ext cx="5715000" cy="12700"/>
          </a:xfrm>
          <a:prstGeom prst="rect">
            <a:avLst/>
          </a:prstGeom>
          <a:solidFill>
            <a:srgbClr val="ECF1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t211"/>
          <p:cNvSpPr txBox="1"/>
          <p:nvPr/>
        </p:nvSpPr>
        <p:spPr>
          <a:xfrm>
            <a:off x="1117600" y="4089400"/>
            <a:ext cx="571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50" dirty="0">
                <a:solidFill>
                  <a:srgbClr val="2C8074"/>
                </a:solidFill>
                <a:latin typeface="Aptos"/>
              </a:rPr>
              <a:t>OBJECTIVE / RESEARCH QUESTION</a:t>
            </a:r>
          </a:p>
        </p:txBody>
      </p:sp>
      <p:sp>
        <p:nvSpPr>
          <p:cNvPr id="211" name="t212"/>
          <p:cNvSpPr txBox="1"/>
          <p:nvPr/>
        </p:nvSpPr>
        <p:spPr>
          <a:xfrm>
            <a:off x="1117600" y="4394200"/>
            <a:ext cx="5715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[Research question]</a:t>
            </a:r>
          </a:p>
        </p:txBody>
      </p:sp>
      <p:sp>
        <p:nvSpPr>
          <p:cNvPr id="212" name="s213"/>
          <p:cNvSpPr/>
          <p:nvPr/>
        </p:nvSpPr>
        <p:spPr>
          <a:xfrm>
            <a:off x="1117600" y="5029200"/>
            <a:ext cx="5715000" cy="12700"/>
          </a:xfrm>
          <a:prstGeom prst="rect">
            <a:avLst/>
          </a:prstGeom>
          <a:solidFill>
            <a:srgbClr val="ECF1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t214"/>
          <p:cNvSpPr txBox="1"/>
          <p:nvPr/>
        </p:nvSpPr>
        <p:spPr>
          <a:xfrm>
            <a:off x="1117600" y="5207000"/>
            <a:ext cx="571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50" dirty="0">
                <a:solidFill>
                  <a:srgbClr val="2C8074"/>
                </a:solidFill>
                <a:latin typeface="Aptos"/>
              </a:rPr>
              <a:t>STAKEHOLDER</a:t>
            </a:r>
          </a:p>
        </p:txBody>
      </p:sp>
      <p:sp>
        <p:nvSpPr>
          <p:cNvPr id="214" name="t215"/>
          <p:cNvSpPr txBox="1"/>
          <p:nvPr/>
        </p:nvSpPr>
        <p:spPr>
          <a:xfrm>
            <a:off x="1117600" y="5511800"/>
            <a:ext cx="5715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[Regulator / payer / HCP / patient]</a:t>
            </a:r>
          </a:p>
        </p:txBody>
      </p:sp>
      <p:sp>
        <p:nvSpPr>
          <p:cNvPr id="215" name="s216"/>
          <p:cNvSpPr/>
          <p:nvPr/>
        </p:nvSpPr>
        <p:spPr>
          <a:xfrm>
            <a:off x="1117600" y="6146800"/>
            <a:ext cx="5715000" cy="12700"/>
          </a:xfrm>
          <a:prstGeom prst="rect">
            <a:avLst/>
          </a:prstGeom>
          <a:solidFill>
            <a:srgbClr val="ECF1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6" name="t217"/>
          <p:cNvSpPr txBox="1"/>
          <p:nvPr/>
        </p:nvSpPr>
        <p:spPr>
          <a:xfrm>
            <a:off x="1117600" y="6324600"/>
            <a:ext cx="571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50" dirty="0">
                <a:solidFill>
                  <a:srgbClr val="2C8074"/>
                </a:solidFill>
                <a:latin typeface="Aptos"/>
              </a:rPr>
              <a:t>DECISION USE</a:t>
            </a:r>
          </a:p>
        </p:txBody>
      </p:sp>
      <p:sp>
        <p:nvSpPr>
          <p:cNvPr id="217" name="t218"/>
          <p:cNvSpPr txBox="1"/>
          <p:nvPr/>
        </p:nvSpPr>
        <p:spPr>
          <a:xfrm>
            <a:off x="1117600" y="6629400"/>
            <a:ext cx="5715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[What this evidence will change]</a:t>
            </a:r>
          </a:p>
        </p:txBody>
      </p:sp>
      <p:sp>
        <p:nvSpPr>
          <p:cNvPr id="218" name="s219"/>
          <p:cNvSpPr/>
          <p:nvPr/>
        </p:nvSpPr>
        <p:spPr>
          <a:xfrm>
            <a:off x="7493000" y="1905000"/>
            <a:ext cx="6324600" cy="574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9" name="s220"/>
          <p:cNvSpPr/>
          <p:nvPr/>
        </p:nvSpPr>
        <p:spPr>
          <a:xfrm>
            <a:off x="7493000" y="1905000"/>
            <a:ext cx="6324600" cy="812800"/>
          </a:xfrm>
          <a:prstGeom prst="rect">
            <a:avLst/>
          </a:prstGeom>
          <a:solidFill>
            <a:srgbClr val="2C80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t221"/>
          <p:cNvSpPr txBox="1"/>
          <p:nvPr/>
        </p:nvSpPr>
        <p:spPr>
          <a:xfrm>
            <a:off x="7797800" y="1905000"/>
            <a:ext cx="57150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Aptos"/>
              </a:rPr>
              <a:t>Proposed design &amp; execution</a:t>
            </a:r>
          </a:p>
        </p:txBody>
      </p:sp>
      <p:sp>
        <p:nvSpPr>
          <p:cNvPr id="221" name="t222"/>
          <p:cNvSpPr txBox="1"/>
          <p:nvPr/>
        </p:nvSpPr>
        <p:spPr>
          <a:xfrm>
            <a:off x="7797800" y="2971800"/>
            <a:ext cx="571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50" dirty="0">
                <a:solidFill>
                  <a:srgbClr val="2C8074"/>
                </a:solidFill>
                <a:latin typeface="Aptos"/>
              </a:rPr>
              <a:t>DESIGN</a:t>
            </a:r>
          </a:p>
        </p:txBody>
      </p:sp>
      <p:sp>
        <p:nvSpPr>
          <p:cNvPr id="222" name="t223"/>
          <p:cNvSpPr txBox="1"/>
          <p:nvPr/>
        </p:nvSpPr>
        <p:spPr>
          <a:xfrm>
            <a:off x="7797800" y="3276600"/>
            <a:ext cx="5715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[Study / analysis type]</a:t>
            </a:r>
          </a:p>
        </p:txBody>
      </p:sp>
      <p:sp>
        <p:nvSpPr>
          <p:cNvPr id="223" name="s224"/>
          <p:cNvSpPr/>
          <p:nvPr/>
        </p:nvSpPr>
        <p:spPr>
          <a:xfrm>
            <a:off x="7797800" y="3911600"/>
            <a:ext cx="5715000" cy="12700"/>
          </a:xfrm>
          <a:prstGeom prst="rect">
            <a:avLst/>
          </a:prstGeom>
          <a:solidFill>
            <a:srgbClr val="ECF1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4" name="t225"/>
          <p:cNvSpPr txBox="1"/>
          <p:nvPr/>
        </p:nvSpPr>
        <p:spPr>
          <a:xfrm>
            <a:off x="7797800" y="4089400"/>
            <a:ext cx="571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50" dirty="0">
                <a:solidFill>
                  <a:srgbClr val="2C8074"/>
                </a:solidFill>
                <a:latin typeface="Aptos"/>
              </a:rPr>
              <a:t>DATA SOURCE</a:t>
            </a:r>
          </a:p>
        </p:txBody>
      </p:sp>
      <p:sp>
        <p:nvSpPr>
          <p:cNvPr id="225" name="t226"/>
          <p:cNvSpPr txBox="1"/>
          <p:nvPr/>
        </p:nvSpPr>
        <p:spPr>
          <a:xfrm>
            <a:off x="7797800" y="4394200"/>
            <a:ext cx="5715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[Trial, registry, claims, EHR, survey]</a:t>
            </a:r>
          </a:p>
        </p:txBody>
      </p:sp>
      <p:sp>
        <p:nvSpPr>
          <p:cNvPr id="226" name="s227"/>
          <p:cNvSpPr/>
          <p:nvPr/>
        </p:nvSpPr>
        <p:spPr>
          <a:xfrm>
            <a:off x="7797800" y="5029200"/>
            <a:ext cx="5715000" cy="12700"/>
          </a:xfrm>
          <a:prstGeom prst="rect">
            <a:avLst/>
          </a:prstGeom>
          <a:solidFill>
            <a:srgbClr val="ECF1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7" name="t228"/>
          <p:cNvSpPr txBox="1"/>
          <p:nvPr/>
        </p:nvSpPr>
        <p:spPr>
          <a:xfrm>
            <a:off x="7797800" y="5207000"/>
            <a:ext cx="571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50" dirty="0">
                <a:solidFill>
                  <a:srgbClr val="2C8074"/>
                </a:solidFill>
                <a:latin typeface="Aptos"/>
              </a:rPr>
              <a:t>ENDPOINTS</a:t>
            </a:r>
          </a:p>
        </p:txBody>
      </p:sp>
      <p:sp>
        <p:nvSpPr>
          <p:cNvPr id="228" name="t229"/>
          <p:cNvSpPr txBox="1"/>
          <p:nvPr/>
        </p:nvSpPr>
        <p:spPr>
          <a:xfrm>
            <a:off x="7797800" y="5511800"/>
            <a:ext cx="5715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[Outcomes and measures]</a:t>
            </a:r>
          </a:p>
        </p:txBody>
      </p:sp>
      <p:sp>
        <p:nvSpPr>
          <p:cNvPr id="229" name="s230"/>
          <p:cNvSpPr/>
          <p:nvPr/>
        </p:nvSpPr>
        <p:spPr>
          <a:xfrm>
            <a:off x="7797800" y="6146800"/>
            <a:ext cx="5715000" cy="12700"/>
          </a:xfrm>
          <a:prstGeom prst="rect">
            <a:avLst/>
          </a:prstGeom>
          <a:solidFill>
            <a:srgbClr val="ECF1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0" name="t231"/>
          <p:cNvSpPr txBox="1"/>
          <p:nvPr/>
        </p:nvSpPr>
        <p:spPr>
          <a:xfrm>
            <a:off x="7797800" y="6324600"/>
            <a:ext cx="571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50" dirty="0">
                <a:solidFill>
                  <a:srgbClr val="2C8074"/>
                </a:solidFill>
                <a:latin typeface="Aptos"/>
              </a:rPr>
              <a:t>TIMING / OWNER</a:t>
            </a:r>
          </a:p>
        </p:txBody>
      </p:sp>
      <p:sp>
        <p:nvSpPr>
          <p:cNvPr id="231" name="t232"/>
          <p:cNvSpPr txBox="1"/>
          <p:nvPr/>
        </p:nvSpPr>
        <p:spPr>
          <a:xfrm>
            <a:off x="7797800" y="6629400"/>
            <a:ext cx="5715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[Readout, budget, accountable function]</a:t>
            </a:r>
          </a:p>
        </p:txBody>
      </p:sp>
    </p:spTree>
    <p:extLst>
      <p:ext uri="{BB962C8B-B14F-4D97-AF65-F5344CB8AC3E}">
        <p14:creationId xmlns:p14="http://schemas.microsoft.com/office/powerpoint/2010/main" val="32689370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20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202"/>
          <p:cNvSpPr/>
          <p:nvPr/>
        </p:nvSpPr>
        <p:spPr>
          <a:xfrm>
            <a:off x="812800" y="584200"/>
            <a:ext cx="406400" cy="381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s203"/>
          <p:cNvSpPr/>
          <p:nvPr/>
        </p:nvSpPr>
        <p:spPr>
          <a:xfrm>
            <a:off x="1308100" y="584200"/>
            <a:ext cx="609600" cy="381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204"/>
          <p:cNvSpPr txBox="1"/>
          <p:nvPr/>
        </p:nvSpPr>
        <p:spPr>
          <a:xfrm>
            <a:off x="812800" y="812800"/>
            <a:ext cx="114300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800" dirty="0">
                <a:solidFill>
                  <a:srgbClr val="003F3B"/>
                </a:solidFill>
                <a:latin typeface="Georgia"/>
              </a:rPr>
              <a:t>Study concept one-pager</a:t>
            </a:r>
          </a:p>
        </p:txBody>
      </p:sp>
      <p:sp>
        <p:nvSpPr>
          <p:cNvPr id="204" name="s205"/>
          <p:cNvSpPr/>
          <p:nvPr/>
        </p:nvSpPr>
        <p:spPr>
          <a:xfrm>
            <a:off x="812800" y="1854200"/>
            <a:ext cx="13004800" cy="5842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t206"/>
          <p:cNvSpPr txBox="1"/>
          <p:nvPr/>
        </p:nvSpPr>
        <p:spPr>
          <a:xfrm>
            <a:off x="1041400" y="1854200"/>
            <a:ext cx="1254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dirty="0">
                <a:solidFill>
                  <a:srgbClr val="FFFFFF"/>
                </a:solidFill>
                <a:latin typeface="Aptos"/>
              </a:rPr>
              <a:t>Evidence gap &amp; research question</a:t>
            </a:r>
          </a:p>
        </p:txBody>
      </p:sp>
      <p:sp>
        <p:nvSpPr>
          <p:cNvPr id="206" name="s207"/>
          <p:cNvSpPr/>
          <p:nvPr/>
        </p:nvSpPr>
        <p:spPr>
          <a:xfrm>
            <a:off x="812800" y="2438400"/>
            <a:ext cx="3810000" cy="558800"/>
          </a:xfrm>
          <a:prstGeom prst="rect">
            <a:avLst/>
          </a:prstGeom>
          <a:solidFill>
            <a:srgbClr val="F2F7F5"/>
          </a:solidFill>
          <a:ln w="9525">
            <a:solidFill>
              <a:srgbClr val="DDE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7" name="s208"/>
          <p:cNvSpPr/>
          <p:nvPr/>
        </p:nvSpPr>
        <p:spPr>
          <a:xfrm>
            <a:off x="4622800" y="2438400"/>
            <a:ext cx="91948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8" name="t209"/>
          <p:cNvSpPr txBox="1"/>
          <p:nvPr/>
        </p:nvSpPr>
        <p:spPr>
          <a:xfrm>
            <a:off x="1016000" y="2438400"/>
            <a:ext cx="34544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400" b="1" dirty="0">
                <a:solidFill>
                  <a:srgbClr val="003F3B"/>
                </a:solidFill>
                <a:latin typeface="Aptos"/>
              </a:rPr>
              <a:t>Gap</a:t>
            </a:r>
          </a:p>
        </p:txBody>
      </p:sp>
      <p:sp>
        <p:nvSpPr>
          <p:cNvPr id="209" name="t210"/>
          <p:cNvSpPr txBox="1"/>
          <p:nvPr/>
        </p:nvSpPr>
        <p:spPr>
          <a:xfrm>
            <a:off x="4851400" y="2438400"/>
            <a:ext cx="87884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500" dirty="0">
                <a:solidFill>
                  <a:srgbClr val="052927"/>
                </a:solidFill>
                <a:latin typeface="Aptos"/>
              </a:rPr>
              <a:t>[Decision-critical evidence gap]</a:t>
            </a:r>
          </a:p>
        </p:txBody>
      </p:sp>
      <p:sp>
        <p:nvSpPr>
          <p:cNvPr id="210" name="s211"/>
          <p:cNvSpPr/>
          <p:nvPr/>
        </p:nvSpPr>
        <p:spPr>
          <a:xfrm>
            <a:off x="812800" y="2997200"/>
            <a:ext cx="3810000" cy="558800"/>
          </a:xfrm>
          <a:prstGeom prst="rect">
            <a:avLst/>
          </a:prstGeom>
          <a:solidFill>
            <a:srgbClr val="EAF2EF"/>
          </a:solidFill>
          <a:ln w="9525">
            <a:solidFill>
              <a:srgbClr val="DDE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1" name="s212"/>
          <p:cNvSpPr/>
          <p:nvPr/>
        </p:nvSpPr>
        <p:spPr>
          <a:xfrm>
            <a:off x="4622800" y="2997200"/>
            <a:ext cx="91948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2" name="t213"/>
          <p:cNvSpPr txBox="1"/>
          <p:nvPr/>
        </p:nvSpPr>
        <p:spPr>
          <a:xfrm>
            <a:off x="1016000" y="2997200"/>
            <a:ext cx="34544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400" b="1" dirty="0">
                <a:solidFill>
                  <a:srgbClr val="003F3B"/>
                </a:solidFill>
                <a:latin typeface="Aptos"/>
              </a:rPr>
              <a:t>Objective / research question</a:t>
            </a:r>
          </a:p>
        </p:txBody>
      </p:sp>
      <p:sp>
        <p:nvSpPr>
          <p:cNvPr id="213" name="t214"/>
          <p:cNvSpPr txBox="1"/>
          <p:nvPr/>
        </p:nvSpPr>
        <p:spPr>
          <a:xfrm>
            <a:off x="4851400" y="2997200"/>
            <a:ext cx="87884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500" dirty="0">
                <a:solidFill>
                  <a:srgbClr val="052927"/>
                </a:solidFill>
                <a:latin typeface="Aptos"/>
              </a:rPr>
              <a:t>[Research question]</a:t>
            </a:r>
          </a:p>
        </p:txBody>
      </p:sp>
      <p:sp>
        <p:nvSpPr>
          <p:cNvPr id="214" name="s215"/>
          <p:cNvSpPr/>
          <p:nvPr/>
        </p:nvSpPr>
        <p:spPr>
          <a:xfrm>
            <a:off x="812800" y="3556000"/>
            <a:ext cx="3810000" cy="558800"/>
          </a:xfrm>
          <a:prstGeom prst="rect">
            <a:avLst/>
          </a:prstGeom>
          <a:solidFill>
            <a:srgbClr val="F2F7F5"/>
          </a:solidFill>
          <a:ln w="9525">
            <a:solidFill>
              <a:srgbClr val="DDE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5" name="s216"/>
          <p:cNvSpPr/>
          <p:nvPr/>
        </p:nvSpPr>
        <p:spPr>
          <a:xfrm>
            <a:off x="4622800" y="3556000"/>
            <a:ext cx="91948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6" name="t217"/>
          <p:cNvSpPr txBox="1"/>
          <p:nvPr/>
        </p:nvSpPr>
        <p:spPr>
          <a:xfrm>
            <a:off x="1016000" y="3556000"/>
            <a:ext cx="34544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400" b="1" dirty="0">
                <a:solidFill>
                  <a:srgbClr val="003F3B"/>
                </a:solidFill>
                <a:latin typeface="Aptos"/>
              </a:rPr>
              <a:t>Stakeholder</a:t>
            </a:r>
          </a:p>
        </p:txBody>
      </p:sp>
      <p:sp>
        <p:nvSpPr>
          <p:cNvPr id="217" name="t218"/>
          <p:cNvSpPr txBox="1"/>
          <p:nvPr/>
        </p:nvSpPr>
        <p:spPr>
          <a:xfrm>
            <a:off x="4851400" y="3556000"/>
            <a:ext cx="87884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500" dirty="0">
                <a:solidFill>
                  <a:srgbClr val="052927"/>
                </a:solidFill>
                <a:latin typeface="Aptos"/>
              </a:rPr>
              <a:t>[Regulator / payer / HCP / patient]</a:t>
            </a:r>
          </a:p>
        </p:txBody>
      </p:sp>
      <p:sp>
        <p:nvSpPr>
          <p:cNvPr id="218" name="s219"/>
          <p:cNvSpPr/>
          <p:nvPr/>
        </p:nvSpPr>
        <p:spPr>
          <a:xfrm>
            <a:off x="812800" y="4114800"/>
            <a:ext cx="3810000" cy="558800"/>
          </a:xfrm>
          <a:prstGeom prst="rect">
            <a:avLst/>
          </a:prstGeom>
          <a:solidFill>
            <a:srgbClr val="EAF2EF"/>
          </a:solidFill>
          <a:ln w="9525">
            <a:solidFill>
              <a:srgbClr val="DDE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9" name="s220"/>
          <p:cNvSpPr/>
          <p:nvPr/>
        </p:nvSpPr>
        <p:spPr>
          <a:xfrm>
            <a:off x="4622800" y="4114800"/>
            <a:ext cx="91948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0" name="t221"/>
          <p:cNvSpPr txBox="1"/>
          <p:nvPr/>
        </p:nvSpPr>
        <p:spPr>
          <a:xfrm>
            <a:off x="1016000" y="4114800"/>
            <a:ext cx="34544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400" b="1" dirty="0">
                <a:solidFill>
                  <a:srgbClr val="003F3B"/>
                </a:solidFill>
                <a:latin typeface="Aptos"/>
              </a:rPr>
              <a:t>Decision use</a:t>
            </a:r>
          </a:p>
        </p:txBody>
      </p:sp>
      <p:sp>
        <p:nvSpPr>
          <p:cNvPr id="221" name="t222"/>
          <p:cNvSpPr txBox="1"/>
          <p:nvPr/>
        </p:nvSpPr>
        <p:spPr>
          <a:xfrm>
            <a:off x="4851400" y="4114800"/>
            <a:ext cx="87884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500" dirty="0">
                <a:solidFill>
                  <a:srgbClr val="052927"/>
                </a:solidFill>
                <a:latin typeface="Aptos"/>
              </a:rPr>
              <a:t>[What this evidence will change]</a:t>
            </a:r>
          </a:p>
        </p:txBody>
      </p:sp>
      <p:sp>
        <p:nvSpPr>
          <p:cNvPr id="222" name="s223"/>
          <p:cNvSpPr/>
          <p:nvPr/>
        </p:nvSpPr>
        <p:spPr>
          <a:xfrm>
            <a:off x="812800" y="5003800"/>
            <a:ext cx="13004800" cy="584200"/>
          </a:xfrm>
          <a:prstGeom prst="rect">
            <a:avLst/>
          </a:prstGeom>
          <a:solidFill>
            <a:srgbClr val="2C80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t224"/>
          <p:cNvSpPr txBox="1"/>
          <p:nvPr/>
        </p:nvSpPr>
        <p:spPr>
          <a:xfrm>
            <a:off x="1041400" y="5003800"/>
            <a:ext cx="1254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dirty="0">
                <a:solidFill>
                  <a:srgbClr val="FFFFFF"/>
                </a:solidFill>
                <a:latin typeface="Aptos"/>
              </a:rPr>
              <a:t>Proposed design &amp; execution</a:t>
            </a:r>
          </a:p>
        </p:txBody>
      </p:sp>
      <p:sp>
        <p:nvSpPr>
          <p:cNvPr id="224" name="s225"/>
          <p:cNvSpPr/>
          <p:nvPr/>
        </p:nvSpPr>
        <p:spPr>
          <a:xfrm>
            <a:off x="812800" y="5588000"/>
            <a:ext cx="3810000" cy="558800"/>
          </a:xfrm>
          <a:prstGeom prst="rect">
            <a:avLst/>
          </a:prstGeom>
          <a:solidFill>
            <a:srgbClr val="F2F7F5"/>
          </a:solidFill>
          <a:ln w="9525">
            <a:solidFill>
              <a:srgbClr val="DDE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5" name="s226"/>
          <p:cNvSpPr/>
          <p:nvPr/>
        </p:nvSpPr>
        <p:spPr>
          <a:xfrm>
            <a:off x="4622800" y="5588000"/>
            <a:ext cx="91948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6" name="t227"/>
          <p:cNvSpPr txBox="1"/>
          <p:nvPr/>
        </p:nvSpPr>
        <p:spPr>
          <a:xfrm>
            <a:off x="1016000" y="5588000"/>
            <a:ext cx="34544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400" b="1" dirty="0">
                <a:solidFill>
                  <a:srgbClr val="003F3B"/>
                </a:solidFill>
                <a:latin typeface="Aptos"/>
              </a:rPr>
              <a:t>Design</a:t>
            </a:r>
          </a:p>
        </p:txBody>
      </p:sp>
      <p:sp>
        <p:nvSpPr>
          <p:cNvPr id="227" name="t228"/>
          <p:cNvSpPr txBox="1"/>
          <p:nvPr/>
        </p:nvSpPr>
        <p:spPr>
          <a:xfrm>
            <a:off x="4851400" y="5588000"/>
            <a:ext cx="87884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500" dirty="0">
                <a:solidFill>
                  <a:srgbClr val="052927"/>
                </a:solidFill>
                <a:latin typeface="Aptos"/>
              </a:rPr>
              <a:t>[Study / analysis type]</a:t>
            </a:r>
          </a:p>
        </p:txBody>
      </p:sp>
      <p:sp>
        <p:nvSpPr>
          <p:cNvPr id="228" name="s229"/>
          <p:cNvSpPr/>
          <p:nvPr/>
        </p:nvSpPr>
        <p:spPr>
          <a:xfrm>
            <a:off x="812800" y="6146800"/>
            <a:ext cx="3810000" cy="558800"/>
          </a:xfrm>
          <a:prstGeom prst="rect">
            <a:avLst/>
          </a:prstGeom>
          <a:solidFill>
            <a:srgbClr val="EAF2EF"/>
          </a:solidFill>
          <a:ln w="9525">
            <a:solidFill>
              <a:srgbClr val="DDE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9" name="s230"/>
          <p:cNvSpPr/>
          <p:nvPr/>
        </p:nvSpPr>
        <p:spPr>
          <a:xfrm>
            <a:off x="4622800" y="6146800"/>
            <a:ext cx="91948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0" name="t231"/>
          <p:cNvSpPr txBox="1"/>
          <p:nvPr/>
        </p:nvSpPr>
        <p:spPr>
          <a:xfrm>
            <a:off x="1016000" y="6146800"/>
            <a:ext cx="34544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400" b="1" dirty="0">
                <a:solidFill>
                  <a:srgbClr val="003F3B"/>
                </a:solidFill>
                <a:latin typeface="Aptos"/>
              </a:rPr>
              <a:t>Data source</a:t>
            </a:r>
          </a:p>
        </p:txBody>
      </p:sp>
      <p:sp>
        <p:nvSpPr>
          <p:cNvPr id="231" name="t232"/>
          <p:cNvSpPr txBox="1"/>
          <p:nvPr/>
        </p:nvSpPr>
        <p:spPr>
          <a:xfrm>
            <a:off x="4851400" y="6146800"/>
            <a:ext cx="87884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500" dirty="0">
                <a:solidFill>
                  <a:srgbClr val="052927"/>
                </a:solidFill>
                <a:latin typeface="Aptos"/>
              </a:rPr>
              <a:t>[Trial, registry, claims, EHR, survey]</a:t>
            </a:r>
          </a:p>
        </p:txBody>
      </p:sp>
      <p:sp>
        <p:nvSpPr>
          <p:cNvPr id="232" name="s233"/>
          <p:cNvSpPr/>
          <p:nvPr/>
        </p:nvSpPr>
        <p:spPr>
          <a:xfrm>
            <a:off x="812800" y="6705600"/>
            <a:ext cx="3810000" cy="558800"/>
          </a:xfrm>
          <a:prstGeom prst="rect">
            <a:avLst/>
          </a:prstGeom>
          <a:solidFill>
            <a:srgbClr val="F2F7F5"/>
          </a:solidFill>
          <a:ln w="9525">
            <a:solidFill>
              <a:srgbClr val="DDE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3" name="s234"/>
          <p:cNvSpPr/>
          <p:nvPr/>
        </p:nvSpPr>
        <p:spPr>
          <a:xfrm>
            <a:off x="4622800" y="6705600"/>
            <a:ext cx="91948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4" name="t235"/>
          <p:cNvSpPr txBox="1"/>
          <p:nvPr/>
        </p:nvSpPr>
        <p:spPr>
          <a:xfrm>
            <a:off x="1016000" y="6705600"/>
            <a:ext cx="34544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400" b="1" dirty="0">
                <a:solidFill>
                  <a:srgbClr val="003F3B"/>
                </a:solidFill>
                <a:latin typeface="Aptos"/>
              </a:rPr>
              <a:t>Endpoints</a:t>
            </a:r>
          </a:p>
        </p:txBody>
      </p:sp>
      <p:sp>
        <p:nvSpPr>
          <p:cNvPr id="235" name="t236"/>
          <p:cNvSpPr txBox="1"/>
          <p:nvPr/>
        </p:nvSpPr>
        <p:spPr>
          <a:xfrm>
            <a:off x="4851400" y="6705600"/>
            <a:ext cx="87884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500" dirty="0">
                <a:solidFill>
                  <a:srgbClr val="052927"/>
                </a:solidFill>
                <a:latin typeface="Aptos"/>
              </a:rPr>
              <a:t>[Outcomes and measures]</a:t>
            </a:r>
          </a:p>
        </p:txBody>
      </p:sp>
      <p:sp>
        <p:nvSpPr>
          <p:cNvPr id="236" name="s237"/>
          <p:cNvSpPr/>
          <p:nvPr/>
        </p:nvSpPr>
        <p:spPr>
          <a:xfrm>
            <a:off x="812800" y="7264400"/>
            <a:ext cx="3810000" cy="558800"/>
          </a:xfrm>
          <a:prstGeom prst="rect">
            <a:avLst/>
          </a:prstGeom>
          <a:solidFill>
            <a:srgbClr val="EAF2EF"/>
          </a:solidFill>
          <a:ln w="9525">
            <a:solidFill>
              <a:srgbClr val="DDE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7" name="s238"/>
          <p:cNvSpPr/>
          <p:nvPr/>
        </p:nvSpPr>
        <p:spPr>
          <a:xfrm>
            <a:off x="4622800" y="7264400"/>
            <a:ext cx="91948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8" name="t239"/>
          <p:cNvSpPr txBox="1"/>
          <p:nvPr/>
        </p:nvSpPr>
        <p:spPr>
          <a:xfrm>
            <a:off x="1016000" y="7264400"/>
            <a:ext cx="34544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400" b="1" dirty="0">
                <a:solidFill>
                  <a:srgbClr val="003F3B"/>
                </a:solidFill>
                <a:latin typeface="Aptos"/>
              </a:rPr>
              <a:t>Timing / owner</a:t>
            </a:r>
          </a:p>
        </p:txBody>
      </p:sp>
      <p:sp>
        <p:nvSpPr>
          <p:cNvPr id="239" name="t240"/>
          <p:cNvSpPr txBox="1"/>
          <p:nvPr/>
        </p:nvSpPr>
        <p:spPr>
          <a:xfrm>
            <a:off x="4851400" y="7264400"/>
            <a:ext cx="87884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500" dirty="0">
                <a:solidFill>
                  <a:srgbClr val="052927"/>
                </a:solidFill>
                <a:latin typeface="Aptos"/>
              </a:rPr>
              <a:t>[Readout, budget, accountable function]</a:t>
            </a:r>
          </a:p>
        </p:txBody>
      </p:sp>
    </p:spTree>
    <p:extLst>
      <p:ext uri="{BB962C8B-B14F-4D97-AF65-F5344CB8AC3E}">
        <p14:creationId xmlns:p14="http://schemas.microsoft.com/office/powerpoint/2010/main" val="6011578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202"/>
          <p:cNvSpPr/>
          <p:nvPr/>
        </p:nvSpPr>
        <p:spPr>
          <a:xfrm>
            <a:off x="812800" y="508000"/>
            <a:ext cx="406400" cy="381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s203"/>
          <p:cNvSpPr/>
          <p:nvPr/>
        </p:nvSpPr>
        <p:spPr>
          <a:xfrm>
            <a:off x="1308100" y="508000"/>
            <a:ext cx="609600" cy="381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204"/>
          <p:cNvSpPr txBox="1"/>
          <p:nvPr/>
        </p:nvSpPr>
        <p:spPr>
          <a:xfrm>
            <a:off x="812800" y="711200"/>
            <a:ext cx="127000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800" dirty="0">
                <a:solidFill>
                  <a:srgbClr val="003F3B"/>
                </a:solidFill>
                <a:latin typeface="Georgia"/>
              </a:rPr>
              <a:t>Study concept one-pager</a:t>
            </a:r>
          </a:p>
        </p:txBody>
      </p:sp>
      <p:sp>
        <p:nvSpPr>
          <p:cNvPr id="204" name="s205"/>
          <p:cNvSpPr/>
          <p:nvPr/>
        </p:nvSpPr>
        <p:spPr>
          <a:xfrm>
            <a:off x="711200" y="1497715"/>
            <a:ext cx="3810000" cy="762000"/>
          </a:xfrm>
          <a:prstGeom prst="round2Same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t206"/>
          <p:cNvSpPr txBox="1"/>
          <p:nvPr/>
        </p:nvSpPr>
        <p:spPr>
          <a:xfrm>
            <a:off x="1016000" y="1548515"/>
            <a:ext cx="3302000" cy="482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ptos"/>
              </a:rPr>
              <a:t>Evidence gap &amp; research question</a:t>
            </a:r>
          </a:p>
        </p:txBody>
      </p:sp>
      <p:sp>
        <p:nvSpPr>
          <p:cNvPr id="206" name="s207"/>
          <p:cNvSpPr/>
          <p:nvPr/>
        </p:nvSpPr>
        <p:spPr>
          <a:xfrm>
            <a:off x="711200" y="2056515"/>
            <a:ext cx="6553200" cy="558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F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7" name="s208"/>
          <p:cNvSpPr/>
          <p:nvPr/>
        </p:nvSpPr>
        <p:spPr>
          <a:xfrm>
            <a:off x="711200" y="2056515"/>
            <a:ext cx="6553200" cy="635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t209"/>
          <p:cNvSpPr txBox="1"/>
          <p:nvPr/>
        </p:nvSpPr>
        <p:spPr>
          <a:xfrm>
            <a:off x="5740400" y="2234315"/>
            <a:ext cx="13208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4000" b="1" dirty="0">
                <a:solidFill>
                  <a:srgbClr val="EDF3F1"/>
                </a:solidFill>
                <a:latin typeface="Georgia"/>
              </a:rPr>
              <a:t>01</a:t>
            </a:r>
          </a:p>
        </p:txBody>
      </p:sp>
      <p:sp>
        <p:nvSpPr>
          <p:cNvPr id="209" name="s210"/>
          <p:cNvSpPr/>
          <p:nvPr/>
        </p:nvSpPr>
        <p:spPr>
          <a:xfrm>
            <a:off x="1066800" y="2488315"/>
            <a:ext cx="101600" cy="101600"/>
          </a:xfrm>
          <a:prstGeom prst="ellipse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t211"/>
          <p:cNvSpPr txBox="1"/>
          <p:nvPr/>
        </p:nvSpPr>
        <p:spPr>
          <a:xfrm>
            <a:off x="1320800" y="2437515"/>
            <a:ext cx="5588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20" dirty="0">
                <a:solidFill>
                  <a:srgbClr val="003F3B"/>
                </a:solidFill>
                <a:latin typeface="Aptos"/>
              </a:rPr>
              <a:t>GAP</a:t>
            </a:r>
          </a:p>
        </p:txBody>
      </p:sp>
      <p:sp>
        <p:nvSpPr>
          <p:cNvPr id="211" name="t212"/>
          <p:cNvSpPr txBox="1"/>
          <p:nvPr/>
        </p:nvSpPr>
        <p:spPr>
          <a:xfrm>
            <a:off x="1320800" y="2742315"/>
            <a:ext cx="5588000" cy="781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[Decision-critical evidence gap]</a:t>
            </a:r>
          </a:p>
        </p:txBody>
      </p:sp>
      <p:sp>
        <p:nvSpPr>
          <p:cNvPr id="212" name="s213"/>
          <p:cNvSpPr/>
          <p:nvPr/>
        </p:nvSpPr>
        <p:spPr>
          <a:xfrm>
            <a:off x="1066800" y="3548765"/>
            <a:ext cx="5842000" cy="12700"/>
          </a:xfrm>
          <a:prstGeom prst="rect">
            <a:avLst/>
          </a:prstGeom>
          <a:solidFill>
            <a:srgbClr val="EAF0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s214"/>
          <p:cNvSpPr/>
          <p:nvPr/>
        </p:nvSpPr>
        <p:spPr>
          <a:xfrm>
            <a:off x="1066800" y="3726565"/>
            <a:ext cx="101600" cy="101600"/>
          </a:xfrm>
          <a:prstGeom prst="ellipse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t215"/>
          <p:cNvSpPr txBox="1"/>
          <p:nvPr/>
        </p:nvSpPr>
        <p:spPr>
          <a:xfrm>
            <a:off x="1320800" y="3675765"/>
            <a:ext cx="5588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20" dirty="0">
                <a:solidFill>
                  <a:srgbClr val="003F3B"/>
                </a:solidFill>
                <a:latin typeface="Aptos"/>
              </a:rPr>
              <a:t>OBJECTIVE / RESEARCH QUESTION</a:t>
            </a:r>
          </a:p>
        </p:txBody>
      </p:sp>
      <p:sp>
        <p:nvSpPr>
          <p:cNvPr id="215" name="t216"/>
          <p:cNvSpPr txBox="1"/>
          <p:nvPr/>
        </p:nvSpPr>
        <p:spPr>
          <a:xfrm>
            <a:off x="1320800" y="3980565"/>
            <a:ext cx="5588000" cy="781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[Research question]</a:t>
            </a:r>
          </a:p>
        </p:txBody>
      </p:sp>
      <p:sp>
        <p:nvSpPr>
          <p:cNvPr id="216" name="s217"/>
          <p:cNvSpPr/>
          <p:nvPr/>
        </p:nvSpPr>
        <p:spPr>
          <a:xfrm>
            <a:off x="1066800" y="4787015"/>
            <a:ext cx="5842000" cy="12700"/>
          </a:xfrm>
          <a:prstGeom prst="rect">
            <a:avLst/>
          </a:prstGeom>
          <a:solidFill>
            <a:srgbClr val="EAF0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7" name="s218"/>
          <p:cNvSpPr/>
          <p:nvPr/>
        </p:nvSpPr>
        <p:spPr>
          <a:xfrm>
            <a:off x="1066800" y="4964815"/>
            <a:ext cx="101600" cy="101600"/>
          </a:xfrm>
          <a:prstGeom prst="ellipse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8" name="t219"/>
          <p:cNvSpPr txBox="1"/>
          <p:nvPr/>
        </p:nvSpPr>
        <p:spPr>
          <a:xfrm>
            <a:off x="1320800" y="4914015"/>
            <a:ext cx="5588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20" dirty="0">
                <a:solidFill>
                  <a:srgbClr val="003F3B"/>
                </a:solidFill>
                <a:latin typeface="Aptos"/>
              </a:rPr>
              <a:t>STAKEHOLDER</a:t>
            </a:r>
          </a:p>
        </p:txBody>
      </p:sp>
      <p:sp>
        <p:nvSpPr>
          <p:cNvPr id="219" name="t220"/>
          <p:cNvSpPr txBox="1"/>
          <p:nvPr/>
        </p:nvSpPr>
        <p:spPr>
          <a:xfrm>
            <a:off x="1320800" y="5218815"/>
            <a:ext cx="5588000" cy="781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[Regulator / payer / HCP / patient]</a:t>
            </a:r>
          </a:p>
        </p:txBody>
      </p:sp>
      <p:sp>
        <p:nvSpPr>
          <p:cNvPr id="220" name="s221"/>
          <p:cNvSpPr/>
          <p:nvPr/>
        </p:nvSpPr>
        <p:spPr>
          <a:xfrm>
            <a:off x="1066800" y="6025265"/>
            <a:ext cx="5842000" cy="12700"/>
          </a:xfrm>
          <a:prstGeom prst="rect">
            <a:avLst/>
          </a:prstGeom>
          <a:solidFill>
            <a:srgbClr val="EAF0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s222"/>
          <p:cNvSpPr/>
          <p:nvPr/>
        </p:nvSpPr>
        <p:spPr>
          <a:xfrm>
            <a:off x="1066800" y="6203065"/>
            <a:ext cx="101600" cy="101600"/>
          </a:xfrm>
          <a:prstGeom prst="ellipse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t223"/>
          <p:cNvSpPr txBox="1"/>
          <p:nvPr/>
        </p:nvSpPr>
        <p:spPr>
          <a:xfrm>
            <a:off x="1320800" y="6152265"/>
            <a:ext cx="5588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20" dirty="0">
                <a:solidFill>
                  <a:srgbClr val="003F3B"/>
                </a:solidFill>
                <a:latin typeface="Aptos"/>
              </a:rPr>
              <a:t>DECISION USE</a:t>
            </a:r>
          </a:p>
        </p:txBody>
      </p:sp>
      <p:sp>
        <p:nvSpPr>
          <p:cNvPr id="223" name="t224"/>
          <p:cNvSpPr txBox="1"/>
          <p:nvPr/>
        </p:nvSpPr>
        <p:spPr>
          <a:xfrm>
            <a:off x="1320800" y="6457065"/>
            <a:ext cx="5588000" cy="781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[What this evidence will change]</a:t>
            </a:r>
          </a:p>
        </p:txBody>
      </p:sp>
      <p:sp>
        <p:nvSpPr>
          <p:cNvPr id="224" name="s225"/>
          <p:cNvSpPr/>
          <p:nvPr/>
        </p:nvSpPr>
        <p:spPr>
          <a:xfrm>
            <a:off x="7620000" y="1497715"/>
            <a:ext cx="3810000" cy="762000"/>
          </a:xfrm>
          <a:prstGeom prst="round2SameRect">
            <a:avLst/>
          </a:prstGeom>
          <a:solidFill>
            <a:srgbClr val="2C80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5" name="t226"/>
          <p:cNvSpPr txBox="1"/>
          <p:nvPr/>
        </p:nvSpPr>
        <p:spPr>
          <a:xfrm>
            <a:off x="7924800" y="1548515"/>
            <a:ext cx="3302000" cy="482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ptos"/>
              </a:rPr>
              <a:t>Proposed design &amp; execution</a:t>
            </a:r>
          </a:p>
        </p:txBody>
      </p:sp>
      <p:sp>
        <p:nvSpPr>
          <p:cNvPr id="226" name="s227"/>
          <p:cNvSpPr/>
          <p:nvPr/>
        </p:nvSpPr>
        <p:spPr>
          <a:xfrm>
            <a:off x="7620000" y="2056515"/>
            <a:ext cx="6553200" cy="558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C807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7" name="s228"/>
          <p:cNvSpPr/>
          <p:nvPr/>
        </p:nvSpPr>
        <p:spPr>
          <a:xfrm>
            <a:off x="7620000" y="2056515"/>
            <a:ext cx="6553200" cy="63500"/>
          </a:xfrm>
          <a:prstGeom prst="rect">
            <a:avLst/>
          </a:prstGeom>
          <a:solidFill>
            <a:srgbClr val="2C80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8" name="t229"/>
          <p:cNvSpPr txBox="1"/>
          <p:nvPr/>
        </p:nvSpPr>
        <p:spPr>
          <a:xfrm>
            <a:off x="12649200" y="2234315"/>
            <a:ext cx="13208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4000" b="1" dirty="0">
                <a:solidFill>
                  <a:srgbClr val="EDF3F1"/>
                </a:solidFill>
                <a:latin typeface="Georgia"/>
              </a:rPr>
              <a:t>02</a:t>
            </a:r>
          </a:p>
        </p:txBody>
      </p:sp>
      <p:sp>
        <p:nvSpPr>
          <p:cNvPr id="229" name="s230"/>
          <p:cNvSpPr/>
          <p:nvPr/>
        </p:nvSpPr>
        <p:spPr>
          <a:xfrm>
            <a:off x="7975600" y="2488315"/>
            <a:ext cx="101600" cy="101600"/>
          </a:xfrm>
          <a:prstGeom prst="ellipse">
            <a:avLst/>
          </a:prstGeom>
          <a:solidFill>
            <a:srgbClr val="2C80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0" name="t231"/>
          <p:cNvSpPr txBox="1"/>
          <p:nvPr/>
        </p:nvSpPr>
        <p:spPr>
          <a:xfrm>
            <a:off x="8229600" y="2437515"/>
            <a:ext cx="5588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20" dirty="0">
                <a:solidFill>
                  <a:srgbClr val="2C8074"/>
                </a:solidFill>
                <a:latin typeface="Aptos"/>
              </a:rPr>
              <a:t>DESIGN</a:t>
            </a:r>
          </a:p>
        </p:txBody>
      </p:sp>
      <p:sp>
        <p:nvSpPr>
          <p:cNvPr id="231" name="t232"/>
          <p:cNvSpPr txBox="1"/>
          <p:nvPr/>
        </p:nvSpPr>
        <p:spPr>
          <a:xfrm>
            <a:off x="8229600" y="2742315"/>
            <a:ext cx="5588000" cy="781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[Study / analysis type]</a:t>
            </a:r>
          </a:p>
        </p:txBody>
      </p:sp>
      <p:sp>
        <p:nvSpPr>
          <p:cNvPr id="232" name="s233"/>
          <p:cNvSpPr/>
          <p:nvPr/>
        </p:nvSpPr>
        <p:spPr>
          <a:xfrm>
            <a:off x="7975600" y="3548765"/>
            <a:ext cx="5842000" cy="12700"/>
          </a:xfrm>
          <a:prstGeom prst="rect">
            <a:avLst/>
          </a:prstGeom>
          <a:solidFill>
            <a:srgbClr val="EAF0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3" name="s234"/>
          <p:cNvSpPr/>
          <p:nvPr/>
        </p:nvSpPr>
        <p:spPr>
          <a:xfrm>
            <a:off x="7975600" y="3726565"/>
            <a:ext cx="101600" cy="101600"/>
          </a:xfrm>
          <a:prstGeom prst="ellipse">
            <a:avLst/>
          </a:prstGeom>
          <a:solidFill>
            <a:srgbClr val="2C80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4" name="t235"/>
          <p:cNvSpPr txBox="1"/>
          <p:nvPr/>
        </p:nvSpPr>
        <p:spPr>
          <a:xfrm>
            <a:off x="8229600" y="3675765"/>
            <a:ext cx="5588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20" dirty="0">
                <a:solidFill>
                  <a:srgbClr val="2C8074"/>
                </a:solidFill>
                <a:latin typeface="Aptos"/>
              </a:rPr>
              <a:t>DATA SOURCE</a:t>
            </a:r>
          </a:p>
        </p:txBody>
      </p:sp>
      <p:sp>
        <p:nvSpPr>
          <p:cNvPr id="235" name="t236"/>
          <p:cNvSpPr txBox="1"/>
          <p:nvPr/>
        </p:nvSpPr>
        <p:spPr>
          <a:xfrm>
            <a:off x="8229600" y="3980565"/>
            <a:ext cx="5588000" cy="781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[Trial, registry, claims, EHR, survey]</a:t>
            </a:r>
          </a:p>
        </p:txBody>
      </p:sp>
      <p:sp>
        <p:nvSpPr>
          <p:cNvPr id="236" name="s237"/>
          <p:cNvSpPr/>
          <p:nvPr/>
        </p:nvSpPr>
        <p:spPr>
          <a:xfrm>
            <a:off x="7975600" y="4787015"/>
            <a:ext cx="5842000" cy="12700"/>
          </a:xfrm>
          <a:prstGeom prst="rect">
            <a:avLst/>
          </a:prstGeom>
          <a:solidFill>
            <a:srgbClr val="EAF0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7" name="s238"/>
          <p:cNvSpPr/>
          <p:nvPr/>
        </p:nvSpPr>
        <p:spPr>
          <a:xfrm>
            <a:off x="7975600" y="4964815"/>
            <a:ext cx="101600" cy="101600"/>
          </a:xfrm>
          <a:prstGeom prst="ellipse">
            <a:avLst/>
          </a:prstGeom>
          <a:solidFill>
            <a:srgbClr val="2C80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8" name="t239"/>
          <p:cNvSpPr txBox="1"/>
          <p:nvPr/>
        </p:nvSpPr>
        <p:spPr>
          <a:xfrm>
            <a:off x="8229600" y="4914015"/>
            <a:ext cx="5588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20" dirty="0">
                <a:solidFill>
                  <a:srgbClr val="2C8074"/>
                </a:solidFill>
                <a:latin typeface="Aptos"/>
              </a:rPr>
              <a:t>ENDPOINTS</a:t>
            </a:r>
          </a:p>
        </p:txBody>
      </p:sp>
      <p:sp>
        <p:nvSpPr>
          <p:cNvPr id="239" name="t240"/>
          <p:cNvSpPr txBox="1"/>
          <p:nvPr/>
        </p:nvSpPr>
        <p:spPr>
          <a:xfrm>
            <a:off x="8229600" y="5218815"/>
            <a:ext cx="5588000" cy="781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[Outcomes and measures]</a:t>
            </a:r>
          </a:p>
        </p:txBody>
      </p:sp>
      <p:sp>
        <p:nvSpPr>
          <p:cNvPr id="240" name="s241"/>
          <p:cNvSpPr/>
          <p:nvPr/>
        </p:nvSpPr>
        <p:spPr>
          <a:xfrm>
            <a:off x="7975600" y="6025265"/>
            <a:ext cx="5842000" cy="12700"/>
          </a:xfrm>
          <a:prstGeom prst="rect">
            <a:avLst/>
          </a:prstGeom>
          <a:solidFill>
            <a:srgbClr val="EAF0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1" name="s242"/>
          <p:cNvSpPr/>
          <p:nvPr/>
        </p:nvSpPr>
        <p:spPr>
          <a:xfrm>
            <a:off x="7975600" y="6203065"/>
            <a:ext cx="101600" cy="101600"/>
          </a:xfrm>
          <a:prstGeom prst="ellipse">
            <a:avLst/>
          </a:prstGeom>
          <a:solidFill>
            <a:srgbClr val="2C80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2" name="t243"/>
          <p:cNvSpPr txBox="1"/>
          <p:nvPr/>
        </p:nvSpPr>
        <p:spPr>
          <a:xfrm>
            <a:off x="8229600" y="6152265"/>
            <a:ext cx="5588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120" dirty="0">
                <a:solidFill>
                  <a:srgbClr val="2C8074"/>
                </a:solidFill>
                <a:latin typeface="Aptos"/>
              </a:rPr>
              <a:t>TIMING / OWNER</a:t>
            </a:r>
          </a:p>
        </p:txBody>
      </p:sp>
      <p:sp>
        <p:nvSpPr>
          <p:cNvPr id="243" name="t244"/>
          <p:cNvSpPr txBox="1"/>
          <p:nvPr/>
        </p:nvSpPr>
        <p:spPr>
          <a:xfrm>
            <a:off x="8229600" y="6457065"/>
            <a:ext cx="5588000" cy="781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[Readout, budget, accountable function]</a:t>
            </a:r>
          </a:p>
        </p:txBody>
      </p:sp>
    </p:spTree>
    <p:extLst>
      <p:ext uri="{BB962C8B-B14F-4D97-AF65-F5344CB8AC3E}">
        <p14:creationId xmlns:p14="http://schemas.microsoft.com/office/powerpoint/2010/main" val="26455708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584200"/>
            <a:ext cx="406400" cy="381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5700" y="584200"/>
            <a:ext cx="609600" cy="38100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400" y="812800"/>
            <a:ext cx="13081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dirty="0">
                <a:solidFill>
                  <a:srgbClr val="003F3B"/>
                </a:solidFill>
                <a:latin typeface="Georgia"/>
              </a:rPr>
              <a:t>Integrated evidence roadmap</a:t>
            </a:r>
            <a:r>
              <a:rPr sz="2800" dirty="0">
                <a:solidFill>
                  <a:srgbClr val="00554F"/>
                </a:solidFill>
                <a:latin typeface="Georgia"/>
              </a:rPr>
              <a:t> | Sequence workstreams against decision gates</a:t>
            </a:r>
          </a:p>
        </p:txBody>
      </p:sp>
      <p:graphicFrame>
        <p:nvGraphicFramePr>
          <p:cNvPr id="5" name="RoadmapTable">
            <a:extLst>
              <a:ext uri="{FF2B5EF4-FFF2-40B4-BE49-F238E27FC236}">
                <a16:creationId xmlns:a16="http://schemas.microsoft.com/office/drawing/2014/main" id="{4F8BC5D9-4814-49F0-998E-86E89446B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741650"/>
              </p:ext>
            </p:extLst>
          </p:nvPr>
        </p:nvGraphicFramePr>
        <p:xfrm>
          <a:off x="660400" y="1778000"/>
          <a:ext cx="13208000" cy="363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21621954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4001755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48167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2726699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2358542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82702554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087267"/>
                          </a:solidFill>
                          <a:latin typeface="Aptos"/>
                        </a:rPr>
                        <a:t>Workstream</a:t>
                      </a:r>
                    </a:p>
                  </a:txBody>
                  <a:tcPr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087267"/>
                          </a:solidFill>
                          <a:latin typeface="Aptos"/>
                        </a:rPr>
                        <a:t>Y1 H1</a:t>
                      </a:r>
                    </a:p>
                  </a:txBody>
                  <a:tcPr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087267"/>
                          </a:solidFill>
                          <a:latin typeface="Aptos"/>
                        </a:rPr>
                        <a:t>Y1 H2</a:t>
                      </a:r>
                    </a:p>
                  </a:txBody>
                  <a:tcPr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087267"/>
                          </a:solidFill>
                          <a:latin typeface="Aptos"/>
                        </a:rPr>
                        <a:t>Y2 H1</a:t>
                      </a:r>
                    </a:p>
                  </a:txBody>
                  <a:tcPr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087267"/>
                          </a:solidFill>
                          <a:latin typeface="Aptos"/>
                        </a:rPr>
                        <a:t>Y2 H2</a:t>
                      </a:r>
                    </a:p>
                  </a:txBody>
                  <a:tcPr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087267"/>
                          </a:solidFill>
                          <a:latin typeface="Aptos"/>
                        </a:rPr>
                        <a:t>Y3</a:t>
                      </a:r>
                    </a:p>
                  </a:txBody>
                  <a:tcPr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42692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003F3B"/>
                          </a:solidFill>
                          <a:latin typeface="Aptos"/>
                        </a:rPr>
                        <a:t>Clinical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Active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Active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4312A"/>
                          </a:solidFill>
                          <a:latin typeface="Aptos"/>
                        </a:rPr>
                        <a:t>Readout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5D2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9AA8A5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3A2400"/>
                          </a:solidFill>
                          <a:latin typeface="Aptos"/>
                        </a:rPr>
                        <a:t>◆ Gate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79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3461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003F3B"/>
                          </a:solidFill>
                          <a:latin typeface="Aptos"/>
                        </a:rPr>
                        <a:t>RWE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/>
                        </a:rPr>
                        <a:t>Active</a:t>
                      </a:r>
                    </a:p>
                  </a:txBody>
                  <a:tcPr anchor="ctr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4312A"/>
                          </a:solidFill>
                          <a:latin typeface="Aptos"/>
                        </a:rPr>
                        <a:t>Readout</a:t>
                      </a:r>
                    </a:p>
                  </a:txBody>
                  <a:tcPr anchor="ctr">
                    <a:solidFill>
                      <a:srgbClr val="15D2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9AA8A5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anchor="ctr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Active</a:t>
                      </a:r>
                    </a:p>
                  </a:txBody>
                  <a:tcPr anchor="ctr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Active</a:t>
                      </a:r>
                    </a:p>
                  </a:txBody>
                  <a:tcPr anchor="ctr">
                    <a:solidFill>
                      <a:srgbClr val="0872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86912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003F3B"/>
                          </a:solidFill>
                          <a:latin typeface="Aptos"/>
                        </a:rPr>
                        <a:t>HEOR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4312A"/>
                          </a:solidFill>
                          <a:latin typeface="Aptos"/>
                        </a:rPr>
                        <a:t>Readout</a:t>
                      </a:r>
                    </a:p>
                  </a:txBody>
                  <a:tcPr anchor="ctr">
                    <a:solidFill>
                      <a:srgbClr val="15D2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9AA8A5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anchor="ctr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Active</a:t>
                      </a:r>
                    </a:p>
                  </a:txBody>
                  <a:tcPr anchor="ctr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3A2400"/>
                          </a:solidFill>
                          <a:latin typeface="Aptos"/>
                        </a:rPr>
                        <a:t>◆ Gate</a:t>
                      </a:r>
                    </a:p>
                  </a:txBody>
                  <a:tcPr anchor="ctr"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Active</a:t>
                      </a:r>
                    </a:p>
                  </a:txBody>
                  <a:tcPr anchor="ctr">
                    <a:solidFill>
                      <a:srgbClr val="0872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47799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003F3B"/>
                          </a:solidFill>
                          <a:latin typeface="Aptos"/>
                        </a:rPr>
                        <a:t>Patient evidence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9AA8A5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anchor="ctr"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Active</a:t>
                      </a:r>
                    </a:p>
                  </a:txBody>
                  <a:tcPr anchor="ctr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Active</a:t>
                      </a:r>
                    </a:p>
                  </a:txBody>
                  <a:tcPr anchor="ctr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Active</a:t>
                      </a:r>
                    </a:p>
                  </a:txBody>
                  <a:tcPr anchor="ctr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4312A"/>
                          </a:solidFill>
                          <a:latin typeface="Aptos"/>
                        </a:rPr>
                        <a:t>Readout</a:t>
                      </a:r>
                    </a:p>
                  </a:txBody>
                  <a:tcPr anchor="ctr">
                    <a:solidFill>
                      <a:srgbClr val="15D2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2561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003F3B"/>
                          </a:solidFill>
                          <a:latin typeface="Aptos"/>
                        </a:rPr>
                        <a:t>Communications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Active</a:t>
                      </a:r>
                    </a:p>
                  </a:txBody>
                  <a:tcPr anchor="ctr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Active</a:t>
                      </a:r>
                    </a:p>
                  </a:txBody>
                  <a:tcPr anchor="ctr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Active</a:t>
                      </a:r>
                    </a:p>
                  </a:txBody>
                  <a:tcPr anchor="ctr">
                    <a:solidFill>
                      <a:srgbClr val="0872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04312A"/>
                          </a:solidFill>
                          <a:latin typeface="Aptos"/>
                        </a:rPr>
                        <a:t>Readout</a:t>
                      </a:r>
                    </a:p>
                  </a:txBody>
                  <a:tcPr anchor="ctr">
                    <a:solidFill>
                      <a:srgbClr val="15D2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9AA8A5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anchor="ctr">
                    <a:solidFill>
                      <a:srgbClr val="F1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652067"/>
                  </a:ext>
                </a:extLst>
              </a:tr>
            </a:tbl>
          </a:graphicData>
        </a:graphic>
      </p:graphicFrame>
      <p:sp>
        <p:nvSpPr>
          <p:cNvPr id="6" name="FooterBand">
            <a:extLst>
              <a:ext uri="{FF2B5EF4-FFF2-40B4-BE49-F238E27FC236}">
                <a16:creationId xmlns:a16="http://schemas.microsoft.com/office/drawing/2014/main" id="{9E8619C1-D2D4-4DB1-8530-5BFB857CE995}"/>
              </a:ext>
            </a:extLst>
          </p:cNvPr>
          <p:cNvSpPr/>
          <p:nvPr/>
        </p:nvSpPr>
        <p:spPr>
          <a:xfrm>
            <a:off x="660400" y="7061200"/>
            <a:ext cx="13208000" cy="431800"/>
          </a:xfrm>
          <a:prstGeom prst="rect">
            <a:avLst/>
          </a:prstGeom>
          <a:solidFill>
            <a:srgbClr val="003F3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Aptos"/>
              </a:rPr>
              <a:t>Teal = active workstream    •    Green = readout / synthesis    •    Orange = decision gate</a:t>
            </a:r>
          </a:p>
        </p:txBody>
      </p:sp>
    </p:spTree>
    <p:extLst>
      <p:ext uri="{BB962C8B-B14F-4D97-AF65-F5344CB8AC3E}">
        <p14:creationId xmlns:p14="http://schemas.microsoft.com/office/powerpoint/2010/main" val="39651818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584200"/>
            <a:ext cx="406400" cy="381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5700" y="584200"/>
            <a:ext cx="609600" cy="38100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400" y="812800"/>
            <a:ext cx="13081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dirty="0">
                <a:solidFill>
                  <a:srgbClr val="003F3B"/>
                </a:solidFill>
                <a:latin typeface="Georgia"/>
              </a:rPr>
              <a:t>Activity tracker</a:t>
            </a:r>
            <a:endParaRPr sz="2800" dirty="0">
              <a:solidFill>
                <a:srgbClr val="00554F"/>
              </a:solidFill>
              <a:latin typeface="Georgia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142859"/>
              </p:ext>
            </p:extLst>
          </p:nvPr>
        </p:nvGraphicFramePr>
        <p:xfrm>
          <a:off x="658368" y="1630680"/>
          <a:ext cx="13213077" cy="464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7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9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2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2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28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86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94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087267"/>
                          </a:solidFill>
                          <a:latin typeface="Aptos"/>
                        </a:rPr>
                        <a:t>Activity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87267"/>
                          </a:solidFill>
                          <a:latin typeface="Aptos"/>
                        </a:rPr>
                        <a:t>Gap addressed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087267"/>
                          </a:solidFill>
                          <a:latin typeface="Aptos"/>
                        </a:rPr>
                        <a:t>Function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87267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087267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087267"/>
                          </a:solidFill>
                          <a:latin typeface="Aptos"/>
                        </a:rPr>
                        <a:t>Budget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87267"/>
                          </a:solidFill>
                          <a:latin typeface="Aptos"/>
                        </a:rPr>
                        <a:t>Next action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3F3B"/>
                          </a:solidFill>
                          <a:latin typeface="Aptos"/>
                        </a:rPr>
                        <a:t>[Study / analysis A]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[Gap ID]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RWE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[Name]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In design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[Range]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[Protocol review]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3F3B"/>
                          </a:solidFill>
                          <a:latin typeface="Aptos"/>
                        </a:rPr>
                        <a:t>[SLR / NMA refresh]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[Gap ID]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HEOR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[Name]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On track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[Range]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[Finalize search]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3F3B"/>
                          </a:solidFill>
                          <a:latin typeface="Aptos"/>
                        </a:rPr>
                        <a:t>[Payer advisory board]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[Gap ID]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Access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[Name]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At risk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[Range]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[Confirm markets]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3F3B"/>
                          </a:solidFill>
                          <a:latin typeface="Aptos"/>
                        </a:rPr>
                        <a:t>[Patient preference study]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[Gap ID]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Medical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[Name]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Proposed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[Range]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[Approve concept]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3F3B"/>
                          </a:solidFill>
                          <a:latin typeface="Aptos"/>
                        </a:rPr>
                        <a:t>[Publication pull-through]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[Gap ID]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Comms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[Name]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On track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[Range]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[Congress target]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E496A19C-C635-B92D-5270-EA59F10D7DC6}"/>
              </a:ext>
            </a:extLst>
          </p:cNvPr>
          <p:cNvSpPr/>
          <p:nvPr/>
        </p:nvSpPr>
        <p:spPr>
          <a:xfrm>
            <a:off x="658367" y="7061200"/>
            <a:ext cx="13213077" cy="431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8597620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20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A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202"/>
          <p:cNvSpPr/>
          <p:nvPr/>
        </p:nvSpPr>
        <p:spPr>
          <a:xfrm>
            <a:off x="812800" y="508000"/>
            <a:ext cx="406400" cy="381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s203"/>
          <p:cNvSpPr/>
          <p:nvPr/>
        </p:nvSpPr>
        <p:spPr>
          <a:xfrm>
            <a:off x="1308100" y="508000"/>
            <a:ext cx="609600" cy="381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204"/>
          <p:cNvSpPr txBox="1"/>
          <p:nvPr/>
        </p:nvSpPr>
        <p:spPr>
          <a:xfrm>
            <a:off x="812800" y="711200"/>
            <a:ext cx="127000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800" dirty="0">
                <a:solidFill>
                  <a:srgbClr val="003F3B"/>
                </a:solidFill>
                <a:latin typeface="Georgia"/>
              </a:rPr>
              <a:t>Activity tracker</a:t>
            </a:r>
          </a:p>
        </p:txBody>
      </p:sp>
      <p:sp>
        <p:nvSpPr>
          <p:cNvPr id="204" name="t205"/>
          <p:cNvSpPr txBox="1"/>
          <p:nvPr/>
        </p:nvSpPr>
        <p:spPr>
          <a:xfrm>
            <a:off x="812800" y="1244600"/>
            <a:ext cx="1270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i="1" dirty="0">
                <a:solidFill>
                  <a:srgbClr val="00554F"/>
                </a:solidFill>
                <a:latin typeface="Georgia"/>
              </a:rPr>
              <a:t>Evidence activities by current status</a:t>
            </a:r>
          </a:p>
        </p:txBody>
      </p:sp>
      <p:sp>
        <p:nvSpPr>
          <p:cNvPr id="205" name="s206"/>
          <p:cNvSpPr/>
          <p:nvPr/>
        </p:nvSpPr>
        <p:spPr>
          <a:xfrm>
            <a:off x="711200" y="1778000"/>
            <a:ext cx="3130550" cy="533400"/>
          </a:xfrm>
          <a:prstGeom prst="roundRect">
            <a:avLst/>
          </a:prstGeom>
          <a:solidFill>
            <a:srgbClr val="4A6FA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t207"/>
          <p:cNvSpPr txBox="1"/>
          <p:nvPr/>
        </p:nvSpPr>
        <p:spPr>
          <a:xfrm>
            <a:off x="914400" y="1778000"/>
            <a:ext cx="2368550" cy="533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ptos"/>
              </a:rPr>
              <a:t>Proposed</a:t>
            </a:r>
          </a:p>
        </p:txBody>
      </p:sp>
      <p:sp>
        <p:nvSpPr>
          <p:cNvPr id="207" name="t208"/>
          <p:cNvSpPr txBox="1"/>
          <p:nvPr/>
        </p:nvSpPr>
        <p:spPr>
          <a:xfrm>
            <a:off x="3282950" y="1778000"/>
            <a:ext cx="406400" cy="533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8" name="s209"/>
          <p:cNvSpPr/>
          <p:nvPr/>
        </p:nvSpPr>
        <p:spPr>
          <a:xfrm>
            <a:off x="711200" y="2413000"/>
            <a:ext cx="3130550" cy="523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9" name="s210"/>
          <p:cNvSpPr/>
          <p:nvPr/>
        </p:nvSpPr>
        <p:spPr>
          <a:xfrm>
            <a:off x="838200" y="2590800"/>
            <a:ext cx="287655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0" name="s211"/>
          <p:cNvSpPr/>
          <p:nvPr/>
        </p:nvSpPr>
        <p:spPr>
          <a:xfrm>
            <a:off x="838200" y="2590800"/>
            <a:ext cx="2876550" cy="635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t212"/>
          <p:cNvSpPr txBox="1"/>
          <p:nvPr/>
        </p:nvSpPr>
        <p:spPr>
          <a:xfrm>
            <a:off x="990600" y="2743200"/>
            <a:ext cx="257175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1" spc="120" dirty="0">
                <a:solidFill>
                  <a:srgbClr val="4A6FA5"/>
                </a:solidFill>
                <a:latin typeface="Aptos"/>
              </a:rPr>
              <a:t>MEDICAL</a:t>
            </a:r>
          </a:p>
        </p:txBody>
      </p:sp>
      <p:sp>
        <p:nvSpPr>
          <p:cNvPr id="212" name="t213"/>
          <p:cNvSpPr txBox="1"/>
          <p:nvPr/>
        </p:nvSpPr>
        <p:spPr>
          <a:xfrm>
            <a:off x="990600" y="2971800"/>
            <a:ext cx="257175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b="1" dirty="0">
                <a:solidFill>
                  <a:srgbClr val="003F3B"/>
                </a:solidFill>
                <a:latin typeface="Aptos"/>
              </a:rPr>
              <a:t>Patient preference study</a:t>
            </a:r>
          </a:p>
        </p:txBody>
      </p:sp>
      <p:sp>
        <p:nvSpPr>
          <p:cNvPr id="213" name="t214"/>
          <p:cNvSpPr txBox="1"/>
          <p:nvPr/>
        </p:nvSpPr>
        <p:spPr>
          <a:xfrm>
            <a:off x="990600" y="3505200"/>
            <a:ext cx="257175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dirty="0">
                <a:solidFill>
                  <a:srgbClr val="6A7A76"/>
                </a:solidFill>
                <a:latin typeface="Aptos"/>
              </a:rPr>
              <a:t>[Name]  ·  [Range]</a:t>
            </a:r>
          </a:p>
        </p:txBody>
      </p:sp>
      <p:sp>
        <p:nvSpPr>
          <p:cNvPr id="214" name="t215"/>
          <p:cNvSpPr txBox="1"/>
          <p:nvPr/>
        </p:nvSpPr>
        <p:spPr>
          <a:xfrm>
            <a:off x="990600" y="3759200"/>
            <a:ext cx="2571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50" dirty="0">
                <a:solidFill>
                  <a:srgbClr val="087267"/>
                </a:solidFill>
                <a:latin typeface="Aptos"/>
              </a:rPr>
              <a:t>▸ Approve concept</a:t>
            </a:r>
          </a:p>
        </p:txBody>
      </p:sp>
      <p:sp>
        <p:nvSpPr>
          <p:cNvPr id="215" name="s216"/>
          <p:cNvSpPr/>
          <p:nvPr/>
        </p:nvSpPr>
        <p:spPr>
          <a:xfrm>
            <a:off x="4070350" y="1778000"/>
            <a:ext cx="3130550" cy="533400"/>
          </a:xfrm>
          <a:prstGeom prst="roundRect">
            <a:avLst/>
          </a:prstGeom>
          <a:solidFill>
            <a:srgbClr val="08726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6" name="t217"/>
          <p:cNvSpPr txBox="1"/>
          <p:nvPr/>
        </p:nvSpPr>
        <p:spPr>
          <a:xfrm>
            <a:off x="4273550" y="1778000"/>
            <a:ext cx="2368550" cy="533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ptos"/>
              </a:rPr>
              <a:t>In design</a:t>
            </a:r>
          </a:p>
        </p:txBody>
      </p:sp>
      <p:sp>
        <p:nvSpPr>
          <p:cNvPr id="217" name="t218"/>
          <p:cNvSpPr txBox="1"/>
          <p:nvPr/>
        </p:nvSpPr>
        <p:spPr>
          <a:xfrm>
            <a:off x="6642100" y="1778000"/>
            <a:ext cx="406400" cy="533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18" name="s219"/>
          <p:cNvSpPr/>
          <p:nvPr/>
        </p:nvSpPr>
        <p:spPr>
          <a:xfrm>
            <a:off x="4070350" y="2413000"/>
            <a:ext cx="3130550" cy="523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9" name="s220"/>
          <p:cNvSpPr/>
          <p:nvPr/>
        </p:nvSpPr>
        <p:spPr>
          <a:xfrm>
            <a:off x="4197350" y="2590800"/>
            <a:ext cx="287655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0" name="s221"/>
          <p:cNvSpPr/>
          <p:nvPr/>
        </p:nvSpPr>
        <p:spPr>
          <a:xfrm>
            <a:off x="4197350" y="2590800"/>
            <a:ext cx="2876550" cy="63500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t222"/>
          <p:cNvSpPr txBox="1"/>
          <p:nvPr/>
        </p:nvSpPr>
        <p:spPr>
          <a:xfrm>
            <a:off x="4349750" y="2743200"/>
            <a:ext cx="257175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1" spc="120" dirty="0">
                <a:solidFill>
                  <a:srgbClr val="087267"/>
                </a:solidFill>
                <a:latin typeface="Aptos"/>
              </a:rPr>
              <a:t>RWE</a:t>
            </a:r>
          </a:p>
        </p:txBody>
      </p:sp>
      <p:sp>
        <p:nvSpPr>
          <p:cNvPr id="222" name="t223"/>
          <p:cNvSpPr txBox="1"/>
          <p:nvPr/>
        </p:nvSpPr>
        <p:spPr>
          <a:xfrm>
            <a:off x="4349750" y="2971800"/>
            <a:ext cx="257175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b="1" dirty="0">
                <a:solidFill>
                  <a:srgbClr val="003F3B"/>
                </a:solidFill>
                <a:latin typeface="Aptos"/>
              </a:rPr>
              <a:t>Study / analysis A</a:t>
            </a:r>
          </a:p>
        </p:txBody>
      </p:sp>
      <p:sp>
        <p:nvSpPr>
          <p:cNvPr id="223" name="t224"/>
          <p:cNvSpPr txBox="1"/>
          <p:nvPr/>
        </p:nvSpPr>
        <p:spPr>
          <a:xfrm>
            <a:off x="4349750" y="3505200"/>
            <a:ext cx="257175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dirty="0">
                <a:solidFill>
                  <a:srgbClr val="6A7A76"/>
                </a:solidFill>
                <a:latin typeface="Aptos"/>
              </a:rPr>
              <a:t>[Name]  ·  [Range]</a:t>
            </a:r>
          </a:p>
        </p:txBody>
      </p:sp>
      <p:sp>
        <p:nvSpPr>
          <p:cNvPr id="224" name="t225"/>
          <p:cNvSpPr txBox="1"/>
          <p:nvPr/>
        </p:nvSpPr>
        <p:spPr>
          <a:xfrm>
            <a:off x="4349750" y="3759200"/>
            <a:ext cx="2571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50" dirty="0">
                <a:solidFill>
                  <a:srgbClr val="087267"/>
                </a:solidFill>
                <a:latin typeface="Aptos"/>
              </a:rPr>
              <a:t>▸ Protocol review</a:t>
            </a:r>
          </a:p>
        </p:txBody>
      </p:sp>
      <p:sp>
        <p:nvSpPr>
          <p:cNvPr id="225" name="s226"/>
          <p:cNvSpPr/>
          <p:nvPr/>
        </p:nvSpPr>
        <p:spPr>
          <a:xfrm>
            <a:off x="7429500" y="1778000"/>
            <a:ext cx="3130550" cy="533400"/>
          </a:xfrm>
          <a:prstGeom prst="round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6" name="t227"/>
          <p:cNvSpPr txBox="1"/>
          <p:nvPr/>
        </p:nvSpPr>
        <p:spPr>
          <a:xfrm>
            <a:off x="7632700" y="1778000"/>
            <a:ext cx="2368550" cy="533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ptos"/>
              </a:rPr>
              <a:t>On track</a:t>
            </a:r>
          </a:p>
        </p:txBody>
      </p:sp>
      <p:sp>
        <p:nvSpPr>
          <p:cNvPr id="227" name="t228"/>
          <p:cNvSpPr txBox="1"/>
          <p:nvPr/>
        </p:nvSpPr>
        <p:spPr>
          <a:xfrm>
            <a:off x="10001250" y="1778000"/>
            <a:ext cx="406400" cy="533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8" name="s229"/>
          <p:cNvSpPr/>
          <p:nvPr/>
        </p:nvSpPr>
        <p:spPr>
          <a:xfrm>
            <a:off x="7429500" y="2413000"/>
            <a:ext cx="3130550" cy="523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9" name="s230"/>
          <p:cNvSpPr/>
          <p:nvPr/>
        </p:nvSpPr>
        <p:spPr>
          <a:xfrm>
            <a:off x="7556500" y="2590800"/>
            <a:ext cx="287655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0" name="s231"/>
          <p:cNvSpPr/>
          <p:nvPr/>
        </p:nvSpPr>
        <p:spPr>
          <a:xfrm>
            <a:off x="7556500" y="2590800"/>
            <a:ext cx="2876550" cy="63500"/>
          </a:xfrm>
          <a:prstGeom prst="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t232"/>
          <p:cNvSpPr txBox="1"/>
          <p:nvPr/>
        </p:nvSpPr>
        <p:spPr>
          <a:xfrm>
            <a:off x="7708900" y="2743200"/>
            <a:ext cx="257175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1" spc="120" dirty="0">
                <a:solidFill>
                  <a:srgbClr val="1E7A53"/>
                </a:solidFill>
                <a:latin typeface="Aptos"/>
              </a:rPr>
              <a:t>HEOR</a:t>
            </a:r>
          </a:p>
        </p:txBody>
      </p:sp>
      <p:sp>
        <p:nvSpPr>
          <p:cNvPr id="232" name="t233"/>
          <p:cNvSpPr txBox="1"/>
          <p:nvPr/>
        </p:nvSpPr>
        <p:spPr>
          <a:xfrm>
            <a:off x="7708900" y="2971800"/>
            <a:ext cx="257175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b="1" dirty="0">
                <a:solidFill>
                  <a:srgbClr val="003F3B"/>
                </a:solidFill>
                <a:latin typeface="Aptos"/>
              </a:rPr>
              <a:t>SLR / NMA refresh</a:t>
            </a:r>
          </a:p>
        </p:txBody>
      </p:sp>
      <p:sp>
        <p:nvSpPr>
          <p:cNvPr id="233" name="t234"/>
          <p:cNvSpPr txBox="1"/>
          <p:nvPr/>
        </p:nvSpPr>
        <p:spPr>
          <a:xfrm>
            <a:off x="7708900" y="3505200"/>
            <a:ext cx="257175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dirty="0">
                <a:solidFill>
                  <a:srgbClr val="6A7A76"/>
                </a:solidFill>
                <a:latin typeface="Aptos"/>
              </a:rPr>
              <a:t>[Name]  ·  [Range]</a:t>
            </a:r>
          </a:p>
        </p:txBody>
      </p:sp>
      <p:sp>
        <p:nvSpPr>
          <p:cNvPr id="234" name="t235"/>
          <p:cNvSpPr txBox="1"/>
          <p:nvPr/>
        </p:nvSpPr>
        <p:spPr>
          <a:xfrm>
            <a:off x="7708900" y="3759200"/>
            <a:ext cx="2571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50" dirty="0">
                <a:solidFill>
                  <a:srgbClr val="087267"/>
                </a:solidFill>
                <a:latin typeface="Aptos"/>
              </a:rPr>
              <a:t>▸ Finalize search</a:t>
            </a:r>
          </a:p>
        </p:txBody>
      </p:sp>
      <p:sp>
        <p:nvSpPr>
          <p:cNvPr id="235" name="s236"/>
          <p:cNvSpPr/>
          <p:nvPr/>
        </p:nvSpPr>
        <p:spPr>
          <a:xfrm>
            <a:off x="7556500" y="4241800"/>
            <a:ext cx="287655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6" name="s237"/>
          <p:cNvSpPr/>
          <p:nvPr/>
        </p:nvSpPr>
        <p:spPr>
          <a:xfrm>
            <a:off x="7556500" y="4241800"/>
            <a:ext cx="2876550" cy="63500"/>
          </a:xfrm>
          <a:prstGeom prst="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7" name="t238"/>
          <p:cNvSpPr txBox="1"/>
          <p:nvPr/>
        </p:nvSpPr>
        <p:spPr>
          <a:xfrm>
            <a:off x="7708900" y="4394200"/>
            <a:ext cx="257175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1" spc="120" dirty="0">
                <a:solidFill>
                  <a:srgbClr val="1E7A53"/>
                </a:solidFill>
                <a:latin typeface="Aptos"/>
              </a:rPr>
              <a:t>COMMS</a:t>
            </a:r>
          </a:p>
        </p:txBody>
      </p:sp>
      <p:sp>
        <p:nvSpPr>
          <p:cNvPr id="238" name="t239"/>
          <p:cNvSpPr txBox="1"/>
          <p:nvPr/>
        </p:nvSpPr>
        <p:spPr>
          <a:xfrm>
            <a:off x="7708900" y="4622800"/>
            <a:ext cx="257175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b="1" dirty="0">
                <a:solidFill>
                  <a:srgbClr val="003F3B"/>
                </a:solidFill>
                <a:latin typeface="Aptos"/>
              </a:rPr>
              <a:t>Publication pull-through</a:t>
            </a:r>
          </a:p>
        </p:txBody>
      </p:sp>
      <p:sp>
        <p:nvSpPr>
          <p:cNvPr id="239" name="t240"/>
          <p:cNvSpPr txBox="1"/>
          <p:nvPr/>
        </p:nvSpPr>
        <p:spPr>
          <a:xfrm>
            <a:off x="7708900" y="5156200"/>
            <a:ext cx="257175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dirty="0">
                <a:solidFill>
                  <a:srgbClr val="6A7A76"/>
                </a:solidFill>
                <a:latin typeface="Aptos"/>
              </a:rPr>
              <a:t>[Name]  ·  [Range]</a:t>
            </a:r>
          </a:p>
        </p:txBody>
      </p:sp>
      <p:sp>
        <p:nvSpPr>
          <p:cNvPr id="240" name="t241"/>
          <p:cNvSpPr txBox="1"/>
          <p:nvPr/>
        </p:nvSpPr>
        <p:spPr>
          <a:xfrm>
            <a:off x="7708900" y="5410200"/>
            <a:ext cx="2571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50" dirty="0">
                <a:solidFill>
                  <a:srgbClr val="087267"/>
                </a:solidFill>
                <a:latin typeface="Aptos"/>
              </a:rPr>
              <a:t>▸ Congress target</a:t>
            </a:r>
          </a:p>
        </p:txBody>
      </p:sp>
      <p:sp>
        <p:nvSpPr>
          <p:cNvPr id="241" name="s242"/>
          <p:cNvSpPr/>
          <p:nvPr/>
        </p:nvSpPr>
        <p:spPr>
          <a:xfrm>
            <a:off x="10788650" y="1778000"/>
            <a:ext cx="3130550" cy="5334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2" name="t243"/>
          <p:cNvSpPr txBox="1"/>
          <p:nvPr/>
        </p:nvSpPr>
        <p:spPr>
          <a:xfrm>
            <a:off x="10991850" y="1778000"/>
            <a:ext cx="2368550" cy="533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ptos"/>
              </a:rPr>
              <a:t>At risk</a:t>
            </a:r>
          </a:p>
        </p:txBody>
      </p:sp>
      <p:sp>
        <p:nvSpPr>
          <p:cNvPr id="243" name="t244"/>
          <p:cNvSpPr txBox="1"/>
          <p:nvPr/>
        </p:nvSpPr>
        <p:spPr>
          <a:xfrm>
            <a:off x="13360400" y="1778000"/>
            <a:ext cx="406400" cy="533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44" name="s245"/>
          <p:cNvSpPr/>
          <p:nvPr/>
        </p:nvSpPr>
        <p:spPr>
          <a:xfrm>
            <a:off x="10788650" y="2413000"/>
            <a:ext cx="3130550" cy="523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5" name="s246"/>
          <p:cNvSpPr/>
          <p:nvPr/>
        </p:nvSpPr>
        <p:spPr>
          <a:xfrm>
            <a:off x="10915650" y="2590800"/>
            <a:ext cx="287655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6" name="s247"/>
          <p:cNvSpPr/>
          <p:nvPr/>
        </p:nvSpPr>
        <p:spPr>
          <a:xfrm>
            <a:off x="10915650" y="2590800"/>
            <a:ext cx="2876550" cy="635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7" name="t248"/>
          <p:cNvSpPr txBox="1"/>
          <p:nvPr/>
        </p:nvSpPr>
        <p:spPr>
          <a:xfrm>
            <a:off x="11068050" y="2743200"/>
            <a:ext cx="257175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1" spc="120" dirty="0">
                <a:solidFill>
                  <a:srgbClr val="C0392B"/>
                </a:solidFill>
                <a:latin typeface="Aptos"/>
              </a:rPr>
              <a:t>ACCESS</a:t>
            </a:r>
          </a:p>
        </p:txBody>
      </p:sp>
      <p:sp>
        <p:nvSpPr>
          <p:cNvPr id="248" name="t249"/>
          <p:cNvSpPr txBox="1"/>
          <p:nvPr/>
        </p:nvSpPr>
        <p:spPr>
          <a:xfrm>
            <a:off x="11068050" y="2971800"/>
            <a:ext cx="257175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b="1" dirty="0">
                <a:solidFill>
                  <a:srgbClr val="003F3B"/>
                </a:solidFill>
                <a:latin typeface="Aptos"/>
              </a:rPr>
              <a:t>Payer advisory board</a:t>
            </a:r>
          </a:p>
        </p:txBody>
      </p:sp>
      <p:sp>
        <p:nvSpPr>
          <p:cNvPr id="249" name="t250"/>
          <p:cNvSpPr txBox="1"/>
          <p:nvPr/>
        </p:nvSpPr>
        <p:spPr>
          <a:xfrm>
            <a:off x="11068050" y="3505200"/>
            <a:ext cx="257175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dirty="0">
                <a:solidFill>
                  <a:srgbClr val="6A7A76"/>
                </a:solidFill>
                <a:latin typeface="Aptos"/>
              </a:rPr>
              <a:t>[Name]  ·  [Range]</a:t>
            </a:r>
          </a:p>
        </p:txBody>
      </p:sp>
      <p:sp>
        <p:nvSpPr>
          <p:cNvPr id="250" name="t251"/>
          <p:cNvSpPr txBox="1"/>
          <p:nvPr/>
        </p:nvSpPr>
        <p:spPr>
          <a:xfrm>
            <a:off x="11068050" y="3759200"/>
            <a:ext cx="2571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50" dirty="0">
                <a:solidFill>
                  <a:srgbClr val="087267"/>
                </a:solidFill>
                <a:latin typeface="Aptos"/>
              </a:rPr>
              <a:t>▸ Confirm markets</a:t>
            </a:r>
          </a:p>
        </p:txBody>
      </p:sp>
    </p:spTree>
    <p:extLst>
      <p:ext uri="{BB962C8B-B14F-4D97-AF65-F5344CB8AC3E}">
        <p14:creationId xmlns:p14="http://schemas.microsoft.com/office/powerpoint/2010/main" val="307855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20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202"/>
          <p:cNvSpPr/>
          <p:nvPr/>
        </p:nvSpPr>
        <p:spPr>
          <a:xfrm>
            <a:off x="812800" y="508000"/>
            <a:ext cx="406400" cy="381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s203"/>
          <p:cNvSpPr/>
          <p:nvPr/>
        </p:nvSpPr>
        <p:spPr>
          <a:xfrm>
            <a:off x="1308100" y="508000"/>
            <a:ext cx="609600" cy="381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204"/>
          <p:cNvSpPr txBox="1"/>
          <p:nvPr/>
        </p:nvSpPr>
        <p:spPr>
          <a:xfrm>
            <a:off x="812800" y="711200"/>
            <a:ext cx="127000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800" dirty="0">
                <a:solidFill>
                  <a:srgbClr val="003F3B"/>
                </a:solidFill>
                <a:latin typeface="Georgia"/>
              </a:rPr>
              <a:t>Activity tracker</a:t>
            </a:r>
          </a:p>
        </p:txBody>
      </p:sp>
      <p:sp>
        <p:nvSpPr>
          <p:cNvPr id="204" name="s205"/>
          <p:cNvSpPr/>
          <p:nvPr/>
        </p:nvSpPr>
        <p:spPr>
          <a:xfrm>
            <a:off x="711200" y="1905000"/>
            <a:ext cx="1905000" cy="10922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t206"/>
          <p:cNvSpPr txBox="1"/>
          <p:nvPr/>
        </p:nvSpPr>
        <p:spPr>
          <a:xfrm>
            <a:off x="889000" y="1905000"/>
            <a:ext cx="1600200" cy="1092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Aptos"/>
              </a:rPr>
              <a:t>RWE</a:t>
            </a:r>
          </a:p>
        </p:txBody>
      </p:sp>
      <p:sp>
        <p:nvSpPr>
          <p:cNvPr id="206" name="s207"/>
          <p:cNvSpPr/>
          <p:nvPr/>
        </p:nvSpPr>
        <p:spPr>
          <a:xfrm>
            <a:off x="2743200" y="1905000"/>
            <a:ext cx="11176000" cy="1092200"/>
          </a:xfrm>
          <a:prstGeom prst="rect">
            <a:avLst/>
          </a:prstGeom>
          <a:solidFill>
            <a:srgbClr val="F7FAF9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7" name="s208"/>
          <p:cNvSpPr/>
          <p:nvPr/>
        </p:nvSpPr>
        <p:spPr>
          <a:xfrm>
            <a:off x="2743200" y="1905000"/>
            <a:ext cx="76200" cy="1092200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t209"/>
          <p:cNvSpPr txBox="1"/>
          <p:nvPr/>
        </p:nvSpPr>
        <p:spPr>
          <a:xfrm>
            <a:off x="3022600" y="2082800"/>
            <a:ext cx="4318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700" b="1" dirty="0">
                <a:solidFill>
                  <a:srgbClr val="003F3B"/>
                </a:solidFill>
                <a:latin typeface="Aptos"/>
              </a:rPr>
              <a:t>Study / analysis A</a:t>
            </a:r>
          </a:p>
        </p:txBody>
      </p:sp>
      <p:sp>
        <p:nvSpPr>
          <p:cNvPr id="209" name="t210"/>
          <p:cNvSpPr txBox="1"/>
          <p:nvPr/>
        </p:nvSpPr>
        <p:spPr>
          <a:xfrm>
            <a:off x="3022600" y="2489200"/>
            <a:ext cx="431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6A7A76"/>
                </a:solidFill>
                <a:latin typeface="Aptos"/>
              </a:rPr>
              <a:t>Gap: [Gap ID]  ·  Owner: [Name]</a:t>
            </a:r>
          </a:p>
        </p:txBody>
      </p:sp>
      <p:sp>
        <p:nvSpPr>
          <p:cNvPr id="210" name="s211"/>
          <p:cNvSpPr/>
          <p:nvPr/>
        </p:nvSpPr>
        <p:spPr>
          <a:xfrm>
            <a:off x="7569200" y="2260600"/>
            <a:ext cx="1676400" cy="381000"/>
          </a:xfrm>
          <a:prstGeom prst="roundRect">
            <a:avLst/>
          </a:prstGeom>
          <a:solidFill>
            <a:srgbClr val="08726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t212"/>
          <p:cNvSpPr txBox="1"/>
          <p:nvPr/>
        </p:nvSpPr>
        <p:spPr>
          <a:xfrm>
            <a:off x="7569200" y="2260600"/>
            <a:ext cx="16764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"/>
              </a:rPr>
              <a:t>In design</a:t>
            </a:r>
          </a:p>
        </p:txBody>
      </p:sp>
      <p:sp>
        <p:nvSpPr>
          <p:cNvPr id="212" name="t213"/>
          <p:cNvSpPr txBox="1"/>
          <p:nvPr/>
        </p:nvSpPr>
        <p:spPr>
          <a:xfrm>
            <a:off x="9474200" y="20828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100" dirty="0">
                <a:solidFill>
                  <a:srgbClr val="087267"/>
                </a:solidFill>
                <a:latin typeface="Aptos"/>
              </a:rPr>
              <a:t>BUDGET</a:t>
            </a:r>
          </a:p>
        </p:txBody>
      </p:sp>
      <p:sp>
        <p:nvSpPr>
          <p:cNvPr id="213" name="t214"/>
          <p:cNvSpPr txBox="1"/>
          <p:nvPr/>
        </p:nvSpPr>
        <p:spPr>
          <a:xfrm>
            <a:off x="9474200" y="23876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052927"/>
                </a:solidFill>
                <a:latin typeface="Aptos"/>
              </a:rPr>
              <a:t>[Range]</a:t>
            </a:r>
          </a:p>
        </p:txBody>
      </p:sp>
      <p:sp>
        <p:nvSpPr>
          <p:cNvPr id="214" name="t215"/>
          <p:cNvSpPr txBox="1"/>
          <p:nvPr/>
        </p:nvSpPr>
        <p:spPr>
          <a:xfrm>
            <a:off x="11150600" y="20828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100" dirty="0">
                <a:solidFill>
                  <a:srgbClr val="087267"/>
                </a:solidFill>
                <a:latin typeface="Aptos"/>
              </a:rPr>
              <a:t>NEXT ACTION</a:t>
            </a:r>
          </a:p>
        </p:txBody>
      </p:sp>
      <p:sp>
        <p:nvSpPr>
          <p:cNvPr id="215" name="t216"/>
          <p:cNvSpPr txBox="1"/>
          <p:nvPr/>
        </p:nvSpPr>
        <p:spPr>
          <a:xfrm>
            <a:off x="11150600" y="2387600"/>
            <a:ext cx="2540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b="1" dirty="0">
                <a:solidFill>
                  <a:srgbClr val="003F3B"/>
                </a:solidFill>
                <a:latin typeface="Aptos"/>
              </a:rPr>
              <a:t>▸ Protocol review</a:t>
            </a:r>
          </a:p>
        </p:txBody>
      </p:sp>
      <p:sp>
        <p:nvSpPr>
          <p:cNvPr id="216" name="s217"/>
          <p:cNvSpPr/>
          <p:nvPr/>
        </p:nvSpPr>
        <p:spPr>
          <a:xfrm>
            <a:off x="711200" y="3124200"/>
            <a:ext cx="1905000" cy="10922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7" name="t218"/>
          <p:cNvSpPr txBox="1"/>
          <p:nvPr/>
        </p:nvSpPr>
        <p:spPr>
          <a:xfrm>
            <a:off x="889000" y="3124200"/>
            <a:ext cx="1600200" cy="1092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Aptos"/>
              </a:rPr>
              <a:t>HEOR</a:t>
            </a:r>
          </a:p>
        </p:txBody>
      </p:sp>
      <p:sp>
        <p:nvSpPr>
          <p:cNvPr id="218" name="s219"/>
          <p:cNvSpPr/>
          <p:nvPr/>
        </p:nvSpPr>
        <p:spPr>
          <a:xfrm>
            <a:off x="2743200" y="3124200"/>
            <a:ext cx="11176000" cy="1092200"/>
          </a:xfrm>
          <a:prstGeom prst="rect">
            <a:avLst/>
          </a:prstGeom>
          <a:solidFill>
            <a:srgbClr val="F7FAF9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9" name="s220"/>
          <p:cNvSpPr/>
          <p:nvPr/>
        </p:nvSpPr>
        <p:spPr>
          <a:xfrm>
            <a:off x="2743200" y="3124200"/>
            <a:ext cx="76200" cy="1092200"/>
          </a:xfrm>
          <a:prstGeom prst="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t221"/>
          <p:cNvSpPr txBox="1"/>
          <p:nvPr/>
        </p:nvSpPr>
        <p:spPr>
          <a:xfrm>
            <a:off x="3022600" y="3302000"/>
            <a:ext cx="4318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700" b="1" dirty="0">
                <a:solidFill>
                  <a:srgbClr val="003F3B"/>
                </a:solidFill>
                <a:latin typeface="Aptos"/>
              </a:rPr>
              <a:t>SLR / NMA refresh</a:t>
            </a:r>
          </a:p>
        </p:txBody>
      </p:sp>
      <p:sp>
        <p:nvSpPr>
          <p:cNvPr id="221" name="t222"/>
          <p:cNvSpPr txBox="1"/>
          <p:nvPr/>
        </p:nvSpPr>
        <p:spPr>
          <a:xfrm>
            <a:off x="3022600" y="3708400"/>
            <a:ext cx="431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6A7A76"/>
                </a:solidFill>
                <a:latin typeface="Aptos"/>
              </a:rPr>
              <a:t>Gap: [Gap ID]  ·  Owner: [Name]</a:t>
            </a:r>
          </a:p>
        </p:txBody>
      </p:sp>
      <p:sp>
        <p:nvSpPr>
          <p:cNvPr id="222" name="s223"/>
          <p:cNvSpPr/>
          <p:nvPr/>
        </p:nvSpPr>
        <p:spPr>
          <a:xfrm>
            <a:off x="7569200" y="3479800"/>
            <a:ext cx="1676400" cy="381000"/>
          </a:xfrm>
          <a:prstGeom prst="round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t224"/>
          <p:cNvSpPr txBox="1"/>
          <p:nvPr/>
        </p:nvSpPr>
        <p:spPr>
          <a:xfrm>
            <a:off x="7569200" y="3479800"/>
            <a:ext cx="16764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"/>
              </a:rPr>
              <a:t>On track</a:t>
            </a:r>
          </a:p>
        </p:txBody>
      </p:sp>
      <p:sp>
        <p:nvSpPr>
          <p:cNvPr id="224" name="t225"/>
          <p:cNvSpPr txBox="1"/>
          <p:nvPr/>
        </p:nvSpPr>
        <p:spPr>
          <a:xfrm>
            <a:off x="9474200" y="33020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100" dirty="0">
                <a:solidFill>
                  <a:srgbClr val="087267"/>
                </a:solidFill>
                <a:latin typeface="Aptos"/>
              </a:rPr>
              <a:t>BUDGET</a:t>
            </a:r>
          </a:p>
        </p:txBody>
      </p:sp>
      <p:sp>
        <p:nvSpPr>
          <p:cNvPr id="225" name="t226"/>
          <p:cNvSpPr txBox="1"/>
          <p:nvPr/>
        </p:nvSpPr>
        <p:spPr>
          <a:xfrm>
            <a:off x="9474200" y="36068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052927"/>
                </a:solidFill>
                <a:latin typeface="Aptos"/>
              </a:rPr>
              <a:t>[Range]</a:t>
            </a:r>
          </a:p>
        </p:txBody>
      </p:sp>
      <p:sp>
        <p:nvSpPr>
          <p:cNvPr id="226" name="t227"/>
          <p:cNvSpPr txBox="1"/>
          <p:nvPr/>
        </p:nvSpPr>
        <p:spPr>
          <a:xfrm>
            <a:off x="11150600" y="33020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100" dirty="0">
                <a:solidFill>
                  <a:srgbClr val="087267"/>
                </a:solidFill>
                <a:latin typeface="Aptos"/>
              </a:rPr>
              <a:t>NEXT ACTION</a:t>
            </a:r>
          </a:p>
        </p:txBody>
      </p:sp>
      <p:sp>
        <p:nvSpPr>
          <p:cNvPr id="227" name="t228"/>
          <p:cNvSpPr txBox="1"/>
          <p:nvPr/>
        </p:nvSpPr>
        <p:spPr>
          <a:xfrm>
            <a:off x="11150600" y="3606800"/>
            <a:ext cx="2540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b="1" dirty="0">
                <a:solidFill>
                  <a:srgbClr val="003F3B"/>
                </a:solidFill>
                <a:latin typeface="Aptos"/>
              </a:rPr>
              <a:t>▸ Finalize search</a:t>
            </a:r>
          </a:p>
        </p:txBody>
      </p:sp>
      <p:sp>
        <p:nvSpPr>
          <p:cNvPr id="228" name="s229"/>
          <p:cNvSpPr/>
          <p:nvPr/>
        </p:nvSpPr>
        <p:spPr>
          <a:xfrm>
            <a:off x="711200" y="4343400"/>
            <a:ext cx="1905000" cy="1092200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9" name="t230"/>
          <p:cNvSpPr txBox="1"/>
          <p:nvPr/>
        </p:nvSpPr>
        <p:spPr>
          <a:xfrm>
            <a:off x="889000" y="4343400"/>
            <a:ext cx="1600200" cy="1092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Aptos"/>
              </a:rPr>
              <a:t>Access</a:t>
            </a:r>
          </a:p>
        </p:txBody>
      </p:sp>
      <p:sp>
        <p:nvSpPr>
          <p:cNvPr id="230" name="s231"/>
          <p:cNvSpPr/>
          <p:nvPr/>
        </p:nvSpPr>
        <p:spPr>
          <a:xfrm>
            <a:off x="2743200" y="4343400"/>
            <a:ext cx="11176000" cy="1092200"/>
          </a:xfrm>
          <a:prstGeom prst="rect">
            <a:avLst/>
          </a:prstGeom>
          <a:solidFill>
            <a:srgbClr val="F7FAF9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s232"/>
          <p:cNvSpPr/>
          <p:nvPr/>
        </p:nvSpPr>
        <p:spPr>
          <a:xfrm>
            <a:off x="2743200" y="4343400"/>
            <a:ext cx="76200" cy="1092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t233"/>
          <p:cNvSpPr txBox="1"/>
          <p:nvPr/>
        </p:nvSpPr>
        <p:spPr>
          <a:xfrm>
            <a:off x="3022600" y="4521200"/>
            <a:ext cx="4318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700" b="1" dirty="0">
                <a:solidFill>
                  <a:srgbClr val="003F3B"/>
                </a:solidFill>
                <a:latin typeface="Aptos"/>
              </a:rPr>
              <a:t>Payer advisory board</a:t>
            </a:r>
          </a:p>
        </p:txBody>
      </p:sp>
      <p:sp>
        <p:nvSpPr>
          <p:cNvPr id="233" name="t234"/>
          <p:cNvSpPr txBox="1"/>
          <p:nvPr/>
        </p:nvSpPr>
        <p:spPr>
          <a:xfrm>
            <a:off x="3022600" y="4927600"/>
            <a:ext cx="431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6A7A76"/>
                </a:solidFill>
                <a:latin typeface="Aptos"/>
              </a:rPr>
              <a:t>Gap: [Gap ID]  ·  Owner: [Name]</a:t>
            </a:r>
          </a:p>
        </p:txBody>
      </p:sp>
      <p:sp>
        <p:nvSpPr>
          <p:cNvPr id="234" name="s235"/>
          <p:cNvSpPr/>
          <p:nvPr/>
        </p:nvSpPr>
        <p:spPr>
          <a:xfrm>
            <a:off x="7569200" y="4699000"/>
            <a:ext cx="1676400" cy="381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5" name="t236"/>
          <p:cNvSpPr txBox="1"/>
          <p:nvPr/>
        </p:nvSpPr>
        <p:spPr>
          <a:xfrm>
            <a:off x="7569200" y="4699000"/>
            <a:ext cx="16764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"/>
              </a:rPr>
              <a:t>At risk</a:t>
            </a:r>
          </a:p>
        </p:txBody>
      </p:sp>
      <p:sp>
        <p:nvSpPr>
          <p:cNvPr id="236" name="t237"/>
          <p:cNvSpPr txBox="1"/>
          <p:nvPr/>
        </p:nvSpPr>
        <p:spPr>
          <a:xfrm>
            <a:off x="9474200" y="45212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100" dirty="0">
                <a:solidFill>
                  <a:srgbClr val="087267"/>
                </a:solidFill>
                <a:latin typeface="Aptos"/>
              </a:rPr>
              <a:t>BUDGET</a:t>
            </a:r>
          </a:p>
        </p:txBody>
      </p:sp>
      <p:sp>
        <p:nvSpPr>
          <p:cNvPr id="237" name="t238"/>
          <p:cNvSpPr txBox="1"/>
          <p:nvPr/>
        </p:nvSpPr>
        <p:spPr>
          <a:xfrm>
            <a:off x="9474200" y="48260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052927"/>
                </a:solidFill>
                <a:latin typeface="Aptos"/>
              </a:rPr>
              <a:t>[Range]</a:t>
            </a:r>
          </a:p>
        </p:txBody>
      </p:sp>
      <p:sp>
        <p:nvSpPr>
          <p:cNvPr id="238" name="t239"/>
          <p:cNvSpPr txBox="1"/>
          <p:nvPr/>
        </p:nvSpPr>
        <p:spPr>
          <a:xfrm>
            <a:off x="11150600" y="45212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100" dirty="0">
                <a:solidFill>
                  <a:srgbClr val="087267"/>
                </a:solidFill>
                <a:latin typeface="Aptos"/>
              </a:rPr>
              <a:t>NEXT ACTION</a:t>
            </a:r>
          </a:p>
        </p:txBody>
      </p:sp>
      <p:sp>
        <p:nvSpPr>
          <p:cNvPr id="239" name="t240"/>
          <p:cNvSpPr txBox="1"/>
          <p:nvPr/>
        </p:nvSpPr>
        <p:spPr>
          <a:xfrm>
            <a:off x="11150600" y="4826000"/>
            <a:ext cx="2540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b="1" dirty="0">
                <a:solidFill>
                  <a:srgbClr val="003F3B"/>
                </a:solidFill>
                <a:latin typeface="Aptos"/>
              </a:rPr>
              <a:t>▸ Confirm markets</a:t>
            </a:r>
          </a:p>
        </p:txBody>
      </p:sp>
      <p:sp>
        <p:nvSpPr>
          <p:cNvPr id="240" name="s241"/>
          <p:cNvSpPr/>
          <p:nvPr/>
        </p:nvSpPr>
        <p:spPr>
          <a:xfrm>
            <a:off x="711200" y="5562600"/>
            <a:ext cx="1905000" cy="1092200"/>
          </a:xfrm>
          <a:prstGeom prst="rect">
            <a:avLst/>
          </a:prstGeom>
          <a:solidFill>
            <a:srgbClr val="2C80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1" name="t242"/>
          <p:cNvSpPr txBox="1"/>
          <p:nvPr/>
        </p:nvSpPr>
        <p:spPr>
          <a:xfrm>
            <a:off x="889000" y="5562600"/>
            <a:ext cx="1600200" cy="1092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Aptos"/>
              </a:rPr>
              <a:t>Medical</a:t>
            </a:r>
          </a:p>
        </p:txBody>
      </p:sp>
      <p:sp>
        <p:nvSpPr>
          <p:cNvPr id="242" name="s243"/>
          <p:cNvSpPr/>
          <p:nvPr/>
        </p:nvSpPr>
        <p:spPr>
          <a:xfrm>
            <a:off x="2743200" y="5562600"/>
            <a:ext cx="11176000" cy="1092200"/>
          </a:xfrm>
          <a:prstGeom prst="rect">
            <a:avLst/>
          </a:prstGeom>
          <a:solidFill>
            <a:srgbClr val="F7FAF9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3" name="s244"/>
          <p:cNvSpPr/>
          <p:nvPr/>
        </p:nvSpPr>
        <p:spPr>
          <a:xfrm>
            <a:off x="2743200" y="5562600"/>
            <a:ext cx="76200" cy="10922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4" name="t245"/>
          <p:cNvSpPr txBox="1"/>
          <p:nvPr/>
        </p:nvSpPr>
        <p:spPr>
          <a:xfrm>
            <a:off x="3022600" y="5740400"/>
            <a:ext cx="4318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700" b="1" dirty="0">
                <a:solidFill>
                  <a:srgbClr val="003F3B"/>
                </a:solidFill>
                <a:latin typeface="Aptos"/>
              </a:rPr>
              <a:t>Patient preference study</a:t>
            </a:r>
          </a:p>
        </p:txBody>
      </p:sp>
      <p:sp>
        <p:nvSpPr>
          <p:cNvPr id="245" name="t246"/>
          <p:cNvSpPr txBox="1"/>
          <p:nvPr/>
        </p:nvSpPr>
        <p:spPr>
          <a:xfrm>
            <a:off x="3022600" y="6146800"/>
            <a:ext cx="431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6A7A76"/>
                </a:solidFill>
                <a:latin typeface="Aptos"/>
              </a:rPr>
              <a:t>Gap: [Gap ID]  ·  Owner: [Name]</a:t>
            </a:r>
          </a:p>
        </p:txBody>
      </p:sp>
      <p:sp>
        <p:nvSpPr>
          <p:cNvPr id="246" name="s247"/>
          <p:cNvSpPr/>
          <p:nvPr/>
        </p:nvSpPr>
        <p:spPr>
          <a:xfrm>
            <a:off x="7569200" y="5918200"/>
            <a:ext cx="1676400" cy="381000"/>
          </a:xfrm>
          <a:prstGeom prst="roundRect">
            <a:avLst/>
          </a:prstGeom>
          <a:solidFill>
            <a:srgbClr val="4A6FA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7" name="t248"/>
          <p:cNvSpPr txBox="1"/>
          <p:nvPr/>
        </p:nvSpPr>
        <p:spPr>
          <a:xfrm>
            <a:off x="7569200" y="5918200"/>
            <a:ext cx="16764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"/>
              </a:rPr>
              <a:t>Proposed</a:t>
            </a:r>
          </a:p>
        </p:txBody>
      </p:sp>
      <p:sp>
        <p:nvSpPr>
          <p:cNvPr id="248" name="t249"/>
          <p:cNvSpPr txBox="1"/>
          <p:nvPr/>
        </p:nvSpPr>
        <p:spPr>
          <a:xfrm>
            <a:off x="9474200" y="57404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100" dirty="0">
                <a:solidFill>
                  <a:srgbClr val="087267"/>
                </a:solidFill>
                <a:latin typeface="Aptos"/>
              </a:rPr>
              <a:t>BUDGET</a:t>
            </a:r>
          </a:p>
        </p:txBody>
      </p:sp>
      <p:sp>
        <p:nvSpPr>
          <p:cNvPr id="249" name="t250"/>
          <p:cNvSpPr txBox="1"/>
          <p:nvPr/>
        </p:nvSpPr>
        <p:spPr>
          <a:xfrm>
            <a:off x="9474200" y="60452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052927"/>
                </a:solidFill>
                <a:latin typeface="Aptos"/>
              </a:rPr>
              <a:t>[Range]</a:t>
            </a:r>
          </a:p>
        </p:txBody>
      </p:sp>
      <p:sp>
        <p:nvSpPr>
          <p:cNvPr id="250" name="t251"/>
          <p:cNvSpPr txBox="1"/>
          <p:nvPr/>
        </p:nvSpPr>
        <p:spPr>
          <a:xfrm>
            <a:off x="11150600" y="57404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100" dirty="0">
                <a:solidFill>
                  <a:srgbClr val="087267"/>
                </a:solidFill>
                <a:latin typeface="Aptos"/>
              </a:rPr>
              <a:t>NEXT ACTION</a:t>
            </a:r>
          </a:p>
        </p:txBody>
      </p:sp>
      <p:sp>
        <p:nvSpPr>
          <p:cNvPr id="251" name="t252"/>
          <p:cNvSpPr txBox="1"/>
          <p:nvPr/>
        </p:nvSpPr>
        <p:spPr>
          <a:xfrm>
            <a:off x="11150600" y="6045200"/>
            <a:ext cx="2540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b="1" dirty="0">
                <a:solidFill>
                  <a:srgbClr val="003F3B"/>
                </a:solidFill>
                <a:latin typeface="Aptos"/>
              </a:rPr>
              <a:t>▸ Approve concept</a:t>
            </a:r>
          </a:p>
        </p:txBody>
      </p:sp>
      <p:sp>
        <p:nvSpPr>
          <p:cNvPr id="252" name="s253"/>
          <p:cNvSpPr/>
          <p:nvPr/>
        </p:nvSpPr>
        <p:spPr>
          <a:xfrm>
            <a:off x="711200" y="6781800"/>
            <a:ext cx="1905000" cy="1092200"/>
          </a:xfrm>
          <a:prstGeom prst="rect">
            <a:avLst/>
          </a:prstGeom>
          <a:solidFill>
            <a:srgbClr val="1E6B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3" name="t254"/>
          <p:cNvSpPr txBox="1"/>
          <p:nvPr/>
        </p:nvSpPr>
        <p:spPr>
          <a:xfrm>
            <a:off x="889000" y="6781800"/>
            <a:ext cx="1600200" cy="1092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Aptos"/>
              </a:rPr>
              <a:t>Comms</a:t>
            </a:r>
          </a:p>
        </p:txBody>
      </p:sp>
      <p:sp>
        <p:nvSpPr>
          <p:cNvPr id="254" name="s255"/>
          <p:cNvSpPr/>
          <p:nvPr/>
        </p:nvSpPr>
        <p:spPr>
          <a:xfrm>
            <a:off x="2743200" y="6781800"/>
            <a:ext cx="11176000" cy="1092200"/>
          </a:xfrm>
          <a:prstGeom prst="rect">
            <a:avLst/>
          </a:prstGeom>
          <a:solidFill>
            <a:srgbClr val="F7FAF9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5" name="s256"/>
          <p:cNvSpPr/>
          <p:nvPr/>
        </p:nvSpPr>
        <p:spPr>
          <a:xfrm>
            <a:off x="2743200" y="6781800"/>
            <a:ext cx="76200" cy="1092200"/>
          </a:xfrm>
          <a:prstGeom prst="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6" name="t257"/>
          <p:cNvSpPr txBox="1"/>
          <p:nvPr/>
        </p:nvSpPr>
        <p:spPr>
          <a:xfrm>
            <a:off x="3022600" y="6959600"/>
            <a:ext cx="4318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700" b="1" dirty="0">
                <a:solidFill>
                  <a:srgbClr val="003F3B"/>
                </a:solidFill>
                <a:latin typeface="Aptos"/>
              </a:rPr>
              <a:t>Publication pull-through</a:t>
            </a:r>
          </a:p>
        </p:txBody>
      </p:sp>
      <p:sp>
        <p:nvSpPr>
          <p:cNvPr id="257" name="t258"/>
          <p:cNvSpPr txBox="1"/>
          <p:nvPr/>
        </p:nvSpPr>
        <p:spPr>
          <a:xfrm>
            <a:off x="3022600" y="7366000"/>
            <a:ext cx="431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6A7A76"/>
                </a:solidFill>
                <a:latin typeface="Aptos"/>
              </a:rPr>
              <a:t>Gap: [Gap ID]  ·  Owner: [Name]</a:t>
            </a:r>
          </a:p>
        </p:txBody>
      </p:sp>
      <p:sp>
        <p:nvSpPr>
          <p:cNvPr id="258" name="s259"/>
          <p:cNvSpPr/>
          <p:nvPr/>
        </p:nvSpPr>
        <p:spPr>
          <a:xfrm>
            <a:off x="7569200" y="7137400"/>
            <a:ext cx="1676400" cy="381000"/>
          </a:xfrm>
          <a:prstGeom prst="round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9" name="t260"/>
          <p:cNvSpPr txBox="1"/>
          <p:nvPr/>
        </p:nvSpPr>
        <p:spPr>
          <a:xfrm>
            <a:off x="7569200" y="7137400"/>
            <a:ext cx="16764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"/>
              </a:rPr>
              <a:t>On track</a:t>
            </a:r>
          </a:p>
        </p:txBody>
      </p:sp>
      <p:sp>
        <p:nvSpPr>
          <p:cNvPr id="260" name="t261"/>
          <p:cNvSpPr txBox="1"/>
          <p:nvPr/>
        </p:nvSpPr>
        <p:spPr>
          <a:xfrm>
            <a:off x="9474200" y="69596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100" dirty="0">
                <a:solidFill>
                  <a:srgbClr val="087267"/>
                </a:solidFill>
                <a:latin typeface="Aptos"/>
              </a:rPr>
              <a:t>BUDGET</a:t>
            </a:r>
          </a:p>
        </p:txBody>
      </p:sp>
      <p:sp>
        <p:nvSpPr>
          <p:cNvPr id="261" name="t262"/>
          <p:cNvSpPr txBox="1"/>
          <p:nvPr/>
        </p:nvSpPr>
        <p:spPr>
          <a:xfrm>
            <a:off x="9474200" y="72644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052927"/>
                </a:solidFill>
                <a:latin typeface="Aptos"/>
              </a:rPr>
              <a:t>[Range]</a:t>
            </a:r>
          </a:p>
        </p:txBody>
      </p:sp>
      <p:sp>
        <p:nvSpPr>
          <p:cNvPr id="262" name="t263"/>
          <p:cNvSpPr txBox="1"/>
          <p:nvPr/>
        </p:nvSpPr>
        <p:spPr>
          <a:xfrm>
            <a:off x="11150600" y="69596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100" dirty="0">
                <a:solidFill>
                  <a:srgbClr val="087267"/>
                </a:solidFill>
                <a:latin typeface="Aptos"/>
              </a:rPr>
              <a:t>NEXT ACTION</a:t>
            </a:r>
          </a:p>
        </p:txBody>
      </p:sp>
      <p:sp>
        <p:nvSpPr>
          <p:cNvPr id="263" name="t264"/>
          <p:cNvSpPr txBox="1"/>
          <p:nvPr/>
        </p:nvSpPr>
        <p:spPr>
          <a:xfrm>
            <a:off x="11150600" y="7264400"/>
            <a:ext cx="2540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b="1" dirty="0">
                <a:solidFill>
                  <a:srgbClr val="003F3B"/>
                </a:solidFill>
                <a:latin typeface="Aptos"/>
              </a:rPr>
              <a:t>▸ Congress target</a:t>
            </a:r>
          </a:p>
        </p:txBody>
      </p:sp>
    </p:spTree>
    <p:extLst>
      <p:ext uri="{BB962C8B-B14F-4D97-AF65-F5344CB8AC3E}">
        <p14:creationId xmlns:p14="http://schemas.microsoft.com/office/powerpoint/2010/main" val="25775788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40080"/>
            <a:ext cx="411480" cy="32004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2144" y="640080"/>
            <a:ext cx="612648" cy="32004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54200" y="2946501"/>
            <a:ext cx="1092200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en-US" sz="3600" dirty="0">
                <a:solidFill>
                  <a:srgbClr val="003F3B"/>
                </a:solidFill>
                <a:latin typeface="Georgia"/>
              </a:rPr>
              <a:t>Functional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4200" y="3810101"/>
            <a:ext cx="1092200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en-US" sz="3600" b="0" dirty="0">
                <a:solidFill>
                  <a:srgbClr val="00554F"/>
                </a:solidFill>
                <a:latin typeface="Aptos"/>
              </a:rPr>
              <a:t>and evidence pull-through</a:t>
            </a:r>
          </a:p>
        </p:txBody>
      </p:sp>
      <p:cxnSp>
        <p:nvCxnSpPr>
          <p:cNvPr id="60" name="AccentRule"/>
          <p:cNvCxnSpPr/>
          <p:nvPr/>
        </p:nvCxnSpPr>
        <p:spPr>
          <a:xfrm>
            <a:off x="6553200" y="4726599"/>
            <a:ext cx="1524000" cy="0"/>
          </a:xfrm>
          <a:prstGeom prst="line">
            <a:avLst/>
          </a:prstGeom>
          <a:ln w="19050" cap="flat">
            <a:solidFill>
              <a:srgbClr val="3DDC97"/>
            </a:solidFill>
          </a:ln>
        </p:spPr>
      </p:cxnSp>
    </p:spTree>
    <p:extLst>
      <p:ext uri="{BB962C8B-B14F-4D97-AF65-F5344CB8AC3E}">
        <p14:creationId xmlns:p14="http://schemas.microsoft.com/office/powerpoint/2010/main" val="26541947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584200"/>
            <a:ext cx="406400" cy="381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5700" y="584200"/>
            <a:ext cx="609600" cy="38100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399" y="812800"/>
            <a:ext cx="13747363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dirty="0">
                <a:solidFill>
                  <a:srgbClr val="003F3B"/>
                </a:solidFill>
                <a:latin typeface="Georgia"/>
              </a:rPr>
              <a:t>HEOR </a:t>
            </a:r>
            <a:r>
              <a:rPr lang="en-US" sz="2800" dirty="0">
                <a:solidFill>
                  <a:srgbClr val="003F3B"/>
                </a:solidFill>
                <a:latin typeface="Georgia"/>
              </a:rPr>
              <a:t>and</a:t>
            </a:r>
            <a:r>
              <a:rPr sz="2800" dirty="0">
                <a:solidFill>
                  <a:srgbClr val="003F3B"/>
                </a:solidFill>
                <a:latin typeface="Georgia"/>
              </a:rPr>
              <a:t> market access evidence</a:t>
            </a:r>
            <a:endParaRPr sz="2800" dirty="0">
              <a:solidFill>
                <a:srgbClr val="00554F"/>
              </a:solidFill>
              <a:latin typeface="Georgi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0400" y="1625600"/>
            <a:ext cx="6350000" cy="508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04100" y="1625600"/>
            <a:ext cx="6350000" cy="508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ABBDD7-9B90-EC8E-058C-045D679723A1}"/>
              </a:ext>
            </a:extLst>
          </p:cNvPr>
          <p:cNvSpPr/>
          <p:nvPr/>
        </p:nvSpPr>
        <p:spPr>
          <a:xfrm>
            <a:off x="658368" y="7061200"/>
            <a:ext cx="13095732" cy="431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3133358-9FA4-ABE4-729E-8203B5961BF6}"/>
              </a:ext>
            </a:extLst>
          </p:cNvPr>
          <p:cNvGrpSpPr/>
          <p:nvPr/>
        </p:nvGrpSpPr>
        <p:grpSpPr>
          <a:xfrm>
            <a:off x="698235" y="1973021"/>
            <a:ext cx="5842000" cy="2465818"/>
            <a:chOff x="914400" y="1968500"/>
            <a:chExt cx="5842000" cy="246581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4CDD91D-CCB4-BB93-22C6-31266E2D62EF}"/>
                </a:ext>
              </a:extLst>
            </p:cNvPr>
            <p:cNvSpPr txBox="1"/>
            <p:nvPr/>
          </p:nvSpPr>
          <p:spPr>
            <a:xfrm>
              <a:off x="914400" y="2590800"/>
              <a:ext cx="5842000" cy="184351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marL="228600" indent="-228600">
                <a:lnSpc>
                  <a:spcPts val="2000"/>
                </a:lnSpc>
                <a:spcAft>
                  <a:spcPts val="1000"/>
                </a:spcAft>
                <a:buFont typeface="Arial"/>
                <a:buChar char="•"/>
              </a:pPr>
              <a:r>
                <a:rPr lang="en-US" sz="1600" dirty="0">
                  <a:solidFill>
                    <a:srgbClr val="052927"/>
                  </a:solidFill>
                </a:rPr>
                <a:t>SLR, targeted literature review, and evidence synthesis</a:t>
              </a:r>
            </a:p>
            <a:p>
              <a:pPr marL="228600" indent="-228600">
                <a:lnSpc>
                  <a:spcPts val="2000"/>
                </a:lnSpc>
                <a:spcAft>
                  <a:spcPts val="1000"/>
                </a:spcAft>
                <a:buFont typeface="Arial"/>
                <a:buChar char="•"/>
              </a:pPr>
              <a:r>
                <a:rPr lang="en-US" sz="1600" dirty="0">
                  <a:solidFill>
                    <a:srgbClr val="052927"/>
                  </a:solidFill>
                </a:rPr>
                <a:t>Network meta-analysis or indirect comparison</a:t>
              </a:r>
            </a:p>
            <a:p>
              <a:pPr marL="228600" indent="-228600">
                <a:lnSpc>
                  <a:spcPts val="2000"/>
                </a:lnSpc>
                <a:spcAft>
                  <a:spcPts val="1000"/>
                </a:spcAft>
                <a:buFont typeface="Arial"/>
                <a:buChar char="•"/>
              </a:pPr>
              <a:r>
                <a:rPr lang="en-US" sz="1600" dirty="0">
                  <a:solidFill>
                    <a:srgbClr val="052927"/>
                  </a:solidFill>
                </a:rPr>
                <a:t>Cost-effectiveness and budget impact models</a:t>
              </a:r>
            </a:p>
            <a:p>
              <a:pPr marL="228600" indent="-228600">
                <a:lnSpc>
                  <a:spcPts val="2000"/>
                </a:lnSpc>
                <a:spcAft>
                  <a:spcPts val="1000"/>
                </a:spcAft>
                <a:buFont typeface="Arial"/>
                <a:buChar char="•"/>
              </a:pPr>
              <a:r>
                <a:rPr lang="en-US" sz="1600" dirty="0">
                  <a:solidFill>
                    <a:srgbClr val="052927"/>
                  </a:solidFill>
                </a:rPr>
                <a:t>Utility, resource use, and burden inputs</a:t>
              </a:r>
            </a:p>
            <a:p>
              <a:pPr marL="228600" indent="-228600">
                <a:lnSpc>
                  <a:spcPts val="2000"/>
                </a:lnSpc>
                <a:buFont typeface="Arial"/>
                <a:buChar char="•"/>
              </a:pPr>
              <a:r>
                <a:rPr lang="en-US" sz="1600" dirty="0">
                  <a:solidFill>
                    <a:srgbClr val="052927"/>
                  </a:solidFill>
                </a:rPr>
                <a:t>Payer research and value message testing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BFE68D7-5F27-FF89-F4EE-F227BB5CEFAB}"/>
                </a:ext>
              </a:extLst>
            </p:cNvPr>
            <p:cNvGrpSpPr/>
            <p:nvPr/>
          </p:nvGrpSpPr>
          <p:grpSpPr>
            <a:xfrm>
              <a:off x="914400" y="1968500"/>
              <a:ext cx="3835400" cy="381000"/>
              <a:chOff x="787400" y="1854200"/>
              <a:chExt cx="3835400" cy="381000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88B226-AD36-FE52-A78A-E0B87983F4F0}"/>
                  </a:ext>
                </a:extLst>
              </p:cNvPr>
              <p:cNvSpPr txBox="1"/>
              <p:nvPr/>
            </p:nvSpPr>
            <p:spPr>
              <a:xfrm>
                <a:off x="787400" y="1854200"/>
                <a:ext cx="3835400" cy="332399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r>
                  <a:rPr lang="en-US" sz="1800" b="1" dirty="0">
                    <a:solidFill>
                      <a:srgbClr val="087267"/>
                    </a:solidFill>
                    <a:latin typeface="Aptos"/>
                  </a:rPr>
                  <a:t>Core HEOR work products</a:t>
                </a:r>
              </a:p>
            </p:txBody>
          </p:sp>
          <p:cxnSp>
            <p:nvCxnSpPr>
              <p:cNvPr id="13" name="LabelRule">
                <a:extLst>
                  <a:ext uri="{FF2B5EF4-FFF2-40B4-BE49-F238E27FC236}">
                    <a16:creationId xmlns:a16="http://schemas.microsoft.com/office/drawing/2014/main" id="{46FA034D-CF5D-78E0-4323-F3850E3FBE01}"/>
                  </a:ext>
                </a:extLst>
              </p:cNvPr>
              <p:cNvCxnSpPr/>
              <p:nvPr/>
            </p:nvCxnSpPr>
            <p:spPr>
              <a:xfrm>
                <a:off x="787400" y="2235200"/>
                <a:ext cx="508000" cy="0"/>
              </a:xfrm>
              <a:prstGeom prst="line">
                <a:avLst/>
              </a:prstGeom>
              <a:ln w="19050" cap="flat">
                <a:solidFill>
                  <a:srgbClr val="3DDC9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27543C-9987-242E-45D5-05B6EADD2F43}"/>
              </a:ext>
            </a:extLst>
          </p:cNvPr>
          <p:cNvGrpSpPr/>
          <p:nvPr/>
        </p:nvGrpSpPr>
        <p:grpSpPr>
          <a:xfrm>
            <a:off x="7658100" y="1973021"/>
            <a:ext cx="5842000" cy="2440418"/>
            <a:chOff x="7658100" y="1993900"/>
            <a:chExt cx="5842000" cy="244041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4B073E9-E595-14B6-4336-554510EF2FA3}"/>
                </a:ext>
              </a:extLst>
            </p:cNvPr>
            <p:cNvSpPr txBox="1"/>
            <p:nvPr/>
          </p:nvSpPr>
          <p:spPr>
            <a:xfrm>
              <a:off x="7658100" y="2590800"/>
              <a:ext cx="5842000" cy="184351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marL="228600" indent="-228600">
                <a:lnSpc>
                  <a:spcPts val="2000"/>
                </a:lnSpc>
                <a:spcAft>
                  <a:spcPts val="1000"/>
                </a:spcAft>
                <a:buFont typeface="Arial"/>
                <a:buChar char="•"/>
              </a:pPr>
              <a:r>
                <a:rPr lang="en-US" sz="1600" dirty="0">
                  <a:solidFill>
                    <a:srgbClr val="052927"/>
                  </a:solidFill>
                </a:rPr>
                <a:t>Which markets require local comparator data?</a:t>
              </a:r>
            </a:p>
            <a:p>
              <a:pPr marL="228600" indent="-228600">
                <a:lnSpc>
                  <a:spcPts val="2000"/>
                </a:lnSpc>
                <a:spcAft>
                  <a:spcPts val="1000"/>
                </a:spcAft>
                <a:buFont typeface="Arial"/>
                <a:buChar char="•"/>
              </a:pPr>
              <a:r>
                <a:rPr lang="en-US" sz="1600" dirty="0">
                  <a:solidFill>
                    <a:srgbClr val="052927"/>
                  </a:solidFill>
                </a:rPr>
                <a:t>Which endpoints drive uncertainty in HTA review?</a:t>
              </a:r>
            </a:p>
            <a:p>
              <a:pPr marL="228600" indent="-228600">
                <a:lnSpc>
                  <a:spcPts val="2000"/>
                </a:lnSpc>
                <a:spcAft>
                  <a:spcPts val="1000"/>
                </a:spcAft>
                <a:buFont typeface="Arial"/>
                <a:buChar char="•"/>
              </a:pPr>
              <a:r>
                <a:rPr lang="en-US" sz="1600" dirty="0">
                  <a:solidFill>
                    <a:srgbClr val="052927"/>
                  </a:solidFill>
                </a:rPr>
                <a:t>What economic assumptions need source support?</a:t>
              </a:r>
            </a:p>
            <a:p>
              <a:pPr marL="228600" indent="-228600">
                <a:lnSpc>
                  <a:spcPts val="2000"/>
                </a:lnSpc>
                <a:spcAft>
                  <a:spcPts val="1000"/>
                </a:spcAft>
                <a:buFont typeface="Arial"/>
                <a:buChar char="•"/>
              </a:pPr>
              <a:r>
                <a:rPr lang="en-US" sz="1600" dirty="0">
                  <a:solidFill>
                    <a:srgbClr val="052927"/>
                  </a:solidFill>
                </a:rPr>
                <a:t>What evidence is needed before launch sequencing?</a:t>
              </a:r>
            </a:p>
            <a:p>
              <a:pPr marL="228600" indent="-228600">
                <a:lnSpc>
                  <a:spcPts val="2000"/>
                </a:lnSpc>
                <a:buFont typeface="Arial"/>
                <a:buChar char="•"/>
              </a:pPr>
              <a:r>
                <a:rPr lang="en-US" sz="1600" dirty="0">
                  <a:solidFill>
                    <a:srgbClr val="052927"/>
                  </a:solidFill>
                </a:rPr>
                <a:t>Which gaps can be closed through synthesis vs new data?</a:t>
              </a:r>
              <a:endParaRPr lang="en-US" sz="1600" b="0" dirty="0">
                <a:solidFill>
                  <a:srgbClr val="31403D"/>
                </a:solidFill>
                <a:latin typeface="Aptos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DE59202-0CE3-139C-2F7A-733326700B77}"/>
                </a:ext>
              </a:extLst>
            </p:cNvPr>
            <p:cNvGrpSpPr/>
            <p:nvPr/>
          </p:nvGrpSpPr>
          <p:grpSpPr>
            <a:xfrm>
              <a:off x="7658100" y="1993900"/>
              <a:ext cx="3835400" cy="381000"/>
              <a:chOff x="787400" y="1854200"/>
              <a:chExt cx="3835400" cy="381000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732DED8-6243-C113-0AA1-0C90161F0A9A}"/>
                  </a:ext>
                </a:extLst>
              </p:cNvPr>
              <p:cNvSpPr txBox="1"/>
              <p:nvPr/>
            </p:nvSpPr>
            <p:spPr>
              <a:xfrm>
                <a:off x="787400" y="1854200"/>
                <a:ext cx="3835400" cy="332399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r>
                  <a:rPr lang="en-US" sz="1800" b="1" dirty="0">
                    <a:solidFill>
                      <a:srgbClr val="087267"/>
                    </a:solidFill>
                    <a:latin typeface="Aptos"/>
                  </a:rPr>
                  <a:t>Market access readiness questions</a:t>
                </a:r>
              </a:p>
            </p:txBody>
          </p:sp>
          <p:cxnSp>
            <p:nvCxnSpPr>
              <p:cNvPr id="19" name="LabelRule">
                <a:extLst>
                  <a:ext uri="{FF2B5EF4-FFF2-40B4-BE49-F238E27FC236}">
                    <a16:creationId xmlns:a16="http://schemas.microsoft.com/office/drawing/2014/main" id="{2ED453C2-6EC1-A88A-0ACF-BECFDCC9EC6F}"/>
                  </a:ext>
                </a:extLst>
              </p:cNvPr>
              <p:cNvCxnSpPr/>
              <p:nvPr/>
            </p:nvCxnSpPr>
            <p:spPr>
              <a:xfrm>
                <a:off x="787400" y="2235200"/>
                <a:ext cx="508000" cy="0"/>
              </a:xfrm>
              <a:prstGeom prst="line">
                <a:avLst/>
              </a:prstGeom>
              <a:ln w="19050" cap="flat">
                <a:solidFill>
                  <a:srgbClr val="3DDC9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cxnSp>
        </p:grpSp>
      </p:grpSp>
    </p:spTree>
    <p:extLst>
      <p:ext uri="{BB962C8B-B14F-4D97-AF65-F5344CB8AC3E}">
        <p14:creationId xmlns:p14="http://schemas.microsoft.com/office/powerpoint/2010/main" val="40530651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20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B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202"/>
          <p:cNvSpPr/>
          <p:nvPr/>
        </p:nvSpPr>
        <p:spPr>
          <a:xfrm>
            <a:off x="812800" y="584200"/>
            <a:ext cx="406400" cy="381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s203"/>
          <p:cNvSpPr/>
          <p:nvPr/>
        </p:nvSpPr>
        <p:spPr>
          <a:xfrm>
            <a:off x="1308100" y="584200"/>
            <a:ext cx="609600" cy="381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204"/>
          <p:cNvSpPr txBox="1"/>
          <p:nvPr/>
        </p:nvSpPr>
        <p:spPr>
          <a:xfrm>
            <a:off x="812800" y="812800"/>
            <a:ext cx="127000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800" dirty="0">
                <a:solidFill>
                  <a:srgbClr val="003F3B"/>
                </a:solidFill>
                <a:latin typeface="Georgia"/>
              </a:rPr>
              <a:t>HEOR and market access evidence</a:t>
            </a:r>
          </a:p>
        </p:txBody>
      </p:sp>
      <p:sp>
        <p:nvSpPr>
          <p:cNvPr id="204" name="t205"/>
          <p:cNvSpPr txBox="1"/>
          <p:nvPr/>
        </p:nvSpPr>
        <p:spPr>
          <a:xfrm>
            <a:off x="812800" y="1905000"/>
            <a:ext cx="7874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spc="200" dirty="0">
                <a:solidFill>
                  <a:srgbClr val="087267"/>
                </a:solidFill>
                <a:latin typeface="Aptos"/>
              </a:rPr>
              <a:t>CORE HEOR WORK PRODUCTS</a:t>
            </a:r>
          </a:p>
        </p:txBody>
      </p:sp>
      <p:sp>
        <p:nvSpPr>
          <p:cNvPr id="205" name="s206"/>
          <p:cNvSpPr/>
          <p:nvPr/>
        </p:nvSpPr>
        <p:spPr>
          <a:xfrm>
            <a:off x="812800" y="2413000"/>
            <a:ext cx="431800" cy="431800"/>
          </a:xfrm>
          <a:prstGeom prst="ellipse">
            <a:avLst/>
          </a:prstGeom>
          <a:solidFill>
            <a:srgbClr val="EAF2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t207"/>
          <p:cNvSpPr txBox="1"/>
          <p:nvPr/>
        </p:nvSpPr>
        <p:spPr>
          <a:xfrm>
            <a:off x="812800" y="2413000"/>
            <a:ext cx="4318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087267"/>
                </a:solidFill>
                <a:latin typeface="Georgia"/>
              </a:rPr>
              <a:t>1</a:t>
            </a:r>
          </a:p>
        </p:txBody>
      </p:sp>
      <p:sp>
        <p:nvSpPr>
          <p:cNvPr id="207" name="t208"/>
          <p:cNvSpPr txBox="1"/>
          <p:nvPr/>
        </p:nvSpPr>
        <p:spPr>
          <a:xfrm>
            <a:off x="1447800" y="2438400"/>
            <a:ext cx="72390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SLR, targeted literature review, and evidence synthesis</a:t>
            </a:r>
          </a:p>
        </p:txBody>
      </p:sp>
      <p:sp>
        <p:nvSpPr>
          <p:cNvPr id="208" name="s209"/>
          <p:cNvSpPr/>
          <p:nvPr/>
        </p:nvSpPr>
        <p:spPr>
          <a:xfrm>
            <a:off x="1447800" y="3225800"/>
            <a:ext cx="6985000" cy="12700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9" name="s210"/>
          <p:cNvSpPr/>
          <p:nvPr/>
        </p:nvSpPr>
        <p:spPr>
          <a:xfrm>
            <a:off x="812800" y="3403600"/>
            <a:ext cx="431800" cy="431800"/>
          </a:xfrm>
          <a:prstGeom prst="ellipse">
            <a:avLst/>
          </a:prstGeom>
          <a:solidFill>
            <a:srgbClr val="EAF2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t211"/>
          <p:cNvSpPr txBox="1"/>
          <p:nvPr/>
        </p:nvSpPr>
        <p:spPr>
          <a:xfrm>
            <a:off x="812800" y="3403600"/>
            <a:ext cx="4318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087267"/>
                </a:solidFill>
                <a:latin typeface="Georgia"/>
              </a:rPr>
              <a:t>2</a:t>
            </a:r>
          </a:p>
        </p:txBody>
      </p:sp>
      <p:sp>
        <p:nvSpPr>
          <p:cNvPr id="211" name="t212"/>
          <p:cNvSpPr txBox="1"/>
          <p:nvPr/>
        </p:nvSpPr>
        <p:spPr>
          <a:xfrm>
            <a:off x="1447800" y="3429000"/>
            <a:ext cx="72390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Network meta-analysis or indirect comparison</a:t>
            </a:r>
          </a:p>
        </p:txBody>
      </p:sp>
      <p:sp>
        <p:nvSpPr>
          <p:cNvPr id="212" name="s213"/>
          <p:cNvSpPr/>
          <p:nvPr/>
        </p:nvSpPr>
        <p:spPr>
          <a:xfrm>
            <a:off x="1447800" y="4216400"/>
            <a:ext cx="6985000" cy="12700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s214"/>
          <p:cNvSpPr/>
          <p:nvPr/>
        </p:nvSpPr>
        <p:spPr>
          <a:xfrm>
            <a:off x="812800" y="4394200"/>
            <a:ext cx="431800" cy="431800"/>
          </a:xfrm>
          <a:prstGeom prst="ellipse">
            <a:avLst/>
          </a:prstGeom>
          <a:solidFill>
            <a:srgbClr val="EAF2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t215"/>
          <p:cNvSpPr txBox="1"/>
          <p:nvPr/>
        </p:nvSpPr>
        <p:spPr>
          <a:xfrm>
            <a:off x="812800" y="4394200"/>
            <a:ext cx="4318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087267"/>
                </a:solidFill>
                <a:latin typeface="Georgia"/>
              </a:rPr>
              <a:t>3</a:t>
            </a:r>
          </a:p>
        </p:txBody>
      </p:sp>
      <p:sp>
        <p:nvSpPr>
          <p:cNvPr id="215" name="t216"/>
          <p:cNvSpPr txBox="1"/>
          <p:nvPr/>
        </p:nvSpPr>
        <p:spPr>
          <a:xfrm>
            <a:off x="1447800" y="4419600"/>
            <a:ext cx="72390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Cost-effectiveness and budget impact models</a:t>
            </a:r>
          </a:p>
        </p:txBody>
      </p:sp>
      <p:sp>
        <p:nvSpPr>
          <p:cNvPr id="216" name="s217"/>
          <p:cNvSpPr/>
          <p:nvPr/>
        </p:nvSpPr>
        <p:spPr>
          <a:xfrm>
            <a:off x="1447800" y="5207000"/>
            <a:ext cx="6985000" cy="12700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7" name="s218"/>
          <p:cNvSpPr/>
          <p:nvPr/>
        </p:nvSpPr>
        <p:spPr>
          <a:xfrm>
            <a:off x="812800" y="5384800"/>
            <a:ext cx="431800" cy="431800"/>
          </a:xfrm>
          <a:prstGeom prst="ellipse">
            <a:avLst/>
          </a:prstGeom>
          <a:solidFill>
            <a:srgbClr val="EAF2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8" name="t219"/>
          <p:cNvSpPr txBox="1"/>
          <p:nvPr/>
        </p:nvSpPr>
        <p:spPr>
          <a:xfrm>
            <a:off x="812800" y="5384800"/>
            <a:ext cx="4318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087267"/>
                </a:solidFill>
                <a:latin typeface="Georgia"/>
              </a:rPr>
              <a:t>4</a:t>
            </a:r>
          </a:p>
        </p:txBody>
      </p:sp>
      <p:sp>
        <p:nvSpPr>
          <p:cNvPr id="219" name="t220"/>
          <p:cNvSpPr txBox="1"/>
          <p:nvPr/>
        </p:nvSpPr>
        <p:spPr>
          <a:xfrm>
            <a:off x="1447800" y="5410200"/>
            <a:ext cx="72390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Utility, resource use, and burden inputs</a:t>
            </a:r>
          </a:p>
        </p:txBody>
      </p:sp>
      <p:sp>
        <p:nvSpPr>
          <p:cNvPr id="220" name="s221"/>
          <p:cNvSpPr/>
          <p:nvPr/>
        </p:nvSpPr>
        <p:spPr>
          <a:xfrm>
            <a:off x="1447800" y="6197600"/>
            <a:ext cx="6985000" cy="12700"/>
          </a:xfrm>
          <a:prstGeom prst="rect">
            <a:avLst/>
          </a:prstGeom>
          <a:solidFill>
            <a:srgbClr val="E4E9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s222"/>
          <p:cNvSpPr/>
          <p:nvPr/>
        </p:nvSpPr>
        <p:spPr>
          <a:xfrm>
            <a:off x="812800" y="6375400"/>
            <a:ext cx="431800" cy="431800"/>
          </a:xfrm>
          <a:prstGeom prst="ellipse">
            <a:avLst/>
          </a:prstGeom>
          <a:solidFill>
            <a:srgbClr val="EAF2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t223"/>
          <p:cNvSpPr txBox="1"/>
          <p:nvPr/>
        </p:nvSpPr>
        <p:spPr>
          <a:xfrm>
            <a:off x="812800" y="6375400"/>
            <a:ext cx="4318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087267"/>
                </a:solidFill>
                <a:latin typeface="Georgia"/>
              </a:rPr>
              <a:t>5</a:t>
            </a:r>
          </a:p>
        </p:txBody>
      </p:sp>
      <p:sp>
        <p:nvSpPr>
          <p:cNvPr id="223" name="t224"/>
          <p:cNvSpPr txBox="1"/>
          <p:nvPr/>
        </p:nvSpPr>
        <p:spPr>
          <a:xfrm>
            <a:off x="1447800" y="6400800"/>
            <a:ext cx="72390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dirty="0">
                <a:solidFill>
                  <a:srgbClr val="052927"/>
                </a:solidFill>
                <a:latin typeface="Aptos"/>
              </a:rPr>
              <a:t>Payer research and value message testing</a:t>
            </a:r>
          </a:p>
        </p:txBody>
      </p:sp>
      <p:sp>
        <p:nvSpPr>
          <p:cNvPr id="224" name="s225"/>
          <p:cNvSpPr/>
          <p:nvPr/>
        </p:nvSpPr>
        <p:spPr>
          <a:xfrm>
            <a:off x="9118600" y="1905000"/>
            <a:ext cx="38100" cy="50292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5" name="t226"/>
          <p:cNvSpPr txBox="1"/>
          <p:nvPr/>
        </p:nvSpPr>
        <p:spPr>
          <a:xfrm>
            <a:off x="9398000" y="1905000"/>
            <a:ext cx="45212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i="1" spc="150" dirty="0">
                <a:solidFill>
                  <a:srgbClr val="087267"/>
                </a:solidFill>
                <a:latin typeface="Georgia"/>
              </a:rPr>
              <a:t>Open questions in the margin</a:t>
            </a:r>
          </a:p>
        </p:txBody>
      </p:sp>
      <p:sp>
        <p:nvSpPr>
          <p:cNvPr id="226" name="t227"/>
          <p:cNvSpPr txBox="1"/>
          <p:nvPr/>
        </p:nvSpPr>
        <p:spPr>
          <a:xfrm>
            <a:off x="9398000" y="2463800"/>
            <a:ext cx="45212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i="1" dirty="0">
                <a:solidFill>
                  <a:srgbClr val="234841"/>
                </a:solidFill>
                <a:latin typeface="Aptos"/>
              </a:rPr>
              <a:t>Which markets require local comparator data?</a:t>
            </a:r>
          </a:p>
        </p:txBody>
      </p:sp>
      <p:sp>
        <p:nvSpPr>
          <p:cNvPr id="227" name="t228"/>
          <p:cNvSpPr txBox="1"/>
          <p:nvPr/>
        </p:nvSpPr>
        <p:spPr>
          <a:xfrm>
            <a:off x="9398000" y="3403600"/>
            <a:ext cx="45212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i="1" dirty="0">
                <a:solidFill>
                  <a:srgbClr val="234841"/>
                </a:solidFill>
                <a:latin typeface="Aptos"/>
              </a:rPr>
              <a:t>Which endpoints drive uncertainty in HTA review?</a:t>
            </a:r>
          </a:p>
        </p:txBody>
      </p:sp>
      <p:sp>
        <p:nvSpPr>
          <p:cNvPr id="228" name="t229"/>
          <p:cNvSpPr txBox="1"/>
          <p:nvPr/>
        </p:nvSpPr>
        <p:spPr>
          <a:xfrm>
            <a:off x="9398000" y="4343400"/>
            <a:ext cx="45212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i="1" dirty="0">
                <a:solidFill>
                  <a:srgbClr val="234841"/>
                </a:solidFill>
                <a:latin typeface="Aptos"/>
              </a:rPr>
              <a:t>What economic assumptions need source support?</a:t>
            </a:r>
          </a:p>
        </p:txBody>
      </p:sp>
      <p:sp>
        <p:nvSpPr>
          <p:cNvPr id="229" name="t230"/>
          <p:cNvSpPr txBox="1"/>
          <p:nvPr/>
        </p:nvSpPr>
        <p:spPr>
          <a:xfrm>
            <a:off x="9398000" y="5283200"/>
            <a:ext cx="45212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i="1" dirty="0">
                <a:solidFill>
                  <a:srgbClr val="234841"/>
                </a:solidFill>
                <a:latin typeface="Aptos"/>
              </a:rPr>
              <a:t>What evidence is needed before launch sequencing?</a:t>
            </a:r>
          </a:p>
        </p:txBody>
      </p:sp>
      <p:sp>
        <p:nvSpPr>
          <p:cNvPr id="230" name="t231"/>
          <p:cNvSpPr txBox="1"/>
          <p:nvPr/>
        </p:nvSpPr>
        <p:spPr>
          <a:xfrm>
            <a:off x="9398000" y="6223000"/>
            <a:ext cx="45212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i="1" dirty="0">
                <a:solidFill>
                  <a:srgbClr val="234841"/>
                </a:solidFill>
                <a:latin typeface="Aptos"/>
              </a:rPr>
              <a:t>Which gaps can be closed through synthesis vs new data?</a:t>
            </a:r>
          </a:p>
        </p:txBody>
      </p:sp>
    </p:spTree>
    <p:extLst>
      <p:ext uri="{BB962C8B-B14F-4D97-AF65-F5344CB8AC3E}">
        <p14:creationId xmlns:p14="http://schemas.microsoft.com/office/powerpoint/2010/main" val="7407811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584200"/>
            <a:ext cx="406400" cy="381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5700" y="584200"/>
            <a:ext cx="609600" cy="38100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400" y="812800"/>
            <a:ext cx="13081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800" dirty="0">
                <a:solidFill>
                  <a:srgbClr val="003F3B"/>
                </a:solidFill>
                <a:latin typeface="Georgia"/>
              </a:rPr>
              <a:t>Real-world evidence generation strategy</a:t>
            </a:r>
            <a:endParaRPr sz="2800" dirty="0">
              <a:solidFill>
                <a:srgbClr val="00554F"/>
              </a:solidFill>
              <a:latin typeface="Georgia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314420"/>
              </p:ext>
            </p:extLst>
          </p:nvPr>
        </p:nvGraphicFramePr>
        <p:xfrm>
          <a:off x="658368" y="1630680"/>
          <a:ext cx="13213077" cy="383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2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2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4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920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07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503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087267"/>
                          </a:solidFill>
                          <a:latin typeface="Aptos"/>
                        </a:rPr>
                        <a:t>Use case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87267"/>
                          </a:solidFill>
                          <a:latin typeface="Aptos"/>
                        </a:rPr>
                        <a:t>Candidate source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087267"/>
                          </a:solidFill>
                          <a:latin typeface="Aptos"/>
                        </a:rPr>
                        <a:t>Endpoint availability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087267"/>
                          </a:solidFill>
                          <a:latin typeface="Aptos"/>
                        </a:rPr>
                        <a:t>Population fit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087267"/>
                          </a:solidFill>
                          <a:latin typeface="Aptos"/>
                        </a:rPr>
                        <a:t>Bias / limitations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087267"/>
                          </a:solidFill>
                          <a:latin typeface="Aptos"/>
                        </a:rPr>
                        <a:t>Feasibility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087267"/>
                          </a:solidFill>
                          <a:latin typeface="Aptos"/>
                        </a:rPr>
                        <a:t>Decision use</a:t>
                      </a:r>
                    </a:p>
                  </a:txBody>
                  <a:tcPr marL="45720" marR="45720" anchor="ctr">
                    <a:lnB w="19050" cap="flat">
                      <a:solidFill>
                        <a:srgbClr val="08726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3F3B"/>
                          </a:solidFill>
                          <a:latin typeface="Aptos"/>
                        </a:rPr>
                        <a:t>[Treatment patterns]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[Claims / EHR]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Medium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Missing clinical detail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[Launch planning]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rgbClr val="0872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3F3B"/>
                          </a:solidFill>
                          <a:latin typeface="Aptos"/>
                        </a:rPr>
                        <a:t>[Comparative outcomes]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[Registry]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Medium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Confounding, sample size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Medium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[HTA / HCP confidence]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3F3B"/>
                          </a:solidFill>
                          <a:latin typeface="Aptos"/>
                        </a:rPr>
                        <a:t>[Safety in practice]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[EHR / registry]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Follow-up completeness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[Medical communication]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3F3B"/>
                          </a:solidFill>
                          <a:latin typeface="Aptos"/>
                        </a:rPr>
                        <a:t>[External control]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[Registry + chart]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Medium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2927"/>
                          </a:solidFill>
                          <a:latin typeface="Aptos"/>
                        </a:rPr>
                        <a:t>Medium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Eligibility alignment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Needs review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52927"/>
                          </a:solidFill>
                          <a:latin typeface="Aptos"/>
                        </a:rPr>
                        <a:t>[Regulatory / access]</a:t>
                      </a:r>
                    </a:p>
                  </a:txBody>
                  <a:tcPr marL="45720" marR="45720" anchor="ctr">
                    <a:solidFill>
                      <a:srgbClr val="F6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7061200"/>
            <a:ext cx="13213080" cy="431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986913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202"/>
          <p:cNvSpPr/>
          <p:nvPr/>
        </p:nvSpPr>
        <p:spPr>
          <a:xfrm>
            <a:off x="812800" y="508000"/>
            <a:ext cx="406400" cy="381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s203"/>
          <p:cNvSpPr/>
          <p:nvPr/>
        </p:nvSpPr>
        <p:spPr>
          <a:xfrm>
            <a:off x="1308100" y="508000"/>
            <a:ext cx="609600" cy="381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204"/>
          <p:cNvSpPr txBox="1"/>
          <p:nvPr/>
        </p:nvSpPr>
        <p:spPr>
          <a:xfrm>
            <a:off x="812800" y="711200"/>
            <a:ext cx="127000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800" dirty="0">
                <a:solidFill>
                  <a:srgbClr val="003F3B"/>
                </a:solidFill>
                <a:latin typeface="Georgia"/>
              </a:rPr>
              <a:t>Real-world evidence generation strategy</a:t>
            </a:r>
          </a:p>
        </p:txBody>
      </p:sp>
      <p:sp>
        <p:nvSpPr>
          <p:cNvPr id="204" name="s205"/>
          <p:cNvSpPr/>
          <p:nvPr/>
        </p:nvSpPr>
        <p:spPr>
          <a:xfrm>
            <a:off x="711200" y="1618751"/>
            <a:ext cx="6451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s206"/>
          <p:cNvSpPr/>
          <p:nvPr/>
        </p:nvSpPr>
        <p:spPr>
          <a:xfrm>
            <a:off x="711200" y="1618751"/>
            <a:ext cx="6451600" cy="6604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t207"/>
          <p:cNvSpPr txBox="1"/>
          <p:nvPr/>
        </p:nvSpPr>
        <p:spPr>
          <a:xfrm>
            <a:off x="939800" y="1618751"/>
            <a:ext cx="5080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3DBA8C"/>
                </a:solidFill>
                <a:latin typeface="Georgia"/>
              </a:rPr>
              <a:t>1</a:t>
            </a:r>
          </a:p>
        </p:txBody>
      </p:sp>
      <p:sp>
        <p:nvSpPr>
          <p:cNvPr id="207" name="t208"/>
          <p:cNvSpPr txBox="1"/>
          <p:nvPr/>
        </p:nvSpPr>
        <p:spPr>
          <a:xfrm>
            <a:off x="1371600" y="1618751"/>
            <a:ext cx="3911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700" b="1" dirty="0">
                <a:solidFill>
                  <a:srgbClr val="FFFFFF"/>
                </a:solidFill>
                <a:latin typeface="Aptos"/>
              </a:rPr>
              <a:t>Treatment patterns</a:t>
            </a:r>
          </a:p>
        </p:txBody>
      </p:sp>
      <p:sp>
        <p:nvSpPr>
          <p:cNvPr id="208" name="t209"/>
          <p:cNvSpPr txBox="1"/>
          <p:nvPr/>
        </p:nvSpPr>
        <p:spPr>
          <a:xfrm>
            <a:off x="5130800" y="1618751"/>
            <a:ext cx="1879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300" dirty="0">
                <a:solidFill>
                  <a:srgbClr val="BFE3D6"/>
                </a:solidFill>
                <a:latin typeface="Aptos"/>
              </a:rPr>
              <a:t>Claims / EHR</a:t>
            </a:r>
          </a:p>
        </p:txBody>
      </p:sp>
      <p:sp>
        <p:nvSpPr>
          <p:cNvPr id="209" name="s210"/>
          <p:cNvSpPr/>
          <p:nvPr/>
        </p:nvSpPr>
        <p:spPr>
          <a:xfrm>
            <a:off x="939800" y="2456951"/>
            <a:ext cx="1896533" cy="5842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0" name="s211"/>
          <p:cNvSpPr/>
          <p:nvPr/>
        </p:nvSpPr>
        <p:spPr>
          <a:xfrm>
            <a:off x="939800" y="2456951"/>
            <a:ext cx="63500" cy="584200"/>
          </a:xfrm>
          <a:prstGeom prst="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t212"/>
          <p:cNvSpPr txBox="1"/>
          <p:nvPr/>
        </p:nvSpPr>
        <p:spPr>
          <a:xfrm>
            <a:off x="1092200" y="2533151"/>
            <a:ext cx="169333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1" spc="100" dirty="0">
                <a:solidFill>
                  <a:srgbClr val="6A7A76"/>
                </a:solidFill>
                <a:latin typeface="Aptos"/>
              </a:rPr>
              <a:t>ENDPOINT</a:t>
            </a:r>
          </a:p>
        </p:txBody>
      </p:sp>
      <p:sp>
        <p:nvSpPr>
          <p:cNvPr id="212" name="t213"/>
          <p:cNvSpPr txBox="1"/>
          <p:nvPr/>
        </p:nvSpPr>
        <p:spPr>
          <a:xfrm>
            <a:off x="1092200" y="2736351"/>
            <a:ext cx="169333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dirty="0">
                <a:solidFill>
                  <a:srgbClr val="1E7A53"/>
                </a:solidFill>
                <a:latin typeface="Aptos"/>
              </a:rPr>
              <a:t>High</a:t>
            </a:r>
          </a:p>
        </p:txBody>
      </p:sp>
      <p:sp>
        <p:nvSpPr>
          <p:cNvPr id="213" name="s214"/>
          <p:cNvSpPr/>
          <p:nvPr/>
        </p:nvSpPr>
        <p:spPr>
          <a:xfrm>
            <a:off x="2988733" y="2456951"/>
            <a:ext cx="1896533" cy="5842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4" name="s215"/>
          <p:cNvSpPr/>
          <p:nvPr/>
        </p:nvSpPr>
        <p:spPr>
          <a:xfrm>
            <a:off x="2988733" y="2456951"/>
            <a:ext cx="63500" cy="584200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5" name="t216"/>
          <p:cNvSpPr txBox="1"/>
          <p:nvPr/>
        </p:nvSpPr>
        <p:spPr>
          <a:xfrm>
            <a:off x="3141133" y="2533151"/>
            <a:ext cx="169333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1" spc="100" dirty="0">
                <a:solidFill>
                  <a:srgbClr val="6A7A76"/>
                </a:solidFill>
                <a:latin typeface="Aptos"/>
              </a:rPr>
              <a:t>POPULATION</a:t>
            </a:r>
          </a:p>
        </p:txBody>
      </p:sp>
      <p:sp>
        <p:nvSpPr>
          <p:cNvPr id="216" name="t217"/>
          <p:cNvSpPr txBox="1"/>
          <p:nvPr/>
        </p:nvSpPr>
        <p:spPr>
          <a:xfrm>
            <a:off x="3141133" y="2736351"/>
            <a:ext cx="169333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dirty="0">
                <a:solidFill>
                  <a:srgbClr val="C98A1B"/>
                </a:solidFill>
                <a:latin typeface="Aptos"/>
              </a:rPr>
              <a:t>Medium</a:t>
            </a:r>
          </a:p>
        </p:txBody>
      </p:sp>
      <p:sp>
        <p:nvSpPr>
          <p:cNvPr id="217" name="s218"/>
          <p:cNvSpPr/>
          <p:nvPr/>
        </p:nvSpPr>
        <p:spPr>
          <a:xfrm>
            <a:off x="5037667" y="2456951"/>
            <a:ext cx="1896533" cy="5842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8" name="s219"/>
          <p:cNvSpPr/>
          <p:nvPr/>
        </p:nvSpPr>
        <p:spPr>
          <a:xfrm>
            <a:off x="5037667" y="2456951"/>
            <a:ext cx="63500" cy="584200"/>
          </a:xfrm>
          <a:prstGeom prst="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9" name="t220"/>
          <p:cNvSpPr txBox="1"/>
          <p:nvPr/>
        </p:nvSpPr>
        <p:spPr>
          <a:xfrm>
            <a:off x="5190067" y="2533151"/>
            <a:ext cx="169333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1" spc="100" dirty="0">
                <a:solidFill>
                  <a:srgbClr val="6A7A76"/>
                </a:solidFill>
                <a:latin typeface="Aptos"/>
              </a:rPr>
              <a:t>FEASIBILITY</a:t>
            </a:r>
          </a:p>
        </p:txBody>
      </p:sp>
      <p:sp>
        <p:nvSpPr>
          <p:cNvPr id="220" name="t221"/>
          <p:cNvSpPr txBox="1"/>
          <p:nvPr/>
        </p:nvSpPr>
        <p:spPr>
          <a:xfrm>
            <a:off x="5190067" y="2736351"/>
            <a:ext cx="169333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dirty="0">
                <a:solidFill>
                  <a:srgbClr val="1E7A53"/>
                </a:solidFill>
                <a:latin typeface="Aptos"/>
              </a:rPr>
              <a:t>High</a:t>
            </a:r>
          </a:p>
        </p:txBody>
      </p:sp>
      <p:sp>
        <p:nvSpPr>
          <p:cNvPr id="221" name="t222"/>
          <p:cNvSpPr txBox="1"/>
          <p:nvPr/>
        </p:nvSpPr>
        <p:spPr>
          <a:xfrm>
            <a:off x="939800" y="3193551"/>
            <a:ext cx="5994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b="1" spc="100" dirty="0">
                <a:solidFill>
                  <a:srgbClr val="C0392B"/>
                </a:solidFill>
                <a:latin typeface="Aptos"/>
              </a:rPr>
              <a:t>KEY LIMITATION</a:t>
            </a:r>
          </a:p>
        </p:txBody>
      </p:sp>
      <p:sp>
        <p:nvSpPr>
          <p:cNvPr id="222" name="t223"/>
          <p:cNvSpPr txBox="1"/>
          <p:nvPr/>
        </p:nvSpPr>
        <p:spPr>
          <a:xfrm>
            <a:off x="939800" y="3422151"/>
            <a:ext cx="5994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052927"/>
                </a:solidFill>
                <a:latin typeface="Aptos"/>
              </a:rPr>
              <a:t>Missing clinical detail</a:t>
            </a:r>
          </a:p>
        </p:txBody>
      </p:sp>
      <p:sp>
        <p:nvSpPr>
          <p:cNvPr id="223" name="s224"/>
          <p:cNvSpPr/>
          <p:nvPr/>
        </p:nvSpPr>
        <p:spPr>
          <a:xfrm>
            <a:off x="698500" y="3961955"/>
            <a:ext cx="6464300" cy="419100"/>
          </a:xfrm>
          <a:prstGeom prst="rect">
            <a:avLst/>
          </a:prstGeom>
          <a:solidFill>
            <a:srgbClr val="EFF5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4" name="t225"/>
          <p:cNvSpPr txBox="1"/>
          <p:nvPr/>
        </p:nvSpPr>
        <p:spPr>
          <a:xfrm>
            <a:off x="939800" y="3930151"/>
            <a:ext cx="59944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300" b="1" dirty="0">
                <a:solidFill>
                  <a:srgbClr val="087267"/>
                </a:solidFill>
                <a:latin typeface="Aptos"/>
              </a:rPr>
              <a:t>Decision use:  </a:t>
            </a:r>
            <a:r>
              <a:rPr lang="en-US" sz="1300" dirty="0">
                <a:solidFill>
                  <a:srgbClr val="052927"/>
                </a:solidFill>
                <a:latin typeface="Aptos"/>
              </a:rPr>
              <a:t>Launch planning</a:t>
            </a:r>
          </a:p>
        </p:txBody>
      </p:sp>
      <p:sp>
        <p:nvSpPr>
          <p:cNvPr id="225" name="s226"/>
          <p:cNvSpPr/>
          <p:nvPr/>
        </p:nvSpPr>
        <p:spPr>
          <a:xfrm>
            <a:off x="7467600" y="1618751"/>
            <a:ext cx="6451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6" name="s227"/>
          <p:cNvSpPr/>
          <p:nvPr/>
        </p:nvSpPr>
        <p:spPr>
          <a:xfrm>
            <a:off x="7467600" y="1618751"/>
            <a:ext cx="6451600" cy="6604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7" name="t228"/>
          <p:cNvSpPr txBox="1"/>
          <p:nvPr/>
        </p:nvSpPr>
        <p:spPr>
          <a:xfrm>
            <a:off x="7696200" y="1618751"/>
            <a:ext cx="5080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3DBA8C"/>
                </a:solidFill>
                <a:latin typeface="Georgia"/>
              </a:rPr>
              <a:t>2</a:t>
            </a:r>
          </a:p>
        </p:txBody>
      </p:sp>
      <p:sp>
        <p:nvSpPr>
          <p:cNvPr id="228" name="t229"/>
          <p:cNvSpPr txBox="1"/>
          <p:nvPr/>
        </p:nvSpPr>
        <p:spPr>
          <a:xfrm>
            <a:off x="8128000" y="1618751"/>
            <a:ext cx="3911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700" b="1" dirty="0">
                <a:solidFill>
                  <a:srgbClr val="FFFFFF"/>
                </a:solidFill>
                <a:latin typeface="Aptos"/>
              </a:rPr>
              <a:t>Comparative outcomes</a:t>
            </a:r>
          </a:p>
        </p:txBody>
      </p:sp>
      <p:sp>
        <p:nvSpPr>
          <p:cNvPr id="229" name="t230"/>
          <p:cNvSpPr txBox="1"/>
          <p:nvPr/>
        </p:nvSpPr>
        <p:spPr>
          <a:xfrm>
            <a:off x="11887200" y="1618751"/>
            <a:ext cx="1879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300" dirty="0">
                <a:solidFill>
                  <a:srgbClr val="BFE3D6"/>
                </a:solidFill>
                <a:latin typeface="Aptos"/>
              </a:rPr>
              <a:t>Registry</a:t>
            </a:r>
          </a:p>
        </p:txBody>
      </p:sp>
      <p:sp>
        <p:nvSpPr>
          <p:cNvPr id="230" name="s231"/>
          <p:cNvSpPr/>
          <p:nvPr/>
        </p:nvSpPr>
        <p:spPr>
          <a:xfrm>
            <a:off x="7696200" y="2456951"/>
            <a:ext cx="1896533" cy="5842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s232"/>
          <p:cNvSpPr/>
          <p:nvPr/>
        </p:nvSpPr>
        <p:spPr>
          <a:xfrm>
            <a:off x="7696200" y="2456951"/>
            <a:ext cx="63500" cy="584200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t233"/>
          <p:cNvSpPr txBox="1"/>
          <p:nvPr/>
        </p:nvSpPr>
        <p:spPr>
          <a:xfrm>
            <a:off x="7848600" y="2533151"/>
            <a:ext cx="169333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1" spc="100" dirty="0">
                <a:solidFill>
                  <a:srgbClr val="6A7A76"/>
                </a:solidFill>
                <a:latin typeface="Aptos"/>
              </a:rPr>
              <a:t>ENDPOINT</a:t>
            </a:r>
          </a:p>
        </p:txBody>
      </p:sp>
      <p:sp>
        <p:nvSpPr>
          <p:cNvPr id="233" name="t234"/>
          <p:cNvSpPr txBox="1"/>
          <p:nvPr/>
        </p:nvSpPr>
        <p:spPr>
          <a:xfrm>
            <a:off x="7848600" y="2736351"/>
            <a:ext cx="169333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dirty="0">
                <a:solidFill>
                  <a:srgbClr val="C98A1B"/>
                </a:solidFill>
                <a:latin typeface="Aptos"/>
              </a:rPr>
              <a:t>Medium</a:t>
            </a:r>
          </a:p>
        </p:txBody>
      </p:sp>
      <p:sp>
        <p:nvSpPr>
          <p:cNvPr id="234" name="s235"/>
          <p:cNvSpPr/>
          <p:nvPr/>
        </p:nvSpPr>
        <p:spPr>
          <a:xfrm>
            <a:off x="9745133" y="2456951"/>
            <a:ext cx="1896533" cy="5842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5" name="s236"/>
          <p:cNvSpPr/>
          <p:nvPr/>
        </p:nvSpPr>
        <p:spPr>
          <a:xfrm>
            <a:off x="9745133" y="2456951"/>
            <a:ext cx="63500" cy="584200"/>
          </a:xfrm>
          <a:prstGeom prst="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6" name="t237"/>
          <p:cNvSpPr txBox="1"/>
          <p:nvPr/>
        </p:nvSpPr>
        <p:spPr>
          <a:xfrm>
            <a:off x="9897533" y="2533151"/>
            <a:ext cx="169333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1" spc="100" dirty="0">
                <a:solidFill>
                  <a:srgbClr val="6A7A76"/>
                </a:solidFill>
                <a:latin typeface="Aptos"/>
              </a:rPr>
              <a:t>POPULATION</a:t>
            </a:r>
          </a:p>
        </p:txBody>
      </p:sp>
      <p:sp>
        <p:nvSpPr>
          <p:cNvPr id="237" name="t238"/>
          <p:cNvSpPr txBox="1"/>
          <p:nvPr/>
        </p:nvSpPr>
        <p:spPr>
          <a:xfrm>
            <a:off x="9897533" y="2736351"/>
            <a:ext cx="169333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dirty="0">
                <a:solidFill>
                  <a:srgbClr val="1E7A53"/>
                </a:solidFill>
                <a:latin typeface="Aptos"/>
              </a:rPr>
              <a:t>High</a:t>
            </a:r>
          </a:p>
        </p:txBody>
      </p:sp>
      <p:sp>
        <p:nvSpPr>
          <p:cNvPr id="238" name="s239"/>
          <p:cNvSpPr/>
          <p:nvPr/>
        </p:nvSpPr>
        <p:spPr>
          <a:xfrm>
            <a:off x="11794067" y="2456951"/>
            <a:ext cx="1896533" cy="5842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9" name="s240"/>
          <p:cNvSpPr/>
          <p:nvPr/>
        </p:nvSpPr>
        <p:spPr>
          <a:xfrm>
            <a:off x="11794067" y="2456951"/>
            <a:ext cx="63500" cy="584200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0" name="t241"/>
          <p:cNvSpPr txBox="1"/>
          <p:nvPr/>
        </p:nvSpPr>
        <p:spPr>
          <a:xfrm>
            <a:off x="11946467" y="2533151"/>
            <a:ext cx="169333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1" spc="100" dirty="0">
                <a:solidFill>
                  <a:srgbClr val="6A7A76"/>
                </a:solidFill>
                <a:latin typeface="Aptos"/>
              </a:rPr>
              <a:t>FEASIBILITY</a:t>
            </a:r>
          </a:p>
        </p:txBody>
      </p:sp>
      <p:sp>
        <p:nvSpPr>
          <p:cNvPr id="241" name="t242"/>
          <p:cNvSpPr txBox="1"/>
          <p:nvPr/>
        </p:nvSpPr>
        <p:spPr>
          <a:xfrm>
            <a:off x="11946467" y="2736351"/>
            <a:ext cx="169333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dirty="0">
                <a:solidFill>
                  <a:srgbClr val="C98A1B"/>
                </a:solidFill>
                <a:latin typeface="Aptos"/>
              </a:rPr>
              <a:t>Medium</a:t>
            </a:r>
          </a:p>
        </p:txBody>
      </p:sp>
      <p:sp>
        <p:nvSpPr>
          <p:cNvPr id="242" name="t243"/>
          <p:cNvSpPr txBox="1"/>
          <p:nvPr/>
        </p:nvSpPr>
        <p:spPr>
          <a:xfrm>
            <a:off x="7696200" y="3193551"/>
            <a:ext cx="5994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b="1" spc="100" dirty="0">
                <a:solidFill>
                  <a:srgbClr val="C0392B"/>
                </a:solidFill>
                <a:latin typeface="Aptos"/>
              </a:rPr>
              <a:t>KEY LIMITATION</a:t>
            </a:r>
          </a:p>
        </p:txBody>
      </p:sp>
      <p:sp>
        <p:nvSpPr>
          <p:cNvPr id="243" name="t244"/>
          <p:cNvSpPr txBox="1"/>
          <p:nvPr/>
        </p:nvSpPr>
        <p:spPr>
          <a:xfrm>
            <a:off x="7696200" y="3422151"/>
            <a:ext cx="5994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052927"/>
                </a:solidFill>
                <a:latin typeface="Aptos"/>
              </a:rPr>
              <a:t>Confounding, sample size</a:t>
            </a:r>
          </a:p>
        </p:txBody>
      </p:sp>
      <p:sp>
        <p:nvSpPr>
          <p:cNvPr id="244" name="s245"/>
          <p:cNvSpPr/>
          <p:nvPr/>
        </p:nvSpPr>
        <p:spPr>
          <a:xfrm>
            <a:off x="7467600" y="3961955"/>
            <a:ext cx="6451600" cy="419100"/>
          </a:xfrm>
          <a:prstGeom prst="rect">
            <a:avLst/>
          </a:prstGeom>
          <a:solidFill>
            <a:srgbClr val="EFF5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5" name="t246"/>
          <p:cNvSpPr txBox="1"/>
          <p:nvPr/>
        </p:nvSpPr>
        <p:spPr>
          <a:xfrm>
            <a:off x="7696200" y="3930151"/>
            <a:ext cx="59944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300" b="1" dirty="0">
                <a:solidFill>
                  <a:srgbClr val="087267"/>
                </a:solidFill>
                <a:latin typeface="Aptos"/>
              </a:rPr>
              <a:t>Decision use:  </a:t>
            </a:r>
            <a:r>
              <a:rPr lang="en-US" sz="1300" dirty="0">
                <a:solidFill>
                  <a:srgbClr val="052927"/>
                </a:solidFill>
                <a:latin typeface="Aptos"/>
              </a:rPr>
              <a:t>HTA / HCP confidence</a:t>
            </a:r>
          </a:p>
        </p:txBody>
      </p:sp>
      <p:sp>
        <p:nvSpPr>
          <p:cNvPr id="246" name="s247"/>
          <p:cNvSpPr/>
          <p:nvPr/>
        </p:nvSpPr>
        <p:spPr>
          <a:xfrm>
            <a:off x="711200" y="4615951"/>
            <a:ext cx="6451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7" name="s248"/>
          <p:cNvSpPr/>
          <p:nvPr/>
        </p:nvSpPr>
        <p:spPr>
          <a:xfrm>
            <a:off x="711200" y="4615951"/>
            <a:ext cx="6451600" cy="6604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8" name="t249"/>
          <p:cNvSpPr txBox="1"/>
          <p:nvPr/>
        </p:nvSpPr>
        <p:spPr>
          <a:xfrm>
            <a:off x="939800" y="4615951"/>
            <a:ext cx="5080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3DBA8C"/>
                </a:solidFill>
                <a:latin typeface="Georgia"/>
              </a:rPr>
              <a:t>3</a:t>
            </a:r>
          </a:p>
        </p:txBody>
      </p:sp>
      <p:sp>
        <p:nvSpPr>
          <p:cNvPr id="249" name="t250"/>
          <p:cNvSpPr txBox="1"/>
          <p:nvPr/>
        </p:nvSpPr>
        <p:spPr>
          <a:xfrm>
            <a:off x="1371600" y="4615951"/>
            <a:ext cx="3911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700" b="1" dirty="0">
                <a:solidFill>
                  <a:srgbClr val="FFFFFF"/>
                </a:solidFill>
                <a:latin typeface="Aptos"/>
              </a:rPr>
              <a:t>Safety in practice</a:t>
            </a:r>
          </a:p>
        </p:txBody>
      </p:sp>
      <p:sp>
        <p:nvSpPr>
          <p:cNvPr id="250" name="t251"/>
          <p:cNvSpPr txBox="1"/>
          <p:nvPr/>
        </p:nvSpPr>
        <p:spPr>
          <a:xfrm>
            <a:off x="5130800" y="4615951"/>
            <a:ext cx="1879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300" dirty="0">
                <a:solidFill>
                  <a:srgbClr val="BFE3D6"/>
                </a:solidFill>
                <a:latin typeface="Aptos"/>
              </a:rPr>
              <a:t>EHR / registry</a:t>
            </a:r>
          </a:p>
        </p:txBody>
      </p:sp>
      <p:sp>
        <p:nvSpPr>
          <p:cNvPr id="251" name="s252"/>
          <p:cNvSpPr/>
          <p:nvPr/>
        </p:nvSpPr>
        <p:spPr>
          <a:xfrm>
            <a:off x="939800" y="5454151"/>
            <a:ext cx="1896533" cy="5842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2" name="s253"/>
          <p:cNvSpPr/>
          <p:nvPr/>
        </p:nvSpPr>
        <p:spPr>
          <a:xfrm>
            <a:off x="939800" y="5454151"/>
            <a:ext cx="63500" cy="584200"/>
          </a:xfrm>
          <a:prstGeom prst="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3" name="t254"/>
          <p:cNvSpPr txBox="1"/>
          <p:nvPr/>
        </p:nvSpPr>
        <p:spPr>
          <a:xfrm>
            <a:off x="1092200" y="5530351"/>
            <a:ext cx="169333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1" spc="100" dirty="0">
                <a:solidFill>
                  <a:srgbClr val="6A7A76"/>
                </a:solidFill>
                <a:latin typeface="Aptos"/>
              </a:rPr>
              <a:t>ENDPOINT</a:t>
            </a:r>
          </a:p>
        </p:txBody>
      </p:sp>
      <p:sp>
        <p:nvSpPr>
          <p:cNvPr id="254" name="t255"/>
          <p:cNvSpPr txBox="1"/>
          <p:nvPr/>
        </p:nvSpPr>
        <p:spPr>
          <a:xfrm>
            <a:off x="1092200" y="5733551"/>
            <a:ext cx="169333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dirty="0">
                <a:solidFill>
                  <a:srgbClr val="1E7A53"/>
                </a:solidFill>
                <a:latin typeface="Aptos"/>
              </a:rPr>
              <a:t>High</a:t>
            </a:r>
          </a:p>
        </p:txBody>
      </p:sp>
      <p:sp>
        <p:nvSpPr>
          <p:cNvPr id="255" name="s256"/>
          <p:cNvSpPr/>
          <p:nvPr/>
        </p:nvSpPr>
        <p:spPr>
          <a:xfrm>
            <a:off x="2988733" y="5454151"/>
            <a:ext cx="1896533" cy="5842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6" name="s257"/>
          <p:cNvSpPr/>
          <p:nvPr/>
        </p:nvSpPr>
        <p:spPr>
          <a:xfrm>
            <a:off x="2988733" y="5454151"/>
            <a:ext cx="63500" cy="584200"/>
          </a:xfrm>
          <a:prstGeom prst="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7" name="t258"/>
          <p:cNvSpPr txBox="1"/>
          <p:nvPr/>
        </p:nvSpPr>
        <p:spPr>
          <a:xfrm>
            <a:off x="3141133" y="5530351"/>
            <a:ext cx="169333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1" spc="100" dirty="0">
                <a:solidFill>
                  <a:srgbClr val="6A7A76"/>
                </a:solidFill>
                <a:latin typeface="Aptos"/>
              </a:rPr>
              <a:t>POPULATION</a:t>
            </a:r>
          </a:p>
        </p:txBody>
      </p:sp>
      <p:sp>
        <p:nvSpPr>
          <p:cNvPr id="258" name="t259"/>
          <p:cNvSpPr txBox="1"/>
          <p:nvPr/>
        </p:nvSpPr>
        <p:spPr>
          <a:xfrm>
            <a:off x="3141133" y="5733551"/>
            <a:ext cx="169333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dirty="0">
                <a:solidFill>
                  <a:srgbClr val="1E7A53"/>
                </a:solidFill>
                <a:latin typeface="Aptos"/>
              </a:rPr>
              <a:t>High</a:t>
            </a:r>
          </a:p>
        </p:txBody>
      </p:sp>
      <p:sp>
        <p:nvSpPr>
          <p:cNvPr id="259" name="s260"/>
          <p:cNvSpPr/>
          <p:nvPr/>
        </p:nvSpPr>
        <p:spPr>
          <a:xfrm>
            <a:off x="5037667" y="5454151"/>
            <a:ext cx="1896533" cy="5842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0" name="s261"/>
          <p:cNvSpPr/>
          <p:nvPr/>
        </p:nvSpPr>
        <p:spPr>
          <a:xfrm>
            <a:off x="5037667" y="5454151"/>
            <a:ext cx="63500" cy="584200"/>
          </a:xfrm>
          <a:prstGeom prst="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1" name="t262"/>
          <p:cNvSpPr txBox="1"/>
          <p:nvPr/>
        </p:nvSpPr>
        <p:spPr>
          <a:xfrm>
            <a:off x="5190067" y="5530351"/>
            <a:ext cx="169333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1" spc="100" dirty="0">
                <a:solidFill>
                  <a:srgbClr val="6A7A76"/>
                </a:solidFill>
                <a:latin typeface="Aptos"/>
              </a:rPr>
              <a:t>FEASIBILITY</a:t>
            </a:r>
          </a:p>
        </p:txBody>
      </p:sp>
      <p:sp>
        <p:nvSpPr>
          <p:cNvPr id="262" name="t263"/>
          <p:cNvSpPr txBox="1"/>
          <p:nvPr/>
        </p:nvSpPr>
        <p:spPr>
          <a:xfrm>
            <a:off x="5190067" y="5733551"/>
            <a:ext cx="169333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dirty="0">
                <a:solidFill>
                  <a:srgbClr val="1E7A53"/>
                </a:solidFill>
                <a:latin typeface="Aptos"/>
              </a:rPr>
              <a:t>High</a:t>
            </a:r>
          </a:p>
        </p:txBody>
      </p:sp>
      <p:sp>
        <p:nvSpPr>
          <p:cNvPr id="263" name="t264"/>
          <p:cNvSpPr txBox="1"/>
          <p:nvPr/>
        </p:nvSpPr>
        <p:spPr>
          <a:xfrm>
            <a:off x="939800" y="6190751"/>
            <a:ext cx="5994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b="1" spc="100" dirty="0">
                <a:solidFill>
                  <a:srgbClr val="C0392B"/>
                </a:solidFill>
                <a:latin typeface="Aptos"/>
              </a:rPr>
              <a:t>KEY LIMITATION</a:t>
            </a:r>
          </a:p>
        </p:txBody>
      </p:sp>
      <p:sp>
        <p:nvSpPr>
          <p:cNvPr id="264" name="t265"/>
          <p:cNvSpPr txBox="1"/>
          <p:nvPr/>
        </p:nvSpPr>
        <p:spPr>
          <a:xfrm>
            <a:off x="939800" y="6419351"/>
            <a:ext cx="5994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052927"/>
                </a:solidFill>
                <a:latin typeface="Aptos"/>
              </a:rPr>
              <a:t>Follow-up completeness</a:t>
            </a:r>
          </a:p>
        </p:txBody>
      </p:sp>
      <p:sp>
        <p:nvSpPr>
          <p:cNvPr id="265" name="s266"/>
          <p:cNvSpPr/>
          <p:nvPr/>
        </p:nvSpPr>
        <p:spPr>
          <a:xfrm>
            <a:off x="698500" y="6959155"/>
            <a:ext cx="6464300" cy="431800"/>
          </a:xfrm>
          <a:prstGeom prst="rect">
            <a:avLst/>
          </a:prstGeom>
          <a:solidFill>
            <a:srgbClr val="EFF5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6" name="t267"/>
          <p:cNvSpPr txBox="1"/>
          <p:nvPr/>
        </p:nvSpPr>
        <p:spPr>
          <a:xfrm>
            <a:off x="939800" y="6927351"/>
            <a:ext cx="59944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300" b="1" dirty="0">
                <a:solidFill>
                  <a:srgbClr val="087267"/>
                </a:solidFill>
                <a:latin typeface="Aptos"/>
              </a:rPr>
              <a:t>Decision use:  </a:t>
            </a:r>
            <a:r>
              <a:rPr lang="en-US" sz="1300" dirty="0">
                <a:solidFill>
                  <a:srgbClr val="052927"/>
                </a:solidFill>
                <a:latin typeface="Aptos"/>
              </a:rPr>
              <a:t>Medical communication</a:t>
            </a:r>
          </a:p>
        </p:txBody>
      </p:sp>
      <p:sp>
        <p:nvSpPr>
          <p:cNvPr id="267" name="s268"/>
          <p:cNvSpPr/>
          <p:nvPr/>
        </p:nvSpPr>
        <p:spPr>
          <a:xfrm>
            <a:off x="7467600" y="4615951"/>
            <a:ext cx="6451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8" name="s269"/>
          <p:cNvSpPr/>
          <p:nvPr/>
        </p:nvSpPr>
        <p:spPr>
          <a:xfrm>
            <a:off x="7467600" y="4615951"/>
            <a:ext cx="6451600" cy="6604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9" name="t270"/>
          <p:cNvSpPr txBox="1"/>
          <p:nvPr/>
        </p:nvSpPr>
        <p:spPr>
          <a:xfrm>
            <a:off x="7696200" y="4615951"/>
            <a:ext cx="5080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3DBA8C"/>
                </a:solidFill>
                <a:latin typeface="Georgia"/>
              </a:rPr>
              <a:t>4</a:t>
            </a:r>
          </a:p>
        </p:txBody>
      </p:sp>
      <p:sp>
        <p:nvSpPr>
          <p:cNvPr id="270" name="t271"/>
          <p:cNvSpPr txBox="1"/>
          <p:nvPr/>
        </p:nvSpPr>
        <p:spPr>
          <a:xfrm>
            <a:off x="8128000" y="4615951"/>
            <a:ext cx="3911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700" b="1" dirty="0">
                <a:solidFill>
                  <a:srgbClr val="FFFFFF"/>
                </a:solidFill>
                <a:latin typeface="Aptos"/>
              </a:rPr>
              <a:t>External control</a:t>
            </a:r>
          </a:p>
        </p:txBody>
      </p:sp>
      <p:sp>
        <p:nvSpPr>
          <p:cNvPr id="271" name="t272"/>
          <p:cNvSpPr txBox="1"/>
          <p:nvPr/>
        </p:nvSpPr>
        <p:spPr>
          <a:xfrm>
            <a:off x="11887200" y="4615951"/>
            <a:ext cx="1879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300" dirty="0">
                <a:solidFill>
                  <a:srgbClr val="BFE3D6"/>
                </a:solidFill>
                <a:latin typeface="Aptos"/>
              </a:rPr>
              <a:t>Registry + chart</a:t>
            </a:r>
          </a:p>
        </p:txBody>
      </p:sp>
      <p:sp>
        <p:nvSpPr>
          <p:cNvPr id="272" name="s273"/>
          <p:cNvSpPr/>
          <p:nvPr/>
        </p:nvSpPr>
        <p:spPr>
          <a:xfrm>
            <a:off x="7696200" y="5454151"/>
            <a:ext cx="1896533" cy="5842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3" name="s274"/>
          <p:cNvSpPr/>
          <p:nvPr/>
        </p:nvSpPr>
        <p:spPr>
          <a:xfrm>
            <a:off x="7696200" y="5454151"/>
            <a:ext cx="63500" cy="584200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4" name="t275"/>
          <p:cNvSpPr txBox="1"/>
          <p:nvPr/>
        </p:nvSpPr>
        <p:spPr>
          <a:xfrm>
            <a:off x="7848600" y="5530351"/>
            <a:ext cx="169333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1" spc="100" dirty="0">
                <a:solidFill>
                  <a:srgbClr val="6A7A76"/>
                </a:solidFill>
                <a:latin typeface="Aptos"/>
              </a:rPr>
              <a:t>ENDPOINT</a:t>
            </a:r>
          </a:p>
        </p:txBody>
      </p:sp>
      <p:sp>
        <p:nvSpPr>
          <p:cNvPr id="275" name="t276"/>
          <p:cNvSpPr txBox="1"/>
          <p:nvPr/>
        </p:nvSpPr>
        <p:spPr>
          <a:xfrm>
            <a:off x="7848600" y="5733551"/>
            <a:ext cx="169333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dirty="0">
                <a:solidFill>
                  <a:srgbClr val="C98A1B"/>
                </a:solidFill>
                <a:latin typeface="Aptos"/>
              </a:rPr>
              <a:t>Medium</a:t>
            </a:r>
          </a:p>
        </p:txBody>
      </p:sp>
      <p:sp>
        <p:nvSpPr>
          <p:cNvPr id="276" name="s277"/>
          <p:cNvSpPr/>
          <p:nvPr/>
        </p:nvSpPr>
        <p:spPr>
          <a:xfrm>
            <a:off x="9745133" y="5454151"/>
            <a:ext cx="1896533" cy="5842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7" name="s278"/>
          <p:cNvSpPr/>
          <p:nvPr/>
        </p:nvSpPr>
        <p:spPr>
          <a:xfrm>
            <a:off x="9745133" y="5454151"/>
            <a:ext cx="63500" cy="584200"/>
          </a:xfrm>
          <a:prstGeom prst="rect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8" name="t279"/>
          <p:cNvSpPr txBox="1"/>
          <p:nvPr/>
        </p:nvSpPr>
        <p:spPr>
          <a:xfrm>
            <a:off x="9897533" y="5530351"/>
            <a:ext cx="169333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1" spc="100" dirty="0">
                <a:solidFill>
                  <a:srgbClr val="6A7A76"/>
                </a:solidFill>
                <a:latin typeface="Aptos"/>
              </a:rPr>
              <a:t>POPULATION</a:t>
            </a:r>
          </a:p>
        </p:txBody>
      </p:sp>
      <p:sp>
        <p:nvSpPr>
          <p:cNvPr id="279" name="t280"/>
          <p:cNvSpPr txBox="1"/>
          <p:nvPr/>
        </p:nvSpPr>
        <p:spPr>
          <a:xfrm>
            <a:off x="9897533" y="5733551"/>
            <a:ext cx="169333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dirty="0">
                <a:solidFill>
                  <a:srgbClr val="C98A1B"/>
                </a:solidFill>
                <a:latin typeface="Aptos"/>
              </a:rPr>
              <a:t>Medium</a:t>
            </a:r>
          </a:p>
        </p:txBody>
      </p:sp>
      <p:sp>
        <p:nvSpPr>
          <p:cNvPr id="280" name="s281"/>
          <p:cNvSpPr/>
          <p:nvPr/>
        </p:nvSpPr>
        <p:spPr>
          <a:xfrm>
            <a:off x="11794067" y="5454151"/>
            <a:ext cx="1896533" cy="5842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1" name="s282"/>
          <p:cNvSpPr/>
          <p:nvPr/>
        </p:nvSpPr>
        <p:spPr>
          <a:xfrm>
            <a:off x="11794067" y="5454151"/>
            <a:ext cx="63500" cy="584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2" name="t283"/>
          <p:cNvSpPr txBox="1"/>
          <p:nvPr/>
        </p:nvSpPr>
        <p:spPr>
          <a:xfrm>
            <a:off x="11946467" y="5530351"/>
            <a:ext cx="169333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1" spc="100" dirty="0">
                <a:solidFill>
                  <a:srgbClr val="6A7A76"/>
                </a:solidFill>
                <a:latin typeface="Aptos"/>
              </a:rPr>
              <a:t>FEASIBILITY</a:t>
            </a:r>
          </a:p>
        </p:txBody>
      </p:sp>
      <p:sp>
        <p:nvSpPr>
          <p:cNvPr id="283" name="t284"/>
          <p:cNvSpPr txBox="1"/>
          <p:nvPr/>
        </p:nvSpPr>
        <p:spPr>
          <a:xfrm>
            <a:off x="11946467" y="5733551"/>
            <a:ext cx="169333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dirty="0">
                <a:solidFill>
                  <a:srgbClr val="C0392B"/>
                </a:solidFill>
                <a:latin typeface="Aptos"/>
              </a:rPr>
              <a:t>Needs review</a:t>
            </a:r>
          </a:p>
        </p:txBody>
      </p:sp>
      <p:sp>
        <p:nvSpPr>
          <p:cNvPr id="284" name="t285"/>
          <p:cNvSpPr txBox="1"/>
          <p:nvPr/>
        </p:nvSpPr>
        <p:spPr>
          <a:xfrm>
            <a:off x="7696200" y="6190751"/>
            <a:ext cx="5994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b="1" spc="100" dirty="0">
                <a:solidFill>
                  <a:srgbClr val="C0392B"/>
                </a:solidFill>
                <a:latin typeface="Aptos"/>
              </a:rPr>
              <a:t>KEY LIMITATION</a:t>
            </a:r>
          </a:p>
        </p:txBody>
      </p:sp>
      <p:sp>
        <p:nvSpPr>
          <p:cNvPr id="285" name="t286"/>
          <p:cNvSpPr txBox="1"/>
          <p:nvPr/>
        </p:nvSpPr>
        <p:spPr>
          <a:xfrm>
            <a:off x="7696200" y="6419351"/>
            <a:ext cx="5994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052927"/>
                </a:solidFill>
                <a:latin typeface="Aptos"/>
              </a:rPr>
              <a:t>Eligibility alignment</a:t>
            </a:r>
          </a:p>
        </p:txBody>
      </p:sp>
      <p:sp>
        <p:nvSpPr>
          <p:cNvPr id="286" name="s287"/>
          <p:cNvSpPr/>
          <p:nvPr/>
        </p:nvSpPr>
        <p:spPr>
          <a:xfrm>
            <a:off x="7467600" y="6959155"/>
            <a:ext cx="6451600" cy="419100"/>
          </a:xfrm>
          <a:prstGeom prst="rect">
            <a:avLst/>
          </a:prstGeom>
          <a:solidFill>
            <a:srgbClr val="EFF5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7" name="t288"/>
          <p:cNvSpPr txBox="1"/>
          <p:nvPr/>
        </p:nvSpPr>
        <p:spPr>
          <a:xfrm>
            <a:off x="7696200" y="6927351"/>
            <a:ext cx="59944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300" b="1" dirty="0">
                <a:solidFill>
                  <a:srgbClr val="087267"/>
                </a:solidFill>
                <a:latin typeface="Aptos"/>
              </a:rPr>
              <a:t>Decision use:  </a:t>
            </a:r>
            <a:r>
              <a:rPr lang="en-US" sz="1300" dirty="0">
                <a:solidFill>
                  <a:srgbClr val="052927"/>
                </a:solidFill>
                <a:latin typeface="Aptos"/>
              </a:rPr>
              <a:t>Regulatory / access</a:t>
            </a:r>
          </a:p>
        </p:txBody>
      </p:sp>
    </p:spTree>
    <p:extLst>
      <p:ext uri="{BB962C8B-B14F-4D97-AF65-F5344CB8AC3E}">
        <p14:creationId xmlns:p14="http://schemas.microsoft.com/office/powerpoint/2010/main" val="40184190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20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202"/>
          <p:cNvSpPr/>
          <p:nvPr/>
        </p:nvSpPr>
        <p:spPr>
          <a:xfrm>
            <a:off x="812800" y="508000"/>
            <a:ext cx="406400" cy="381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s203"/>
          <p:cNvSpPr/>
          <p:nvPr/>
        </p:nvSpPr>
        <p:spPr>
          <a:xfrm>
            <a:off x="1308100" y="508000"/>
            <a:ext cx="609600" cy="381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204"/>
          <p:cNvSpPr txBox="1"/>
          <p:nvPr/>
        </p:nvSpPr>
        <p:spPr>
          <a:xfrm>
            <a:off x="812800" y="711200"/>
            <a:ext cx="127000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800" dirty="0">
                <a:solidFill>
                  <a:srgbClr val="003F3B"/>
                </a:solidFill>
                <a:latin typeface="Georgia"/>
              </a:rPr>
              <a:t>Real-world evidence generation strategy</a:t>
            </a:r>
          </a:p>
        </p:txBody>
      </p:sp>
      <p:sp>
        <p:nvSpPr>
          <p:cNvPr id="204" name="t205"/>
          <p:cNvSpPr txBox="1"/>
          <p:nvPr/>
        </p:nvSpPr>
        <p:spPr>
          <a:xfrm>
            <a:off x="965200" y="1879600"/>
            <a:ext cx="3175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50" b="1" spc="120" dirty="0">
                <a:solidFill>
                  <a:srgbClr val="6A7A76"/>
                </a:solidFill>
                <a:latin typeface="Aptos"/>
              </a:rPr>
              <a:t>USE CASE / SOURCE</a:t>
            </a:r>
          </a:p>
        </p:txBody>
      </p:sp>
      <p:sp>
        <p:nvSpPr>
          <p:cNvPr id="205" name="t206"/>
          <p:cNvSpPr txBox="1"/>
          <p:nvPr/>
        </p:nvSpPr>
        <p:spPr>
          <a:xfrm>
            <a:off x="4368800" y="1879600"/>
            <a:ext cx="16764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150" b="1" spc="120" dirty="0">
                <a:solidFill>
                  <a:srgbClr val="6A7A76"/>
                </a:solidFill>
                <a:latin typeface="Aptos"/>
              </a:rPr>
              <a:t>ENDPOINT</a:t>
            </a:r>
          </a:p>
        </p:txBody>
      </p:sp>
      <p:sp>
        <p:nvSpPr>
          <p:cNvPr id="206" name="t207"/>
          <p:cNvSpPr txBox="1"/>
          <p:nvPr/>
        </p:nvSpPr>
        <p:spPr>
          <a:xfrm>
            <a:off x="6172200" y="1879600"/>
            <a:ext cx="16764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150" b="1" spc="120" dirty="0">
                <a:solidFill>
                  <a:srgbClr val="6A7A76"/>
                </a:solidFill>
                <a:latin typeface="Aptos"/>
              </a:rPr>
              <a:t>POPULATION</a:t>
            </a:r>
          </a:p>
        </p:txBody>
      </p:sp>
      <p:sp>
        <p:nvSpPr>
          <p:cNvPr id="207" name="t208"/>
          <p:cNvSpPr txBox="1"/>
          <p:nvPr/>
        </p:nvSpPr>
        <p:spPr>
          <a:xfrm>
            <a:off x="7975600" y="1879600"/>
            <a:ext cx="16764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150" b="1" spc="120" dirty="0">
                <a:solidFill>
                  <a:srgbClr val="6A7A76"/>
                </a:solidFill>
                <a:latin typeface="Aptos"/>
              </a:rPr>
              <a:t>FEASIBILITY</a:t>
            </a:r>
          </a:p>
        </p:txBody>
      </p:sp>
      <p:sp>
        <p:nvSpPr>
          <p:cNvPr id="208" name="t209"/>
          <p:cNvSpPr txBox="1"/>
          <p:nvPr/>
        </p:nvSpPr>
        <p:spPr>
          <a:xfrm>
            <a:off x="9804400" y="18796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50" b="1" spc="120" dirty="0">
                <a:solidFill>
                  <a:srgbClr val="6A7A76"/>
                </a:solidFill>
                <a:latin typeface="Aptos"/>
              </a:rPr>
              <a:t>KEY LIMITATION</a:t>
            </a:r>
          </a:p>
        </p:txBody>
      </p:sp>
      <p:sp>
        <p:nvSpPr>
          <p:cNvPr id="209" name="t210"/>
          <p:cNvSpPr txBox="1"/>
          <p:nvPr/>
        </p:nvSpPr>
        <p:spPr>
          <a:xfrm>
            <a:off x="11531600" y="1879600"/>
            <a:ext cx="22352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50" b="1" spc="120" dirty="0">
                <a:solidFill>
                  <a:srgbClr val="6A7A76"/>
                </a:solidFill>
                <a:latin typeface="Aptos"/>
              </a:rPr>
              <a:t>DECISION USE</a:t>
            </a:r>
          </a:p>
        </p:txBody>
      </p:sp>
      <p:sp>
        <p:nvSpPr>
          <p:cNvPr id="210" name="s211"/>
          <p:cNvSpPr/>
          <p:nvPr/>
        </p:nvSpPr>
        <p:spPr>
          <a:xfrm>
            <a:off x="711200" y="2362200"/>
            <a:ext cx="13208000" cy="1244600"/>
          </a:xfrm>
          <a:prstGeom prst="roundRect">
            <a:avLst/>
          </a:prstGeom>
          <a:solidFill>
            <a:srgbClr val="F7FAF9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1" name="s212"/>
          <p:cNvSpPr/>
          <p:nvPr/>
        </p:nvSpPr>
        <p:spPr>
          <a:xfrm>
            <a:off x="711200" y="2362200"/>
            <a:ext cx="76200" cy="12446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t213"/>
          <p:cNvSpPr txBox="1"/>
          <p:nvPr/>
        </p:nvSpPr>
        <p:spPr>
          <a:xfrm>
            <a:off x="965200" y="2616200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700" b="1" dirty="0">
                <a:solidFill>
                  <a:srgbClr val="003F3B"/>
                </a:solidFill>
                <a:latin typeface="Aptos"/>
              </a:rPr>
              <a:t>Treatment patterns</a:t>
            </a:r>
          </a:p>
        </p:txBody>
      </p:sp>
      <p:sp>
        <p:nvSpPr>
          <p:cNvPr id="213" name="t214"/>
          <p:cNvSpPr txBox="1"/>
          <p:nvPr/>
        </p:nvSpPr>
        <p:spPr>
          <a:xfrm>
            <a:off x="965200" y="2997200"/>
            <a:ext cx="317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6A7A76"/>
                </a:solidFill>
                <a:latin typeface="Aptos"/>
              </a:rPr>
              <a:t>Claims / EHR</a:t>
            </a:r>
          </a:p>
        </p:txBody>
      </p:sp>
      <p:sp>
        <p:nvSpPr>
          <p:cNvPr id="214" name="s215"/>
          <p:cNvSpPr/>
          <p:nvPr/>
        </p:nvSpPr>
        <p:spPr>
          <a:xfrm>
            <a:off x="4686300" y="2768600"/>
            <a:ext cx="279400" cy="279400"/>
          </a:xfrm>
          <a:prstGeom prst="ellipse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5" name="s216"/>
          <p:cNvSpPr/>
          <p:nvPr/>
        </p:nvSpPr>
        <p:spPr>
          <a:xfrm>
            <a:off x="5067300" y="2768600"/>
            <a:ext cx="279400" cy="279400"/>
          </a:xfrm>
          <a:prstGeom prst="ellipse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6" name="s217"/>
          <p:cNvSpPr/>
          <p:nvPr/>
        </p:nvSpPr>
        <p:spPr>
          <a:xfrm>
            <a:off x="5448300" y="2768600"/>
            <a:ext cx="279400" cy="279400"/>
          </a:xfrm>
          <a:prstGeom prst="ellipse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7" name="s218"/>
          <p:cNvSpPr/>
          <p:nvPr/>
        </p:nvSpPr>
        <p:spPr>
          <a:xfrm>
            <a:off x="6489700" y="2768600"/>
            <a:ext cx="279400" cy="279400"/>
          </a:xfrm>
          <a:prstGeom prst="ellipse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8" name="s219"/>
          <p:cNvSpPr/>
          <p:nvPr/>
        </p:nvSpPr>
        <p:spPr>
          <a:xfrm>
            <a:off x="6870700" y="2768600"/>
            <a:ext cx="279400" cy="279400"/>
          </a:xfrm>
          <a:prstGeom prst="ellipse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9" name="s220"/>
          <p:cNvSpPr/>
          <p:nvPr/>
        </p:nvSpPr>
        <p:spPr>
          <a:xfrm>
            <a:off x="7251700" y="2768600"/>
            <a:ext cx="279400" cy="279400"/>
          </a:xfrm>
          <a:prstGeom prst="ellipse">
            <a:avLst/>
          </a:prstGeom>
          <a:solidFill>
            <a:srgbClr val="E1EA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s221"/>
          <p:cNvSpPr/>
          <p:nvPr/>
        </p:nvSpPr>
        <p:spPr>
          <a:xfrm>
            <a:off x="8293100" y="2768600"/>
            <a:ext cx="279400" cy="279400"/>
          </a:xfrm>
          <a:prstGeom prst="ellipse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s222"/>
          <p:cNvSpPr/>
          <p:nvPr/>
        </p:nvSpPr>
        <p:spPr>
          <a:xfrm>
            <a:off x="8674100" y="2768600"/>
            <a:ext cx="279400" cy="279400"/>
          </a:xfrm>
          <a:prstGeom prst="ellipse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s223"/>
          <p:cNvSpPr/>
          <p:nvPr/>
        </p:nvSpPr>
        <p:spPr>
          <a:xfrm>
            <a:off x="9055100" y="2768600"/>
            <a:ext cx="279400" cy="279400"/>
          </a:xfrm>
          <a:prstGeom prst="ellipse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t224"/>
          <p:cNvSpPr txBox="1"/>
          <p:nvPr/>
        </p:nvSpPr>
        <p:spPr>
          <a:xfrm>
            <a:off x="4368800" y="3136900"/>
            <a:ext cx="167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1" dirty="0">
                <a:solidFill>
                  <a:srgbClr val="1E7A53"/>
                </a:solidFill>
                <a:latin typeface="Aptos"/>
              </a:rPr>
              <a:t>High</a:t>
            </a:r>
          </a:p>
        </p:txBody>
      </p:sp>
      <p:sp>
        <p:nvSpPr>
          <p:cNvPr id="224" name="t225"/>
          <p:cNvSpPr txBox="1"/>
          <p:nvPr/>
        </p:nvSpPr>
        <p:spPr>
          <a:xfrm>
            <a:off x="6172200" y="3136900"/>
            <a:ext cx="167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1" dirty="0">
                <a:solidFill>
                  <a:srgbClr val="C98A1B"/>
                </a:solidFill>
                <a:latin typeface="Aptos"/>
              </a:rPr>
              <a:t>Medium</a:t>
            </a:r>
          </a:p>
        </p:txBody>
      </p:sp>
      <p:sp>
        <p:nvSpPr>
          <p:cNvPr id="225" name="t226"/>
          <p:cNvSpPr txBox="1"/>
          <p:nvPr/>
        </p:nvSpPr>
        <p:spPr>
          <a:xfrm>
            <a:off x="7975600" y="3136900"/>
            <a:ext cx="167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1" dirty="0">
                <a:solidFill>
                  <a:srgbClr val="1E7A53"/>
                </a:solidFill>
                <a:latin typeface="Aptos"/>
              </a:rPr>
              <a:t>High</a:t>
            </a:r>
          </a:p>
        </p:txBody>
      </p:sp>
      <p:sp>
        <p:nvSpPr>
          <p:cNvPr id="226" name="t227"/>
          <p:cNvSpPr txBox="1"/>
          <p:nvPr/>
        </p:nvSpPr>
        <p:spPr>
          <a:xfrm>
            <a:off x="9804400" y="2743200"/>
            <a:ext cx="215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052927"/>
                </a:solidFill>
                <a:latin typeface="Aptos"/>
              </a:rPr>
              <a:t>Missing clinical detail</a:t>
            </a:r>
          </a:p>
        </p:txBody>
      </p:sp>
      <p:sp>
        <p:nvSpPr>
          <p:cNvPr id="227" name="s228"/>
          <p:cNvSpPr/>
          <p:nvPr/>
        </p:nvSpPr>
        <p:spPr>
          <a:xfrm>
            <a:off x="12090400" y="2743200"/>
            <a:ext cx="1828800" cy="482600"/>
          </a:xfrm>
          <a:prstGeom prst="roundRect">
            <a:avLst/>
          </a:prstGeom>
          <a:solidFill>
            <a:srgbClr val="EFF5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8" name="t229"/>
          <p:cNvSpPr txBox="1"/>
          <p:nvPr/>
        </p:nvSpPr>
        <p:spPr>
          <a:xfrm>
            <a:off x="11684000" y="2743200"/>
            <a:ext cx="1930400" cy="482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300" b="1" dirty="0">
                <a:solidFill>
                  <a:srgbClr val="087267"/>
                </a:solidFill>
                <a:latin typeface="Aptos"/>
              </a:rPr>
              <a:t>Launch planning</a:t>
            </a:r>
          </a:p>
        </p:txBody>
      </p:sp>
      <p:sp>
        <p:nvSpPr>
          <p:cNvPr id="229" name="s230"/>
          <p:cNvSpPr/>
          <p:nvPr/>
        </p:nvSpPr>
        <p:spPr>
          <a:xfrm>
            <a:off x="711200" y="3733800"/>
            <a:ext cx="13208000" cy="124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0" name="s231"/>
          <p:cNvSpPr/>
          <p:nvPr/>
        </p:nvSpPr>
        <p:spPr>
          <a:xfrm>
            <a:off x="711200" y="3733800"/>
            <a:ext cx="76200" cy="12446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t232"/>
          <p:cNvSpPr txBox="1"/>
          <p:nvPr/>
        </p:nvSpPr>
        <p:spPr>
          <a:xfrm>
            <a:off x="965200" y="3987800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700" b="1" dirty="0">
                <a:solidFill>
                  <a:srgbClr val="003F3B"/>
                </a:solidFill>
                <a:latin typeface="Aptos"/>
              </a:rPr>
              <a:t>Comparative outcomes</a:t>
            </a:r>
          </a:p>
        </p:txBody>
      </p:sp>
      <p:sp>
        <p:nvSpPr>
          <p:cNvPr id="232" name="t233"/>
          <p:cNvSpPr txBox="1"/>
          <p:nvPr/>
        </p:nvSpPr>
        <p:spPr>
          <a:xfrm>
            <a:off x="965200" y="4368800"/>
            <a:ext cx="317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6A7A76"/>
                </a:solidFill>
                <a:latin typeface="Aptos"/>
              </a:rPr>
              <a:t>Registry</a:t>
            </a:r>
          </a:p>
        </p:txBody>
      </p:sp>
      <p:sp>
        <p:nvSpPr>
          <p:cNvPr id="233" name="s234"/>
          <p:cNvSpPr/>
          <p:nvPr/>
        </p:nvSpPr>
        <p:spPr>
          <a:xfrm>
            <a:off x="4686300" y="4140200"/>
            <a:ext cx="279400" cy="279400"/>
          </a:xfrm>
          <a:prstGeom prst="ellipse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4" name="s235"/>
          <p:cNvSpPr/>
          <p:nvPr/>
        </p:nvSpPr>
        <p:spPr>
          <a:xfrm>
            <a:off x="5067300" y="4140200"/>
            <a:ext cx="279400" cy="279400"/>
          </a:xfrm>
          <a:prstGeom prst="ellipse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5" name="s236"/>
          <p:cNvSpPr/>
          <p:nvPr/>
        </p:nvSpPr>
        <p:spPr>
          <a:xfrm>
            <a:off x="5448300" y="4140200"/>
            <a:ext cx="279400" cy="279400"/>
          </a:xfrm>
          <a:prstGeom prst="ellipse">
            <a:avLst/>
          </a:prstGeom>
          <a:solidFill>
            <a:srgbClr val="E1EA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6" name="s237"/>
          <p:cNvSpPr/>
          <p:nvPr/>
        </p:nvSpPr>
        <p:spPr>
          <a:xfrm>
            <a:off x="6489700" y="4140200"/>
            <a:ext cx="279400" cy="279400"/>
          </a:xfrm>
          <a:prstGeom prst="ellipse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7" name="s238"/>
          <p:cNvSpPr/>
          <p:nvPr/>
        </p:nvSpPr>
        <p:spPr>
          <a:xfrm>
            <a:off x="6870700" y="4140200"/>
            <a:ext cx="279400" cy="279400"/>
          </a:xfrm>
          <a:prstGeom prst="ellipse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8" name="s239"/>
          <p:cNvSpPr/>
          <p:nvPr/>
        </p:nvSpPr>
        <p:spPr>
          <a:xfrm>
            <a:off x="7251700" y="4140200"/>
            <a:ext cx="279400" cy="279400"/>
          </a:xfrm>
          <a:prstGeom prst="ellipse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9" name="s240"/>
          <p:cNvSpPr/>
          <p:nvPr/>
        </p:nvSpPr>
        <p:spPr>
          <a:xfrm>
            <a:off x="8293100" y="4140200"/>
            <a:ext cx="279400" cy="279400"/>
          </a:xfrm>
          <a:prstGeom prst="ellipse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0" name="s241"/>
          <p:cNvSpPr/>
          <p:nvPr/>
        </p:nvSpPr>
        <p:spPr>
          <a:xfrm>
            <a:off x="8674100" y="4140200"/>
            <a:ext cx="279400" cy="279400"/>
          </a:xfrm>
          <a:prstGeom prst="ellipse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1" name="s242"/>
          <p:cNvSpPr/>
          <p:nvPr/>
        </p:nvSpPr>
        <p:spPr>
          <a:xfrm>
            <a:off x="9055100" y="4140200"/>
            <a:ext cx="279400" cy="279400"/>
          </a:xfrm>
          <a:prstGeom prst="ellipse">
            <a:avLst/>
          </a:prstGeom>
          <a:solidFill>
            <a:srgbClr val="E1EA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2" name="t243"/>
          <p:cNvSpPr txBox="1"/>
          <p:nvPr/>
        </p:nvSpPr>
        <p:spPr>
          <a:xfrm>
            <a:off x="4368800" y="4508500"/>
            <a:ext cx="167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1" dirty="0">
                <a:solidFill>
                  <a:srgbClr val="C98A1B"/>
                </a:solidFill>
                <a:latin typeface="Aptos"/>
              </a:rPr>
              <a:t>Medium</a:t>
            </a:r>
          </a:p>
        </p:txBody>
      </p:sp>
      <p:sp>
        <p:nvSpPr>
          <p:cNvPr id="243" name="t244"/>
          <p:cNvSpPr txBox="1"/>
          <p:nvPr/>
        </p:nvSpPr>
        <p:spPr>
          <a:xfrm>
            <a:off x="6172200" y="4508500"/>
            <a:ext cx="167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1" dirty="0">
                <a:solidFill>
                  <a:srgbClr val="1E7A53"/>
                </a:solidFill>
                <a:latin typeface="Aptos"/>
              </a:rPr>
              <a:t>High</a:t>
            </a:r>
          </a:p>
        </p:txBody>
      </p:sp>
      <p:sp>
        <p:nvSpPr>
          <p:cNvPr id="244" name="t245"/>
          <p:cNvSpPr txBox="1"/>
          <p:nvPr/>
        </p:nvSpPr>
        <p:spPr>
          <a:xfrm>
            <a:off x="7975600" y="4508500"/>
            <a:ext cx="167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1" dirty="0">
                <a:solidFill>
                  <a:srgbClr val="C98A1B"/>
                </a:solidFill>
                <a:latin typeface="Aptos"/>
              </a:rPr>
              <a:t>Medium</a:t>
            </a:r>
          </a:p>
        </p:txBody>
      </p:sp>
      <p:sp>
        <p:nvSpPr>
          <p:cNvPr id="245" name="t246"/>
          <p:cNvSpPr txBox="1"/>
          <p:nvPr/>
        </p:nvSpPr>
        <p:spPr>
          <a:xfrm>
            <a:off x="9804400" y="4114800"/>
            <a:ext cx="215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052927"/>
                </a:solidFill>
                <a:latin typeface="Aptos"/>
              </a:rPr>
              <a:t>Confounding, sample size</a:t>
            </a:r>
          </a:p>
        </p:txBody>
      </p:sp>
      <p:sp>
        <p:nvSpPr>
          <p:cNvPr id="246" name="s247"/>
          <p:cNvSpPr/>
          <p:nvPr/>
        </p:nvSpPr>
        <p:spPr>
          <a:xfrm>
            <a:off x="12090400" y="4114800"/>
            <a:ext cx="1828800" cy="482600"/>
          </a:xfrm>
          <a:prstGeom prst="roundRect">
            <a:avLst/>
          </a:prstGeom>
          <a:solidFill>
            <a:srgbClr val="EFF5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7" name="t248"/>
          <p:cNvSpPr txBox="1"/>
          <p:nvPr/>
        </p:nvSpPr>
        <p:spPr>
          <a:xfrm>
            <a:off x="11684000" y="4114800"/>
            <a:ext cx="1930400" cy="482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300" b="1" dirty="0">
                <a:solidFill>
                  <a:srgbClr val="087267"/>
                </a:solidFill>
                <a:latin typeface="Aptos"/>
              </a:rPr>
              <a:t>HTA / HCP confidence</a:t>
            </a:r>
          </a:p>
        </p:txBody>
      </p:sp>
      <p:sp>
        <p:nvSpPr>
          <p:cNvPr id="248" name="s249"/>
          <p:cNvSpPr/>
          <p:nvPr/>
        </p:nvSpPr>
        <p:spPr>
          <a:xfrm>
            <a:off x="711200" y="5105400"/>
            <a:ext cx="13208000" cy="1244600"/>
          </a:xfrm>
          <a:prstGeom prst="roundRect">
            <a:avLst/>
          </a:prstGeom>
          <a:solidFill>
            <a:srgbClr val="F7FAF9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9" name="s250"/>
          <p:cNvSpPr/>
          <p:nvPr/>
        </p:nvSpPr>
        <p:spPr>
          <a:xfrm>
            <a:off x="711200" y="5105400"/>
            <a:ext cx="76200" cy="1244600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0" name="t251"/>
          <p:cNvSpPr txBox="1"/>
          <p:nvPr/>
        </p:nvSpPr>
        <p:spPr>
          <a:xfrm>
            <a:off x="965200" y="5359400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700" b="1" dirty="0">
                <a:solidFill>
                  <a:srgbClr val="003F3B"/>
                </a:solidFill>
                <a:latin typeface="Aptos"/>
              </a:rPr>
              <a:t>Safety in practice</a:t>
            </a:r>
          </a:p>
        </p:txBody>
      </p:sp>
      <p:sp>
        <p:nvSpPr>
          <p:cNvPr id="251" name="t252"/>
          <p:cNvSpPr txBox="1"/>
          <p:nvPr/>
        </p:nvSpPr>
        <p:spPr>
          <a:xfrm>
            <a:off x="965200" y="5740400"/>
            <a:ext cx="317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6A7A76"/>
                </a:solidFill>
                <a:latin typeface="Aptos"/>
              </a:rPr>
              <a:t>EHR / registry</a:t>
            </a:r>
          </a:p>
        </p:txBody>
      </p:sp>
      <p:sp>
        <p:nvSpPr>
          <p:cNvPr id="252" name="s253"/>
          <p:cNvSpPr/>
          <p:nvPr/>
        </p:nvSpPr>
        <p:spPr>
          <a:xfrm>
            <a:off x="4686300" y="5511800"/>
            <a:ext cx="279400" cy="279400"/>
          </a:xfrm>
          <a:prstGeom prst="ellipse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3" name="s254"/>
          <p:cNvSpPr/>
          <p:nvPr/>
        </p:nvSpPr>
        <p:spPr>
          <a:xfrm>
            <a:off x="5067300" y="5511800"/>
            <a:ext cx="279400" cy="279400"/>
          </a:xfrm>
          <a:prstGeom prst="ellipse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4" name="s255"/>
          <p:cNvSpPr/>
          <p:nvPr/>
        </p:nvSpPr>
        <p:spPr>
          <a:xfrm>
            <a:off x="5448300" y="5511800"/>
            <a:ext cx="279400" cy="279400"/>
          </a:xfrm>
          <a:prstGeom prst="ellipse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5" name="s256"/>
          <p:cNvSpPr/>
          <p:nvPr/>
        </p:nvSpPr>
        <p:spPr>
          <a:xfrm>
            <a:off x="6489700" y="5511800"/>
            <a:ext cx="279400" cy="279400"/>
          </a:xfrm>
          <a:prstGeom prst="ellipse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6" name="s257"/>
          <p:cNvSpPr/>
          <p:nvPr/>
        </p:nvSpPr>
        <p:spPr>
          <a:xfrm>
            <a:off x="6870700" y="5511800"/>
            <a:ext cx="279400" cy="279400"/>
          </a:xfrm>
          <a:prstGeom prst="ellipse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7" name="s258"/>
          <p:cNvSpPr/>
          <p:nvPr/>
        </p:nvSpPr>
        <p:spPr>
          <a:xfrm>
            <a:off x="7251700" y="5511800"/>
            <a:ext cx="279400" cy="279400"/>
          </a:xfrm>
          <a:prstGeom prst="ellipse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8" name="s259"/>
          <p:cNvSpPr/>
          <p:nvPr/>
        </p:nvSpPr>
        <p:spPr>
          <a:xfrm>
            <a:off x="8293100" y="5511800"/>
            <a:ext cx="279400" cy="279400"/>
          </a:xfrm>
          <a:prstGeom prst="ellipse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9" name="s260"/>
          <p:cNvSpPr/>
          <p:nvPr/>
        </p:nvSpPr>
        <p:spPr>
          <a:xfrm>
            <a:off x="8674100" y="5511800"/>
            <a:ext cx="279400" cy="279400"/>
          </a:xfrm>
          <a:prstGeom prst="ellipse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0" name="s261"/>
          <p:cNvSpPr/>
          <p:nvPr/>
        </p:nvSpPr>
        <p:spPr>
          <a:xfrm>
            <a:off x="9055100" y="5511800"/>
            <a:ext cx="279400" cy="279400"/>
          </a:xfrm>
          <a:prstGeom prst="ellipse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1" name="t262"/>
          <p:cNvSpPr txBox="1"/>
          <p:nvPr/>
        </p:nvSpPr>
        <p:spPr>
          <a:xfrm>
            <a:off x="4368800" y="5880100"/>
            <a:ext cx="167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1" dirty="0">
                <a:solidFill>
                  <a:srgbClr val="1E7A53"/>
                </a:solidFill>
                <a:latin typeface="Aptos"/>
              </a:rPr>
              <a:t>High</a:t>
            </a:r>
          </a:p>
        </p:txBody>
      </p:sp>
      <p:sp>
        <p:nvSpPr>
          <p:cNvPr id="262" name="t263"/>
          <p:cNvSpPr txBox="1"/>
          <p:nvPr/>
        </p:nvSpPr>
        <p:spPr>
          <a:xfrm>
            <a:off x="6172200" y="5880100"/>
            <a:ext cx="167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1" dirty="0">
                <a:solidFill>
                  <a:srgbClr val="1E7A53"/>
                </a:solidFill>
                <a:latin typeface="Aptos"/>
              </a:rPr>
              <a:t>High</a:t>
            </a:r>
          </a:p>
        </p:txBody>
      </p:sp>
      <p:sp>
        <p:nvSpPr>
          <p:cNvPr id="263" name="t264"/>
          <p:cNvSpPr txBox="1"/>
          <p:nvPr/>
        </p:nvSpPr>
        <p:spPr>
          <a:xfrm>
            <a:off x="7975600" y="5880100"/>
            <a:ext cx="167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1" dirty="0">
                <a:solidFill>
                  <a:srgbClr val="1E7A53"/>
                </a:solidFill>
                <a:latin typeface="Aptos"/>
              </a:rPr>
              <a:t>High</a:t>
            </a:r>
          </a:p>
        </p:txBody>
      </p:sp>
      <p:sp>
        <p:nvSpPr>
          <p:cNvPr id="264" name="t265"/>
          <p:cNvSpPr txBox="1"/>
          <p:nvPr/>
        </p:nvSpPr>
        <p:spPr>
          <a:xfrm>
            <a:off x="9804400" y="5486400"/>
            <a:ext cx="215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052927"/>
                </a:solidFill>
                <a:latin typeface="Aptos"/>
              </a:rPr>
              <a:t>Follow-up completeness</a:t>
            </a:r>
          </a:p>
        </p:txBody>
      </p:sp>
      <p:sp>
        <p:nvSpPr>
          <p:cNvPr id="265" name="s266"/>
          <p:cNvSpPr/>
          <p:nvPr/>
        </p:nvSpPr>
        <p:spPr>
          <a:xfrm>
            <a:off x="12090400" y="5486400"/>
            <a:ext cx="1828800" cy="482600"/>
          </a:xfrm>
          <a:prstGeom prst="roundRect">
            <a:avLst/>
          </a:prstGeom>
          <a:solidFill>
            <a:srgbClr val="EFF5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6" name="t267"/>
          <p:cNvSpPr txBox="1"/>
          <p:nvPr/>
        </p:nvSpPr>
        <p:spPr>
          <a:xfrm>
            <a:off x="11684000" y="5486400"/>
            <a:ext cx="1930400" cy="482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300" b="1" dirty="0">
                <a:solidFill>
                  <a:srgbClr val="087267"/>
                </a:solidFill>
                <a:latin typeface="Aptos"/>
              </a:rPr>
              <a:t>Medical communication</a:t>
            </a:r>
          </a:p>
        </p:txBody>
      </p:sp>
      <p:sp>
        <p:nvSpPr>
          <p:cNvPr id="267" name="s268"/>
          <p:cNvSpPr/>
          <p:nvPr/>
        </p:nvSpPr>
        <p:spPr>
          <a:xfrm>
            <a:off x="711200" y="6477000"/>
            <a:ext cx="13208000" cy="124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8" name="s269"/>
          <p:cNvSpPr/>
          <p:nvPr/>
        </p:nvSpPr>
        <p:spPr>
          <a:xfrm>
            <a:off x="711200" y="6477000"/>
            <a:ext cx="76200" cy="1244600"/>
          </a:xfrm>
          <a:prstGeom prst="rect">
            <a:avLst/>
          </a:prstGeom>
          <a:solidFill>
            <a:srgbClr val="1E6B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9" name="t270"/>
          <p:cNvSpPr txBox="1"/>
          <p:nvPr/>
        </p:nvSpPr>
        <p:spPr>
          <a:xfrm>
            <a:off x="965200" y="6731000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700" b="1" dirty="0">
                <a:solidFill>
                  <a:srgbClr val="003F3B"/>
                </a:solidFill>
                <a:latin typeface="Aptos"/>
              </a:rPr>
              <a:t>External control</a:t>
            </a:r>
          </a:p>
        </p:txBody>
      </p:sp>
      <p:sp>
        <p:nvSpPr>
          <p:cNvPr id="270" name="t271"/>
          <p:cNvSpPr txBox="1"/>
          <p:nvPr/>
        </p:nvSpPr>
        <p:spPr>
          <a:xfrm>
            <a:off x="965200" y="7112000"/>
            <a:ext cx="317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6A7A76"/>
                </a:solidFill>
                <a:latin typeface="Aptos"/>
              </a:rPr>
              <a:t>Registry + chart</a:t>
            </a:r>
          </a:p>
        </p:txBody>
      </p:sp>
      <p:sp>
        <p:nvSpPr>
          <p:cNvPr id="271" name="s272"/>
          <p:cNvSpPr/>
          <p:nvPr/>
        </p:nvSpPr>
        <p:spPr>
          <a:xfrm>
            <a:off x="4686300" y="6883400"/>
            <a:ext cx="279400" cy="279400"/>
          </a:xfrm>
          <a:prstGeom prst="ellipse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2" name="s273"/>
          <p:cNvSpPr/>
          <p:nvPr/>
        </p:nvSpPr>
        <p:spPr>
          <a:xfrm>
            <a:off x="5067300" y="6883400"/>
            <a:ext cx="279400" cy="279400"/>
          </a:xfrm>
          <a:prstGeom prst="ellipse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3" name="s274"/>
          <p:cNvSpPr/>
          <p:nvPr/>
        </p:nvSpPr>
        <p:spPr>
          <a:xfrm>
            <a:off x="5448300" y="6883400"/>
            <a:ext cx="279400" cy="279400"/>
          </a:xfrm>
          <a:prstGeom prst="ellipse">
            <a:avLst/>
          </a:prstGeom>
          <a:solidFill>
            <a:srgbClr val="E1EA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4" name="s275"/>
          <p:cNvSpPr/>
          <p:nvPr/>
        </p:nvSpPr>
        <p:spPr>
          <a:xfrm>
            <a:off x="6489700" y="6883400"/>
            <a:ext cx="279400" cy="279400"/>
          </a:xfrm>
          <a:prstGeom prst="ellipse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5" name="s276"/>
          <p:cNvSpPr/>
          <p:nvPr/>
        </p:nvSpPr>
        <p:spPr>
          <a:xfrm>
            <a:off x="6870700" y="6883400"/>
            <a:ext cx="279400" cy="279400"/>
          </a:xfrm>
          <a:prstGeom prst="ellipse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6" name="s277"/>
          <p:cNvSpPr/>
          <p:nvPr/>
        </p:nvSpPr>
        <p:spPr>
          <a:xfrm>
            <a:off x="7251700" y="6883400"/>
            <a:ext cx="279400" cy="279400"/>
          </a:xfrm>
          <a:prstGeom prst="ellipse">
            <a:avLst/>
          </a:prstGeom>
          <a:solidFill>
            <a:srgbClr val="E1EA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7" name="s278"/>
          <p:cNvSpPr/>
          <p:nvPr/>
        </p:nvSpPr>
        <p:spPr>
          <a:xfrm>
            <a:off x="8293100" y="6883400"/>
            <a:ext cx="279400" cy="2794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8" name="s279"/>
          <p:cNvSpPr/>
          <p:nvPr/>
        </p:nvSpPr>
        <p:spPr>
          <a:xfrm>
            <a:off x="8674100" y="6883400"/>
            <a:ext cx="279400" cy="279400"/>
          </a:xfrm>
          <a:prstGeom prst="ellipse">
            <a:avLst/>
          </a:prstGeom>
          <a:solidFill>
            <a:srgbClr val="E1EA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9" name="s280"/>
          <p:cNvSpPr/>
          <p:nvPr/>
        </p:nvSpPr>
        <p:spPr>
          <a:xfrm>
            <a:off x="9055100" y="6883400"/>
            <a:ext cx="279400" cy="279400"/>
          </a:xfrm>
          <a:prstGeom prst="ellipse">
            <a:avLst/>
          </a:prstGeom>
          <a:solidFill>
            <a:srgbClr val="E1EA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0" name="t281"/>
          <p:cNvSpPr txBox="1"/>
          <p:nvPr/>
        </p:nvSpPr>
        <p:spPr>
          <a:xfrm>
            <a:off x="4368800" y="7251700"/>
            <a:ext cx="167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1" dirty="0">
                <a:solidFill>
                  <a:srgbClr val="C98A1B"/>
                </a:solidFill>
                <a:latin typeface="Aptos"/>
              </a:rPr>
              <a:t>Medium</a:t>
            </a:r>
          </a:p>
        </p:txBody>
      </p:sp>
      <p:sp>
        <p:nvSpPr>
          <p:cNvPr id="281" name="t282"/>
          <p:cNvSpPr txBox="1"/>
          <p:nvPr/>
        </p:nvSpPr>
        <p:spPr>
          <a:xfrm>
            <a:off x="6172200" y="7251700"/>
            <a:ext cx="167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1" dirty="0">
                <a:solidFill>
                  <a:srgbClr val="C98A1B"/>
                </a:solidFill>
                <a:latin typeface="Aptos"/>
              </a:rPr>
              <a:t>Medium</a:t>
            </a:r>
          </a:p>
        </p:txBody>
      </p:sp>
      <p:sp>
        <p:nvSpPr>
          <p:cNvPr id="282" name="t283"/>
          <p:cNvSpPr txBox="1"/>
          <p:nvPr/>
        </p:nvSpPr>
        <p:spPr>
          <a:xfrm>
            <a:off x="7975600" y="7251700"/>
            <a:ext cx="167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1" dirty="0">
                <a:solidFill>
                  <a:srgbClr val="C0392B"/>
                </a:solidFill>
                <a:latin typeface="Aptos"/>
              </a:rPr>
              <a:t>Needs review</a:t>
            </a:r>
          </a:p>
        </p:txBody>
      </p:sp>
      <p:sp>
        <p:nvSpPr>
          <p:cNvPr id="283" name="t284"/>
          <p:cNvSpPr txBox="1"/>
          <p:nvPr/>
        </p:nvSpPr>
        <p:spPr>
          <a:xfrm>
            <a:off x="9804400" y="6858000"/>
            <a:ext cx="215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052927"/>
                </a:solidFill>
                <a:latin typeface="Aptos"/>
              </a:rPr>
              <a:t>Eligibility alignment</a:t>
            </a:r>
          </a:p>
        </p:txBody>
      </p:sp>
      <p:sp>
        <p:nvSpPr>
          <p:cNvPr id="284" name="s285"/>
          <p:cNvSpPr/>
          <p:nvPr/>
        </p:nvSpPr>
        <p:spPr>
          <a:xfrm>
            <a:off x="12090400" y="6858000"/>
            <a:ext cx="1828800" cy="482600"/>
          </a:xfrm>
          <a:prstGeom prst="roundRect">
            <a:avLst/>
          </a:prstGeom>
          <a:solidFill>
            <a:srgbClr val="EFF5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5" name="t286"/>
          <p:cNvSpPr txBox="1"/>
          <p:nvPr/>
        </p:nvSpPr>
        <p:spPr>
          <a:xfrm>
            <a:off x="11684000" y="6858000"/>
            <a:ext cx="1930400" cy="482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300" b="1" dirty="0">
                <a:solidFill>
                  <a:srgbClr val="087267"/>
                </a:solidFill>
                <a:latin typeface="Aptos"/>
              </a:rPr>
              <a:t>Regulatory / access</a:t>
            </a:r>
          </a:p>
        </p:txBody>
      </p:sp>
    </p:spTree>
    <p:extLst>
      <p:ext uri="{BB962C8B-B14F-4D97-AF65-F5344CB8AC3E}">
        <p14:creationId xmlns:p14="http://schemas.microsoft.com/office/powerpoint/2010/main" val="26807605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20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202"/>
          <p:cNvSpPr/>
          <p:nvPr/>
        </p:nvSpPr>
        <p:spPr>
          <a:xfrm>
            <a:off x="812800" y="508000"/>
            <a:ext cx="406400" cy="381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s203"/>
          <p:cNvSpPr/>
          <p:nvPr/>
        </p:nvSpPr>
        <p:spPr>
          <a:xfrm>
            <a:off x="1308100" y="508000"/>
            <a:ext cx="609600" cy="381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204"/>
          <p:cNvSpPr txBox="1"/>
          <p:nvPr/>
        </p:nvSpPr>
        <p:spPr>
          <a:xfrm>
            <a:off x="812800" y="711200"/>
            <a:ext cx="127000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800" dirty="0">
                <a:solidFill>
                  <a:srgbClr val="003F3B"/>
                </a:solidFill>
                <a:latin typeface="Georgia"/>
              </a:rPr>
              <a:t>Real-world evidence generation strategy</a:t>
            </a:r>
          </a:p>
        </p:txBody>
      </p:sp>
      <p:sp>
        <p:nvSpPr>
          <p:cNvPr id="204" name="t205"/>
          <p:cNvSpPr txBox="1"/>
          <p:nvPr/>
        </p:nvSpPr>
        <p:spPr>
          <a:xfrm>
            <a:off x="812800" y="1244600"/>
            <a:ext cx="1270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i="1" dirty="0">
                <a:solidFill>
                  <a:srgbClr val="00554F"/>
                </a:solidFill>
                <a:latin typeface="Georgia"/>
              </a:rPr>
              <a:t>Where each use case sits on evidence strength versus feasibility</a:t>
            </a:r>
          </a:p>
        </p:txBody>
      </p:sp>
      <p:sp>
        <p:nvSpPr>
          <p:cNvPr id="205" name="s206"/>
          <p:cNvSpPr/>
          <p:nvPr/>
        </p:nvSpPr>
        <p:spPr>
          <a:xfrm>
            <a:off x="3810000" y="1905000"/>
            <a:ext cx="3937000" cy="2667000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s207"/>
          <p:cNvSpPr/>
          <p:nvPr/>
        </p:nvSpPr>
        <p:spPr>
          <a:xfrm>
            <a:off x="7747000" y="1905000"/>
            <a:ext cx="3937000" cy="2667000"/>
          </a:xfrm>
          <a:prstGeom prst="rect">
            <a:avLst/>
          </a:prstGeom>
          <a:solidFill>
            <a:srgbClr val="EAF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s208"/>
          <p:cNvSpPr/>
          <p:nvPr/>
        </p:nvSpPr>
        <p:spPr>
          <a:xfrm>
            <a:off x="3810000" y="4572000"/>
            <a:ext cx="3937000" cy="2667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s209"/>
          <p:cNvSpPr/>
          <p:nvPr/>
        </p:nvSpPr>
        <p:spPr>
          <a:xfrm>
            <a:off x="7747000" y="4572000"/>
            <a:ext cx="3937000" cy="2667000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9" name="s210"/>
          <p:cNvSpPr/>
          <p:nvPr/>
        </p:nvSpPr>
        <p:spPr>
          <a:xfrm>
            <a:off x="3810000" y="1905000"/>
            <a:ext cx="25400" cy="5334000"/>
          </a:xfrm>
          <a:prstGeom prst="rect">
            <a:avLst/>
          </a:prstGeom>
          <a:solidFill>
            <a:srgbClr val="9FB4A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s211"/>
          <p:cNvSpPr/>
          <p:nvPr/>
        </p:nvSpPr>
        <p:spPr>
          <a:xfrm>
            <a:off x="3810000" y="7239000"/>
            <a:ext cx="7874000" cy="25400"/>
          </a:xfrm>
          <a:prstGeom prst="rect">
            <a:avLst/>
          </a:prstGeom>
          <a:solidFill>
            <a:srgbClr val="9FB4A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s212"/>
          <p:cNvSpPr/>
          <p:nvPr/>
        </p:nvSpPr>
        <p:spPr>
          <a:xfrm>
            <a:off x="7747000" y="1905000"/>
            <a:ext cx="12700" cy="5334000"/>
          </a:xfrm>
          <a:prstGeom prst="rect">
            <a:avLst/>
          </a:prstGeom>
          <a:solidFill>
            <a:srgbClr val="CBD8D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s213"/>
          <p:cNvSpPr/>
          <p:nvPr/>
        </p:nvSpPr>
        <p:spPr>
          <a:xfrm>
            <a:off x="3810000" y="4572000"/>
            <a:ext cx="7874000" cy="12700"/>
          </a:xfrm>
          <a:prstGeom prst="rect">
            <a:avLst/>
          </a:prstGeom>
          <a:solidFill>
            <a:srgbClr val="CBD8D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t214"/>
          <p:cNvSpPr txBox="1"/>
          <p:nvPr/>
        </p:nvSpPr>
        <p:spPr>
          <a:xfrm>
            <a:off x="3810000" y="7366000"/>
            <a:ext cx="7874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400" b="1" spc="120" dirty="0">
                <a:solidFill>
                  <a:srgbClr val="003F3B"/>
                </a:solidFill>
                <a:latin typeface="Aptos"/>
              </a:rPr>
              <a:t>FEASIBILITY  →</a:t>
            </a:r>
          </a:p>
        </p:txBody>
      </p:sp>
      <p:sp>
        <p:nvSpPr>
          <p:cNvPr id="214" name="t215"/>
          <p:cNvSpPr txBox="1"/>
          <p:nvPr/>
        </p:nvSpPr>
        <p:spPr>
          <a:xfrm>
            <a:off x="1905000" y="4419600"/>
            <a:ext cx="190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400" b="1" spc="120" dirty="0">
                <a:solidFill>
                  <a:srgbClr val="003F3B"/>
                </a:solidFill>
                <a:latin typeface="Aptos"/>
              </a:rPr>
              <a:t>EVIDENCE STRENGTH  ↑</a:t>
            </a:r>
          </a:p>
        </p:txBody>
      </p:sp>
      <p:sp>
        <p:nvSpPr>
          <p:cNvPr id="215" name="t216"/>
          <p:cNvSpPr txBox="1"/>
          <p:nvPr/>
        </p:nvSpPr>
        <p:spPr>
          <a:xfrm>
            <a:off x="3784600" y="18542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216" name="s217"/>
          <p:cNvSpPr/>
          <p:nvPr/>
        </p:nvSpPr>
        <p:spPr>
          <a:xfrm>
            <a:off x="10152380" y="3924300"/>
            <a:ext cx="228600" cy="228600"/>
          </a:xfrm>
          <a:prstGeom prst="ellipse">
            <a:avLst/>
          </a:prstGeom>
          <a:solidFill>
            <a:srgbClr val="003F3B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7" name="s218"/>
          <p:cNvSpPr/>
          <p:nvPr/>
        </p:nvSpPr>
        <p:spPr>
          <a:xfrm>
            <a:off x="10464800" y="4114800"/>
            <a:ext cx="1905000" cy="736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F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8" name="s219"/>
          <p:cNvSpPr/>
          <p:nvPr/>
        </p:nvSpPr>
        <p:spPr>
          <a:xfrm>
            <a:off x="10464800" y="4114800"/>
            <a:ext cx="63500" cy="7366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9" name="t220"/>
          <p:cNvSpPr txBox="1"/>
          <p:nvPr/>
        </p:nvSpPr>
        <p:spPr>
          <a:xfrm>
            <a:off x="10617200" y="4216400"/>
            <a:ext cx="1676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dirty="0">
                <a:solidFill>
                  <a:srgbClr val="003F3B"/>
                </a:solidFill>
                <a:latin typeface="Aptos"/>
              </a:rPr>
              <a:t>Treatment patterns</a:t>
            </a:r>
          </a:p>
        </p:txBody>
      </p:sp>
      <p:sp>
        <p:nvSpPr>
          <p:cNvPr id="220" name="t221"/>
          <p:cNvSpPr txBox="1"/>
          <p:nvPr/>
        </p:nvSpPr>
        <p:spPr>
          <a:xfrm>
            <a:off x="10617200" y="4495800"/>
            <a:ext cx="1676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dirty="0">
                <a:solidFill>
                  <a:srgbClr val="6A7A76"/>
                </a:solidFill>
                <a:latin typeface="Aptos"/>
              </a:rPr>
              <a:t>Launch planning</a:t>
            </a:r>
          </a:p>
        </p:txBody>
      </p:sp>
      <p:sp>
        <p:nvSpPr>
          <p:cNvPr id="221" name="s222"/>
          <p:cNvSpPr/>
          <p:nvPr/>
        </p:nvSpPr>
        <p:spPr>
          <a:xfrm>
            <a:off x="7475220" y="3604260"/>
            <a:ext cx="228600" cy="228600"/>
          </a:xfrm>
          <a:prstGeom prst="ellipse">
            <a:avLst/>
          </a:prstGeom>
          <a:solidFill>
            <a:srgbClr val="00554F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2" name="s223"/>
          <p:cNvSpPr/>
          <p:nvPr/>
        </p:nvSpPr>
        <p:spPr>
          <a:xfrm>
            <a:off x="7792720" y="2905760"/>
            <a:ext cx="19050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554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3" name="s224"/>
          <p:cNvSpPr/>
          <p:nvPr/>
        </p:nvSpPr>
        <p:spPr>
          <a:xfrm>
            <a:off x="7792720" y="2905760"/>
            <a:ext cx="63500" cy="9144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4" name="t225"/>
          <p:cNvSpPr txBox="1"/>
          <p:nvPr/>
        </p:nvSpPr>
        <p:spPr>
          <a:xfrm>
            <a:off x="7945120" y="3007360"/>
            <a:ext cx="1676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dirty="0">
                <a:solidFill>
                  <a:srgbClr val="003F3B"/>
                </a:solidFill>
                <a:latin typeface="Aptos"/>
              </a:rPr>
              <a:t>Comparative outcomes</a:t>
            </a:r>
          </a:p>
        </p:txBody>
      </p:sp>
      <p:sp>
        <p:nvSpPr>
          <p:cNvPr id="225" name="t226"/>
          <p:cNvSpPr txBox="1"/>
          <p:nvPr/>
        </p:nvSpPr>
        <p:spPr>
          <a:xfrm>
            <a:off x="7945120" y="3556000"/>
            <a:ext cx="1676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dirty="0">
                <a:solidFill>
                  <a:srgbClr val="6A7A76"/>
                </a:solidFill>
                <a:latin typeface="Aptos"/>
              </a:rPr>
              <a:t>HTA / HCP confidence</a:t>
            </a:r>
          </a:p>
        </p:txBody>
      </p:sp>
      <p:sp>
        <p:nvSpPr>
          <p:cNvPr id="226" name="s227"/>
          <p:cNvSpPr/>
          <p:nvPr/>
        </p:nvSpPr>
        <p:spPr>
          <a:xfrm>
            <a:off x="10152380" y="2537460"/>
            <a:ext cx="228600" cy="228600"/>
          </a:xfrm>
          <a:prstGeom prst="ellipse">
            <a:avLst/>
          </a:prstGeom>
          <a:solidFill>
            <a:srgbClr val="087267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7" name="s228"/>
          <p:cNvSpPr/>
          <p:nvPr/>
        </p:nvSpPr>
        <p:spPr>
          <a:xfrm>
            <a:off x="10469880" y="2829560"/>
            <a:ext cx="1905000" cy="736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8726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8" name="s229"/>
          <p:cNvSpPr/>
          <p:nvPr/>
        </p:nvSpPr>
        <p:spPr>
          <a:xfrm>
            <a:off x="10469880" y="2829560"/>
            <a:ext cx="63500" cy="736600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9" name="t230"/>
          <p:cNvSpPr txBox="1"/>
          <p:nvPr/>
        </p:nvSpPr>
        <p:spPr>
          <a:xfrm>
            <a:off x="10622280" y="2931160"/>
            <a:ext cx="1676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dirty="0">
                <a:solidFill>
                  <a:srgbClr val="003F3B"/>
                </a:solidFill>
                <a:latin typeface="Aptos"/>
              </a:rPr>
              <a:t>Safety in practice</a:t>
            </a:r>
          </a:p>
        </p:txBody>
      </p:sp>
      <p:sp>
        <p:nvSpPr>
          <p:cNvPr id="230" name="t231"/>
          <p:cNvSpPr txBox="1"/>
          <p:nvPr/>
        </p:nvSpPr>
        <p:spPr>
          <a:xfrm>
            <a:off x="10622280" y="3210560"/>
            <a:ext cx="1676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dirty="0">
                <a:solidFill>
                  <a:srgbClr val="6A7A76"/>
                </a:solidFill>
                <a:latin typeface="Aptos"/>
              </a:rPr>
              <a:t>Medical communication</a:t>
            </a:r>
          </a:p>
        </p:txBody>
      </p:sp>
      <p:sp>
        <p:nvSpPr>
          <p:cNvPr id="231" name="s232"/>
          <p:cNvSpPr/>
          <p:nvPr/>
        </p:nvSpPr>
        <p:spPr>
          <a:xfrm>
            <a:off x="5427980" y="4671060"/>
            <a:ext cx="228600" cy="22860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2" name="s233"/>
          <p:cNvSpPr/>
          <p:nvPr/>
        </p:nvSpPr>
        <p:spPr>
          <a:xfrm>
            <a:off x="5745480" y="3972560"/>
            <a:ext cx="1905000" cy="736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392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3" name="s234"/>
          <p:cNvSpPr/>
          <p:nvPr/>
        </p:nvSpPr>
        <p:spPr>
          <a:xfrm>
            <a:off x="5745480" y="3972560"/>
            <a:ext cx="63500" cy="736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4" name="t235"/>
          <p:cNvSpPr txBox="1"/>
          <p:nvPr/>
        </p:nvSpPr>
        <p:spPr>
          <a:xfrm>
            <a:off x="5897880" y="4074160"/>
            <a:ext cx="1676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dirty="0">
                <a:solidFill>
                  <a:srgbClr val="003F3B"/>
                </a:solidFill>
                <a:latin typeface="Aptos"/>
              </a:rPr>
              <a:t>External control</a:t>
            </a:r>
          </a:p>
        </p:txBody>
      </p:sp>
      <p:sp>
        <p:nvSpPr>
          <p:cNvPr id="235" name="t236"/>
          <p:cNvSpPr txBox="1"/>
          <p:nvPr/>
        </p:nvSpPr>
        <p:spPr>
          <a:xfrm>
            <a:off x="5897880" y="4353560"/>
            <a:ext cx="1676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dirty="0">
                <a:solidFill>
                  <a:srgbClr val="6A7A76"/>
                </a:solidFill>
                <a:latin typeface="Aptos"/>
              </a:rPr>
              <a:t>Regulatory / access</a:t>
            </a:r>
          </a:p>
        </p:txBody>
      </p:sp>
      <p:sp>
        <p:nvSpPr>
          <p:cNvPr id="236" name="t237"/>
          <p:cNvSpPr txBox="1"/>
          <p:nvPr/>
        </p:nvSpPr>
        <p:spPr>
          <a:xfrm>
            <a:off x="7874000" y="2006600"/>
            <a:ext cx="3683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1" spc="100" dirty="0">
                <a:solidFill>
                  <a:srgbClr val="087267"/>
                </a:solidFill>
                <a:latin typeface="Aptos"/>
              </a:rPr>
              <a:t>HIGH-CONFIDENCE / READY</a:t>
            </a:r>
          </a:p>
        </p:txBody>
      </p:sp>
    </p:spTree>
    <p:extLst>
      <p:ext uri="{BB962C8B-B14F-4D97-AF65-F5344CB8AC3E}">
        <p14:creationId xmlns:p14="http://schemas.microsoft.com/office/powerpoint/2010/main" val="27748555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20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202"/>
          <p:cNvSpPr/>
          <p:nvPr/>
        </p:nvSpPr>
        <p:spPr>
          <a:xfrm>
            <a:off x="812800" y="508000"/>
            <a:ext cx="406400" cy="381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s203"/>
          <p:cNvSpPr/>
          <p:nvPr/>
        </p:nvSpPr>
        <p:spPr>
          <a:xfrm>
            <a:off x="1308100" y="508000"/>
            <a:ext cx="609600" cy="381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204"/>
          <p:cNvSpPr txBox="1"/>
          <p:nvPr/>
        </p:nvSpPr>
        <p:spPr>
          <a:xfrm>
            <a:off x="812800" y="711200"/>
            <a:ext cx="127000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800" dirty="0">
                <a:solidFill>
                  <a:srgbClr val="003F3B"/>
                </a:solidFill>
                <a:latin typeface="Georgia"/>
              </a:rPr>
              <a:t>Real-world evidence generation strategy</a:t>
            </a:r>
          </a:p>
        </p:txBody>
      </p:sp>
      <p:sp>
        <p:nvSpPr>
          <p:cNvPr id="300" name="s301"/>
          <p:cNvSpPr/>
          <p:nvPr/>
        </p:nvSpPr>
        <p:spPr>
          <a:xfrm>
            <a:off x="711200" y="5359400"/>
            <a:ext cx="13208000" cy="50800"/>
          </a:xfrm>
          <a:prstGeom prst="rect">
            <a:avLst/>
          </a:prstGeom>
          <a:solidFill>
            <a:srgbClr val="C9D9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s302"/>
          <p:cNvSpPr/>
          <p:nvPr/>
        </p:nvSpPr>
        <p:spPr>
          <a:xfrm>
            <a:off x="711200" y="1905000"/>
            <a:ext cx="31115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2" name="s303"/>
          <p:cNvSpPr/>
          <p:nvPr/>
        </p:nvSpPr>
        <p:spPr>
          <a:xfrm>
            <a:off x="711200" y="1905000"/>
            <a:ext cx="3111500" cy="5842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" name="t304"/>
          <p:cNvSpPr txBox="1"/>
          <p:nvPr/>
        </p:nvSpPr>
        <p:spPr>
          <a:xfrm>
            <a:off x="889000" y="1905000"/>
            <a:ext cx="2755900" cy="584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ptos"/>
              </a:rPr>
              <a:t>Treatment patterns</a:t>
            </a:r>
          </a:p>
        </p:txBody>
      </p:sp>
      <p:sp>
        <p:nvSpPr>
          <p:cNvPr id="304" name="t305"/>
          <p:cNvSpPr txBox="1"/>
          <p:nvPr/>
        </p:nvSpPr>
        <p:spPr>
          <a:xfrm>
            <a:off x="889000" y="2616200"/>
            <a:ext cx="27559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100" dirty="0">
                <a:solidFill>
                  <a:srgbClr val="6A7A76"/>
                </a:solidFill>
                <a:latin typeface="Aptos"/>
              </a:rPr>
              <a:t>SOURCE</a:t>
            </a:r>
          </a:p>
        </p:txBody>
      </p:sp>
      <p:sp>
        <p:nvSpPr>
          <p:cNvPr id="305" name="t306"/>
          <p:cNvSpPr txBox="1"/>
          <p:nvPr/>
        </p:nvSpPr>
        <p:spPr>
          <a:xfrm>
            <a:off x="889000" y="2870200"/>
            <a:ext cx="27559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052927"/>
                </a:solidFill>
                <a:latin typeface="Aptos"/>
              </a:rPr>
              <a:t>Claims / EHR</a:t>
            </a:r>
          </a:p>
        </p:txBody>
      </p:sp>
      <p:sp>
        <p:nvSpPr>
          <p:cNvPr id="306" name="t307"/>
          <p:cNvSpPr txBox="1"/>
          <p:nvPr/>
        </p:nvSpPr>
        <p:spPr>
          <a:xfrm>
            <a:off x="889000" y="3327400"/>
            <a:ext cx="66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>
                <a:solidFill>
                  <a:srgbClr val="6A7A76"/>
                </a:solidFill>
                <a:latin typeface="Aptos"/>
              </a:rPr>
              <a:t>Ep</a:t>
            </a:r>
          </a:p>
        </p:txBody>
      </p:sp>
      <p:sp>
        <p:nvSpPr>
          <p:cNvPr id="307" name="s308"/>
          <p:cNvSpPr/>
          <p:nvPr/>
        </p:nvSpPr>
        <p:spPr>
          <a:xfrm>
            <a:off x="1549400" y="3365500"/>
            <a:ext cx="2070100" cy="127000"/>
          </a:xfrm>
          <a:prstGeom prst="roundRect">
            <a:avLst/>
          </a:prstGeom>
          <a:solidFill>
            <a:srgbClr val="EEF2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8" name="s309"/>
          <p:cNvSpPr/>
          <p:nvPr/>
        </p:nvSpPr>
        <p:spPr>
          <a:xfrm>
            <a:off x="1549400" y="3365500"/>
            <a:ext cx="2070100" cy="127000"/>
          </a:xfrm>
          <a:prstGeom prst="round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9" name="t310"/>
          <p:cNvSpPr txBox="1"/>
          <p:nvPr/>
        </p:nvSpPr>
        <p:spPr>
          <a:xfrm>
            <a:off x="889000" y="3759200"/>
            <a:ext cx="66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>
                <a:solidFill>
                  <a:srgbClr val="6A7A76"/>
                </a:solidFill>
                <a:latin typeface="Aptos"/>
              </a:rPr>
              <a:t>Pop</a:t>
            </a:r>
          </a:p>
        </p:txBody>
      </p:sp>
      <p:sp>
        <p:nvSpPr>
          <p:cNvPr id="310" name="s311"/>
          <p:cNvSpPr/>
          <p:nvPr/>
        </p:nvSpPr>
        <p:spPr>
          <a:xfrm>
            <a:off x="1549400" y="3797300"/>
            <a:ext cx="2070100" cy="127000"/>
          </a:xfrm>
          <a:prstGeom prst="roundRect">
            <a:avLst/>
          </a:prstGeom>
          <a:solidFill>
            <a:srgbClr val="EEF2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s312"/>
          <p:cNvSpPr/>
          <p:nvPr/>
        </p:nvSpPr>
        <p:spPr>
          <a:xfrm>
            <a:off x="1549400" y="3797300"/>
            <a:ext cx="1366266" cy="12700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t313"/>
          <p:cNvSpPr txBox="1"/>
          <p:nvPr/>
        </p:nvSpPr>
        <p:spPr>
          <a:xfrm>
            <a:off x="889000" y="4191000"/>
            <a:ext cx="66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>
                <a:solidFill>
                  <a:srgbClr val="6A7A76"/>
                </a:solidFill>
                <a:latin typeface="Aptos"/>
              </a:rPr>
              <a:t>Feas</a:t>
            </a:r>
          </a:p>
        </p:txBody>
      </p:sp>
      <p:sp>
        <p:nvSpPr>
          <p:cNvPr id="313" name="s314"/>
          <p:cNvSpPr/>
          <p:nvPr/>
        </p:nvSpPr>
        <p:spPr>
          <a:xfrm>
            <a:off x="1549400" y="4229100"/>
            <a:ext cx="2070100" cy="127000"/>
          </a:xfrm>
          <a:prstGeom prst="roundRect">
            <a:avLst/>
          </a:prstGeom>
          <a:solidFill>
            <a:srgbClr val="EEF2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4" name="s315"/>
          <p:cNvSpPr/>
          <p:nvPr/>
        </p:nvSpPr>
        <p:spPr>
          <a:xfrm>
            <a:off x="1549400" y="4229100"/>
            <a:ext cx="2070100" cy="127000"/>
          </a:xfrm>
          <a:prstGeom prst="round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5" name="s316"/>
          <p:cNvSpPr/>
          <p:nvPr/>
        </p:nvSpPr>
        <p:spPr>
          <a:xfrm>
            <a:off x="2000250" y="5118100"/>
            <a:ext cx="533400" cy="533400"/>
          </a:xfrm>
          <a:prstGeom prst="ellipse">
            <a:avLst/>
          </a:prstGeom>
          <a:solidFill>
            <a:srgbClr val="003F3B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6" name="t317"/>
          <p:cNvSpPr txBox="1"/>
          <p:nvPr/>
        </p:nvSpPr>
        <p:spPr>
          <a:xfrm>
            <a:off x="2000250" y="5118100"/>
            <a:ext cx="533400" cy="533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317" name="s318"/>
          <p:cNvSpPr/>
          <p:nvPr/>
        </p:nvSpPr>
        <p:spPr>
          <a:xfrm>
            <a:off x="2254250" y="4826000"/>
            <a:ext cx="25400" cy="292100"/>
          </a:xfrm>
          <a:prstGeom prst="rect">
            <a:avLst/>
          </a:prstGeom>
          <a:solidFill>
            <a:srgbClr val="C9D9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8" name="s319"/>
          <p:cNvSpPr/>
          <p:nvPr/>
        </p:nvSpPr>
        <p:spPr>
          <a:xfrm>
            <a:off x="2254250" y="5651500"/>
            <a:ext cx="25400" cy="241300"/>
          </a:xfrm>
          <a:prstGeom prst="rect">
            <a:avLst/>
          </a:prstGeom>
          <a:solidFill>
            <a:srgbClr val="C9D9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9" name="s320"/>
          <p:cNvSpPr/>
          <p:nvPr/>
        </p:nvSpPr>
        <p:spPr>
          <a:xfrm>
            <a:off x="711200" y="5892800"/>
            <a:ext cx="3111500" cy="1828800"/>
          </a:xfrm>
          <a:prstGeom prst="roundRect">
            <a:avLst/>
          </a:prstGeom>
          <a:solidFill>
            <a:srgbClr val="EFF5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0" name="s321"/>
          <p:cNvSpPr/>
          <p:nvPr/>
        </p:nvSpPr>
        <p:spPr>
          <a:xfrm>
            <a:off x="711200" y="5892800"/>
            <a:ext cx="3111500" cy="508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t322"/>
          <p:cNvSpPr txBox="1"/>
          <p:nvPr/>
        </p:nvSpPr>
        <p:spPr>
          <a:xfrm>
            <a:off x="889000" y="6045200"/>
            <a:ext cx="2755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120" dirty="0">
                <a:solidFill>
                  <a:srgbClr val="087267"/>
                </a:solidFill>
                <a:latin typeface="Aptos"/>
              </a:rPr>
              <a:t>DECISION USE</a:t>
            </a:r>
          </a:p>
        </p:txBody>
      </p:sp>
      <p:sp>
        <p:nvSpPr>
          <p:cNvPr id="322" name="t323"/>
          <p:cNvSpPr txBox="1"/>
          <p:nvPr/>
        </p:nvSpPr>
        <p:spPr>
          <a:xfrm>
            <a:off x="889000" y="6324600"/>
            <a:ext cx="27559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b="1" dirty="0">
                <a:solidFill>
                  <a:srgbClr val="003F3B"/>
                </a:solidFill>
                <a:latin typeface="Aptos"/>
              </a:rPr>
              <a:t>Launch planning</a:t>
            </a:r>
          </a:p>
        </p:txBody>
      </p:sp>
      <p:sp>
        <p:nvSpPr>
          <p:cNvPr id="323" name="s324"/>
          <p:cNvSpPr/>
          <p:nvPr/>
        </p:nvSpPr>
        <p:spPr>
          <a:xfrm>
            <a:off x="4076700" y="1905000"/>
            <a:ext cx="31115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4" name="s325"/>
          <p:cNvSpPr/>
          <p:nvPr/>
        </p:nvSpPr>
        <p:spPr>
          <a:xfrm>
            <a:off x="4076700" y="1905000"/>
            <a:ext cx="3111500" cy="5842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5" name="t326"/>
          <p:cNvSpPr txBox="1"/>
          <p:nvPr/>
        </p:nvSpPr>
        <p:spPr>
          <a:xfrm>
            <a:off x="4254500" y="1905000"/>
            <a:ext cx="2755900" cy="584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ptos"/>
              </a:rPr>
              <a:t>Comparative outcomes</a:t>
            </a:r>
          </a:p>
        </p:txBody>
      </p:sp>
      <p:sp>
        <p:nvSpPr>
          <p:cNvPr id="326" name="t327"/>
          <p:cNvSpPr txBox="1"/>
          <p:nvPr/>
        </p:nvSpPr>
        <p:spPr>
          <a:xfrm>
            <a:off x="4254500" y="2616200"/>
            <a:ext cx="27559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100" dirty="0">
                <a:solidFill>
                  <a:srgbClr val="6A7A76"/>
                </a:solidFill>
                <a:latin typeface="Aptos"/>
              </a:rPr>
              <a:t>SOURCE</a:t>
            </a:r>
          </a:p>
        </p:txBody>
      </p:sp>
      <p:sp>
        <p:nvSpPr>
          <p:cNvPr id="327" name="t328"/>
          <p:cNvSpPr txBox="1"/>
          <p:nvPr/>
        </p:nvSpPr>
        <p:spPr>
          <a:xfrm>
            <a:off x="4254500" y="2870200"/>
            <a:ext cx="27559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052927"/>
                </a:solidFill>
                <a:latin typeface="Aptos"/>
              </a:rPr>
              <a:t>Registry</a:t>
            </a:r>
          </a:p>
        </p:txBody>
      </p:sp>
      <p:sp>
        <p:nvSpPr>
          <p:cNvPr id="328" name="t329"/>
          <p:cNvSpPr txBox="1"/>
          <p:nvPr/>
        </p:nvSpPr>
        <p:spPr>
          <a:xfrm>
            <a:off x="4254500" y="3327400"/>
            <a:ext cx="66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>
                <a:solidFill>
                  <a:srgbClr val="6A7A76"/>
                </a:solidFill>
                <a:latin typeface="Aptos"/>
              </a:rPr>
              <a:t>Ep</a:t>
            </a:r>
          </a:p>
        </p:txBody>
      </p:sp>
      <p:sp>
        <p:nvSpPr>
          <p:cNvPr id="329" name="s330"/>
          <p:cNvSpPr/>
          <p:nvPr/>
        </p:nvSpPr>
        <p:spPr>
          <a:xfrm>
            <a:off x="4914900" y="3365500"/>
            <a:ext cx="2070100" cy="127000"/>
          </a:xfrm>
          <a:prstGeom prst="roundRect">
            <a:avLst/>
          </a:prstGeom>
          <a:solidFill>
            <a:srgbClr val="EEF2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0" name="s331"/>
          <p:cNvSpPr/>
          <p:nvPr/>
        </p:nvSpPr>
        <p:spPr>
          <a:xfrm>
            <a:off x="4914900" y="3365500"/>
            <a:ext cx="1366266" cy="12700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1" name="t332"/>
          <p:cNvSpPr txBox="1"/>
          <p:nvPr/>
        </p:nvSpPr>
        <p:spPr>
          <a:xfrm>
            <a:off x="4254500" y="3759200"/>
            <a:ext cx="66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>
                <a:solidFill>
                  <a:srgbClr val="6A7A76"/>
                </a:solidFill>
                <a:latin typeface="Aptos"/>
              </a:rPr>
              <a:t>Pop</a:t>
            </a:r>
          </a:p>
        </p:txBody>
      </p:sp>
      <p:sp>
        <p:nvSpPr>
          <p:cNvPr id="332" name="s333"/>
          <p:cNvSpPr/>
          <p:nvPr/>
        </p:nvSpPr>
        <p:spPr>
          <a:xfrm>
            <a:off x="4914900" y="3797300"/>
            <a:ext cx="2070100" cy="127000"/>
          </a:xfrm>
          <a:prstGeom prst="roundRect">
            <a:avLst/>
          </a:prstGeom>
          <a:solidFill>
            <a:srgbClr val="EEF2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3" name="s334"/>
          <p:cNvSpPr/>
          <p:nvPr/>
        </p:nvSpPr>
        <p:spPr>
          <a:xfrm>
            <a:off x="4914900" y="3797300"/>
            <a:ext cx="2070100" cy="127000"/>
          </a:xfrm>
          <a:prstGeom prst="round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4" name="t335"/>
          <p:cNvSpPr txBox="1"/>
          <p:nvPr/>
        </p:nvSpPr>
        <p:spPr>
          <a:xfrm>
            <a:off x="4254500" y="4191000"/>
            <a:ext cx="66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>
                <a:solidFill>
                  <a:srgbClr val="6A7A76"/>
                </a:solidFill>
                <a:latin typeface="Aptos"/>
              </a:rPr>
              <a:t>Feas</a:t>
            </a:r>
          </a:p>
        </p:txBody>
      </p:sp>
      <p:sp>
        <p:nvSpPr>
          <p:cNvPr id="335" name="s336"/>
          <p:cNvSpPr/>
          <p:nvPr/>
        </p:nvSpPr>
        <p:spPr>
          <a:xfrm>
            <a:off x="4914900" y="4229100"/>
            <a:ext cx="2070100" cy="127000"/>
          </a:xfrm>
          <a:prstGeom prst="roundRect">
            <a:avLst/>
          </a:prstGeom>
          <a:solidFill>
            <a:srgbClr val="EEF2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6" name="s337"/>
          <p:cNvSpPr/>
          <p:nvPr/>
        </p:nvSpPr>
        <p:spPr>
          <a:xfrm>
            <a:off x="4914900" y="4229100"/>
            <a:ext cx="1366266" cy="12700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7" name="s338"/>
          <p:cNvSpPr/>
          <p:nvPr/>
        </p:nvSpPr>
        <p:spPr>
          <a:xfrm>
            <a:off x="5365750" y="5118100"/>
            <a:ext cx="533400" cy="533400"/>
          </a:xfrm>
          <a:prstGeom prst="ellipse">
            <a:avLst/>
          </a:prstGeom>
          <a:solidFill>
            <a:srgbClr val="00554F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8" name="t339"/>
          <p:cNvSpPr txBox="1"/>
          <p:nvPr/>
        </p:nvSpPr>
        <p:spPr>
          <a:xfrm>
            <a:off x="5365750" y="5118100"/>
            <a:ext cx="533400" cy="533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339" name="s340"/>
          <p:cNvSpPr/>
          <p:nvPr/>
        </p:nvSpPr>
        <p:spPr>
          <a:xfrm>
            <a:off x="5619750" y="4826000"/>
            <a:ext cx="25400" cy="292100"/>
          </a:xfrm>
          <a:prstGeom prst="rect">
            <a:avLst/>
          </a:prstGeom>
          <a:solidFill>
            <a:srgbClr val="C9D9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0" name="s341"/>
          <p:cNvSpPr/>
          <p:nvPr/>
        </p:nvSpPr>
        <p:spPr>
          <a:xfrm>
            <a:off x="5619750" y="5651500"/>
            <a:ext cx="25400" cy="241300"/>
          </a:xfrm>
          <a:prstGeom prst="rect">
            <a:avLst/>
          </a:prstGeom>
          <a:solidFill>
            <a:srgbClr val="C9D9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1" name="s342"/>
          <p:cNvSpPr/>
          <p:nvPr/>
        </p:nvSpPr>
        <p:spPr>
          <a:xfrm>
            <a:off x="4076700" y="5892800"/>
            <a:ext cx="3111500" cy="1828800"/>
          </a:xfrm>
          <a:prstGeom prst="roundRect">
            <a:avLst/>
          </a:prstGeom>
          <a:solidFill>
            <a:srgbClr val="EFF5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2" name="s343"/>
          <p:cNvSpPr/>
          <p:nvPr/>
        </p:nvSpPr>
        <p:spPr>
          <a:xfrm>
            <a:off x="4076700" y="5892800"/>
            <a:ext cx="3111500" cy="508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3" name="t344"/>
          <p:cNvSpPr txBox="1"/>
          <p:nvPr/>
        </p:nvSpPr>
        <p:spPr>
          <a:xfrm>
            <a:off x="4254500" y="6045200"/>
            <a:ext cx="2755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120" dirty="0">
                <a:solidFill>
                  <a:srgbClr val="087267"/>
                </a:solidFill>
                <a:latin typeface="Aptos"/>
              </a:rPr>
              <a:t>DECISION USE</a:t>
            </a:r>
          </a:p>
        </p:txBody>
      </p:sp>
      <p:sp>
        <p:nvSpPr>
          <p:cNvPr id="344" name="t345"/>
          <p:cNvSpPr txBox="1"/>
          <p:nvPr/>
        </p:nvSpPr>
        <p:spPr>
          <a:xfrm>
            <a:off x="4254500" y="6324600"/>
            <a:ext cx="27559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b="1" dirty="0">
                <a:solidFill>
                  <a:srgbClr val="003F3B"/>
                </a:solidFill>
                <a:latin typeface="Aptos"/>
              </a:rPr>
              <a:t>HTA / HCP confidence</a:t>
            </a:r>
          </a:p>
        </p:txBody>
      </p:sp>
      <p:sp>
        <p:nvSpPr>
          <p:cNvPr id="345" name="s346"/>
          <p:cNvSpPr/>
          <p:nvPr/>
        </p:nvSpPr>
        <p:spPr>
          <a:xfrm>
            <a:off x="7442200" y="1905000"/>
            <a:ext cx="31115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6" name="s347"/>
          <p:cNvSpPr/>
          <p:nvPr/>
        </p:nvSpPr>
        <p:spPr>
          <a:xfrm>
            <a:off x="7442200" y="1905000"/>
            <a:ext cx="3111500" cy="584200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7" name="t348"/>
          <p:cNvSpPr txBox="1"/>
          <p:nvPr/>
        </p:nvSpPr>
        <p:spPr>
          <a:xfrm>
            <a:off x="7620000" y="1905000"/>
            <a:ext cx="2755900" cy="584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ptos"/>
              </a:rPr>
              <a:t>Safety in practice</a:t>
            </a:r>
          </a:p>
        </p:txBody>
      </p:sp>
      <p:sp>
        <p:nvSpPr>
          <p:cNvPr id="348" name="t349"/>
          <p:cNvSpPr txBox="1"/>
          <p:nvPr/>
        </p:nvSpPr>
        <p:spPr>
          <a:xfrm>
            <a:off x="7620000" y="2616200"/>
            <a:ext cx="27559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100" dirty="0">
                <a:solidFill>
                  <a:srgbClr val="6A7A76"/>
                </a:solidFill>
                <a:latin typeface="Aptos"/>
              </a:rPr>
              <a:t>SOURCE</a:t>
            </a:r>
          </a:p>
        </p:txBody>
      </p:sp>
      <p:sp>
        <p:nvSpPr>
          <p:cNvPr id="349" name="t350"/>
          <p:cNvSpPr txBox="1"/>
          <p:nvPr/>
        </p:nvSpPr>
        <p:spPr>
          <a:xfrm>
            <a:off x="7620000" y="2870200"/>
            <a:ext cx="27559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052927"/>
                </a:solidFill>
                <a:latin typeface="Aptos"/>
              </a:rPr>
              <a:t>EHR / registry</a:t>
            </a:r>
          </a:p>
        </p:txBody>
      </p:sp>
      <p:sp>
        <p:nvSpPr>
          <p:cNvPr id="350" name="t351"/>
          <p:cNvSpPr txBox="1"/>
          <p:nvPr/>
        </p:nvSpPr>
        <p:spPr>
          <a:xfrm>
            <a:off x="7620000" y="3327400"/>
            <a:ext cx="66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>
                <a:solidFill>
                  <a:srgbClr val="6A7A76"/>
                </a:solidFill>
                <a:latin typeface="Aptos"/>
              </a:rPr>
              <a:t>Ep</a:t>
            </a:r>
          </a:p>
        </p:txBody>
      </p:sp>
      <p:sp>
        <p:nvSpPr>
          <p:cNvPr id="351" name="s352"/>
          <p:cNvSpPr/>
          <p:nvPr/>
        </p:nvSpPr>
        <p:spPr>
          <a:xfrm>
            <a:off x="8280400" y="3365500"/>
            <a:ext cx="2070100" cy="127000"/>
          </a:xfrm>
          <a:prstGeom prst="roundRect">
            <a:avLst/>
          </a:prstGeom>
          <a:solidFill>
            <a:srgbClr val="EEF2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2" name="s353"/>
          <p:cNvSpPr/>
          <p:nvPr/>
        </p:nvSpPr>
        <p:spPr>
          <a:xfrm>
            <a:off x="8280400" y="3365500"/>
            <a:ext cx="2070100" cy="127000"/>
          </a:xfrm>
          <a:prstGeom prst="round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3" name="t354"/>
          <p:cNvSpPr txBox="1"/>
          <p:nvPr/>
        </p:nvSpPr>
        <p:spPr>
          <a:xfrm>
            <a:off x="7620000" y="3759200"/>
            <a:ext cx="66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>
                <a:solidFill>
                  <a:srgbClr val="6A7A76"/>
                </a:solidFill>
                <a:latin typeface="Aptos"/>
              </a:rPr>
              <a:t>Pop</a:t>
            </a:r>
          </a:p>
        </p:txBody>
      </p:sp>
      <p:sp>
        <p:nvSpPr>
          <p:cNvPr id="354" name="s355"/>
          <p:cNvSpPr/>
          <p:nvPr/>
        </p:nvSpPr>
        <p:spPr>
          <a:xfrm>
            <a:off x="8280400" y="3797300"/>
            <a:ext cx="2070100" cy="127000"/>
          </a:xfrm>
          <a:prstGeom prst="roundRect">
            <a:avLst/>
          </a:prstGeom>
          <a:solidFill>
            <a:srgbClr val="EEF2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5" name="s356"/>
          <p:cNvSpPr/>
          <p:nvPr/>
        </p:nvSpPr>
        <p:spPr>
          <a:xfrm>
            <a:off x="8280400" y="3797300"/>
            <a:ext cx="2070100" cy="127000"/>
          </a:xfrm>
          <a:prstGeom prst="round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6" name="t357"/>
          <p:cNvSpPr txBox="1"/>
          <p:nvPr/>
        </p:nvSpPr>
        <p:spPr>
          <a:xfrm>
            <a:off x="7620000" y="4191000"/>
            <a:ext cx="66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>
                <a:solidFill>
                  <a:srgbClr val="6A7A76"/>
                </a:solidFill>
                <a:latin typeface="Aptos"/>
              </a:rPr>
              <a:t>Feas</a:t>
            </a:r>
          </a:p>
        </p:txBody>
      </p:sp>
      <p:sp>
        <p:nvSpPr>
          <p:cNvPr id="357" name="s358"/>
          <p:cNvSpPr/>
          <p:nvPr/>
        </p:nvSpPr>
        <p:spPr>
          <a:xfrm>
            <a:off x="8280400" y="4229100"/>
            <a:ext cx="2070100" cy="127000"/>
          </a:xfrm>
          <a:prstGeom prst="roundRect">
            <a:avLst/>
          </a:prstGeom>
          <a:solidFill>
            <a:srgbClr val="EEF2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8" name="s359"/>
          <p:cNvSpPr/>
          <p:nvPr/>
        </p:nvSpPr>
        <p:spPr>
          <a:xfrm>
            <a:off x="8280400" y="4229100"/>
            <a:ext cx="2070100" cy="127000"/>
          </a:xfrm>
          <a:prstGeom prst="round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9" name="s360"/>
          <p:cNvSpPr/>
          <p:nvPr/>
        </p:nvSpPr>
        <p:spPr>
          <a:xfrm>
            <a:off x="8731250" y="5118100"/>
            <a:ext cx="533400" cy="533400"/>
          </a:xfrm>
          <a:prstGeom prst="ellipse">
            <a:avLst/>
          </a:prstGeom>
          <a:solidFill>
            <a:srgbClr val="087267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0" name="t361"/>
          <p:cNvSpPr txBox="1"/>
          <p:nvPr/>
        </p:nvSpPr>
        <p:spPr>
          <a:xfrm>
            <a:off x="8731250" y="5118100"/>
            <a:ext cx="533400" cy="533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361" name="s362"/>
          <p:cNvSpPr/>
          <p:nvPr/>
        </p:nvSpPr>
        <p:spPr>
          <a:xfrm>
            <a:off x="8985250" y="4826000"/>
            <a:ext cx="25400" cy="292100"/>
          </a:xfrm>
          <a:prstGeom prst="rect">
            <a:avLst/>
          </a:prstGeom>
          <a:solidFill>
            <a:srgbClr val="C9D9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2" name="s363"/>
          <p:cNvSpPr/>
          <p:nvPr/>
        </p:nvSpPr>
        <p:spPr>
          <a:xfrm>
            <a:off x="8985250" y="5651500"/>
            <a:ext cx="25400" cy="241300"/>
          </a:xfrm>
          <a:prstGeom prst="rect">
            <a:avLst/>
          </a:prstGeom>
          <a:solidFill>
            <a:srgbClr val="C9D9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3" name="s364"/>
          <p:cNvSpPr/>
          <p:nvPr/>
        </p:nvSpPr>
        <p:spPr>
          <a:xfrm>
            <a:off x="7442200" y="5892800"/>
            <a:ext cx="3111500" cy="1828800"/>
          </a:xfrm>
          <a:prstGeom prst="roundRect">
            <a:avLst/>
          </a:prstGeom>
          <a:solidFill>
            <a:srgbClr val="EFF5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4" name="s365"/>
          <p:cNvSpPr/>
          <p:nvPr/>
        </p:nvSpPr>
        <p:spPr>
          <a:xfrm>
            <a:off x="7442200" y="5892800"/>
            <a:ext cx="3111500" cy="508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5" name="t366"/>
          <p:cNvSpPr txBox="1"/>
          <p:nvPr/>
        </p:nvSpPr>
        <p:spPr>
          <a:xfrm>
            <a:off x="7620000" y="6045200"/>
            <a:ext cx="2755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120" dirty="0">
                <a:solidFill>
                  <a:srgbClr val="087267"/>
                </a:solidFill>
                <a:latin typeface="Aptos"/>
              </a:rPr>
              <a:t>DECISION USE</a:t>
            </a:r>
          </a:p>
        </p:txBody>
      </p:sp>
      <p:sp>
        <p:nvSpPr>
          <p:cNvPr id="366" name="t367"/>
          <p:cNvSpPr txBox="1"/>
          <p:nvPr/>
        </p:nvSpPr>
        <p:spPr>
          <a:xfrm>
            <a:off x="7620000" y="6324600"/>
            <a:ext cx="27559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b="1" dirty="0">
                <a:solidFill>
                  <a:srgbClr val="003F3B"/>
                </a:solidFill>
                <a:latin typeface="Aptos"/>
              </a:rPr>
              <a:t>Medical communication</a:t>
            </a:r>
          </a:p>
        </p:txBody>
      </p:sp>
      <p:sp>
        <p:nvSpPr>
          <p:cNvPr id="367" name="s368"/>
          <p:cNvSpPr/>
          <p:nvPr/>
        </p:nvSpPr>
        <p:spPr>
          <a:xfrm>
            <a:off x="10807700" y="1905000"/>
            <a:ext cx="31115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8" name="s369"/>
          <p:cNvSpPr/>
          <p:nvPr/>
        </p:nvSpPr>
        <p:spPr>
          <a:xfrm>
            <a:off x="10807700" y="1905000"/>
            <a:ext cx="3111500" cy="584200"/>
          </a:xfrm>
          <a:prstGeom prst="rect">
            <a:avLst/>
          </a:prstGeom>
          <a:solidFill>
            <a:srgbClr val="1E6B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9" name="t370"/>
          <p:cNvSpPr txBox="1"/>
          <p:nvPr/>
        </p:nvSpPr>
        <p:spPr>
          <a:xfrm>
            <a:off x="10985500" y="1905000"/>
            <a:ext cx="2755900" cy="584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ptos"/>
              </a:rPr>
              <a:t>External control</a:t>
            </a:r>
          </a:p>
        </p:txBody>
      </p:sp>
      <p:sp>
        <p:nvSpPr>
          <p:cNvPr id="370" name="t371"/>
          <p:cNvSpPr txBox="1"/>
          <p:nvPr/>
        </p:nvSpPr>
        <p:spPr>
          <a:xfrm>
            <a:off x="10985500" y="2616200"/>
            <a:ext cx="27559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100" dirty="0">
                <a:solidFill>
                  <a:srgbClr val="6A7A76"/>
                </a:solidFill>
                <a:latin typeface="Aptos"/>
              </a:rPr>
              <a:t>SOURCE</a:t>
            </a:r>
          </a:p>
        </p:txBody>
      </p:sp>
      <p:sp>
        <p:nvSpPr>
          <p:cNvPr id="371" name="t372"/>
          <p:cNvSpPr txBox="1"/>
          <p:nvPr/>
        </p:nvSpPr>
        <p:spPr>
          <a:xfrm>
            <a:off x="10985500" y="2870200"/>
            <a:ext cx="27559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052927"/>
                </a:solidFill>
                <a:latin typeface="Aptos"/>
              </a:rPr>
              <a:t>Registry + chart</a:t>
            </a:r>
          </a:p>
        </p:txBody>
      </p:sp>
      <p:sp>
        <p:nvSpPr>
          <p:cNvPr id="372" name="t373"/>
          <p:cNvSpPr txBox="1"/>
          <p:nvPr/>
        </p:nvSpPr>
        <p:spPr>
          <a:xfrm>
            <a:off x="10985500" y="3327400"/>
            <a:ext cx="66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>
                <a:solidFill>
                  <a:srgbClr val="6A7A76"/>
                </a:solidFill>
                <a:latin typeface="Aptos"/>
              </a:rPr>
              <a:t>Ep</a:t>
            </a:r>
          </a:p>
        </p:txBody>
      </p:sp>
      <p:sp>
        <p:nvSpPr>
          <p:cNvPr id="373" name="s374"/>
          <p:cNvSpPr/>
          <p:nvPr/>
        </p:nvSpPr>
        <p:spPr>
          <a:xfrm>
            <a:off x="11645900" y="3365500"/>
            <a:ext cx="2070100" cy="127000"/>
          </a:xfrm>
          <a:prstGeom prst="roundRect">
            <a:avLst/>
          </a:prstGeom>
          <a:solidFill>
            <a:srgbClr val="EEF2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4" name="s375"/>
          <p:cNvSpPr/>
          <p:nvPr/>
        </p:nvSpPr>
        <p:spPr>
          <a:xfrm>
            <a:off x="11645900" y="3365500"/>
            <a:ext cx="1366266" cy="12700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5" name="t376"/>
          <p:cNvSpPr txBox="1"/>
          <p:nvPr/>
        </p:nvSpPr>
        <p:spPr>
          <a:xfrm>
            <a:off x="10985500" y="3759200"/>
            <a:ext cx="66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>
                <a:solidFill>
                  <a:srgbClr val="6A7A76"/>
                </a:solidFill>
                <a:latin typeface="Aptos"/>
              </a:rPr>
              <a:t>Pop</a:t>
            </a:r>
          </a:p>
        </p:txBody>
      </p:sp>
      <p:sp>
        <p:nvSpPr>
          <p:cNvPr id="376" name="s377"/>
          <p:cNvSpPr/>
          <p:nvPr/>
        </p:nvSpPr>
        <p:spPr>
          <a:xfrm>
            <a:off x="11645900" y="3797300"/>
            <a:ext cx="2070100" cy="127000"/>
          </a:xfrm>
          <a:prstGeom prst="roundRect">
            <a:avLst/>
          </a:prstGeom>
          <a:solidFill>
            <a:srgbClr val="EEF2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7" name="s378"/>
          <p:cNvSpPr/>
          <p:nvPr/>
        </p:nvSpPr>
        <p:spPr>
          <a:xfrm>
            <a:off x="11645900" y="3797300"/>
            <a:ext cx="1366266" cy="12700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8" name="t379"/>
          <p:cNvSpPr txBox="1"/>
          <p:nvPr/>
        </p:nvSpPr>
        <p:spPr>
          <a:xfrm>
            <a:off x="10985500" y="4191000"/>
            <a:ext cx="66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>
                <a:solidFill>
                  <a:srgbClr val="6A7A76"/>
                </a:solidFill>
                <a:latin typeface="Aptos"/>
              </a:rPr>
              <a:t>Feas</a:t>
            </a:r>
          </a:p>
        </p:txBody>
      </p:sp>
      <p:sp>
        <p:nvSpPr>
          <p:cNvPr id="379" name="s380"/>
          <p:cNvSpPr/>
          <p:nvPr/>
        </p:nvSpPr>
        <p:spPr>
          <a:xfrm>
            <a:off x="11645900" y="4229100"/>
            <a:ext cx="2070100" cy="127000"/>
          </a:xfrm>
          <a:prstGeom prst="roundRect">
            <a:avLst/>
          </a:prstGeom>
          <a:solidFill>
            <a:srgbClr val="EEF2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0" name="s381"/>
          <p:cNvSpPr/>
          <p:nvPr/>
        </p:nvSpPr>
        <p:spPr>
          <a:xfrm>
            <a:off x="11645900" y="4229100"/>
            <a:ext cx="683133" cy="127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1" name="s382"/>
          <p:cNvSpPr/>
          <p:nvPr/>
        </p:nvSpPr>
        <p:spPr>
          <a:xfrm>
            <a:off x="12096750" y="5118100"/>
            <a:ext cx="533400" cy="533400"/>
          </a:xfrm>
          <a:prstGeom prst="ellipse">
            <a:avLst/>
          </a:prstGeom>
          <a:solidFill>
            <a:srgbClr val="1E6B60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2" name="t383"/>
          <p:cNvSpPr txBox="1"/>
          <p:nvPr/>
        </p:nvSpPr>
        <p:spPr>
          <a:xfrm>
            <a:off x="12096750" y="5118100"/>
            <a:ext cx="533400" cy="533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83" name="s384"/>
          <p:cNvSpPr/>
          <p:nvPr/>
        </p:nvSpPr>
        <p:spPr>
          <a:xfrm>
            <a:off x="12350750" y="4826000"/>
            <a:ext cx="25400" cy="292100"/>
          </a:xfrm>
          <a:prstGeom prst="rect">
            <a:avLst/>
          </a:prstGeom>
          <a:solidFill>
            <a:srgbClr val="C9D9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4" name="s385"/>
          <p:cNvSpPr/>
          <p:nvPr/>
        </p:nvSpPr>
        <p:spPr>
          <a:xfrm>
            <a:off x="12350750" y="5651500"/>
            <a:ext cx="25400" cy="241300"/>
          </a:xfrm>
          <a:prstGeom prst="rect">
            <a:avLst/>
          </a:prstGeom>
          <a:solidFill>
            <a:srgbClr val="C9D9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5" name="s386"/>
          <p:cNvSpPr/>
          <p:nvPr/>
        </p:nvSpPr>
        <p:spPr>
          <a:xfrm>
            <a:off x="10807700" y="5892800"/>
            <a:ext cx="3111500" cy="1828800"/>
          </a:xfrm>
          <a:prstGeom prst="roundRect">
            <a:avLst/>
          </a:prstGeom>
          <a:solidFill>
            <a:srgbClr val="EFF5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6" name="s387"/>
          <p:cNvSpPr/>
          <p:nvPr/>
        </p:nvSpPr>
        <p:spPr>
          <a:xfrm>
            <a:off x="10807700" y="5892800"/>
            <a:ext cx="3111500" cy="508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7" name="t388"/>
          <p:cNvSpPr txBox="1"/>
          <p:nvPr/>
        </p:nvSpPr>
        <p:spPr>
          <a:xfrm>
            <a:off x="10985500" y="6045200"/>
            <a:ext cx="2755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spc="120" dirty="0">
                <a:solidFill>
                  <a:srgbClr val="087267"/>
                </a:solidFill>
                <a:latin typeface="Aptos"/>
              </a:rPr>
              <a:t>DECISION USE</a:t>
            </a:r>
          </a:p>
        </p:txBody>
      </p:sp>
      <p:sp>
        <p:nvSpPr>
          <p:cNvPr id="388" name="t389"/>
          <p:cNvSpPr txBox="1"/>
          <p:nvPr/>
        </p:nvSpPr>
        <p:spPr>
          <a:xfrm>
            <a:off x="10985500" y="6324600"/>
            <a:ext cx="27559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b="1" dirty="0">
                <a:solidFill>
                  <a:srgbClr val="003F3B"/>
                </a:solidFill>
                <a:latin typeface="Aptos"/>
              </a:rPr>
              <a:t>Regulatory / access</a:t>
            </a:r>
          </a:p>
        </p:txBody>
      </p:sp>
    </p:spTree>
    <p:extLst>
      <p:ext uri="{BB962C8B-B14F-4D97-AF65-F5344CB8AC3E}">
        <p14:creationId xmlns:p14="http://schemas.microsoft.com/office/powerpoint/2010/main" val="20747180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20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202"/>
          <p:cNvSpPr/>
          <p:nvPr/>
        </p:nvSpPr>
        <p:spPr>
          <a:xfrm>
            <a:off x="812800" y="508000"/>
            <a:ext cx="406400" cy="381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s203"/>
          <p:cNvSpPr/>
          <p:nvPr/>
        </p:nvSpPr>
        <p:spPr>
          <a:xfrm>
            <a:off x="1308100" y="508000"/>
            <a:ext cx="609600" cy="381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204"/>
          <p:cNvSpPr txBox="1"/>
          <p:nvPr/>
        </p:nvSpPr>
        <p:spPr>
          <a:xfrm>
            <a:off x="812800" y="711200"/>
            <a:ext cx="127000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800" dirty="0">
                <a:solidFill>
                  <a:srgbClr val="003F3B"/>
                </a:solidFill>
                <a:latin typeface="Georgia"/>
              </a:rPr>
              <a:t>Real-world evidence generation strategy</a:t>
            </a:r>
          </a:p>
        </p:txBody>
      </p:sp>
      <p:sp>
        <p:nvSpPr>
          <p:cNvPr id="204" name="s205"/>
          <p:cNvSpPr/>
          <p:nvPr/>
        </p:nvSpPr>
        <p:spPr>
          <a:xfrm>
            <a:off x="711200" y="1981200"/>
            <a:ext cx="2667000" cy="5588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t206"/>
          <p:cNvSpPr txBox="1"/>
          <p:nvPr/>
        </p:nvSpPr>
        <p:spPr>
          <a:xfrm>
            <a:off x="838200" y="1981200"/>
            <a:ext cx="2463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100" dirty="0">
                <a:solidFill>
                  <a:srgbClr val="FFFFFF"/>
                </a:solidFill>
                <a:latin typeface="Aptos"/>
              </a:rPr>
              <a:t>USE CASE</a:t>
            </a:r>
          </a:p>
        </p:txBody>
      </p:sp>
      <p:sp>
        <p:nvSpPr>
          <p:cNvPr id="206" name="s207"/>
          <p:cNvSpPr/>
          <p:nvPr/>
        </p:nvSpPr>
        <p:spPr>
          <a:xfrm>
            <a:off x="3378200" y="1981200"/>
            <a:ext cx="1905000" cy="5588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t208"/>
          <p:cNvSpPr txBox="1"/>
          <p:nvPr/>
        </p:nvSpPr>
        <p:spPr>
          <a:xfrm>
            <a:off x="3505200" y="1981200"/>
            <a:ext cx="1701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100" dirty="0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208" name="s209"/>
          <p:cNvSpPr/>
          <p:nvPr/>
        </p:nvSpPr>
        <p:spPr>
          <a:xfrm>
            <a:off x="5283200" y="1981200"/>
            <a:ext cx="1397000" cy="5588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9" name="t210"/>
          <p:cNvSpPr txBox="1"/>
          <p:nvPr/>
        </p:nvSpPr>
        <p:spPr>
          <a:xfrm>
            <a:off x="5410200" y="1981200"/>
            <a:ext cx="1193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spc="100" dirty="0">
                <a:solidFill>
                  <a:srgbClr val="FFFFFF"/>
                </a:solidFill>
                <a:latin typeface="Aptos"/>
              </a:rPr>
              <a:t>ENDPOINT</a:t>
            </a:r>
          </a:p>
        </p:txBody>
      </p:sp>
      <p:sp>
        <p:nvSpPr>
          <p:cNvPr id="210" name="s211"/>
          <p:cNvSpPr/>
          <p:nvPr/>
        </p:nvSpPr>
        <p:spPr>
          <a:xfrm>
            <a:off x="6680200" y="1981200"/>
            <a:ext cx="1397000" cy="5588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t212"/>
          <p:cNvSpPr txBox="1"/>
          <p:nvPr/>
        </p:nvSpPr>
        <p:spPr>
          <a:xfrm>
            <a:off x="6807200" y="1981200"/>
            <a:ext cx="1193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spc="100" dirty="0">
                <a:solidFill>
                  <a:srgbClr val="FFFFFF"/>
                </a:solidFill>
                <a:latin typeface="Aptos"/>
              </a:rPr>
              <a:t>POPULATION</a:t>
            </a:r>
          </a:p>
        </p:txBody>
      </p:sp>
      <p:sp>
        <p:nvSpPr>
          <p:cNvPr id="212" name="s213"/>
          <p:cNvSpPr/>
          <p:nvPr/>
        </p:nvSpPr>
        <p:spPr>
          <a:xfrm>
            <a:off x="8077200" y="1981200"/>
            <a:ext cx="1397000" cy="5588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t214"/>
          <p:cNvSpPr txBox="1"/>
          <p:nvPr/>
        </p:nvSpPr>
        <p:spPr>
          <a:xfrm>
            <a:off x="8204200" y="1981200"/>
            <a:ext cx="1193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spc="100" dirty="0">
                <a:solidFill>
                  <a:srgbClr val="FFFFFF"/>
                </a:solidFill>
                <a:latin typeface="Aptos"/>
              </a:rPr>
              <a:t>FEASIBILITY</a:t>
            </a:r>
          </a:p>
        </p:txBody>
      </p:sp>
      <p:sp>
        <p:nvSpPr>
          <p:cNvPr id="214" name="s215"/>
          <p:cNvSpPr/>
          <p:nvPr/>
        </p:nvSpPr>
        <p:spPr>
          <a:xfrm>
            <a:off x="9474200" y="1981200"/>
            <a:ext cx="2946400" cy="5588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5" name="t216"/>
          <p:cNvSpPr txBox="1"/>
          <p:nvPr/>
        </p:nvSpPr>
        <p:spPr>
          <a:xfrm>
            <a:off x="9601200" y="1981200"/>
            <a:ext cx="27432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100" dirty="0">
                <a:solidFill>
                  <a:srgbClr val="FFFFFF"/>
                </a:solidFill>
                <a:latin typeface="Aptos"/>
              </a:rPr>
              <a:t>DECISION USE</a:t>
            </a:r>
          </a:p>
        </p:txBody>
      </p:sp>
      <p:sp>
        <p:nvSpPr>
          <p:cNvPr id="216" name="s217"/>
          <p:cNvSpPr/>
          <p:nvPr/>
        </p:nvSpPr>
        <p:spPr>
          <a:xfrm>
            <a:off x="711200" y="2641600"/>
            <a:ext cx="26670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7" name="t218"/>
          <p:cNvSpPr txBox="1"/>
          <p:nvPr/>
        </p:nvSpPr>
        <p:spPr>
          <a:xfrm>
            <a:off x="889000" y="2641600"/>
            <a:ext cx="23876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600" b="1" dirty="0">
                <a:solidFill>
                  <a:srgbClr val="003F3B"/>
                </a:solidFill>
                <a:latin typeface="Aptos"/>
              </a:rPr>
              <a:t>Treatment patterns</a:t>
            </a:r>
          </a:p>
        </p:txBody>
      </p:sp>
      <p:sp>
        <p:nvSpPr>
          <p:cNvPr id="218" name="s219"/>
          <p:cNvSpPr/>
          <p:nvPr/>
        </p:nvSpPr>
        <p:spPr>
          <a:xfrm>
            <a:off x="3378200" y="2641600"/>
            <a:ext cx="19050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9" name="t220"/>
          <p:cNvSpPr txBox="1"/>
          <p:nvPr/>
        </p:nvSpPr>
        <p:spPr>
          <a:xfrm>
            <a:off x="3530600" y="2641600"/>
            <a:ext cx="16764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400" dirty="0">
                <a:solidFill>
                  <a:srgbClr val="052927"/>
                </a:solidFill>
                <a:latin typeface="Aptos"/>
              </a:rPr>
              <a:t>Claims / EHR</a:t>
            </a:r>
          </a:p>
        </p:txBody>
      </p:sp>
      <p:sp>
        <p:nvSpPr>
          <p:cNvPr id="220" name="s221"/>
          <p:cNvSpPr/>
          <p:nvPr/>
        </p:nvSpPr>
        <p:spPr>
          <a:xfrm>
            <a:off x="5321300" y="2679700"/>
            <a:ext cx="1320800" cy="1092200"/>
          </a:xfrm>
          <a:prstGeom prst="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t222"/>
          <p:cNvSpPr txBox="1"/>
          <p:nvPr/>
        </p:nvSpPr>
        <p:spPr>
          <a:xfrm>
            <a:off x="5359400" y="2641600"/>
            <a:ext cx="12446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ptos"/>
              </a:rPr>
              <a:t>High</a:t>
            </a:r>
          </a:p>
        </p:txBody>
      </p:sp>
      <p:sp>
        <p:nvSpPr>
          <p:cNvPr id="222" name="s223"/>
          <p:cNvSpPr/>
          <p:nvPr/>
        </p:nvSpPr>
        <p:spPr>
          <a:xfrm>
            <a:off x="6718300" y="2679700"/>
            <a:ext cx="1320800" cy="1092200"/>
          </a:xfrm>
          <a:prstGeom prst="rect">
            <a:avLst/>
          </a:prstGeom>
          <a:solidFill>
            <a:srgbClr val="E0A9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t224"/>
          <p:cNvSpPr txBox="1"/>
          <p:nvPr/>
        </p:nvSpPr>
        <p:spPr>
          <a:xfrm>
            <a:off x="6756400" y="2641600"/>
            <a:ext cx="12446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3A2E08"/>
                </a:solidFill>
                <a:latin typeface="Aptos"/>
              </a:rPr>
              <a:t>Medium</a:t>
            </a:r>
          </a:p>
        </p:txBody>
      </p:sp>
      <p:sp>
        <p:nvSpPr>
          <p:cNvPr id="224" name="s225"/>
          <p:cNvSpPr/>
          <p:nvPr/>
        </p:nvSpPr>
        <p:spPr>
          <a:xfrm>
            <a:off x="8115300" y="2679700"/>
            <a:ext cx="1320800" cy="1092200"/>
          </a:xfrm>
          <a:prstGeom prst="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5" name="t226"/>
          <p:cNvSpPr txBox="1"/>
          <p:nvPr/>
        </p:nvSpPr>
        <p:spPr>
          <a:xfrm>
            <a:off x="8153400" y="2641600"/>
            <a:ext cx="12446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ptos"/>
              </a:rPr>
              <a:t>High</a:t>
            </a:r>
          </a:p>
        </p:txBody>
      </p:sp>
      <p:sp>
        <p:nvSpPr>
          <p:cNvPr id="226" name="s227"/>
          <p:cNvSpPr/>
          <p:nvPr/>
        </p:nvSpPr>
        <p:spPr>
          <a:xfrm>
            <a:off x="9474200" y="2641600"/>
            <a:ext cx="29464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7" name="s228"/>
          <p:cNvSpPr/>
          <p:nvPr/>
        </p:nvSpPr>
        <p:spPr>
          <a:xfrm>
            <a:off x="9474200" y="2641600"/>
            <a:ext cx="63500" cy="1168400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8" name="t229"/>
          <p:cNvSpPr txBox="1"/>
          <p:nvPr/>
        </p:nvSpPr>
        <p:spPr>
          <a:xfrm>
            <a:off x="9677400" y="2641600"/>
            <a:ext cx="26416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400" b="1" dirty="0">
                <a:solidFill>
                  <a:srgbClr val="087267"/>
                </a:solidFill>
                <a:latin typeface="Aptos"/>
              </a:rPr>
              <a:t>Launch planning</a:t>
            </a:r>
          </a:p>
        </p:txBody>
      </p:sp>
      <p:sp>
        <p:nvSpPr>
          <p:cNvPr id="229" name="s230"/>
          <p:cNvSpPr/>
          <p:nvPr/>
        </p:nvSpPr>
        <p:spPr>
          <a:xfrm>
            <a:off x="711200" y="3911600"/>
            <a:ext cx="2667000" cy="1168400"/>
          </a:xfrm>
          <a:prstGeom prst="rect">
            <a:avLst/>
          </a:prstGeom>
          <a:solidFill>
            <a:srgbClr val="F4F8F6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0" name="t231"/>
          <p:cNvSpPr txBox="1"/>
          <p:nvPr/>
        </p:nvSpPr>
        <p:spPr>
          <a:xfrm>
            <a:off x="889000" y="3911600"/>
            <a:ext cx="23876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600" b="1" dirty="0">
                <a:solidFill>
                  <a:srgbClr val="003F3B"/>
                </a:solidFill>
                <a:latin typeface="Aptos"/>
              </a:rPr>
              <a:t>Comparative outcomes</a:t>
            </a:r>
          </a:p>
        </p:txBody>
      </p:sp>
      <p:sp>
        <p:nvSpPr>
          <p:cNvPr id="231" name="s232"/>
          <p:cNvSpPr/>
          <p:nvPr/>
        </p:nvSpPr>
        <p:spPr>
          <a:xfrm>
            <a:off x="3378200" y="3911600"/>
            <a:ext cx="1905000" cy="1168400"/>
          </a:xfrm>
          <a:prstGeom prst="rect">
            <a:avLst/>
          </a:prstGeom>
          <a:solidFill>
            <a:srgbClr val="F4F8F6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2" name="t233"/>
          <p:cNvSpPr txBox="1"/>
          <p:nvPr/>
        </p:nvSpPr>
        <p:spPr>
          <a:xfrm>
            <a:off x="3530600" y="3911600"/>
            <a:ext cx="16764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400" dirty="0">
                <a:solidFill>
                  <a:srgbClr val="052927"/>
                </a:solidFill>
                <a:latin typeface="Aptos"/>
              </a:rPr>
              <a:t>Registry</a:t>
            </a:r>
          </a:p>
        </p:txBody>
      </p:sp>
      <p:sp>
        <p:nvSpPr>
          <p:cNvPr id="233" name="s234"/>
          <p:cNvSpPr/>
          <p:nvPr/>
        </p:nvSpPr>
        <p:spPr>
          <a:xfrm>
            <a:off x="5321300" y="3949700"/>
            <a:ext cx="1320800" cy="1092200"/>
          </a:xfrm>
          <a:prstGeom prst="rect">
            <a:avLst/>
          </a:prstGeom>
          <a:solidFill>
            <a:srgbClr val="E0A9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4" name="t235"/>
          <p:cNvSpPr txBox="1"/>
          <p:nvPr/>
        </p:nvSpPr>
        <p:spPr>
          <a:xfrm>
            <a:off x="5359400" y="3911600"/>
            <a:ext cx="12446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3A2E08"/>
                </a:solidFill>
                <a:latin typeface="Aptos"/>
              </a:rPr>
              <a:t>Medium</a:t>
            </a:r>
          </a:p>
        </p:txBody>
      </p:sp>
      <p:sp>
        <p:nvSpPr>
          <p:cNvPr id="235" name="s236"/>
          <p:cNvSpPr/>
          <p:nvPr/>
        </p:nvSpPr>
        <p:spPr>
          <a:xfrm>
            <a:off x="6718300" y="3949700"/>
            <a:ext cx="1320800" cy="1092200"/>
          </a:xfrm>
          <a:prstGeom prst="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6" name="t237"/>
          <p:cNvSpPr txBox="1"/>
          <p:nvPr/>
        </p:nvSpPr>
        <p:spPr>
          <a:xfrm>
            <a:off x="6756400" y="3911600"/>
            <a:ext cx="12446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ptos"/>
              </a:rPr>
              <a:t>High</a:t>
            </a:r>
          </a:p>
        </p:txBody>
      </p:sp>
      <p:sp>
        <p:nvSpPr>
          <p:cNvPr id="237" name="s238"/>
          <p:cNvSpPr/>
          <p:nvPr/>
        </p:nvSpPr>
        <p:spPr>
          <a:xfrm>
            <a:off x="8115300" y="3949700"/>
            <a:ext cx="1320800" cy="1092200"/>
          </a:xfrm>
          <a:prstGeom prst="rect">
            <a:avLst/>
          </a:prstGeom>
          <a:solidFill>
            <a:srgbClr val="E0A9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8" name="t239"/>
          <p:cNvSpPr txBox="1"/>
          <p:nvPr/>
        </p:nvSpPr>
        <p:spPr>
          <a:xfrm>
            <a:off x="8153400" y="3911600"/>
            <a:ext cx="12446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3A2E08"/>
                </a:solidFill>
                <a:latin typeface="Aptos"/>
              </a:rPr>
              <a:t>Medium</a:t>
            </a:r>
          </a:p>
        </p:txBody>
      </p:sp>
      <p:sp>
        <p:nvSpPr>
          <p:cNvPr id="239" name="s240"/>
          <p:cNvSpPr/>
          <p:nvPr/>
        </p:nvSpPr>
        <p:spPr>
          <a:xfrm>
            <a:off x="9474200" y="3911600"/>
            <a:ext cx="2946400" cy="1168400"/>
          </a:xfrm>
          <a:prstGeom prst="rect">
            <a:avLst/>
          </a:prstGeom>
          <a:solidFill>
            <a:srgbClr val="F4F8F6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0" name="s241"/>
          <p:cNvSpPr/>
          <p:nvPr/>
        </p:nvSpPr>
        <p:spPr>
          <a:xfrm>
            <a:off x="9474200" y="3911600"/>
            <a:ext cx="63500" cy="1168400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1" name="t242"/>
          <p:cNvSpPr txBox="1"/>
          <p:nvPr/>
        </p:nvSpPr>
        <p:spPr>
          <a:xfrm>
            <a:off x="9677400" y="3911600"/>
            <a:ext cx="26416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400" b="1" dirty="0">
                <a:solidFill>
                  <a:srgbClr val="087267"/>
                </a:solidFill>
                <a:latin typeface="Aptos"/>
              </a:rPr>
              <a:t>HTA / HCP confidence</a:t>
            </a:r>
          </a:p>
        </p:txBody>
      </p:sp>
      <p:sp>
        <p:nvSpPr>
          <p:cNvPr id="242" name="s243"/>
          <p:cNvSpPr/>
          <p:nvPr/>
        </p:nvSpPr>
        <p:spPr>
          <a:xfrm>
            <a:off x="711200" y="5181600"/>
            <a:ext cx="26670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3" name="t244"/>
          <p:cNvSpPr txBox="1"/>
          <p:nvPr/>
        </p:nvSpPr>
        <p:spPr>
          <a:xfrm>
            <a:off x="889000" y="5181600"/>
            <a:ext cx="23876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600" b="1" dirty="0">
                <a:solidFill>
                  <a:srgbClr val="003F3B"/>
                </a:solidFill>
                <a:latin typeface="Aptos"/>
              </a:rPr>
              <a:t>Safety in practice</a:t>
            </a:r>
          </a:p>
        </p:txBody>
      </p:sp>
      <p:sp>
        <p:nvSpPr>
          <p:cNvPr id="244" name="s245"/>
          <p:cNvSpPr/>
          <p:nvPr/>
        </p:nvSpPr>
        <p:spPr>
          <a:xfrm>
            <a:off x="3378200" y="5181600"/>
            <a:ext cx="19050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5" name="t246"/>
          <p:cNvSpPr txBox="1"/>
          <p:nvPr/>
        </p:nvSpPr>
        <p:spPr>
          <a:xfrm>
            <a:off x="3530600" y="5181600"/>
            <a:ext cx="16764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400" dirty="0">
                <a:solidFill>
                  <a:srgbClr val="052927"/>
                </a:solidFill>
                <a:latin typeface="Aptos"/>
              </a:rPr>
              <a:t>EHR / registry</a:t>
            </a:r>
          </a:p>
        </p:txBody>
      </p:sp>
      <p:sp>
        <p:nvSpPr>
          <p:cNvPr id="246" name="s247"/>
          <p:cNvSpPr/>
          <p:nvPr/>
        </p:nvSpPr>
        <p:spPr>
          <a:xfrm>
            <a:off x="5321300" y="5219700"/>
            <a:ext cx="1320800" cy="1092200"/>
          </a:xfrm>
          <a:prstGeom prst="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7" name="t248"/>
          <p:cNvSpPr txBox="1"/>
          <p:nvPr/>
        </p:nvSpPr>
        <p:spPr>
          <a:xfrm>
            <a:off x="5359400" y="5181600"/>
            <a:ext cx="12446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ptos"/>
              </a:rPr>
              <a:t>High</a:t>
            </a:r>
          </a:p>
        </p:txBody>
      </p:sp>
      <p:sp>
        <p:nvSpPr>
          <p:cNvPr id="248" name="s249"/>
          <p:cNvSpPr/>
          <p:nvPr/>
        </p:nvSpPr>
        <p:spPr>
          <a:xfrm>
            <a:off x="6718300" y="5219700"/>
            <a:ext cx="1320800" cy="1092200"/>
          </a:xfrm>
          <a:prstGeom prst="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9" name="t250"/>
          <p:cNvSpPr txBox="1"/>
          <p:nvPr/>
        </p:nvSpPr>
        <p:spPr>
          <a:xfrm>
            <a:off x="6756400" y="5181600"/>
            <a:ext cx="12446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ptos"/>
              </a:rPr>
              <a:t>High</a:t>
            </a:r>
          </a:p>
        </p:txBody>
      </p:sp>
      <p:sp>
        <p:nvSpPr>
          <p:cNvPr id="250" name="s251"/>
          <p:cNvSpPr/>
          <p:nvPr/>
        </p:nvSpPr>
        <p:spPr>
          <a:xfrm>
            <a:off x="8115300" y="5219700"/>
            <a:ext cx="1320800" cy="1092200"/>
          </a:xfrm>
          <a:prstGeom prst="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1" name="t252"/>
          <p:cNvSpPr txBox="1"/>
          <p:nvPr/>
        </p:nvSpPr>
        <p:spPr>
          <a:xfrm>
            <a:off x="8153400" y="5181600"/>
            <a:ext cx="12446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ptos"/>
              </a:rPr>
              <a:t>High</a:t>
            </a:r>
          </a:p>
        </p:txBody>
      </p:sp>
      <p:sp>
        <p:nvSpPr>
          <p:cNvPr id="252" name="s253"/>
          <p:cNvSpPr/>
          <p:nvPr/>
        </p:nvSpPr>
        <p:spPr>
          <a:xfrm>
            <a:off x="9474200" y="5181600"/>
            <a:ext cx="29464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3" name="s254"/>
          <p:cNvSpPr/>
          <p:nvPr/>
        </p:nvSpPr>
        <p:spPr>
          <a:xfrm>
            <a:off x="9474200" y="5181600"/>
            <a:ext cx="63500" cy="1168400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4" name="t255"/>
          <p:cNvSpPr txBox="1"/>
          <p:nvPr/>
        </p:nvSpPr>
        <p:spPr>
          <a:xfrm>
            <a:off x="9677400" y="5181600"/>
            <a:ext cx="26416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400" b="1" dirty="0">
                <a:solidFill>
                  <a:srgbClr val="087267"/>
                </a:solidFill>
                <a:latin typeface="Aptos"/>
              </a:rPr>
              <a:t>Medical communication</a:t>
            </a:r>
          </a:p>
        </p:txBody>
      </p:sp>
      <p:sp>
        <p:nvSpPr>
          <p:cNvPr id="255" name="s256"/>
          <p:cNvSpPr/>
          <p:nvPr/>
        </p:nvSpPr>
        <p:spPr>
          <a:xfrm>
            <a:off x="711200" y="6451600"/>
            <a:ext cx="2667000" cy="1168400"/>
          </a:xfrm>
          <a:prstGeom prst="rect">
            <a:avLst/>
          </a:prstGeom>
          <a:solidFill>
            <a:srgbClr val="F4F8F6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6" name="t257"/>
          <p:cNvSpPr txBox="1"/>
          <p:nvPr/>
        </p:nvSpPr>
        <p:spPr>
          <a:xfrm>
            <a:off x="889000" y="6451600"/>
            <a:ext cx="23876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600" b="1" dirty="0">
                <a:solidFill>
                  <a:srgbClr val="003F3B"/>
                </a:solidFill>
                <a:latin typeface="Aptos"/>
              </a:rPr>
              <a:t>External control</a:t>
            </a:r>
          </a:p>
        </p:txBody>
      </p:sp>
      <p:sp>
        <p:nvSpPr>
          <p:cNvPr id="257" name="s258"/>
          <p:cNvSpPr/>
          <p:nvPr/>
        </p:nvSpPr>
        <p:spPr>
          <a:xfrm>
            <a:off x="3378200" y="6451600"/>
            <a:ext cx="1905000" cy="1168400"/>
          </a:xfrm>
          <a:prstGeom prst="rect">
            <a:avLst/>
          </a:prstGeom>
          <a:solidFill>
            <a:srgbClr val="F4F8F6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8" name="t259"/>
          <p:cNvSpPr txBox="1"/>
          <p:nvPr/>
        </p:nvSpPr>
        <p:spPr>
          <a:xfrm>
            <a:off x="3530600" y="6451600"/>
            <a:ext cx="16764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400" dirty="0">
                <a:solidFill>
                  <a:srgbClr val="052927"/>
                </a:solidFill>
                <a:latin typeface="Aptos"/>
              </a:rPr>
              <a:t>Registry + chart</a:t>
            </a:r>
          </a:p>
        </p:txBody>
      </p:sp>
      <p:sp>
        <p:nvSpPr>
          <p:cNvPr id="259" name="s260"/>
          <p:cNvSpPr/>
          <p:nvPr/>
        </p:nvSpPr>
        <p:spPr>
          <a:xfrm>
            <a:off x="5321300" y="6489700"/>
            <a:ext cx="1320800" cy="1092200"/>
          </a:xfrm>
          <a:prstGeom prst="rect">
            <a:avLst/>
          </a:prstGeom>
          <a:solidFill>
            <a:srgbClr val="E0A9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0" name="t261"/>
          <p:cNvSpPr txBox="1"/>
          <p:nvPr/>
        </p:nvSpPr>
        <p:spPr>
          <a:xfrm>
            <a:off x="5359400" y="6451600"/>
            <a:ext cx="12446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3A2E08"/>
                </a:solidFill>
                <a:latin typeface="Aptos"/>
              </a:rPr>
              <a:t>Medium</a:t>
            </a:r>
          </a:p>
        </p:txBody>
      </p:sp>
      <p:sp>
        <p:nvSpPr>
          <p:cNvPr id="261" name="s262"/>
          <p:cNvSpPr/>
          <p:nvPr/>
        </p:nvSpPr>
        <p:spPr>
          <a:xfrm>
            <a:off x="6718300" y="6489700"/>
            <a:ext cx="1320800" cy="1092200"/>
          </a:xfrm>
          <a:prstGeom prst="rect">
            <a:avLst/>
          </a:prstGeom>
          <a:solidFill>
            <a:srgbClr val="E0A9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2" name="t263"/>
          <p:cNvSpPr txBox="1"/>
          <p:nvPr/>
        </p:nvSpPr>
        <p:spPr>
          <a:xfrm>
            <a:off x="6756400" y="6451600"/>
            <a:ext cx="12446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3A2E08"/>
                </a:solidFill>
                <a:latin typeface="Aptos"/>
              </a:rPr>
              <a:t>Medium</a:t>
            </a:r>
          </a:p>
        </p:txBody>
      </p:sp>
      <p:sp>
        <p:nvSpPr>
          <p:cNvPr id="263" name="s264"/>
          <p:cNvSpPr/>
          <p:nvPr/>
        </p:nvSpPr>
        <p:spPr>
          <a:xfrm>
            <a:off x="8115300" y="6489700"/>
            <a:ext cx="1320800" cy="1092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4" name="t265"/>
          <p:cNvSpPr txBox="1"/>
          <p:nvPr/>
        </p:nvSpPr>
        <p:spPr>
          <a:xfrm>
            <a:off x="8153400" y="6451600"/>
            <a:ext cx="12446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ptos"/>
              </a:rPr>
              <a:t>Needs review</a:t>
            </a:r>
          </a:p>
        </p:txBody>
      </p:sp>
      <p:sp>
        <p:nvSpPr>
          <p:cNvPr id="265" name="s266"/>
          <p:cNvSpPr/>
          <p:nvPr/>
        </p:nvSpPr>
        <p:spPr>
          <a:xfrm>
            <a:off x="9474200" y="6451600"/>
            <a:ext cx="2946400" cy="1168400"/>
          </a:xfrm>
          <a:prstGeom prst="rect">
            <a:avLst/>
          </a:prstGeom>
          <a:solidFill>
            <a:srgbClr val="F4F8F6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6" name="s267"/>
          <p:cNvSpPr/>
          <p:nvPr/>
        </p:nvSpPr>
        <p:spPr>
          <a:xfrm>
            <a:off x="9474200" y="6451600"/>
            <a:ext cx="63500" cy="1168400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7" name="t268"/>
          <p:cNvSpPr txBox="1"/>
          <p:nvPr/>
        </p:nvSpPr>
        <p:spPr>
          <a:xfrm>
            <a:off x="9677400" y="6451600"/>
            <a:ext cx="2641600" cy="116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400" b="1" dirty="0">
                <a:solidFill>
                  <a:srgbClr val="087267"/>
                </a:solidFill>
                <a:latin typeface="Aptos"/>
              </a:rPr>
              <a:t>Regulatory / access</a:t>
            </a:r>
          </a:p>
        </p:txBody>
      </p:sp>
      <p:sp>
        <p:nvSpPr>
          <p:cNvPr id="268" name="t269"/>
          <p:cNvSpPr txBox="1"/>
          <p:nvPr/>
        </p:nvSpPr>
        <p:spPr>
          <a:xfrm>
            <a:off x="711200" y="7848600"/>
            <a:ext cx="10668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200" b="1" spc="100" dirty="0">
                <a:solidFill>
                  <a:srgbClr val="6A7A76"/>
                </a:solidFill>
                <a:latin typeface="Aptos"/>
              </a:rPr>
              <a:t>RATING</a:t>
            </a:r>
          </a:p>
        </p:txBody>
      </p:sp>
      <p:sp>
        <p:nvSpPr>
          <p:cNvPr id="269" name="s270"/>
          <p:cNvSpPr/>
          <p:nvPr/>
        </p:nvSpPr>
        <p:spPr>
          <a:xfrm>
            <a:off x="1727200" y="7861300"/>
            <a:ext cx="254000" cy="254000"/>
          </a:xfrm>
          <a:prstGeom prst="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0" name="t271"/>
          <p:cNvSpPr txBox="1"/>
          <p:nvPr/>
        </p:nvSpPr>
        <p:spPr>
          <a:xfrm>
            <a:off x="2057400" y="7848600"/>
            <a:ext cx="17780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300" dirty="0">
                <a:solidFill>
                  <a:srgbClr val="052927"/>
                </a:solidFill>
                <a:latin typeface="Aptos"/>
              </a:rPr>
              <a:t>High</a:t>
            </a:r>
          </a:p>
        </p:txBody>
      </p:sp>
      <p:sp>
        <p:nvSpPr>
          <p:cNvPr id="271" name="s272"/>
          <p:cNvSpPr/>
          <p:nvPr/>
        </p:nvSpPr>
        <p:spPr>
          <a:xfrm>
            <a:off x="3200400" y="7861300"/>
            <a:ext cx="254000" cy="254000"/>
          </a:xfrm>
          <a:prstGeom prst="rect">
            <a:avLst/>
          </a:prstGeom>
          <a:solidFill>
            <a:srgbClr val="E0A9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2" name="t273"/>
          <p:cNvSpPr txBox="1"/>
          <p:nvPr/>
        </p:nvSpPr>
        <p:spPr>
          <a:xfrm>
            <a:off x="3530600" y="7848600"/>
            <a:ext cx="17780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300" dirty="0">
                <a:solidFill>
                  <a:srgbClr val="052927"/>
                </a:solidFill>
                <a:latin typeface="Aptos"/>
              </a:rPr>
              <a:t>Medium</a:t>
            </a:r>
          </a:p>
        </p:txBody>
      </p:sp>
      <p:sp>
        <p:nvSpPr>
          <p:cNvPr id="273" name="s274"/>
          <p:cNvSpPr/>
          <p:nvPr/>
        </p:nvSpPr>
        <p:spPr>
          <a:xfrm>
            <a:off x="4673600" y="7861300"/>
            <a:ext cx="254000" cy="254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4" name="t275"/>
          <p:cNvSpPr txBox="1"/>
          <p:nvPr/>
        </p:nvSpPr>
        <p:spPr>
          <a:xfrm>
            <a:off x="5003800" y="7848600"/>
            <a:ext cx="17780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300" dirty="0">
                <a:solidFill>
                  <a:srgbClr val="052927"/>
                </a:solidFill>
                <a:latin typeface="Aptos"/>
              </a:rPr>
              <a:t>Needs review</a:t>
            </a:r>
          </a:p>
        </p:txBody>
      </p:sp>
    </p:spTree>
    <p:extLst>
      <p:ext uri="{BB962C8B-B14F-4D97-AF65-F5344CB8AC3E}">
        <p14:creationId xmlns:p14="http://schemas.microsoft.com/office/powerpoint/2010/main" val="6171284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20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202"/>
          <p:cNvSpPr/>
          <p:nvPr/>
        </p:nvSpPr>
        <p:spPr>
          <a:xfrm>
            <a:off x="812800" y="508000"/>
            <a:ext cx="406400" cy="38100"/>
          </a:xfrm>
          <a:prstGeom prst="rect">
            <a:avLst/>
          </a:prstGeom>
          <a:solidFill>
            <a:srgbClr val="3DB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s203"/>
          <p:cNvSpPr/>
          <p:nvPr/>
        </p:nvSpPr>
        <p:spPr>
          <a:xfrm>
            <a:off x="1308100" y="508000"/>
            <a:ext cx="609600" cy="381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204"/>
          <p:cNvSpPr txBox="1"/>
          <p:nvPr/>
        </p:nvSpPr>
        <p:spPr>
          <a:xfrm>
            <a:off x="812800" y="711200"/>
            <a:ext cx="127000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800" dirty="0">
                <a:solidFill>
                  <a:srgbClr val="003F3B"/>
                </a:solidFill>
                <a:latin typeface="Georgia"/>
              </a:rPr>
              <a:t>Real-world evidence generation strategy</a:t>
            </a:r>
          </a:p>
        </p:txBody>
      </p:sp>
      <p:sp>
        <p:nvSpPr>
          <p:cNvPr id="204" name="s205"/>
          <p:cNvSpPr/>
          <p:nvPr/>
        </p:nvSpPr>
        <p:spPr>
          <a:xfrm>
            <a:off x="711200" y="1676400"/>
            <a:ext cx="3111500" cy="6019800"/>
          </a:xfrm>
          <a:prstGeom prst="roundRect">
            <a:avLst/>
          </a:prstGeom>
          <a:solidFill>
            <a:srgbClr val="F7FAF9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s206"/>
          <p:cNvSpPr/>
          <p:nvPr/>
        </p:nvSpPr>
        <p:spPr>
          <a:xfrm>
            <a:off x="711200" y="1676400"/>
            <a:ext cx="3111500" cy="9144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t207"/>
          <p:cNvSpPr txBox="1"/>
          <p:nvPr/>
        </p:nvSpPr>
        <p:spPr>
          <a:xfrm>
            <a:off x="889000" y="1828800"/>
            <a:ext cx="27559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Aptos"/>
              </a:rPr>
              <a:t>Treatment patterns</a:t>
            </a:r>
          </a:p>
        </p:txBody>
      </p:sp>
      <p:sp>
        <p:nvSpPr>
          <p:cNvPr id="207" name="t208"/>
          <p:cNvSpPr txBox="1"/>
          <p:nvPr/>
        </p:nvSpPr>
        <p:spPr>
          <a:xfrm>
            <a:off x="889000" y="2235200"/>
            <a:ext cx="27559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dirty="0">
                <a:solidFill>
                  <a:srgbClr val="BFE3D6"/>
                </a:solidFill>
                <a:latin typeface="Aptos"/>
              </a:rPr>
              <a:t>Claims / EHR</a:t>
            </a:r>
          </a:p>
        </p:txBody>
      </p:sp>
      <p:sp>
        <p:nvSpPr>
          <p:cNvPr id="208" name="t209"/>
          <p:cNvSpPr txBox="1"/>
          <p:nvPr/>
        </p:nvSpPr>
        <p:spPr>
          <a:xfrm>
            <a:off x="914400" y="2819400"/>
            <a:ext cx="27051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b="1" spc="80" dirty="0">
                <a:solidFill>
                  <a:srgbClr val="6A7A76"/>
                </a:solidFill>
                <a:latin typeface="Aptos"/>
              </a:rPr>
              <a:t>ENDPOINT</a:t>
            </a:r>
          </a:p>
        </p:txBody>
      </p:sp>
      <p:sp>
        <p:nvSpPr>
          <p:cNvPr id="209" name="s210"/>
          <p:cNvSpPr/>
          <p:nvPr/>
        </p:nvSpPr>
        <p:spPr>
          <a:xfrm>
            <a:off x="914400" y="3073400"/>
            <a:ext cx="2705100" cy="101600"/>
          </a:xfrm>
          <a:prstGeom prst="roundRect">
            <a:avLst/>
          </a:prstGeom>
          <a:solidFill>
            <a:srgbClr val="E4EC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s211"/>
          <p:cNvSpPr/>
          <p:nvPr/>
        </p:nvSpPr>
        <p:spPr>
          <a:xfrm>
            <a:off x="914400" y="3073400"/>
            <a:ext cx="2705100" cy="101600"/>
          </a:xfrm>
          <a:prstGeom prst="round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t212"/>
          <p:cNvSpPr txBox="1"/>
          <p:nvPr/>
        </p:nvSpPr>
        <p:spPr>
          <a:xfrm>
            <a:off x="914400" y="3200400"/>
            <a:ext cx="27051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>
                <a:solidFill>
                  <a:srgbClr val="1E7A53"/>
                </a:solidFill>
                <a:latin typeface="Aptos"/>
              </a:rPr>
              <a:t>High</a:t>
            </a:r>
          </a:p>
        </p:txBody>
      </p:sp>
      <p:sp>
        <p:nvSpPr>
          <p:cNvPr id="212" name="t213"/>
          <p:cNvSpPr txBox="1"/>
          <p:nvPr/>
        </p:nvSpPr>
        <p:spPr>
          <a:xfrm>
            <a:off x="914400" y="3606800"/>
            <a:ext cx="27051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b="1" spc="80" dirty="0">
                <a:solidFill>
                  <a:srgbClr val="6A7A76"/>
                </a:solidFill>
                <a:latin typeface="Aptos"/>
              </a:rPr>
              <a:t>POPULATION</a:t>
            </a:r>
          </a:p>
        </p:txBody>
      </p:sp>
      <p:sp>
        <p:nvSpPr>
          <p:cNvPr id="213" name="s214"/>
          <p:cNvSpPr/>
          <p:nvPr/>
        </p:nvSpPr>
        <p:spPr>
          <a:xfrm>
            <a:off x="914400" y="3860800"/>
            <a:ext cx="2705100" cy="101600"/>
          </a:xfrm>
          <a:prstGeom prst="roundRect">
            <a:avLst/>
          </a:prstGeom>
          <a:solidFill>
            <a:srgbClr val="E4EC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s215"/>
          <p:cNvSpPr/>
          <p:nvPr/>
        </p:nvSpPr>
        <p:spPr>
          <a:xfrm>
            <a:off x="914400" y="3860800"/>
            <a:ext cx="1785366" cy="10160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5" name="t216"/>
          <p:cNvSpPr txBox="1"/>
          <p:nvPr/>
        </p:nvSpPr>
        <p:spPr>
          <a:xfrm>
            <a:off x="914400" y="3987800"/>
            <a:ext cx="27051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>
                <a:solidFill>
                  <a:srgbClr val="C98A1B"/>
                </a:solidFill>
                <a:latin typeface="Aptos"/>
              </a:rPr>
              <a:t>Medium</a:t>
            </a:r>
          </a:p>
        </p:txBody>
      </p:sp>
      <p:sp>
        <p:nvSpPr>
          <p:cNvPr id="216" name="t217"/>
          <p:cNvSpPr txBox="1"/>
          <p:nvPr/>
        </p:nvSpPr>
        <p:spPr>
          <a:xfrm>
            <a:off x="914400" y="4394200"/>
            <a:ext cx="27051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b="1" spc="80" dirty="0">
                <a:solidFill>
                  <a:srgbClr val="6A7A76"/>
                </a:solidFill>
                <a:latin typeface="Aptos"/>
              </a:rPr>
              <a:t>FEASIBILITY</a:t>
            </a:r>
          </a:p>
        </p:txBody>
      </p:sp>
      <p:sp>
        <p:nvSpPr>
          <p:cNvPr id="217" name="s218"/>
          <p:cNvSpPr/>
          <p:nvPr/>
        </p:nvSpPr>
        <p:spPr>
          <a:xfrm>
            <a:off x="914400" y="4648200"/>
            <a:ext cx="2705100" cy="101600"/>
          </a:xfrm>
          <a:prstGeom prst="roundRect">
            <a:avLst/>
          </a:prstGeom>
          <a:solidFill>
            <a:srgbClr val="E4EC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8" name="s219"/>
          <p:cNvSpPr/>
          <p:nvPr/>
        </p:nvSpPr>
        <p:spPr>
          <a:xfrm>
            <a:off x="914400" y="4648200"/>
            <a:ext cx="2705100" cy="101600"/>
          </a:xfrm>
          <a:prstGeom prst="round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9" name="t220"/>
          <p:cNvSpPr txBox="1"/>
          <p:nvPr/>
        </p:nvSpPr>
        <p:spPr>
          <a:xfrm>
            <a:off x="914400" y="4775200"/>
            <a:ext cx="27051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>
                <a:solidFill>
                  <a:srgbClr val="1E7A53"/>
                </a:solidFill>
                <a:latin typeface="Aptos"/>
              </a:rPr>
              <a:t>High</a:t>
            </a:r>
          </a:p>
        </p:txBody>
      </p:sp>
      <p:sp>
        <p:nvSpPr>
          <p:cNvPr id="220" name="s221"/>
          <p:cNvSpPr/>
          <p:nvPr/>
        </p:nvSpPr>
        <p:spPr>
          <a:xfrm>
            <a:off x="889000" y="5207000"/>
            <a:ext cx="2755900" cy="12700"/>
          </a:xfrm>
          <a:prstGeom prst="rect">
            <a:avLst/>
          </a:prstGeom>
          <a:solidFill>
            <a:srgbClr val="E1EA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t222"/>
          <p:cNvSpPr txBox="1"/>
          <p:nvPr/>
        </p:nvSpPr>
        <p:spPr>
          <a:xfrm>
            <a:off x="914400" y="5334000"/>
            <a:ext cx="27051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1" spc="80" dirty="0">
                <a:solidFill>
                  <a:srgbClr val="C0392B"/>
                </a:solidFill>
                <a:latin typeface="Aptos"/>
              </a:rPr>
              <a:t>KEY LIMITATION</a:t>
            </a:r>
          </a:p>
        </p:txBody>
      </p:sp>
      <p:sp>
        <p:nvSpPr>
          <p:cNvPr id="222" name="t223"/>
          <p:cNvSpPr txBox="1"/>
          <p:nvPr/>
        </p:nvSpPr>
        <p:spPr>
          <a:xfrm>
            <a:off x="914400" y="5562600"/>
            <a:ext cx="27051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052927"/>
                </a:solidFill>
                <a:latin typeface="Aptos"/>
              </a:rPr>
              <a:t>Missing clinical detail</a:t>
            </a:r>
          </a:p>
        </p:txBody>
      </p:sp>
      <p:sp>
        <p:nvSpPr>
          <p:cNvPr id="223" name="s224"/>
          <p:cNvSpPr/>
          <p:nvPr/>
        </p:nvSpPr>
        <p:spPr>
          <a:xfrm>
            <a:off x="711200" y="6959600"/>
            <a:ext cx="3111500" cy="736600"/>
          </a:xfrm>
          <a:prstGeom prst="rect">
            <a:avLst/>
          </a:prstGeom>
          <a:solidFill>
            <a:srgbClr val="003F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4" name="t225"/>
          <p:cNvSpPr txBox="1"/>
          <p:nvPr/>
        </p:nvSpPr>
        <p:spPr>
          <a:xfrm>
            <a:off x="889000" y="7061200"/>
            <a:ext cx="27559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00" b="1" spc="100" dirty="0">
                <a:solidFill>
                  <a:srgbClr val="BFE3D6"/>
                </a:solidFill>
                <a:latin typeface="Aptos"/>
              </a:rPr>
              <a:t>DECISION USE</a:t>
            </a:r>
          </a:p>
        </p:txBody>
      </p:sp>
      <p:sp>
        <p:nvSpPr>
          <p:cNvPr id="225" name="t226"/>
          <p:cNvSpPr txBox="1"/>
          <p:nvPr/>
        </p:nvSpPr>
        <p:spPr>
          <a:xfrm>
            <a:off x="889000" y="7289800"/>
            <a:ext cx="27559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Aptos"/>
              </a:rPr>
              <a:t>Launch planning</a:t>
            </a:r>
          </a:p>
        </p:txBody>
      </p:sp>
      <p:sp>
        <p:nvSpPr>
          <p:cNvPr id="226" name="s227"/>
          <p:cNvSpPr/>
          <p:nvPr/>
        </p:nvSpPr>
        <p:spPr>
          <a:xfrm>
            <a:off x="4076700" y="1676400"/>
            <a:ext cx="3111500" cy="6019800"/>
          </a:xfrm>
          <a:prstGeom prst="roundRect">
            <a:avLst/>
          </a:prstGeom>
          <a:solidFill>
            <a:srgbClr val="F7FAF9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7" name="s228"/>
          <p:cNvSpPr/>
          <p:nvPr/>
        </p:nvSpPr>
        <p:spPr>
          <a:xfrm>
            <a:off x="4076700" y="1676400"/>
            <a:ext cx="3111500" cy="9144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8" name="t229"/>
          <p:cNvSpPr txBox="1"/>
          <p:nvPr/>
        </p:nvSpPr>
        <p:spPr>
          <a:xfrm>
            <a:off x="4254500" y="1828800"/>
            <a:ext cx="27559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Aptos"/>
              </a:rPr>
              <a:t>Comparative outcomes</a:t>
            </a:r>
          </a:p>
        </p:txBody>
      </p:sp>
      <p:sp>
        <p:nvSpPr>
          <p:cNvPr id="229" name="t230"/>
          <p:cNvSpPr txBox="1"/>
          <p:nvPr/>
        </p:nvSpPr>
        <p:spPr>
          <a:xfrm>
            <a:off x="4254500" y="2235200"/>
            <a:ext cx="27559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dirty="0">
                <a:solidFill>
                  <a:srgbClr val="BFE3D6"/>
                </a:solidFill>
                <a:latin typeface="Aptos"/>
              </a:rPr>
              <a:t>Registry</a:t>
            </a:r>
          </a:p>
        </p:txBody>
      </p:sp>
      <p:sp>
        <p:nvSpPr>
          <p:cNvPr id="230" name="t231"/>
          <p:cNvSpPr txBox="1"/>
          <p:nvPr/>
        </p:nvSpPr>
        <p:spPr>
          <a:xfrm>
            <a:off x="4279900" y="2819400"/>
            <a:ext cx="27051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b="1" spc="80" dirty="0">
                <a:solidFill>
                  <a:srgbClr val="6A7A76"/>
                </a:solidFill>
                <a:latin typeface="Aptos"/>
              </a:rPr>
              <a:t>ENDPOINT</a:t>
            </a:r>
          </a:p>
        </p:txBody>
      </p:sp>
      <p:sp>
        <p:nvSpPr>
          <p:cNvPr id="231" name="s232"/>
          <p:cNvSpPr/>
          <p:nvPr/>
        </p:nvSpPr>
        <p:spPr>
          <a:xfrm>
            <a:off x="4279900" y="3073400"/>
            <a:ext cx="2705100" cy="101600"/>
          </a:xfrm>
          <a:prstGeom prst="roundRect">
            <a:avLst/>
          </a:prstGeom>
          <a:solidFill>
            <a:srgbClr val="E4EC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s233"/>
          <p:cNvSpPr/>
          <p:nvPr/>
        </p:nvSpPr>
        <p:spPr>
          <a:xfrm>
            <a:off x="4279900" y="3073400"/>
            <a:ext cx="1785366" cy="10160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3" name="t234"/>
          <p:cNvSpPr txBox="1"/>
          <p:nvPr/>
        </p:nvSpPr>
        <p:spPr>
          <a:xfrm>
            <a:off x="4279900" y="3200400"/>
            <a:ext cx="27051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>
                <a:solidFill>
                  <a:srgbClr val="C98A1B"/>
                </a:solidFill>
                <a:latin typeface="Aptos"/>
              </a:rPr>
              <a:t>Medium</a:t>
            </a:r>
          </a:p>
        </p:txBody>
      </p:sp>
      <p:sp>
        <p:nvSpPr>
          <p:cNvPr id="234" name="t235"/>
          <p:cNvSpPr txBox="1"/>
          <p:nvPr/>
        </p:nvSpPr>
        <p:spPr>
          <a:xfrm>
            <a:off x="4279900" y="3606800"/>
            <a:ext cx="27051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b="1" spc="80" dirty="0">
                <a:solidFill>
                  <a:srgbClr val="6A7A76"/>
                </a:solidFill>
                <a:latin typeface="Aptos"/>
              </a:rPr>
              <a:t>POPULATION</a:t>
            </a:r>
          </a:p>
        </p:txBody>
      </p:sp>
      <p:sp>
        <p:nvSpPr>
          <p:cNvPr id="235" name="s236"/>
          <p:cNvSpPr/>
          <p:nvPr/>
        </p:nvSpPr>
        <p:spPr>
          <a:xfrm>
            <a:off x="4279900" y="3860800"/>
            <a:ext cx="2705100" cy="101600"/>
          </a:xfrm>
          <a:prstGeom prst="roundRect">
            <a:avLst/>
          </a:prstGeom>
          <a:solidFill>
            <a:srgbClr val="E4EC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6" name="s237"/>
          <p:cNvSpPr/>
          <p:nvPr/>
        </p:nvSpPr>
        <p:spPr>
          <a:xfrm>
            <a:off x="4279900" y="3860800"/>
            <a:ext cx="2705100" cy="101600"/>
          </a:xfrm>
          <a:prstGeom prst="round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7" name="t238"/>
          <p:cNvSpPr txBox="1"/>
          <p:nvPr/>
        </p:nvSpPr>
        <p:spPr>
          <a:xfrm>
            <a:off x="4279900" y="3987800"/>
            <a:ext cx="27051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>
                <a:solidFill>
                  <a:srgbClr val="1E7A53"/>
                </a:solidFill>
                <a:latin typeface="Aptos"/>
              </a:rPr>
              <a:t>High</a:t>
            </a:r>
          </a:p>
        </p:txBody>
      </p:sp>
      <p:sp>
        <p:nvSpPr>
          <p:cNvPr id="238" name="t239"/>
          <p:cNvSpPr txBox="1"/>
          <p:nvPr/>
        </p:nvSpPr>
        <p:spPr>
          <a:xfrm>
            <a:off x="4279900" y="4394200"/>
            <a:ext cx="27051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b="1" spc="80" dirty="0">
                <a:solidFill>
                  <a:srgbClr val="6A7A76"/>
                </a:solidFill>
                <a:latin typeface="Aptos"/>
              </a:rPr>
              <a:t>FEASIBILITY</a:t>
            </a:r>
          </a:p>
        </p:txBody>
      </p:sp>
      <p:sp>
        <p:nvSpPr>
          <p:cNvPr id="239" name="s240"/>
          <p:cNvSpPr/>
          <p:nvPr/>
        </p:nvSpPr>
        <p:spPr>
          <a:xfrm>
            <a:off x="4279900" y="4648200"/>
            <a:ext cx="2705100" cy="101600"/>
          </a:xfrm>
          <a:prstGeom prst="roundRect">
            <a:avLst/>
          </a:prstGeom>
          <a:solidFill>
            <a:srgbClr val="E4EC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0" name="s241"/>
          <p:cNvSpPr/>
          <p:nvPr/>
        </p:nvSpPr>
        <p:spPr>
          <a:xfrm>
            <a:off x="4279900" y="4648200"/>
            <a:ext cx="1785366" cy="10160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1" name="t242"/>
          <p:cNvSpPr txBox="1"/>
          <p:nvPr/>
        </p:nvSpPr>
        <p:spPr>
          <a:xfrm>
            <a:off x="4279900" y="4775200"/>
            <a:ext cx="27051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>
                <a:solidFill>
                  <a:srgbClr val="C98A1B"/>
                </a:solidFill>
                <a:latin typeface="Aptos"/>
              </a:rPr>
              <a:t>Medium</a:t>
            </a:r>
          </a:p>
        </p:txBody>
      </p:sp>
      <p:sp>
        <p:nvSpPr>
          <p:cNvPr id="242" name="s243"/>
          <p:cNvSpPr/>
          <p:nvPr/>
        </p:nvSpPr>
        <p:spPr>
          <a:xfrm>
            <a:off x="4254500" y="5207000"/>
            <a:ext cx="2755900" cy="12700"/>
          </a:xfrm>
          <a:prstGeom prst="rect">
            <a:avLst/>
          </a:prstGeom>
          <a:solidFill>
            <a:srgbClr val="E1EA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3" name="t244"/>
          <p:cNvSpPr txBox="1"/>
          <p:nvPr/>
        </p:nvSpPr>
        <p:spPr>
          <a:xfrm>
            <a:off x="4279900" y="5334000"/>
            <a:ext cx="27051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1" spc="80" dirty="0">
                <a:solidFill>
                  <a:srgbClr val="C0392B"/>
                </a:solidFill>
                <a:latin typeface="Aptos"/>
              </a:rPr>
              <a:t>KEY LIMITATION</a:t>
            </a:r>
          </a:p>
        </p:txBody>
      </p:sp>
      <p:sp>
        <p:nvSpPr>
          <p:cNvPr id="244" name="t245"/>
          <p:cNvSpPr txBox="1"/>
          <p:nvPr/>
        </p:nvSpPr>
        <p:spPr>
          <a:xfrm>
            <a:off x="4279900" y="5562600"/>
            <a:ext cx="27051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052927"/>
                </a:solidFill>
                <a:latin typeface="Aptos"/>
              </a:rPr>
              <a:t>Confounding, sample size</a:t>
            </a:r>
          </a:p>
        </p:txBody>
      </p:sp>
      <p:sp>
        <p:nvSpPr>
          <p:cNvPr id="245" name="s246"/>
          <p:cNvSpPr/>
          <p:nvPr/>
        </p:nvSpPr>
        <p:spPr>
          <a:xfrm>
            <a:off x="4076700" y="6959600"/>
            <a:ext cx="3111500" cy="736600"/>
          </a:xfrm>
          <a:prstGeom prst="rect">
            <a:avLst/>
          </a:prstGeom>
          <a:solidFill>
            <a:srgbClr val="0055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6" name="t247"/>
          <p:cNvSpPr txBox="1"/>
          <p:nvPr/>
        </p:nvSpPr>
        <p:spPr>
          <a:xfrm>
            <a:off x="4254500" y="7061200"/>
            <a:ext cx="27559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00" b="1" spc="100" dirty="0">
                <a:solidFill>
                  <a:srgbClr val="BFE3D6"/>
                </a:solidFill>
                <a:latin typeface="Aptos"/>
              </a:rPr>
              <a:t>DECISION USE</a:t>
            </a:r>
          </a:p>
        </p:txBody>
      </p:sp>
      <p:sp>
        <p:nvSpPr>
          <p:cNvPr id="247" name="t248"/>
          <p:cNvSpPr txBox="1"/>
          <p:nvPr/>
        </p:nvSpPr>
        <p:spPr>
          <a:xfrm>
            <a:off x="4254500" y="7289800"/>
            <a:ext cx="27559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Aptos"/>
              </a:rPr>
              <a:t>HTA / HCP confidence</a:t>
            </a:r>
          </a:p>
        </p:txBody>
      </p:sp>
      <p:sp>
        <p:nvSpPr>
          <p:cNvPr id="248" name="s249"/>
          <p:cNvSpPr/>
          <p:nvPr/>
        </p:nvSpPr>
        <p:spPr>
          <a:xfrm>
            <a:off x="7442200" y="1676400"/>
            <a:ext cx="3111500" cy="6019800"/>
          </a:xfrm>
          <a:prstGeom prst="roundRect">
            <a:avLst/>
          </a:prstGeom>
          <a:solidFill>
            <a:srgbClr val="F7FAF9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9" name="s250"/>
          <p:cNvSpPr/>
          <p:nvPr/>
        </p:nvSpPr>
        <p:spPr>
          <a:xfrm>
            <a:off x="7442200" y="1676400"/>
            <a:ext cx="3111500" cy="914400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0" name="t251"/>
          <p:cNvSpPr txBox="1"/>
          <p:nvPr/>
        </p:nvSpPr>
        <p:spPr>
          <a:xfrm>
            <a:off x="7620000" y="1828800"/>
            <a:ext cx="27559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Aptos"/>
              </a:rPr>
              <a:t>Safety in practice</a:t>
            </a:r>
          </a:p>
        </p:txBody>
      </p:sp>
      <p:sp>
        <p:nvSpPr>
          <p:cNvPr id="251" name="t252"/>
          <p:cNvSpPr txBox="1"/>
          <p:nvPr/>
        </p:nvSpPr>
        <p:spPr>
          <a:xfrm>
            <a:off x="7620000" y="2235200"/>
            <a:ext cx="27559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dirty="0">
                <a:solidFill>
                  <a:srgbClr val="BFE3D6"/>
                </a:solidFill>
                <a:latin typeface="Aptos"/>
              </a:rPr>
              <a:t>EHR / registry</a:t>
            </a:r>
          </a:p>
        </p:txBody>
      </p:sp>
      <p:sp>
        <p:nvSpPr>
          <p:cNvPr id="252" name="t253"/>
          <p:cNvSpPr txBox="1"/>
          <p:nvPr/>
        </p:nvSpPr>
        <p:spPr>
          <a:xfrm>
            <a:off x="7645400" y="2819400"/>
            <a:ext cx="27051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b="1" spc="80" dirty="0">
                <a:solidFill>
                  <a:srgbClr val="6A7A76"/>
                </a:solidFill>
                <a:latin typeface="Aptos"/>
              </a:rPr>
              <a:t>ENDPOINT</a:t>
            </a:r>
          </a:p>
        </p:txBody>
      </p:sp>
      <p:sp>
        <p:nvSpPr>
          <p:cNvPr id="253" name="s254"/>
          <p:cNvSpPr/>
          <p:nvPr/>
        </p:nvSpPr>
        <p:spPr>
          <a:xfrm>
            <a:off x="7645400" y="3073400"/>
            <a:ext cx="2705100" cy="101600"/>
          </a:xfrm>
          <a:prstGeom prst="roundRect">
            <a:avLst/>
          </a:prstGeom>
          <a:solidFill>
            <a:srgbClr val="E4EC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4" name="s255"/>
          <p:cNvSpPr/>
          <p:nvPr/>
        </p:nvSpPr>
        <p:spPr>
          <a:xfrm>
            <a:off x="7645400" y="3073400"/>
            <a:ext cx="2705100" cy="101600"/>
          </a:xfrm>
          <a:prstGeom prst="round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5" name="t256"/>
          <p:cNvSpPr txBox="1"/>
          <p:nvPr/>
        </p:nvSpPr>
        <p:spPr>
          <a:xfrm>
            <a:off x="7645400" y="3200400"/>
            <a:ext cx="27051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>
                <a:solidFill>
                  <a:srgbClr val="1E7A53"/>
                </a:solidFill>
                <a:latin typeface="Aptos"/>
              </a:rPr>
              <a:t>High</a:t>
            </a:r>
          </a:p>
        </p:txBody>
      </p:sp>
      <p:sp>
        <p:nvSpPr>
          <p:cNvPr id="256" name="t257"/>
          <p:cNvSpPr txBox="1"/>
          <p:nvPr/>
        </p:nvSpPr>
        <p:spPr>
          <a:xfrm>
            <a:off x="7645400" y="3606800"/>
            <a:ext cx="27051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b="1" spc="80" dirty="0">
                <a:solidFill>
                  <a:srgbClr val="6A7A76"/>
                </a:solidFill>
                <a:latin typeface="Aptos"/>
              </a:rPr>
              <a:t>POPULATION</a:t>
            </a:r>
          </a:p>
        </p:txBody>
      </p:sp>
      <p:sp>
        <p:nvSpPr>
          <p:cNvPr id="257" name="s258"/>
          <p:cNvSpPr/>
          <p:nvPr/>
        </p:nvSpPr>
        <p:spPr>
          <a:xfrm>
            <a:off x="7645400" y="3860800"/>
            <a:ext cx="2705100" cy="101600"/>
          </a:xfrm>
          <a:prstGeom prst="roundRect">
            <a:avLst/>
          </a:prstGeom>
          <a:solidFill>
            <a:srgbClr val="E4EC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8" name="s259"/>
          <p:cNvSpPr/>
          <p:nvPr/>
        </p:nvSpPr>
        <p:spPr>
          <a:xfrm>
            <a:off x="7645400" y="3860800"/>
            <a:ext cx="2705100" cy="101600"/>
          </a:xfrm>
          <a:prstGeom prst="round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9" name="t260"/>
          <p:cNvSpPr txBox="1"/>
          <p:nvPr/>
        </p:nvSpPr>
        <p:spPr>
          <a:xfrm>
            <a:off x="7645400" y="3987800"/>
            <a:ext cx="27051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>
                <a:solidFill>
                  <a:srgbClr val="1E7A53"/>
                </a:solidFill>
                <a:latin typeface="Aptos"/>
              </a:rPr>
              <a:t>High</a:t>
            </a:r>
          </a:p>
        </p:txBody>
      </p:sp>
      <p:sp>
        <p:nvSpPr>
          <p:cNvPr id="260" name="t261"/>
          <p:cNvSpPr txBox="1"/>
          <p:nvPr/>
        </p:nvSpPr>
        <p:spPr>
          <a:xfrm>
            <a:off x="7645400" y="4394200"/>
            <a:ext cx="27051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b="1" spc="80" dirty="0">
                <a:solidFill>
                  <a:srgbClr val="6A7A76"/>
                </a:solidFill>
                <a:latin typeface="Aptos"/>
              </a:rPr>
              <a:t>FEASIBILITY</a:t>
            </a:r>
          </a:p>
        </p:txBody>
      </p:sp>
      <p:sp>
        <p:nvSpPr>
          <p:cNvPr id="261" name="s262"/>
          <p:cNvSpPr/>
          <p:nvPr/>
        </p:nvSpPr>
        <p:spPr>
          <a:xfrm>
            <a:off x="7645400" y="4648200"/>
            <a:ext cx="2705100" cy="101600"/>
          </a:xfrm>
          <a:prstGeom prst="roundRect">
            <a:avLst/>
          </a:prstGeom>
          <a:solidFill>
            <a:srgbClr val="E4EC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2" name="s263"/>
          <p:cNvSpPr/>
          <p:nvPr/>
        </p:nvSpPr>
        <p:spPr>
          <a:xfrm>
            <a:off x="7645400" y="4648200"/>
            <a:ext cx="2705100" cy="101600"/>
          </a:xfrm>
          <a:prstGeom prst="roundRect">
            <a:avLst/>
          </a:prstGeom>
          <a:solidFill>
            <a:srgbClr val="1E7A5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3" name="t264"/>
          <p:cNvSpPr txBox="1"/>
          <p:nvPr/>
        </p:nvSpPr>
        <p:spPr>
          <a:xfrm>
            <a:off x="7645400" y="4775200"/>
            <a:ext cx="27051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>
                <a:solidFill>
                  <a:srgbClr val="1E7A53"/>
                </a:solidFill>
                <a:latin typeface="Aptos"/>
              </a:rPr>
              <a:t>High</a:t>
            </a:r>
          </a:p>
        </p:txBody>
      </p:sp>
      <p:sp>
        <p:nvSpPr>
          <p:cNvPr id="264" name="s265"/>
          <p:cNvSpPr/>
          <p:nvPr/>
        </p:nvSpPr>
        <p:spPr>
          <a:xfrm>
            <a:off x="7620000" y="5207000"/>
            <a:ext cx="2755900" cy="12700"/>
          </a:xfrm>
          <a:prstGeom prst="rect">
            <a:avLst/>
          </a:prstGeom>
          <a:solidFill>
            <a:srgbClr val="E1EA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5" name="t266"/>
          <p:cNvSpPr txBox="1"/>
          <p:nvPr/>
        </p:nvSpPr>
        <p:spPr>
          <a:xfrm>
            <a:off x="7645400" y="5334000"/>
            <a:ext cx="27051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1" spc="80" dirty="0">
                <a:solidFill>
                  <a:srgbClr val="C0392B"/>
                </a:solidFill>
                <a:latin typeface="Aptos"/>
              </a:rPr>
              <a:t>KEY LIMITATION</a:t>
            </a:r>
          </a:p>
        </p:txBody>
      </p:sp>
      <p:sp>
        <p:nvSpPr>
          <p:cNvPr id="266" name="t267"/>
          <p:cNvSpPr txBox="1"/>
          <p:nvPr/>
        </p:nvSpPr>
        <p:spPr>
          <a:xfrm>
            <a:off x="7645400" y="5562600"/>
            <a:ext cx="27051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052927"/>
                </a:solidFill>
                <a:latin typeface="Aptos"/>
              </a:rPr>
              <a:t>Follow-up completeness</a:t>
            </a:r>
          </a:p>
        </p:txBody>
      </p:sp>
      <p:sp>
        <p:nvSpPr>
          <p:cNvPr id="267" name="s268"/>
          <p:cNvSpPr/>
          <p:nvPr/>
        </p:nvSpPr>
        <p:spPr>
          <a:xfrm>
            <a:off x="7442200" y="6959600"/>
            <a:ext cx="3111500" cy="736600"/>
          </a:xfrm>
          <a:prstGeom prst="rect">
            <a:avLst/>
          </a:prstGeom>
          <a:solidFill>
            <a:srgbClr val="08726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8" name="t269"/>
          <p:cNvSpPr txBox="1"/>
          <p:nvPr/>
        </p:nvSpPr>
        <p:spPr>
          <a:xfrm>
            <a:off x="7620000" y="7061200"/>
            <a:ext cx="27559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00" b="1" spc="100" dirty="0">
                <a:solidFill>
                  <a:srgbClr val="BFE3D6"/>
                </a:solidFill>
                <a:latin typeface="Aptos"/>
              </a:rPr>
              <a:t>DECISION USE</a:t>
            </a:r>
          </a:p>
        </p:txBody>
      </p:sp>
      <p:sp>
        <p:nvSpPr>
          <p:cNvPr id="269" name="t270"/>
          <p:cNvSpPr txBox="1"/>
          <p:nvPr/>
        </p:nvSpPr>
        <p:spPr>
          <a:xfrm>
            <a:off x="7620000" y="7289800"/>
            <a:ext cx="27559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Aptos"/>
              </a:rPr>
              <a:t>Medical communication</a:t>
            </a:r>
          </a:p>
        </p:txBody>
      </p:sp>
      <p:sp>
        <p:nvSpPr>
          <p:cNvPr id="270" name="s271"/>
          <p:cNvSpPr/>
          <p:nvPr/>
        </p:nvSpPr>
        <p:spPr>
          <a:xfrm>
            <a:off x="10807700" y="1676400"/>
            <a:ext cx="3111500" cy="6019800"/>
          </a:xfrm>
          <a:prstGeom prst="roundRect">
            <a:avLst/>
          </a:prstGeom>
          <a:solidFill>
            <a:srgbClr val="F7FAF9"/>
          </a:solidFill>
          <a:ln w="12700">
            <a:solidFill>
              <a:srgbClr val="E1EA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1" name="s272"/>
          <p:cNvSpPr/>
          <p:nvPr/>
        </p:nvSpPr>
        <p:spPr>
          <a:xfrm>
            <a:off x="10807700" y="1676400"/>
            <a:ext cx="3111500" cy="914400"/>
          </a:xfrm>
          <a:prstGeom prst="rect">
            <a:avLst/>
          </a:prstGeom>
          <a:solidFill>
            <a:srgbClr val="2C80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2" name="t273"/>
          <p:cNvSpPr txBox="1"/>
          <p:nvPr/>
        </p:nvSpPr>
        <p:spPr>
          <a:xfrm>
            <a:off x="10985500" y="1828800"/>
            <a:ext cx="27559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Aptos"/>
              </a:rPr>
              <a:t>External control</a:t>
            </a:r>
          </a:p>
        </p:txBody>
      </p:sp>
      <p:sp>
        <p:nvSpPr>
          <p:cNvPr id="273" name="t274"/>
          <p:cNvSpPr txBox="1"/>
          <p:nvPr/>
        </p:nvSpPr>
        <p:spPr>
          <a:xfrm>
            <a:off x="10985500" y="2235200"/>
            <a:ext cx="27559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dirty="0">
                <a:solidFill>
                  <a:srgbClr val="BFE3D6"/>
                </a:solidFill>
                <a:latin typeface="Aptos"/>
              </a:rPr>
              <a:t>Registry + chart</a:t>
            </a:r>
          </a:p>
        </p:txBody>
      </p:sp>
      <p:sp>
        <p:nvSpPr>
          <p:cNvPr id="274" name="t275"/>
          <p:cNvSpPr txBox="1"/>
          <p:nvPr/>
        </p:nvSpPr>
        <p:spPr>
          <a:xfrm>
            <a:off x="11010900" y="2819400"/>
            <a:ext cx="27051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b="1" spc="80" dirty="0">
                <a:solidFill>
                  <a:srgbClr val="6A7A76"/>
                </a:solidFill>
                <a:latin typeface="Aptos"/>
              </a:rPr>
              <a:t>ENDPOINT</a:t>
            </a:r>
          </a:p>
        </p:txBody>
      </p:sp>
      <p:sp>
        <p:nvSpPr>
          <p:cNvPr id="275" name="s276"/>
          <p:cNvSpPr/>
          <p:nvPr/>
        </p:nvSpPr>
        <p:spPr>
          <a:xfrm>
            <a:off x="11010900" y="3073400"/>
            <a:ext cx="2705100" cy="101600"/>
          </a:xfrm>
          <a:prstGeom prst="roundRect">
            <a:avLst/>
          </a:prstGeom>
          <a:solidFill>
            <a:srgbClr val="E4EC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6" name="s277"/>
          <p:cNvSpPr/>
          <p:nvPr/>
        </p:nvSpPr>
        <p:spPr>
          <a:xfrm>
            <a:off x="11010900" y="3073400"/>
            <a:ext cx="1785366" cy="10160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7" name="t278"/>
          <p:cNvSpPr txBox="1"/>
          <p:nvPr/>
        </p:nvSpPr>
        <p:spPr>
          <a:xfrm>
            <a:off x="11010900" y="3200400"/>
            <a:ext cx="27051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>
                <a:solidFill>
                  <a:srgbClr val="C98A1B"/>
                </a:solidFill>
                <a:latin typeface="Aptos"/>
              </a:rPr>
              <a:t>Medium</a:t>
            </a:r>
          </a:p>
        </p:txBody>
      </p:sp>
      <p:sp>
        <p:nvSpPr>
          <p:cNvPr id="278" name="t279"/>
          <p:cNvSpPr txBox="1"/>
          <p:nvPr/>
        </p:nvSpPr>
        <p:spPr>
          <a:xfrm>
            <a:off x="11010900" y="3606800"/>
            <a:ext cx="27051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b="1" spc="80" dirty="0">
                <a:solidFill>
                  <a:srgbClr val="6A7A76"/>
                </a:solidFill>
                <a:latin typeface="Aptos"/>
              </a:rPr>
              <a:t>POPULATION</a:t>
            </a:r>
          </a:p>
        </p:txBody>
      </p:sp>
      <p:sp>
        <p:nvSpPr>
          <p:cNvPr id="279" name="s280"/>
          <p:cNvSpPr/>
          <p:nvPr/>
        </p:nvSpPr>
        <p:spPr>
          <a:xfrm>
            <a:off x="11010900" y="3860800"/>
            <a:ext cx="2705100" cy="101600"/>
          </a:xfrm>
          <a:prstGeom prst="roundRect">
            <a:avLst/>
          </a:prstGeom>
          <a:solidFill>
            <a:srgbClr val="E4EC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0" name="s281"/>
          <p:cNvSpPr/>
          <p:nvPr/>
        </p:nvSpPr>
        <p:spPr>
          <a:xfrm>
            <a:off x="11010900" y="3860800"/>
            <a:ext cx="1785366" cy="101600"/>
          </a:xfrm>
          <a:prstGeom prst="roundRect">
            <a:avLst/>
          </a:prstGeom>
          <a:solidFill>
            <a:srgbClr val="C98A1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1" name="t282"/>
          <p:cNvSpPr txBox="1"/>
          <p:nvPr/>
        </p:nvSpPr>
        <p:spPr>
          <a:xfrm>
            <a:off x="11010900" y="3987800"/>
            <a:ext cx="27051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>
                <a:solidFill>
                  <a:srgbClr val="C98A1B"/>
                </a:solidFill>
                <a:latin typeface="Aptos"/>
              </a:rPr>
              <a:t>Medium</a:t>
            </a:r>
          </a:p>
        </p:txBody>
      </p:sp>
      <p:sp>
        <p:nvSpPr>
          <p:cNvPr id="282" name="t283"/>
          <p:cNvSpPr txBox="1"/>
          <p:nvPr/>
        </p:nvSpPr>
        <p:spPr>
          <a:xfrm>
            <a:off x="11010900" y="4394200"/>
            <a:ext cx="27051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b="1" spc="80" dirty="0">
                <a:solidFill>
                  <a:srgbClr val="6A7A76"/>
                </a:solidFill>
                <a:latin typeface="Aptos"/>
              </a:rPr>
              <a:t>FEASIBILITY</a:t>
            </a:r>
          </a:p>
        </p:txBody>
      </p:sp>
      <p:sp>
        <p:nvSpPr>
          <p:cNvPr id="283" name="s284"/>
          <p:cNvSpPr/>
          <p:nvPr/>
        </p:nvSpPr>
        <p:spPr>
          <a:xfrm>
            <a:off x="11010900" y="4648200"/>
            <a:ext cx="2705100" cy="101600"/>
          </a:xfrm>
          <a:prstGeom prst="roundRect">
            <a:avLst/>
          </a:prstGeom>
          <a:solidFill>
            <a:srgbClr val="E4EC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4" name="s285"/>
          <p:cNvSpPr/>
          <p:nvPr/>
        </p:nvSpPr>
        <p:spPr>
          <a:xfrm>
            <a:off x="11010900" y="4648200"/>
            <a:ext cx="892683" cy="1016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5" name="t286"/>
          <p:cNvSpPr txBox="1"/>
          <p:nvPr/>
        </p:nvSpPr>
        <p:spPr>
          <a:xfrm>
            <a:off x="11010900" y="4775200"/>
            <a:ext cx="27051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dirty="0">
                <a:solidFill>
                  <a:srgbClr val="C0392B"/>
                </a:solidFill>
                <a:latin typeface="Aptos"/>
              </a:rPr>
              <a:t>Needs review</a:t>
            </a:r>
          </a:p>
        </p:txBody>
      </p:sp>
      <p:sp>
        <p:nvSpPr>
          <p:cNvPr id="286" name="s287"/>
          <p:cNvSpPr/>
          <p:nvPr/>
        </p:nvSpPr>
        <p:spPr>
          <a:xfrm>
            <a:off x="10985500" y="5207000"/>
            <a:ext cx="2755900" cy="12700"/>
          </a:xfrm>
          <a:prstGeom prst="rect">
            <a:avLst/>
          </a:prstGeom>
          <a:solidFill>
            <a:srgbClr val="E1EA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7" name="t288"/>
          <p:cNvSpPr txBox="1"/>
          <p:nvPr/>
        </p:nvSpPr>
        <p:spPr>
          <a:xfrm>
            <a:off x="11010900" y="5334000"/>
            <a:ext cx="27051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1" spc="80" dirty="0">
                <a:solidFill>
                  <a:srgbClr val="C0392B"/>
                </a:solidFill>
                <a:latin typeface="Aptos"/>
              </a:rPr>
              <a:t>KEY LIMITATION</a:t>
            </a:r>
          </a:p>
        </p:txBody>
      </p:sp>
      <p:sp>
        <p:nvSpPr>
          <p:cNvPr id="288" name="t289"/>
          <p:cNvSpPr txBox="1"/>
          <p:nvPr/>
        </p:nvSpPr>
        <p:spPr>
          <a:xfrm>
            <a:off x="11010900" y="5562600"/>
            <a:ext cx="27051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dirty="0">
                <a:solidFill>
                  <a:srgbClr val="052927"/>
                </a:solidFill>
                <a:latin typeface="Aptos"/>
              </a:rPr>
              <a:t>Eligibility alignment</a:t>
            </a:r>
          </a:p>
        </p:txBody>
      </p:sp>
      <p:sp>
        <p:nvSpPr>
          <p:cNvPr id="289" name="s290"/>
          <p:cNvSpPr/>
          <p:nvPr/>
        </p:nvSpPr>
        <p:spPr>
          <a:xfrm>
            <a:off x="10807700" y="6959600"/>
            <a:ext cx="3111500" cy="736600"/>
          </a:xfrm>
          <a:prstGeom prst="rect">
            <a:avLst/>
          </a:prstGeom>
          <a:solidFill>
            <a:srgbClr val="2C807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0" name="t291"/>
          <p:cNvSpPr txBox="1"/>
          <p:nvPr/>
        </p:nvSpPr>
        <p:spPr>
          <a:xfrm>
            <a:off x="10985500" y="7061200"/>
            <a:ext cx="27559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00" b="1" spc="100" dirty="0">
                <a:solidFill>
                  <a:srgbClr val="BFE3D6"/>
                </a:solidFill>
                <a:latin typeface="Aptos"/>
              </a:rPr>
              <a:t>DECISION USE</a:t>
            </a:r>
          </a:p>
        </p:txBody>
      </p:sp>
      <p:sp>
        <p:nvSpPr>
          <p:cNvPr id="291" name="t292"/>
          <p:cNvSpPr txBox="1"/>
          <p:nvPr/>
        </p:nvSpPr>
        <p:spPr>
          <a:xfrm>
            <a:off x="10985500" y="7289800"/>
            <a:ext cx="27559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Aptos"/>
              </a:rPr>
              <a:t>Regulatory / access</a:t>
            </a:r>
          </a:p>
        </p:txBody>
      </p:sp>
    </p:spTree>
    <p:extLst>
      <p:ext uri="{BB962C8B-B14F-4D97-AF65-F5344CB8AC3E}">
        <p14:creationId xmlns:p14="http://schemas.microsoft.com/office/powerpoint/2010/main" val="31074235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584200"/>
            <a:ext cx="406400" cy="381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5700" y="584200"/>
            <a:ext cx="609600" cy="38100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400" y="812800"/>
            <a:ext cx="13699656" cy="86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sz="2800" dirty="0">
                <a:solidFill>
                  <a:srgbClr val="00554F"/>
                </a:solidFill>
                <a:latin typeface="Georgia"/>
              </a:rPr>
              <a:t>Patient-centered and regulatory evidence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5BA5E6A-0397-88D7-5AD4-B4FA8214FAF3}"/>
              </a:ext>
            </a:extLst>
          </p:cNvPr>
          <p:cNvGrpSpPr/>
          <p:nvPr/>
        </p:nvGrpSpPr>
        <p:grpSpPr>
          <a:xfrm>
            <a:off x="660400" y="1968500"/>
            <a:ext cx="5842000" cy="2927483"/>
            <a:chOff x="914400" y="1968500"/>
            <a:chExt cx="5842000" cy="2927483"/>
          </a:xfrm>
        </p:grpSpPr>
        <p:sp>
          <p:nvSpPr>
            <p:cNvPr id="13" name="TextBox 12"/>
            <p:cNvSpPr txBox="1"/>
            <p:nvPr/>
          </p:nvSpPr>
          <p:spPr>
            <a:xfrm>
              <a:off x="914400" y="2590800"/>
              <a:ext cx="5842000" cy="2305183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marL="228600" indent="-228600">
                <a:lnSpc>
                  <a:spcPts val="2000"/>
                </a:lnSpc>
                <a:spcAft>
                  <a:spcPts val="1200"/>
                </a:spcAft>
                <a:buFont typeface="Arial"/>
                <a:buChar char="•"/>
              </a:pPr>
              <a:r>
                <a:rPr lang="en-US" sz="1600" b="0" dirty="0">
                  <a:solidFill>
                    <a:srgbClr val="31403D"/>
                  </a:solidFill>
                  <a:latin typeface="Aptos"/>
                </a:rPr>
                <a:t>PROs, COAs, HRQoL, symptom burden, and functional status.</a:t>
              </a:r>
            </a:p>
            <a:p>
              <a:pPr marL="228600" indent="-228600">
                <a:lnSpc>
                  <a:spcPts val="2000"/>
                </a:lnSpc>
                <a:spcAft>
                  <a:spcPts val="1200"/>
                </a:spcAft>
                <a:buFont typeface="Arial"/>
                <a:buChar char="•"/>
              </a:pPr>
              <a:r>
                <a:rPr lang="en-US" sz="1600" b="0" dirty="0">
                  <a:solidFill>
                    <a:srgbClr val="31403D"/>
                  </a:solidFill>
                  <a:latin typeface="Aptos"/>
                </a:rPr>
                <a:t>Patient preference, treatment burden, caregiver impact, adherence.</a:t>
              </a:r>
            </a:p>
            <a:p>
              <a:pPr marL="228600" indent="-228600">
                <a:lnSpc>
                  <a:spcPts val="2000"/>
                </a:lnSpc>
                <a:spcAft>
                  <a:spcPts val="1200"/>
                </a:spcAft>
                <a:buFont typeface="Arial"/>
                <a:buChar char="•"/>
              </a:pPr>
              <a:r>
                <a:rPr lang="en-US" sz="1600" b="0" dirty="0">
                  <a:solidFill>
                    <a:srgbClr val="31403D"/>
                  </a:solidFill>
                  <a:latin typeface="Aptos"/>
                </a:rPr>
                <a:t>Qualitative interviews to contextualize outcomes and unmet need.</a:t>
              </a:r>
            </a:p>
            <a:p>
              <a:pPr marL="228600" indent="-228600">
                <a:lnSpc>
                  <a:spcPts val="2000"/>
                </a:lnSpc>
                <a:buFont typeface="Arial"/>
                <a:buChar char="•"/>
              </a:pPr>
              <a:r>
                <a:rPr lang="en-US" sz="1600" b="0" dirty="0">
                  <a:solidFill>
                    <a:srgbClr val="31403D"/>
                  </a:solidFill>
                  <a:latin typeface="Aptos"/>
                </a:rPr>
                <a:t>Digital endpoints or passive measures where credible and validated.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1EBE439-9AC5-CCB6-4467-2CE21939CF9B}"/>
                </a:ext>
              </a:extLst>
            </p:cNvPr>
            <p:cNvGrpSpPr/>
            <p:nvPr/>
          </p:nvGrpSpPr>
          <p:grpSpPr>
            <a:xfrm>
              <a:off x="914400" y="1968500"/>
              <a:ext cx="3835400" cy="381000"/>
              <a:chOff x="787400" y="1854200"/>
              <a:chExt cx="3835400" cy="381000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004196-B926-EECC-85B5-2EF9A48D54C4}"/>
                  </a:ext>
                </a:extLst>
              </p:cNvPr>
              <p:cNvSpPr txBox="1"/>
              <p:nvPr/>
            </p:nvSpPr>
            <p:spPr>
              <a:xfrm>
                <a:off x="787400" y="1854200"/>
                <a:ext cx="3835400" cy="332399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r>
                  <a:rPr lang="en-US" sz="1800" b="1" dirty="0">
                    <a:solidFill>
                      <a:srgbClr val="087267"/>
                    </a:solidFill>
                    <a:latin typeface="Aptos"/>
                  </a:rPr>
                  <a:t>Patient-centered evidence</a:t>
                </a:r>
                <a:endParaRPr sz="1800" b="1" dirty="0">
                  <a:solidFill>
                    <a:srgbClr val="087267"/>
                  </a:solidFill>
                  <a:latin typeface="Aptos"/>
                </a:endParaRPr>
              </a:p>
            </p:txBody>
          </p:sp>
          <p:cxnSp>
            <p:nvCxnSpPr>
              <p:cNvPr id="6" name="LabelRule">
                <a:extLst>
                  <a:ext uri="{FF2B5EF4-FFF2-40B4-BE49-F238E27FC236}">
                    <a16:creationId xmlns:a16="http://schemas.microsoft.com/office/drawing/2014/main" id="{ED258838-63BD-1F52-D913-4D0E701B18B3}"/>
                  </a:ext>
                </a:extLst>
              </p:cNvPr>
              <p:cNvCxnSpPr/>
              <p:nvPr/>
            </p:nvCxnSpPr>
            <p:spPr>
              <a:xfrm>
                <a:off x="787400" y="2235200"/>
                <a:ext cx="508000" cy="0"/>
              </a:xfrm>
              <a:prstGeom prst="line">
                <a:avLst/>
              </a:prstGeom>
              <a:ln w="19050" cap="flat">
                <a:solidFill>
                  <a:srgbClr val="3DDC9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cxn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4A5FF2-68B8-3A61-BC42-FE0A6427C59B}"/>
              </a:ext>
            </a:extLst>
          </p:cNvPr>
          <p:cNvGrpSpPr/>
          <p:nvPr/>
        </p:nvGrpSpPr>
        <p:grpSpPr>
          <a:xfrm>
            <a:off x="7658100" y="1993900"/>
            <a:ext cx="5842000" cy="2902083"/>
            <a:chOff x="7658100" y="1993900"/>
            <a:chExt cx="5842000" cy="2902083"/>
          </a:xfrm>
        </p:grpSpPr>
        <p:sp>
          <p:nvSpPr>
            <p:cNvPr id="24" name="TextBox 23"/>
            <p:cNvSpPr txBox="1"/>
            <p:nvPr/>
          </p:nvSpPr>
          <p:spPr>
            <a:xfrm>
              <a:off x="7658100" y="2590800"/>
              <a:ext cx="5842000" cy="2305183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marL="228600" indent="-228600">
                <a:lnSpc>
                  <a:spcPts val="2000"/>
                </a:lnSpc>
                <a:spcAft>
                  <a:spcPts val="1200"/>
                </a:spcAft>
                <a:buFont typeface="Arial"/>
                <a:buChar char="•"/>
              </a:pPr>
              <a:r>
                <a:rPr lang="en-US" sz="1600" b="0" dirty="0">
                  <a:solidFill>
                    <a:srgbClr val="31403D"/>
                  </a:solidFill>
                  <a:latin typeface="Aptos"/>
                </a:rPr>
                <a:t>Confirm commitments, safety follow-up, and real-world acceptability.</a:t>
              </a:r>
            </a:p>
            <a:p>
              <a:pPr marL="228600" indent="-228600">
                <a:lnSpc>
                  <a:spcPts val="2000"/>
                </a:lnSpc>
                <a:spcAft>
                  <a:spcPts val="1200"/>
                </a:spcAft>
                <a:buFont typeface="Arial"/>
                <a:buChar char="•"/>
              </a:pPr>
              <a:r>
                <a:rPr lang="en-US" sz="1600" b="0" dirty="0">
                  <a:solidFill>
                    <a:srgbClr val="31403D"/>
                  </a:solidFill>
                  <a:latin typeface="Aptos"/>
                </a:rPr>
                <a:t>Identify label-expansion, post-marketing, and evidence standards.</a:t>
              </a:r>
            </a:p>
            <a:p>
              <a:pPr marL="228600" indent="-228600">
                <a:lnSpc>
                  <a:spcPts val="2000"/>
                </a:lnSpc>
                <a:spcAft>
                  <a:spcPts val="1200"/>
                </a:spcAft>
                <a:buFont typeface="Arial"/>
                <a:buChar char="•"/>
              </a:pPr>
              <a:r>
                <a:rPr lang="en-US" sz="1600" b="0" dirty="0">
                  <a:solidFill>
                    <a:srgbClr val="31403D"/>
                  </a:solidFill>
                  <a:latin typeface="Aptos"/>
                </a:rPr>
                <a:t>Document where RWE or external controls may support decisions.</a:t>
              </a:r>
            </a:p>
            <a:p>
              <a:pPr marL="228600" indent="-228600">
                <a:lnSpc>
                  <a:spcPts val="2000"/>
                </a:lnSpc>
                <a:buFont typeface="Arial"/>
                <a:buChar char="•"/>
              </a:pPr>
              <a:r>
                <a:rPr lang="en-US" sz="1600" b="0" dirty="0">
                  <a:solidFill>
                    <a:srgbClr val="31403D"/>
                  </a:solidFill>
                  <a:latin typeface="Aptos"/>
                </a:rPr>
                <a:t>Keep regulatory questions separate from promotional claims.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E4D461-09B7-7107-24B3-E4626435644D}"/>
                </a:ext>
              </a:extLst>
            </p:cNvPr>
            <p:cNvGrpSpPr/>
            <p:nvPr/>
          </p:nvGrpSpPr>
          <p:grpSpPr>
            <a:xfrm>
              <a:off x="7658100" y="1993900"/>
              <a:ext cx="3835400" cy="381000"/>
              <a:chOff x="787400" y="1854200"/>
              <a:chExt cx="3835400" cy="381000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53EF2A6-2787-7E51-D141-625983A4F870}"/>
                  </a:ext>
                </a:extLst>
              </p:cNvPr>
              <p:cNvSpPr txBox="1"/>
              <p:nvPr/>
            </p:nvSpPr>
            <p:spPr>
              <a:xfrm>
                <a:off x="787400" y="1854200"/>
                <a:ext cx="3835400" cy="332399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r>
                  <a:rPr lang="en-US" sz="1800" b="1" dirty="0">
                    <a:solidFill>
                      <a:srgbClr val="087267"/>
                    </a:solidFill>
                    <a:latin typeface="Aptos"/>
                  </a:rPr>
                  <a:t>Regulatory evidence considerations</a:t>
                </a:r>
                <a:endParaRPr sz="1800" b="1" dirty="0">
                  <a:solidFill>
                    <a:srgbClr val="087267"/>
                  </a:solidFill>
                  <a:latin typeface="Aptos"/>
                </a:endParaRPr>
              </a:p>
            </p:txBody>
          </p:sp>
          <p:cxnSp>
            <p:nvCxnSpPr>
              <p:cNvPr id="17" name="LabelRule">
                <a:extLst>
                  <a:ext uri="{FF2B5EF4-FFF2-40B4-BE49-F238E27FC236}">
                    <a16:creationId xmlns:a16="http://schemas.microsoft.com/office/drawing/2014/main" id="{ED269452-07B1-AD08-4E91-CBACBA900BC0}"/>
                  </a:ext>
                </a:extLst>
              </p:cNvPr>
              <p:cNvCxnSpPr/>
              <p:nvPr/>
            </p:nvCxnSpPr>
            <p:spPr>
              <a:xfrm>
                <a:off x="787400" y="2235200"/>
                <a:ext cx="508000" cy="0"/>
              </a:xfrm>
              <a:prstGeom prst="line">
                <a:avLst/>
              </a:prstGeom>
              <a:ln w="19050" cap="flat">
                <a:solidFill>
                  <a:srgbClr val="3DDC9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cxnSp>
        </p:grpSp>
      </p:grpSp>
    </p:spTree>
    <p:extLst>
      <p:ext uri="{BB962C8B-B14F-4D97-AF65-F5344CB8AC3E}">
        <p14:creationId xmlns:p14="http://schemas.microsoft.com/office/powerpoint/2010/main" val="2106766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584200"/>
            <a:ext cx="406400" cy="38100"/>
          </a:xfrm>
          <a:prstGeom prst="rect">
            <a:avLst/>
          </a:prstGeom>
          <a:solidFill>
            <a:srgbClr val="15D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55700" y="584200"/>
            <a:ext cx="609600" cy="38100"/>
          </a:xfrm>
          <a:prstGeom prst="rect">
            <a:avLst/>
          </a:prstGeom>
          <a:solidFill>
            <a:srgbClr val="4E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400" y="812800"/>
            <a:ext cx="13081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dirty="0">
                <a:solidFill>
                  <a:srgbClr val="003F3B"/>
                </a:solidFill>
                <a:latin typeface="Georgia"/>
              </a:rPr>
              <a:t>Governance and impact dashboard</a:t>
            </a:r>
            <a:endParaRPr sz="2800" dirty="0">
              <a:solidFill>
                <a:srgbClr val="00554F"/>
              </a:solidFill>
              <a:latin typeface="Georgi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0400" y="1727200"/>
            <a:ext cx="3060700" cy="152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A22C9C3-290C-AFF1-1B08-857DF0445431}"/>
              </a:ext>
            </a:extLst>
          </p:cNvPr>
          <p:cNvGrpSpPr/>
          <p:nvPr/>
        </p:nvGrpSpPr>
        <p:grpSpPr>
          <a:xfrm>
            <a:off x="800100" y="2082800"/>
            <a:ext cx="2857500" cy="1055842"/>
            <a:chOff x="762000" y="2082800"/>
            <a:chExt cx="2857500" cy="1055842"/>
          </a:xfrm>
        </p:grpSpPr>
        <p:sp>
          <p:nvSpPr>
            <p:cNvPr id="10" name="TextBox 9"/>
            <p:cNvSpPr txBox="1"/>
            <p:nvPr/>
          </p:nvSpPr>
          <p:spPr>
            <a:xfrm>
              <a:off x="762000" y="2082800"/>
              <a:ext cx="2857500" cy="424732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/>
              <a:r>
                <a:rPr sz="2400" dirty="0">
                  <a:solidFill>
                    <a:srgbClr val="0B8678"/>
                  </a:solidFill>
                  <a:latin typeface="Aptos"/>
                </a:rPr>
                <a:t>[x]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62000" y="2590800"/>
              <a:ext cx="2857500" cy="547842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/>
              <a:r>
                <a:rPr sz="1600" b="0" dirty="0">
                  <a:solidFill>
                    <a:srgbClr val="31403D"/>
                  </a:solidFill>
                  <a:latin typeface="Aptos"/>
                </a:rPr>
                <a:t>Gaps closed or downgraded this cycle</a:t>
              </a:r>
            </a:p>
          </p:txBody>
        </p:sp>
      </p:grpSp>
      <p:sp>
        <p:nvSpPr>
          <p:cNvPr id="12" name="Rectangle 11"/>
          <p:cNvSpPr/>
          <p:nvPr/>
        </p:nvSpPr>
        <p:spPr>
          <a:xfrm>
            <a:off x="4025900" y="1727200"/>
            <a:ext cx="3060700" cy="152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63FB564-021E-6101-F674-1DDE2996BA8A}"/>
              </a:ext>
            </a:extLst>
          </p:cNvPr>
          <p:cNvGrpSpPr/>
          <p:nvPr/>
        </p:nvGrpSpPr>
        <p:grpSpPr>
          <a:xfrm>
            <a:off x="4165600" y="2082800"/>
            <a:ext cx="2857500" cy="965200"/>
            <a:chOff x="4127500" y="2082800"/>
            <a:chExt cx="2857500" cy="965200"/>
          </a:xfrm>
        </p:grpSpPr>
        <p:sp>
          <p:nvSpPr>
            <p:cNvPr id="13" name="TextBox 12"/>
            <p:cNvSpPr txBox="1"/>
            <p:nvPr/>
          </p:nvSpPr>
          <p:spPr>
            <a:xfrm>
              <a:off x="4127500" y="2082800"/>
              <a:ext cx="2857500" cy="424732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/>
              <a:r>
                <a:rPr sz="2400">
                  <a:solidFill>
                    <a:srgbClr val="0B8678"/>
                  </a:solidFill>
                  <a:latin typeface="Aptos"/>
                </a:rPr>
                <a:t>[x%]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127500" y="2590800"/>
              <a:ext cx="2857500" cy="457200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/>
              <a:r>
                <a:rPr sz="1600" b="0" dirty="0">
                  <a:solidFill>
                    <a:srgbClr val="31403D"/>
                  </a:solidFill>
                  <a:latin typeface="Aptos"/>
                </a:rPr>
                <a:t>Activities on track vs planned milestones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7391400" y="1727200"/>
            <a:ext cx="3060700" cy="152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308BC22-3367-7748-A511-34CA2E8C0CD6}"/>
              </a:ext>
            </a:extLst>
          </p:cNvPr>
          <p:cNvGrpSpPr/>
          <p:nvPr/>
        </p:nvGrpSpPr>
        <p:grpSpPr>
          <a:xfrm>
            <a:off x="7531100" y="2082800"/>
            <a:ext cx="2857500" cy="965200"/>
            <a:chOff x="7493000" y="2082800"/>
            <a:chExt cx="2857500" cy="965200"/>
          </a:xfrm>
        </p:grpSpPr>
        <p:sp>
          <p:nvSpPr>
            <p:cNvPr id="16" name="TextBox 15"/>
            <p:cNvSpPr txBox="1"/>
            <p:nvPr/>
          </p:nvSpPr>
          <p:spPr>
            <a:xfrm>
              <a:off x="7493000" y="2082800"/>
              <a:ext cx="2857500" cy="424732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/>
              <a:r>
                <a:rPr sz="2400" dirty="0">
                  <a:solidFill>
                    <a:srgbClr val="0B8678"/>
                  </a:solidFill>
                  <a:latin typeface="Aptos"/>
                </a:rPr>
                <a:t>[$x]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493000" y="2590800"/>
              <a:ext cx="2857500" cy="457200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/>
              <a:r>
                <a:rPr sz="1600" b="0" dirty="0">
                  <a:solidFill>
                    <a:srgbClr val="31403D"/>
                  </a:solidFill>
                  <a:latin typeface="Aptos"/>
                </a:rPr>
                <a:t>Budget committed by workstream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10756900" y="1727200"/>
            <a:ext cx="3060700" cy="152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EA9FA13-CF9A-3FD3-ABE6-294BA31F3BA7}"/>
              </a:ext>
            </a:extLst>
          </p:cNvPr>
          <p:cNvGrpSpPr/>
          <p:nvPr/>
        </p:nvGrpSpPr>
        <p:grpSpPr>
          <a:xfrm>
            <a:off x="10896600" y="2082800"/>
            <a:ext cx="2857500" cy="965200"/>
            <a:chOff x="10858500" y="2082800"/>
            <a:chExt cx="2857500" cy="965200"/>
          </a:xfrm>
        </p:grpSpPr>
        <p:sp>
          <p:nvSpPr>
            <p:cNvPr id="19" name="TextBox 18"/>
            <p:cNvSpPr txBox="1"/>
            <p:nvPr/>
          </p:nvSpPr>
          <p:spPr>
            <a:xfrm>
              <a:off x="10858500" y="2082800"/>
              <a:ext cx="2857500" cy="424732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/>
              <a:r>
                <a:rPr sz="2400" dirty="0">
                  <a:solidFill>
                    <a:srgbClr val="0B8678"/>
                  </a:solidFill>
                  <a:latin typeface="Aptos"/>
                </a:rPr>
                <a:t>[x]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858500" y="2590800"/>
              <a:ext cx="2857500" cy="457200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/>
              <a:r>
                <a:rPr sz="1600" b="0">
                  <a:solidFill>
                    <a:srgbClr val="31403D"/>
                  </a:solidFill>
                  <a:latin typeface="Aptos"/>
                </a:rPr>
                <a:t>Decision gates supported by new evidence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660400" y="3352800"/>
            <a:ext cx="6350000" cy="381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404100" y="3352800"/>
            <a:ext cx="6350000" cy="381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8B5F362-8A7E-E8F3-FF7B-233CF8F06E4E}"/>
              </a:ext>
            </a:extLst>
          </p:cNvPr>
          <p:cNvGrpSpPr/>
          <p:nvPr/>
        </p:nvGrpSpPr>
        <p:grpSpPr>
          <a:xfrm>
            <a:off x="660400" y="3894151"/>
            <a:ext cx="5791200" cy="3675605"/>
            <a:chOff x="914400" y="3899456"/>
            <a:chExt cx="5791200" cy="3675605"/>
          </a:xfrm>
        </p:grpSpPr>
        <p:sp>
          <p:nvSpPr>
            <p:cNvPr id="24" name="TextBox 23"/>
            <p:cNvSpPr txBox="1"/>
            <p:nvPr/>
          </p:nvSpPr>
          <p:spPr>
            <a:xfrm>
              <a:off x="914400" y="4527061"/>
              <a:ext cx="5791200" cy="3048000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marL="228600" indent="-228600">
                <a:lnSpc>
                  <a:spcPts val="2000"/>
                </a:lnSpc>
                <a:spcAft>
                  <a:spcPts val="900"/>
                </a:spcAft>
                <a:buFont typeface="Arial"/>
                <a:buChar char="•"/>
              </a:pPr>
              <a:r>
                <a:rPr lang="en-US" sz="1600" b="0" dirty="0">
                  <a:solidFill>
                    <a:srgbClr val="052927"/>
                  </a:solidFill>
                  <a:latin typeface="Aptos"/>
                </a:rPr>
                <a:t>Core working team: [monthly]</a:t>
              </a:r>
            </a:p>
            <a:p>
              <a:pPr marL="228600" indent="-228600">
                <a:lnSpc>
                  <a:spcPts val="2000"/>
                </a:lnSpc>
                <a:spcAft>
                  <a:spcPts val="900"/>
                </a:spcAft>
                <a:buFont typeface="Arial"/>
                <a:buChar char="•"/>
              </a:pPr>
              <a:r>
                <a:rPr lang="en-US" sz="1600" b="0" dirty="0">
                  <a:solidFill>
                    <a:srgbClr val="052927"/>
                  </a:solidFill>
                  <a:latin typeface="Aptos"/>
                </a:rPr>
                <a:t>Cross-functional evidence council: [quarterly]</a:t>
              </a:r>
            </a:p>
            <a:p>
              <a:pPr marL="228600" indent="-228600">
                <a:lnSpc>
                  <a:spcPts val="2000"/>
                </a:lnSpc>
                <a:spcAft>
                  <a:spcPts val="900"/>
                </a:spcAft>
                <a:buFont typeface="Arial"/>
                <a:buChar char="•"/>
              </a:pPr>
              <a:r>
                <a:rPr lang="en-US" sz="1600" b="0" dirty="0">
                  <a:solidFill>
                    <a:srgbClr val="052927"/>
                  </a:solidFill>
                  <a:latin typeface="Aptos"/>
                </a:rPr>
                <a:t>Leadership decision forum: [as needed]</a:t>
              </a:r>
            </a:p>
            <a:p>
              <a:pPr marL="228600" indent="-228600">
                <a:lnSpc>
                  <a:spcPts val="2000"/>
                </a:lnSpc>
                <a:buFont typeface="Arial"/>
                <a:buChar char="•"/>
              </a:pPr>
              <a:r>
                <a:rPr lang="en-US" sz="1600" b="0" dirty="0">
                  <a:solidFill>
                    <a:srgbClr val="052927"/>
                  </a:solidFill>
                  <a:latin typeface="Aptos"/>
                </a:rPr>
                <a:t>Formal refresh: [annual or trigger-based]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1479CAE-D72D-B739-840A-AD88126D0C7B}"/>
                </a:ext>
              </a:extLst>
            </p:cNvPr>
            <p:cNvGrpSpPr/>
            <p:nvPr/>
          </p:nvGrpSpPr>
          <p:grpSpPr>
            <a:xfrm>
              <a:off x="914400" y="3899456"/>
              <a:ext cx="3835400" cy="381000"/>
              <a:chOff x="787400" y="1854200"/>
              <a:chExt cx="3835400" cy="381000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260CFCE-558A-C5FA-97AB-67E82C78A8CD}"/>
                  </a:ext>
                </a:extLst>
              </p:cNvPr>
              <p:cNvSpPr txBox="1"/>
              <p:nvPr/>
            </p:nvSpPr>
            <p:spPr>
              <a:xfrm>
                <a:off x="787400" y="1854200"/>
                <a:ext cx="3835400" cy="332399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r>
                  <a:rPr lang="en-US" sz="1800" b="1" dirty="0">
                    <a:solidFill>
                      <a:srgbClr val="087267"/>
                    </a:solidFill>
                    <a:latin typeface="Aptos"/>
                  </a:rPr>
                  <a:t>Governance sequence</a:t>
                </a:r>
                <a:endParaRPr sz="1800" b="1" dirty="0">
                  <a:solidFill>
                    <a:srgbClr val="087267"/>
                  </a:solidFill>
                  <a:latin typeface="Aptos"/>
                </a:endParaRPr>
              </a:p>
            </p:txBody>
          </p:sp>
          <p:cxnSp>
            <p:nvCxnSpPr>
              <p:cNvPr id="7" name="LabelRule">
                <a:extLst>
                  <a:ext uri="{FF2B5EF4-FFF2-40B4-BE49-F238E27FC236}">
                    <a16:creationId xmlns:a16="http://schemas.microsoft.com/office/drawing/2014/main" id="{44B40434-3BA7-9D66-DD13-E63E4C8390BB}"/>
                  </a:ext>
                </a:extLst>
              </p:cNvPr>
              <p:cNvCxnSpPr/>
              <p:nvPr/>
            </p:nvCxnSpPr>
            <p:spPr>
              <a:xfrm>
                <a:off x="787400" y="2235200"/>
                <a:ext cx="508000" cy="0"/>
              </a:xfrm>
              <a:prstGeom prst="line">
                <a:avLst/>
              </a:prstGeom>
              <a:ln w="19050" cap="flat">
                <a:solidFill>
                  <a:srgbClr val="3DDC9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cxn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7404098-74D7-2E27-BE16-1E27CB78E787}"/>
              </a:ext>
            </a:extLst>
          </p:cNvPr>
          <p:cNvGrpSpPr/>
          <p:nvPr/>
        </p:nvGrpSpPr>
        <p:grpSpPr>
          <a:xfrm>
            <a:off x="7696200" y="3899456"/>
            <a:ext cx="5791200" cy="3670300"/>
            <a:chOff x="7658100" y="3899456"/>
            <a:chExt cx="5791200" cy="3670300"/>
          </a:xfrm>
        </p:grpSpPr>
        <p:sp>
          <p:nvSpPr>
            <p:cNvPr id="34" name="TextBox 33"/>
            <p:cNvSpPr txBox="1"/>
            <p:nvPr/>
          </p:nvSpPr>
          <p:spPr>
            <a:xfrm>
              <a:off x="7658100" y="4521756"/>
              <a:ext cx="5791200" cy="3048000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marL="228600" indent="-228600">
                <a:lnSpc>
                  <a:spcPts val="2000"/>
                </a:lnSpc>
                <a:spcAft>
                  <a:spcPts val="900"/>
                </a:spcAft>
                <a:buFont typeface="Arial"/>
                <a:buChar char="•"/>
              </a:pPr>
              <a:r>
                <a:rPr lang="en-US" sz="1600" b="0" dirty="0">
                  <a:solidFill>
                    <a:srgbClr val="052927"/>
                  </a:solidFill>
                  <a:latin typeface="Aptos"/>
                </a:rPr>
                <a:t>New clinical readout or safety signal</a:t>
              </a:r>
            </a:p>
            <a:p>
              <a:pPr marL="228600" indent="-228600">
                <a:lnSpc>
                  <a:spcPts val="2000"/>
                </a:lnSpc>
                <a:spcAft>
                  <a:spcPts val="900"/>
                </a:spcAft>
                <a:buFont typeface="Arial"/>
                <a:buChar char="•"/>
              </a:pPr>
              <a:r>
                <a:rPr lang="en-US" sz="1600" b="0" dirty="0">
                  <a:solidFill>
                    <a:srgbClr val="052927"/>
                  </a:solidFill>
                  <a:latin typeface="Aptos"/>
                </a:rPr>
                <a:t>Competitor approval, label, data, or access change</a:t>
              </a:r>
            </a:p>
            <a:p>
              <a:pPr marL="228600" indent="-228600">
                <a:lnSpc>
                  <a:spcPts val="2000"/>
                </a:lnSpc>
                <a:spcAft>
                  <a:spcPts val="900"/>
                </a:spcAft>
                <a:buFont typeface="Arial"/>
                <a:buChar char="•"/>
              </a:pPr>
              <a:r>
                <a:rPr lang="en-US" sz="1600" b="0" dirty="0">
                  <a:solidFill>
                    <a:srgbClr val="052927"/>
                  </a:solidFill>
                  <a:latin typeface="Aptos"/>
                </a:rPr>
                <a:t>HTA, guideline, or regulatory requirement shift</a:t>
              </a:r>
            </a:p>
            <a:p>
              <a:pPr marL="228600" indent="-228600">
                <a:lnSpc>
                  <a:spcPts val="2000"/>
                </a:lnSpc>
                <a:buFont typeface="Arial"/>
                <a:buChar char="•"/>
              </a:pPr>
              <a:r>
                <a:rPr lang="en-US" sz="1600" b="0" dirty="0">
                  <a:solidFill>
                    <a:srgbClr val="052927"/>
                  </a:solidFill>
                  <a:latin typeface="Aptos"/>
                </a:rPr>
                <a:t>Budget change, study delay, or evidence gap reprioritization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6E12F9B-0C86-8AEB-CF2A-418226E73D96}"/>
                </a:ext>
              </a:extLst>
            </p:cNvPr>
            <p:cNvGrpSpPr/>
            <p:nvPr/>
          </p:nvGrpSpPr>
          <p:grpSpPr>
            <a:xfrm>
              <a:off x="7658100" y="3899456"/>
              <a:ext cx="3835400" cy="381000"/>
              <a:chOff x="787400" y="1854200"/>
              <a:chExt cx="3835400" cy="381000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91C0FD6-E4DE-A179-6738-1322B5542169}"/>
                  </a:ext>
                </a:extLst>
              </p:cNvPr>
              <p:cNvSpPr txBox="1"/>
              <p:nvPr/>
            </p:nvSpPr>
            <p:spPr>
              <a:xfrm>
                <a:off x="787400" y="1854200"/>
                <a:ext cx="3835400" cy="332399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r>
                  <a:rPr lang="en-US" sz="1800" b="1" dirty="0">
                    <a:solidFill>
                      <a:srgbClr val="087267"/>
                    </a:solidFill>
                    <a:latin typeface="Aptos"/>
                  </a:rPr>
                  <a:t>Refresh triggers</a:t>
                </a:r>
                <a:endParaRPr sz="1800" b="1" dirty="0">
                  <a:solidFill>
                    <a:srgbClr val="087267"/>
                  </a:solidFill>
                  <a:latin typeface="Aptos"/>
                </a:endParaRPr>
              </a:p>
            </p:txBody>
          </p:sp>
          <p:cxnSp>
            <p:nvCxnSpPr>
              <p:cNvPr id="27" name="LabelRule">
                <a:extLst>
                  <a:ext uri="{FF2B5EF4-FFF2-40B4-BE49-F238E27FC236}">
                    <a16:creationId xmlns:a16="http://schemas.microsoft.com/office/drawing/2014/main" id="{8EB04C13-60EA-DAE8-0F4F-E71DBDED83EE}"/>
                  </a:ext>
                </a:extLst>
              </p:cNvPr>
              <p:cNvCxnSpPr/>
              <p:nvPr/>
            </p:nvCxnSpPr>
            <p:spPr>
              <a:xfrm>
                <a:off x="787400" y="2235200"/>
                <a:ext cx="508000" cy="0"/>
              </a:xfrm>
              <a:prstGeom prst="line">
                <a:avLst/>
              </a:prstGeom>
              <a:ln w="19050" cap="flat">
                <a:solidFill>
                  <a:srgbClr val="3DDC9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cxnSp>
        </p:grpSp>
      </p:grpSp>
    </p:spTree>
    <p:extLst>
      <p:ext uri="{BB962C8B-B14F-4D97-AF65-F5344CB8AC3E}">
        <p14:creationId xmlns:p14="http://schemas.microsoft.com/office/powerpoint/2010/main" val="3706295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0337018241]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D990136-ECBF-4B31-B6DF-C377A90EFAA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2ee0c5f-1a46-4db2-b4c2-ee92df373eb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4933</TotalTime>
  <Words>3925</Words>
  <Application>Microsoft Office PowerPoint</Application>
  <PresentationFormat>Custom</PresentationFormat>
  <Paragraphs>1101</Paragraphs>
  <Slides>50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Aptos</vt:lpstr>
      <vt:lpstr>Arial</vt:lpstr>
      <vt:lpstr>Georgia</vt:lpstr>
      <vt:lpstr>Office Theme [1780337018241]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Justin Yu</cp:lastModifiedBy>
  <cp:revision>30</cp:revision>
  <dcterms:created xsi:type="dcterms:W3CDTF">2013-01-27T09:14:16Z</dcterms:created>
  <dcterms:modified xsi:type="dcterms:W3CDTF">2026-06-05T03:29:47Z</dcterms:modified>
  <cp:category/>
</cp:coreProperties>
</file>